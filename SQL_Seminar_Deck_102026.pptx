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8" r:id="rId3"/>
    <p:sldId id="259" r:id="rId4"/>
    <p:sldId id="260" r:id="rId5"/>
    <p:sldId id="261" r:id="rId6"/>
    <p:sldId id="262" r:id="rId7"/>
    <p:sldId id="265" r:id="rId8"/>
    <p:sldId id="263" r:id="rId9"/>
    <p:sldId id="264" r:id="rId10"/>
    <p:sldId id="266" r:id="rId11"/>
    <p:sldId id="267" r:id="rId12"/>
    <p:sldId id="268" r:id="rId13"/>
    <p:sldId id="269" r:id="rId14"/>
    <p:sldId id="284" r:id="rId15"/>
    <p:sldId id="301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81" r:id="rId25"/>
    <p:sldId id="282" r:id="rId26"/>
    <p:sldId id="283" r:id="rId27"/>
    <p:sldId id="289" r:id="rId28"/>
    <p:sldId id="290" r:id="rId29"/>
    <p:sldId id="291" r:id="rId30"/>
    <p:sldId id="292" r:id="rId31"/>
    <p:sldId id="293" r:id="rId32"/>
    <p:sldId id="294" r:id="rId33"/>
    <p:sldId id="295" r:id="rId34"/>
    <p:sldId id="298" r:id="rId3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977" autoAdjust="0"/>
    <p:restoredTop sz="69221" autoAdjust="0"/>
  </p:normalViewPr>
  <p:slideViewPr>
    <p:cSldViewPr snapToGrid="0" snapToObjects="1">
      <p:cViewPr varScale="1">
        <p:scale>
          <a:sx n="51" d="100"/>
          <a:sy n="51" d="100"/>
        </p:scale>
        <p:origin x="1104" y="44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727368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580522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/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P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52283-EDDD-F7B1-974E-62A86B9FD7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A614A0-DE0A-D29B-7C6A-270CE95A6F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27548D-5A78-FA3E-5DAD-CAE5EC0D36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00DC1A-230B-870E-10BC-A54206BE621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695786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" name="Shape 1"/>
          <p:cNvSpPr/>
          <p:nvPr/>
        </p:nvSpPr>
        <p:spPr>
          <a:xfrm>
            <a:off x="65836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" name="Shape 2"/>
          <p:cNvSpPr/>
          <p:nvPr/>
        </p:nvSpPr>
        <p:spPr>
          <a:xfrm>
            <a:off x="1225296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1792224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Shape 4"/>
          <p:cNvSpPr/>
          <p:nvPr/>
        </p:nvSpPr>
        <p:spPr>
          <a:xfrm>
            <a:off x="2359152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Shape 5"/>
          <p:cNvSpPr/>
          <p:nvPr/>
        </p:nvSpPr>
        <p:spPr>
          <a:xfrm>
            <a:off x="292608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Shape 6"/>
          <p:cNvSpPr/>
          <p:nvPr/>
        </p:nvSpPr>
        <p:spPr>
          <a:xfrm>
            <a:off x="349300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Shape 7"/>
          <p:cNvSpPr/>
          <p:nvPr/>
        </p:nvSpPr>
        <p:spPr>
          <a:xfrm>
            <a:off x="4059936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Shape 8"/>
          <p:cNvSpPr/>
          <p:nvPr/>
        </p:nvSpPr>
        <p:spPr>
          <a:xfrm>
            <a:off x="4626864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Shape 9"/>
          <p:cNvSpPr/>
          <p:nvPr/>
        </p:nvSpPr>
        <p:spPr>
          <a:xfrm>
            <a:off x="5193792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Shape 10"/>
          <p:cNvSpPr/>
          <p:nvPr/>
        </p:nvSpPr>
        <p:spPr>
          <a:xfrm>
            <a:off x="576072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Shape 11"/>
          <p:cNvSpPr/>
          <p:nvPr/>
        </p:nvSpPr>
        <p:spPr>
          <a:xfrm>
            <a:off x="632764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Shape 12"/>
          <p:cNvSpPr/>
          <p:nvPr/>
        </p:nvSpPr>
        <p:spPr>
          <a:xfrm>
            <a:off x="6894576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Shape 13"/>
          <p:cNvSpPr/>
          <p:nvPr/>
        </p:nvSpPr>
        <p:spPr>
          <a:xfrm>
            <a:off x="7461504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Shape 14"/>
          <p:cNvSpPr/>
          <p:nvPr/>
        </p:nvSpPr>
        <p:spPr>
          <a:xfrm>
            <a:off x="8028432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5"/>
          <p:cNvSpPr/>
          <p:nvPr/>
        </p:nvSpPr>
        <p:spPr>
          <a:xfrm>
            <a:off x="859536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Shape 16"/>
          <p:cNvSpPr/>
          <p:nvPr/>
        </p:nvSpPr>
        <p:spPr>
          <a:xfrm>
            <a:off x="916228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Shape 17"/>
          <p:cNvSpPr/>
          <p:nvPr/>
        </p:nvSpPr>
        <p:spPr>
          <a:xfrm>
            <a:off x="9729216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Shape 18"/>
          <p:cNvSpPr/>
          <p:nvPr/>
        </p:nvSpPr>
        <p:spPr>
          <a:xfrm>
            <a:off x="10296144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Shape 19"/>
          <p:cNvSpPr/>
          <p:nvPr/>
        </p:nvSpPr>
        <p:spPr>
          <a:xfrm>
            <a:off x="10863072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Shape 20"/>
          <p:cNvSpPr/>
          <p:nvPr/>
        </p:nvSpPr>
        <p:spPr>
          <a:xfrm>
            <a:off x="11430000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Shape 21"/>
          <p:cNvSpPr/>
          <p:nvPr/>
        </p:nvSpPr>
        <p:spPr>
          <a:xfrm>
            <a:off x="11996928" y="9144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Shape 22"/>
          <p:cNvSpPr/>
          <p:nvPr/>
        </p:nvSpPr>
        <p:spPr>
          <a:xfrm>
            <a:off x="9144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Shape 23"/>
          <p:cNvSpPr/>
          <p:nvPr/>
        </p:nvSpPr>
        <p:spPr>
          <a:xfrm>
            <a:off x="65836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Shape 24"/>
          <p:cNvSpPr/>
          <p:nvPr/>
        </p:nvSpPr>
        <p:spPr>
          <a:xfrm>
            <a:off x="1225296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Shape 25"/>
          <p:cNvSpPr/>
          <p:nvPr/>
        </p:nvSpPr>
        <p:spPr>
          <a:xfrm>
            <a:off x="1792224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Shape 26"/>
          <p:cNvSpPr/>
          <p:nvPr/>
        </p:nvSpPr>
        <p:spPr>
          <a:xfrm>
            <a:off x="2359152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Shape 27"/>
          <p:cNvSpPr/>
          <p:nvPr/>
        </p:nvSpPr>
        <p:spPr>
          <a:xfrm>
            <a:off x="292608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" name="Shape 28"/>
          <p:cNvSpPr/>
          <p:nvPr/>
        </p:nvSpPr>
        <p:spPr>
          <a:xfrm>
            <a:off x="349300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Shape 29"/>
          <p:cNvSpPr/>
          <p:nvPr/>
        </p:nvSpPr>
        <p:spPr>
          <a:xfrm>
            <a:off x="4059936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2" name="Shape 30"/>
          <p:cNvSpPr/>
          <p:nvPr/>
        </p:nvSpPr>
        <p:spPr>
          <a:xfrm>
            <a:off x="4626864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Shape 31"/>
          <p:cNvSpPr/>
          <p:nvPr/>
        </p:nvSpPr>
        <p:spPr>
          <a:xfrm>
            <a:off x="5193792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Shape 32"/>
          <p:cNvSpPr/>
          <p:nvPr/>
        </p:nvSpPr>
        <p:spPr>
          <a:xfrm>
            <a:off x="576072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Shape 33"/>
          <p:cNvSpPr/>
          <p:nvPr/>
        </p:nvSpPr>
        <p:spPr>
          <a:xfrm>
            <a:off x="632764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6" name="Shape 34"/>
          <p:cNvSpPr/>
          <p:nvPr/>
        </p:nvSpPr>
        <p:spPr>
          <a:xfrm>
            <a:off x="6894576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Shape 35"/>
          <p:cNvSpPr/>
          <p:nvPr/>
        </p:nvSpPr>
        <p:spPr>
          <a:xfrm>
            <a:off x="7461504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8" name="Shape 36"/>
          <p:cNvSpPr/>
          <p:nvPr/>
        </p:nvSpPr>
        <p:spPr>
          <a:xfrm>
            <a:off x="8028432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9" name="Shape 37"/>
          <p:cNvSpPr/>
          <p:nvPr/>
        </p:nvSpPr>
        <p:spPr>
          <a:xfrm>
            <a:off x="859536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Shape 38"/>
          <p:cNvSpPr/>
          <p:nvPr/>
        </p:nvSpPr>
        <p:spPr>
          <a:xfrm>
            <a:off x="916228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1" name="Shape 39"/>
          <p:cNvSpPr/>
          <p:nvPr/>
        </p:nvSpPr>
        <p:spPr>
          <a:xfrm>
            <a:off x="9729216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2" name="Shape 40"/>
          <p:cNvSpPr/>
          <p:nvPr/>
        </p:nvSpPr>
        <p:spPr>
          <a:xfrm>
            <a:off x="10296144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3" name="Shape 41"/>
          <p:cNvSpPr/>
          <p:nvPr/>
        </p:nvSpPr>
        <p:spPr>
          <a:xfrm>
            <a:off x="10863072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4" name="Shape 42"/>
          <p:cNvSpPr/>
          <p:nvPr/>
        </p:nvSpPr>
        <p:spPr>
          <a:xfrm>
            <a:off x="11430000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5" name="Shape 43"/>
          <p:cNvSpPr/>
          <p:nvPr/>
        </p:nvSpPr>
        <p:spPr>
          <a:xfrm>
            <a:off x="11996928" y="66751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6" name="Shape 44"/>
          <p:cNvSpPr/>
          <p:nvPr/>
        </p:nvSpPr>
        <p:spPr>
          <a:xfrm>
            <a:off x="9144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7" name="Shape 45"/>
          <p:cNvSpPr/>
          <p:nvPr/>
        </p:nvSpPr>
        <p:spPr>
          <a:xfrm>
            <a:off x="65836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8" name="Shape 46"/>
          <p:cNvSpPr/>
          <p:nvPr/>
        </p:nvSpPr>
        <p:spPr>
          <a:xfrm>
            <a:off x="1225296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9" name="Shape 47"/>
          <p:cNvSpPr/>
          <p:nvPr/>
        </p:nvSpPr>
        <p:spPr>
          <a:xfrm>
            <a:off x="1792224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0" name="Shape 48"/>
          <p:cNvSpPr/>
          <p:nvPr/>
        </p:nvSpPr>
        <p:spPr>
          <a:xfrm>
            <a:off x="2359152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1" name="Shape 49"/>
          <p:cNvSpPr/>
          <p:nvPr/>
        </p:nvSpPr>
        <p:spPr>
          <a:xfrm>
            <a:off x="292608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2" name="Shape 50"/>
          <p:cNvSpPr/>
          <p:nvPr/>
        </p:nvSpPr>
        <p:spPr>
          <a:xfrm>
            <a:off x="349300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3" name="Shape 51"/>
          <p:cNvSpPr/>
          <p:nvPr/>
        </p:nvSpPr>
        <p:spPr>
          <a:xfrm>
            <a:off x="4059936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4" name="Shape 52"/>
          <p:cNvSpPr/>
          <p:nvPr/>
        </p:nvSpPr>
        <p:spPr>
          <a:xfrm>
            <a:off x="4626864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5" name="Shape 53"/>
          <p:cNvSpPr/>
          <p:nvPr/>
        </p:nvSpPr>
        <p:spPr>
          <a:xfrm>
            <a:off x="5193792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6" name="Shape 54"/>
          <p:cNvSpPr/>
          <p:nvPr/>
        </p:nvSpPr>
        <p:spPr>
          <a:xfrm>
            <a:off x="576072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7" name="Shape 55"/>
          <p:cNvSpPr/>
          <p:nvPr/>
        </p:nvSpPr>
        <p:spPr>
          <a:xfrm>
            <a:off x="632764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8" name="Shape 56"/>
          <p:cNvSpPr/>
          <p:nvPr/>
        </p:nvSpPr>
        <p:spPr>
          <a:xfrm>
            <a:off x="6894576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9" name="Shape 57"/>
          <p:cNvSpPr/>
          <p:nvPr/>
        </p:nvSpPr>
        <p:spPr>
          <a:xfrm>
            <a:off x="7461504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0" name="Shape 58"/>
          <p:cNvSpPr/>
          <p:nvPr/>
        </p:nvSpPr>
        <p:spPr>
          <a:xfrm>
            <a:off x="8028432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1" name="Shape 59"/>
          <p:cNvSpPr/>
          <p:nvPr/>
        </p:nvSpPr>
        <p:spPr>
          <a:xfrm>
            <a:off x="859536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2" name="Shape 60"/>
          <p:cNvSpPr/>
          <p:nvPr/>
        </p:nvSpPr>
        <p:spPr>
          <a:xfrm>
            <a:off x="916228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3" name="Shape 61"/>
          <p:cNvSpPr/>
          <p:nvPr/>
        </p:nvSpPr>
        <p:spPr>
          <a:xfrm>
            <a:off x="9729216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4" name="Shape 62"/>
          <p:cNvSpPr/>
          <p:nvPr/>
        </p:nvSpPr>
        <p:spPr>
          <a:xfrm>
            <a:off x="10296144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5" name="Shape 63"/>
          <p:cNvSpPr/>
          <p:nvPr/>
        </p:nvSpPr>
        <p:spPr>
          <a:xfrm>
            <a:off x="10863072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6" name="Shape 64"/>
          <p:cNvSpPr/>
          <p:nvPr/>
        </p:nvSpPr>
        <p:spPr>
          <a:xfrm>
            <a:off x="11430000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7" name="Shape 65"/>
          <p:cNvSpPr/>
          <p:nvPr/>
        </p:nvSpPr>
        <p:spPr>
          <a:xfrm>
            <a:off x="11996928" y="124358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8" name="Shape 66"/>
          <p:cNvSpPr/>
          <p:nvPr/>
        </p:nvSpPr>
        <p:spPr>
          <a:xfrm>
            <a:off x="9144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9" name="Shape 67"/>
          <p:cNvSpPr/>
          <p:nvPr/>
        </p:nvSpPr>
        <p:spPr>
          <a:xfrm>
            <a:off x="65836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0" name="Shape 68"/>
          <p:cNvSpPr/>
          <p:nvPr/>
        </p:nvSpPr>
        <p:spPr>
          <a:xfrm>
            <a:off x="1225296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1" name="Shape 69"/>
          <p:cNvSpPr/>
          <p:nvPr/>
        </p:nvSpPr>
        <p:spPr>
          <a:xfrm>
            <a:off x="1792224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2" name="Shape 70"/>
          <p:cNvSpPr/>
          <p:nvPr/>
        </p:nvSpPr>
        <p:spPr>
          <a:xfrm>
            <a:off x="2359152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3" name="Shape 71"/>
          <p:cNvSpPr/>
          <p:nvPr/>
        </p:nvSpPr>
        <p:spPr>
          <a:xfrm>
            <a:off x="292608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4" name="Shape 72"/>
          <p:cNvSpPr/>
          <p:nvPr/>
        </p:nvSpPr>
        <p:spPr>
          <a:xfrm>
            <a:off x="349300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5" name="Shape 73"/>
          <p:cNvSpPr/>
          <p:nvPr/>
        </p:nvSpPr>
        <p:spPr>
          <a:xfrm>
            <a:off x="4059936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6" name="Shape 74"/>
          <p:cNvSpPr/>
          <p:nvPr/>
        </p:nvSpPr>
        <p:spPr>
          <a:xfrm>
            <a:off x="4626864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7" name="Shape 75"/>
          <p:cNvSpPr/>
          <p:nvPr/>
        </p:nvSpPr>
        <p:spPr>
          <a:xfrm>
            <a:off x="5193792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8" name="Shape 76"/>
          <p:cNvSpPr/>
          <p:nvPr/>
        </p:nvSpPr>
        <p:spPr>
          <a:xfrm>
            <a:off x="576072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9" name="Shape 77"/>
          <p:cNvSpPr/>
          <p:nvPr/>
        </p:nvSpPr>
        <p:spPr>
          <a:xfrm>
            <a:off x="632764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0" name="Shape 78"/>
          <p:cNvSpPr/>
          <p:nvPr/>
        </p:nvSpPr>
        <p:spPr>
          <a:xfrm>
            <a:off x="6894576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1" name="Shape 79"/>
          <p:cNvSpPr/>
          <p:nvPr/>
        </p:nvSpPr>
        <p:spPr>
          <a:xfrm>
            <a:off x="7461504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2" name="Shape 80"/>
          <p:cNvSpPr/>
          <p:nvPr/>
        </p:nvSpPr>
        <p:spPr>
          <a:xfrm>
            <a:off x="8028432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3" name="Shape 81"/>
          <p:cNvSpPr/>
          <p:nvPr/>
        </p:nvSpPr>
        <p:spPr>
          <a:xfrm>
            <a:off x="859536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4" name="Shape 82"/>
          <p:cNvSpPr/>
          <p:nvPr/>
        </p:nvSpPr>
        <p:spPr>
          <a:xfrm>
            <a:off x="916228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5" name="Shape 83"/>
          <p:cNvSpPr/>
          <p:nvPr/>
        </p:nvSpPr>
        <p:spPr>
          <a:xfrm>
            <a:off x="9729216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6" name="Shape 84"/>
          <p:cNvSpPr/>
          <p:nvPr/>
        </p:nvSpPr>
        <p:spPr>
          <a:xfrm>
            <a:off x="10296144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7" name="Shape 85"/>
          <p:cNvSpPr/>
          <p:nvPr/>
        </p:nvSpPr>
        <p:spPr>
          <a:xfrm>
            <a:off x="10863072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8" name="Shape 86"/>
          <p:cNvSpPr/>
          <p:nvPr/>
        </p:nvSpPr>
        <p:spPr>
          <a:xfrm>
            <a:off x="11430000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9" name="Shape 87"/>
          <p:cNvSpPr/>
          <p:nvPr/>
        </p:nvSpPr>
        <p:spPr>
          <a:xfrm>
            <a:off x="11996928" y="181965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0" name="Shape 88"/>
          <p:cNvSpPr/>
          <p:nvPr/>
        </p:nvSpPr>
        <p:spPr>
          <a:xfrm>
            <a:off x="9144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1" name="Shape 89"/>
          <p:cNvSpPr/>
          <p:nvPr/>
        </p:nvSpPr>
        <p:spPr>
          <a:xfrm>
            <a:off x="65836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2" name="Shape 90"/>
          <p:cNvSpPr/>
          <p:nvPr/>
        </p:nvSpPr>
        <p:spPr>
          <a:xfrm>
            <a:off x="1225296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3" name="Shape 91"/>
          <p:cNvSpPr/>
          <p:nvPr/>
        </p:nvSpPr>
        <p:spPr>
          <a:xfrm>
            <a:off x="1792224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4" name="Shape 92"/>
          <p:cNvSpPr/>
          <p:nvPr/>
        </p:nvSpPr>
        <p:spPr>
          <a:xfrm>
            <a:off x="2359152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5" name="Shape 93"/>
          <p:cNvSpPr/>
          <p:nvPr/>
        </p:nvSpPr>
        <p:spPr>
          <a:xfrm>
            <a:off x="292608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6" name="Shape 94"/>
          <p:cNvSpPr/>
          <p:nvPr/>
        </p:nvSpPr>
        <p:spPr>
          <a:xfrm>
            <a:off x="349300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7" name="Shape 95"/>
          <p:cNvSpPr/>
          <p:nvPr/>
        </p:nvSpPr>
        <p:spPr>
          <a:xfrm>
            <a:off x="4059936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8" name="Shape 96"/>
          <p:cNvSpPr/>
          <p:nvPr/>
        </p:nvSpPr>
        <p:spPr>
          <a:xfrm>
            <a:off x="4626864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9" name="Shape 97"/>
          <p:cNvSpPr/>
          <p:nvPr/>
        </p:nvSpPr>
        <p:spPr>
          <a:xfrm>
            <a:off x="5193792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0" name="Shape 98"/>
          <p:cNvSpPr/>
          <p:nvPr/>
        </p:nvSpPr>
        <p:spPr>
          <a:xfrm>
            <a:off x="576072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1" name="Shape 99"/>
          <p:cNvSpPr/>
          <p:nvPr/>
        </p:nvSpPr>
        <p:spPr>
          <a:xfrm>
            <a:off x="632764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2" name="Shape 100"/>
          <p:cNvSpPr/>
          <p:nvPr/>
        </p:nvSpPr>
        <p:spPr>
          <a:xfrm>
            <a:off x="6894576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3" name="Shape 101"/>
          <p:cNvSpPr/>
          <p:nvPr/>
        </p:nvSpPr>
        <p:spPr>
          <a:xfrm>
            <a:off x="7461504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4" name="Shape 102"/>
          <p:cNvSpPr/>
          <p:nvPr/>
        </p:nvSpPr>
        <p:spPr>
          <a:xfrm>
            <a:off x="8028432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5" name="Shape 103"/>
          <p:cNvSpPr/>
          <p:nvPr/>
        </p:nvSpPr>
        <p:spPr>
          <a:xfrm>
            <a:off x="859536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6" name="Shape 104"/>
          <p:cNvSpPr/>
          <p:nvPr/>
        </p:nvSpPr>
        <p:spPr>
          <a:xfrm>
            <a:off x="916228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7" name="Shape 105"/>
          <p:cNvSpPr/>
          <p:nvPr/>
        </p:nvSpPr>
        <p:spPr>
          <a:xfrm>
            <a:off x="9729216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8" name="Shape 106"/>
          <p:cNvSpPr/>
          <p:nvPr/>
        </p:nvSpPr>
        <p:spPr>
          <a:xfrm>
            <a:off x="10296144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9" name="Shape 107"/>
          <p:cNvSpPr/>
          <p:nvPr/>
        </p:nvSpPr>
        <p:spPr>
          <a:xfrm>
            <a:off x="10863072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0" name="Shape 108"/>
          <p:cNvSpPr/>
          <p:nvPr/>
        </p:nvSpPr>
        <p:spPr>
          <a:xfrm>
            <a:off x="11430000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1" name="Shape 109"/>
          <p:cNvSpPr/>
          <p:nvPr/>
        </p:nvSpPr>
        <p:spPr>
          <a:xfrm>
            <a:off x="11996928" y="239572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2" name="Shape 110"/>
          <p:cNvSpPr/>
          <p:nvPr/>
        </p:nvSpPr>
        <p:spPr>
          <a:xfrm>
            <a:off x="9144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3" name="Shape 111"/>
          <p:cNvSpPr/>
          <p:nvPr/>
        </p:nvSpPr>
        <p:spPr>
          <a:xfrm>
            <a:off x="65836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4" name="Shape 112"/>
          <p:cNvSpPr/>
          <p:nvPr/>
        </p:nvSpPr>
        <p:spPr>
          <a:xfrm>
            <a:off x="1225296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5" name="Shape 113"/>
          <p:cNvSpPr/>
          <p:nvPr/>
        </p:nvSpPr>
        <p:spPr>
          <a:xfrm>
            <a:off x="1792224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6" name="Shape 114"/>
          <p:cNvSpPr/>
          <p:nvPr/>
        </p:nvSpPr>
        <p:spPr>
          <a:xfrm>
            <a:off x="2359152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7" name="Shape 115"/>
          <p:cNvSpPr/>
          <p:nvPr/>
        </p:nvSpPr>
        <p:spPr>
          <a:xfrm>
            <a:off x="292608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8" name="Shape 116"/>
          <p:cNvSpPr/>
          <p:nvPr/>
        </p:nvSpPr>
        <p:spPr>
          <a:xfrm>
            <a:off x="349300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9" name="Shape 117"/>
          <p:cNvSpPr/>
          <p:nvPr/>
        </p:nvSpPr>
        <p:spPr>
          <a:xfrm>
            <a:off x="4059936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0" name="Shape 118"/>
          <p:cNvSpPr/>
          <p:nvPr/>
        </p:nvSpPr>
        <p:spPr>
          <a:xfrm>
            <a:off x="4626864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1" name="Shape 119"/>
          <p:cNvSpPr/>
          <p:nvPr/>
        </p:nvSpPr>
        <p:spPr>
          <a:xfrm>
            <a:off x="5193792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2" name="Shape 120"/>
          <p:cNvSpPr/>
          <p:nvPr/>
        </p:nvSpPr>
        <p:spPr>
          <a:xfrm>
            <a:off x="576072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3" name="Shape 121"/>
          <p:cNvSpPr/>
          <p:nvPr/>
        </p:nvSpPr>
        <p:spPr>
          <a:xfrm>
            <a:off x="632764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4" name="Shape 122"/>
          <p:cNvSpPr/>
          <p:nvPr/>
        </p:nvSpPr>
        <p:spPr>
          <a:xfrm>
            <a:off x="6894576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5" name="Shape 123"/>
          <p:cNvSpPr/>
          <p:nvPr/>
        </p:nvSpPr>
        <p:spPr>
          <a:xfrm>
            <a:off x="7461504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6" name="Shape 124"/>
          <p:cNvSpPr/>
          <p:nvPr/>
        </p:nvSpPr>
        <p:spPr>
          <a:xfrm>
            <a:off x="8028432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7" name="Shape 125"/>
          <p:cNvSpPr/>
          <p:nvPr/>
        </p:nvSpPr>
        <p:spPr>
          <a:xfrm>
            <a:off x="859536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8" name="Shape 126"/>
          <p:cNvSpPr/>
          <p:nvPr/>
        </p:nvSpPr>
        <p:spPr>
          <a:xfrm>
            <a:off x="916228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9" name="Shape 127"/>
          <p:cNvSpPr/>
          <p:nvPr/>
        </p:nvSpPr>
        <p:spPr>
          <a:xfrm>
            <a:off x="9729216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0" name="Shape 128"/>
          <p:cNvSpPr/>
          <p:nvPr/>
        </p:nvSpPr>
        <p:spPr>
          <a:xfrm>
            <a:off x="10296144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1" name="Shape 129"/>
          <p:cNvSpPr/>
          <p:nvPr/>
        </p:nvSpPr>
        <p:spPr>
          <a:xfrm>
            <a:off x="10863072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2" name="Shape 130"/>
          <p:cNvSpPr/>
          <p:nvPr/>
        </p:nvSpPr>
        <p:spPr>
          <a:xfrm>
            <a:off x="11430000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3" name="Shape 131"/>
          <p:cNvSpPr/>
          <p:nvPr/>
        </p:nvSpPr>
        <p:spPr>
          <a:xfrm>
            <a:off x="11996928" y="297180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4" name="Shape 132"/>
          <p:cNvSpPr/>
          <p:nvPr/>
        </p:nvSpPr>
        <p:spPr>
          <a:xfrm>
            <a:off x="9144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5" name="Shape 133"/>
          <p:cNvSpPr/>
          <p:nvPr/>
        </p:nvSpPr>
        <p:spPr>
          <a:xfrm>
            <a:off x="65836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6" name="Shape 134"/>
          <p:cNvSpPr/>
          <p:nvPr/>
        </p:nvSpPr>
        <p:spPr>
          <a:xfrm>
            <a:off x="1225296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7" name="Shape 135"/>
          <p:cNvSpPr/>
          <p:nvPr/>
        </p:nvSpPr>
        <p:spPr>
          <a:xfrm>
            <a:off x="1792224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8" name="Shape 136"/>
          <p:cNvSpPr/>
          <p:nvPr/>
        </p:nvSpPr>
        <p:spPr>
          <a:xfrm>
            <a:off x="2359152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9" name="Shape 137"/>
          <p:cNvSpPr/>
          <p:nvPr/>
        </p:nvSpPr>
        <p:spPr>
          <a:xfrm>
            <a:off x="292608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0" name="Shape 138"/>
          <p:cNvSpPr/>
          <p:nvPr/>
        </p:nvSpPr>
        <p:spPr>
          <a:xfrm>
            <a:off x="349300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1" name="Shape 139"/>
          <p:cNvSpPr/>
          <p:nvPr/>
        </p:nvSpPr>
        <p:spPr>
          <a:xfrm>
            <a:off x="4059936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2" name="Shape 140"/>
          <p:cNvSpPr/>
          <p:nvPr/>
        </p:nvSpPr>
        <p:spPr>
          <a:xfrm>
            <a:off x="4626864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3" name="Shape 141"/>
          <p:cNvSpPr/>
          <p:nvPr/>
        </p:nvSpPr>
        <p:spPr>
          <a:xfrm>
            <a:off x="5193792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4" name="Shape 142"/>
          <p:cNvSpPr/>
          <p:nvPr/>
        </p:nvSpPr>
        <p:spPr>
          <a:xfrm>
            <a:off x="576072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5" name="Shape 143"/>
          <p:cNvSpPr/>
          <p:nvPr/>
        </p:nvSpPr>
        <p:spPr>
          <a:xfrm>
            <a:off x="632764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6" name="Shape 144"/>
          <p:cNvSpPr/>
          <p:nvPr/>
        </p:nvSpPr>
        <p:spPr>
          <a:xfrm>
            <a:off x="6894576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7" name="Shape 145"/>
          <p:cNvSpPr/>
          <p:nvPr/>
        </p:nvSpPr>
        <p:spPr>
          <a:xfrm>
            <a:off x="7461504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8" name="Shape 146"/>
          <p:cNvSpPr/>
          <p:nvPr/>
        </p:nvSpPr>
        <p:spPr>
          <a:xfrm>
            <a:off x="8028432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9" name="Shape 147"/>
          <p:cNvSpPr/>
          <p:nvPr/>
        </p:nvSpPr>
        <p:spPr>
          <a:xfrm>
            <a:off x="859536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0" name="Shape 148"/>
          <p:cNvSpPr/>
          <p:nvPr/>
        </p:nvSpPr>
        <p:spPr>
          <a:xfrm>
            <a:off x="916228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1" name="Shape 149"/>
          <p:cNvSpPr/>
          <p:nvPr/>
        </p:nvSpPr>
        <p:spPr>
          <a:xfrm>
            <a:off x="9729216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2" name="Shape 150"/>
          <p:cNvSpPr/>
          <p:nvPr/>
        </p:nvSpPr>
        <p:spPr>
          <a:xfrm>
            <a:off x="10296144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3" name="Shape 151"/>
          <p:cNvSpPr/>
          <p:nvPr/>
        </p:nvSpPr>
        <p:spPr>
          <a:xfrm>
            <a:off x="10863072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4" name="Shape 152"/>
          <p:cNvSpPr/>
          <p:nvPr/>
        </p:nvSpPr>
        <p:spPr>
          <a:xfrm>
            <a:off x="11430000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5" name="Shape 153"/>
          <p:cNvSpPr/>
          <p:nvPr/>
        </p:nvSpPr>
        <p:spPr>
          <a:xfrm>
            <a:off x="11996928" y="354787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6" name="Shape 154"/>
          <p:cNvSpPr/>
          <p:nvPr/>
        </p:nvSpPr>
        <p:spPr>
          <a:xfrm>
            <a:off x="9144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7" name="Shape 155"/>
          <p:cNvSpPr/>
          <p:nvPr/>
        </p:nvSpPr>
        <p:spPr>
          <a:xfrm>
            <a:off x="65836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8" name="Shape 156"/>
          <p:cNvSpPr/>
          <p:nvPr/>
        </p:nvSpPr>
        <p:spPr>
          <a:xfrm>
            <a:off x="1225296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9" name="Shape 157"/>
          <p:cNvSpPr/>
          <p:nvPr/>
        </p:nvSpPr>
        <p:spPr>
          <a:xfrm>
            <a:off x="1792224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0" name="Shape 158"/>
          <p:cNvSpPr/>
          <p:nvPr/>
        </p:nvSpPr>
        <p:spPr>
          <a:xfrm>
            <a:off x="2359152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1" name="Shape 159"/>
          <p:cNvSpPr/>
          <p:nvPr/>
        </p:nvSpPr>
        <p:spPr>
          <a:xfrm>
            <a:off x="292608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2" name="Shape 160"/>
          <p:cNvSpPr/>
          <p:nvPr/>
        </p:nvSpPr>
        <p:spPr>
          <a:xfrm>
            <a:off x="349300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3" name="Shape 161"/>
          <p:cNvSpPr/>
          <p:nvPr/>
        </p:nvSpPr>
        <p:spPr>
          <a:xfrm>
            <a:off x="4059936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4" name="Shape 162"/>
          <p:cNvSpPr/>
          <p:nvPr/>
        </p:nvSpPr>
        <p:spPr>
          <a:xfrm>
            <a:off x="4626864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5" name="Shape 163"/>
          <p:cNvSpPr/>
          <p:nvPr/>
        </p:nvSpPr>
        <p:spPr>
          <a:xfrm>
            <a:off x="5193792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6" name="Shape 164"/>
          <p:cNvSpPr/>
          <p:nvPr/>
        </p:nvSpPr>
        <p:spPr>
          <a:xfrm>
            <a:off x="576072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7" name="Shape 165"/>
          <p:cNvSpPr/>
          <p:nvPr/>
        </p:nvSpPr>
        <p:spPr>
          <a:xfrm>
            <a:off x="632764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8" name="Shape 166"/>
          <p:cNvSpPr/>
          <p:nvPr/>
        </p:nvSpPr>
        <p:spPr>
          <a:xfrm>
            <a:off x="6894576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9" name="Shape 167"/>
          <p:cNvSpPr/>
          <p:nvPr/>
        </p:nvSpPr>
        <p:spPr>
          <a:xfrm>
            <a:off x="7461504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0" name="Shape 168"/>
          <p:cNvSpPr/>
          <p:nvPr/>
        </p:nvSpPr>
        <p:spPr>
          <a:xfrm>
            <a:off x="8028432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1" name="Shape 169"/>
          <p:cNvSpPr/>
          <p:nvPr/>
        </p:nvSpPr>
        <p:spPr>
          <a:xfrm>
            <a:off x="859536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2" name="Shape 170"/>
          <p:cNvSpPr/>
          <p:nvPr/>
        </p:nvSpPr>
        <p:spPr>
          <a:xfrm>
            <a:off x="916228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3" name="Shape 171"/>
          <p:cNvSpPr/>
          <p:nvPr/>
        </p:nvSpPr>
        <p:spPr>
          <a:xfrm>
            <a:off x="9729216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4" name="Shape 172"/>
          <p:cNvSpPr/>
          <p:nvPr/>
        </p:nvSpPr>
        <p:spPr>
          <a:xfrm>
            <a:off x="10296144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5" name="Shape 173"/>
          <p:cNvSpPr/>
          <p:nvPr/>
        </p:nvSpPr>
        <p:spPr>
          <a:xfrm>
            <a:off x="10863072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6" name="Shape 174"/>
          <p:cNvSpPr/>
          <p:nvPr/>
        </p:nvSpPr>
        <p:spPr>
          <a:xfrm>
            <a:off x="11430000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7" name="Shape 175"/>
          <p:cNvSpPr/>
          <p:nvPr/>
        </p:nvSpPr>
        <p:spPr>
          <a:xfrm>
            <a:off x="11996928" y="4123944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8" name="Shape 176"/>
          <p:cNvSpPr/>
          <p:nvPr/>
        </p:nvSpPr>
        <p:spPr>
          <a:xfrm>
            <a:off x="9144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9" name="Shape 177"/>
          <p:cNvSpPr/>
          <p:nvPr/>
        </p:nvSpPr>
        <p:spPr>
          <a:xfrm>
            <a:off x="65836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0" name="Shape 178"/>
          <p:cNvSpPr/>
          <p:nvPr/>
        </p:nvSpPr>
        <p:spPr>
          <a:xfrm>
            <a:off x="1225296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1" name="Shape 179"/>
          <p:cNvSpPr/>
          <p:nvPr/>
        </p:nvSpPr>
        <p:spPr>
          <a:xfrm>
            <a:off x="1792224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2" name="Shape 180"/>
          <p:cNvSpPr/>
          <p:nvPr/>
        </p:nvSpPr>
        <p:spPr>
          <a:xfrm>
            <a:off x="2359152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3" name="Shape 181"/>
          <p:cNvSpPr/>
          <p:nvPr/>
        </p:nvSpPr>
        <p:spPr>
          <a:xfrm>
            <a:off x="292608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4" name="Shape 182"/>
          <p:cNvSpPr/>
          <p:nvPr/>
        </p:nvSpPr>
        <p:spPr>
          <a:xfrm>
            <a:off x="349300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5" name="Shape 183"/>
          <p:cNvSpPr/>
          <p:nvPr/>
        </p:nvSpPr>
        <p:spPr>
          <a:xfrm>
            <a:off x="4059936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6" name="Shape 184"/>
          <p:cNvSpPr/>
          <p:nvPr/>
        </p:nvSpPr>
        <p:spPr>
          <a:xfrm>
            <a:off x="4626864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7" name="Shape 185"/>
          <p:cNvSpPr/>
          <p:nvPr/>
        </p:nvSpPr>
        <p:spPr>
          <a:xfrm>
            <a:off x="5193792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8" name="Shape 186"/>
          <p:cNvSpPr/>
          <p:nvPr/>
        </p:nvSpPr>
        <p:spPr>
          <a:xfrm>
            <a:off x="576072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9" name="Shape 187"/>
          <p:cNvSpPr/>
          <p:nvPr/>
        </p:nvSpPr>
        <p:spPr>
          <a:xfrm>
            <a:off x="632764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0" name="Shape 188"/>
          <p:cNvSpPr/>
          <p:nvPr/>
        </p:nvSpPr>
        <p:spPr>
          <a:xfrm>
            <a:off x="6894576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1" name="Shape 189"/>
          <p:cNvSpPr/>
          <p:nvPr/>
        </p:nvSpPr>
        <p:spPr>
          <a:xfrm>
            <a:off x="7461504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2" name="Shape 190"/>
          <p:cNvSpPr/>
          <p:nvPr/>
        </p:nvSpPr>
        <p:spPr>
          <a:xfrm>
            <a:off x="8028432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3" name="Shape 191"/>
          <p:cNvSpPr/>
          <p:nvPr/>
        </p:nvSpPr>
        <p:spPr>
          <a:xfrm>
            <a:off x="859536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4" name="Shape 192"/>
          <p:cNvSpPr/>
          <p:nvPr/>
        </p:nvSpPr>
        <p:spPr>
          <a:xfrm>
            <a:off x="916228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5" name="Shape 193"/>
          <p:cNvSpPr/>
          <p:nvPr/>
        </p:nvSpPr>
        <p:spPr>
          <a:xfrm>
            <a:off x="9729216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6" name="Shape 194"/>
          <p:cNvSpPr/>
          <p:nvPr/>
        </p:nvSpPr>
        <p:spPr>
          <a:xfrm>
            <a:off x="10296144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7" name="Shape 195"/>
          <p:cNvSpPr/>
          <p:nvPr/>
        </p:nvSpPr>
        <p:spPr>
          <a:xfrm>
            <a:off x="10863072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8" name="Shape 196"/>
          <p:cNvSpPr/>
          <p:nvPr/>
        </p:nvSpPr>
        <p:spPr>
          <a:xfrm>
            <a:off x="11430000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9" name="Shape 197"/>
          <p:cNvSpPr/>
          <p:nvPr/>
        </p:nvSpPr>
        <p:spPr>
          <a:xfrm>
            <a:off x="11996928" y="4700016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0" name="Shape 198"/>
          <p:cNvSpPr/>
          <p:nvPr/>
        </p:nvSpPr>
        <p:spPr>
          <a:xfrm>
            <a:off x="9144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1" name="Shape 199"/>
          <p:cNvSpPr/>
          <p:nvPr/>
        </p:nvSpPr>
        <p:spPr>
          <a:xfrm>
            <a:off x="65836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2" name="Shape 200"/>
          <p:cNvSpPr/>
          <p:nvPr/>
        </p:nvSpPr>
        <p:spPr>
          <a:xfrm>
            <a:off x="1225296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3" name="Shape 201"/>
          <p:cNvSpPr/>
          <p:nvPr/>
        </p:nvSpPr>
        <p:spPr>
          <a:xfrm>
            <a:off x="1792224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4" name="Shape 202"/>
          <p:cNvSpPr/>
          <p:nvPr/>
        </p:nvSpPr>
        <p:spPr>
          <a:xfrm>
            <a:off x="2359152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5" name="Shape 203"/>
          <p:cNvSpPr/>
          <p:nvPr/>
        </p:nvSpPr>
        <p:spPr>
          <a:xfrm>
            <a:off x="292608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6" name="Shape 204"/>
          <p:cNvSpPr/>
          <p:nvPr/>
        </p:nvSpPr>
        <p:spPr>
          <a:xfrm>
            <a:off x="349300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7" name="Shape 205"/>
          <p:cNvSpPr/>
          <p:nvPr/>
        </p:nvSpPr>
        <p:spPr>
          <a:xfrm>
            <a:off x="4059936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8" name="Shape 206"/>
          <p:cNvSpPr/>
          <p:nvPr/>
        </p:nvSpPr>
        <p:spPr>
          <a:xfrm>
            <a:off x="4626864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9" name="Shape 207"/>
          <p:cNvSpPr/>
          <p:nvPr/>
        </p:nvSpPr>
        <p:spPr>
          <a:xfrm>
            <a:off x="5193792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0" name="Shape 208"/>
          <p:cNvSpPr/>
          <p:nvPr/>
        </p:nvSpPr>
        <p:spPr>
          <a:xfrm>
            <a:off x="576072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1" name="Shape 209"/>
          <p:cNvSpPr/>
          <p:nvPr/>
        </p:nvSpPr>
        <p:spPr>
          <a:xfrm>
            <a:off x="632764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2" name="Shape 210"/>
          <p:cNvSpPr/>
          <p:nvPr/>
        </p:nvSpPr>
        <p:spPr>
          <a:xfrm>
            <a:off x="6894576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3" name="Shape 211"/>
          <p:cNvSpPr/>
          <p:nvPr/>
        </p:nvSpPr>
        <p:spPr>
          <a:xfrm>
            <a:off x="7461504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4" name="Shape 212"/>
          <p:cNvSpPr/>
          <p:nvPr/>
        </p:nvSpPr>
        <p:spPr>
          <a:xfrm>
            <a:off x="8028432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5" name="Shape 213"/>
          <p:cNvSpPr/>
          <p:nvPr/>
        </p:nvSpPr>
        <p:spPr>
          <a:xfrm>
            <a:off x="859536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6" name="Shape 214"/>
          <p:cNvSpPr/>
          <p:nvPr/>
        </p:nvSpPr>
        <p:spPr>
          <a:xfrm>
            <a:off x="916228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7" name="Shape 215"/>
          <p:cNvSpPr/>
          <p:nvPr/>
        </p:nvSpPr>
        <p:spPr>
          <a:xfrm>
            <a:off x="9729216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8" name="Shape 216"/>
          <p:cNvSpPr/>
          <p:nvPr/>
        </p:nvSpPr>
        <p:spPr>
          <a:xfrm>
            <a:off x="10296144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9" name="Shape 217"/>
          <p:cNvSpPr/>
          <p:nvPr/>
        </p:nvSpPr>
        <p:spPr>
          <a:xfrm>
            <a:off x="10863072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0" name="Shape 218"/>
          <p:cNvSpPr/>
          <p:nvPr/>
        </p:nvSpPr>
        <p:spPr>
          <a:xfrm>
            <a:off x="11430000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1" name="Shape 219"/>
          <p:cNvSpPr/>
          <p:nvPr/>
        </p:nvSpPr>
        <p:spPr>
          <a:xfrm>
            <a:off x="11996928" y="5276088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2" name="Shape 220"/>
          <p:cNvSpPr/>
          <p:nvPr/>
        </p:nvSpPr>
        <p:spPr>
          <a:xfrm>
            <a:off x="9144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3" name="Shape 221"/>
          <p:cNvSpPr/>
          <p:nvPr/>
        </p:nvSpPr>
        <p:spPr>
          <a:xfrm>
            <a:off x="65836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4" name="Shape 222"/>
          <p:cNvSpPr/>
          <p:nvPr/>
        </p:nvSpPr>
        <p:spPr>
          <a:xfrm>
            <a:off x="1225296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5" name="Shape 223"/>
          <p:cNvSpPr/>
          <p:nvPr/>
        </p:nvSpPr>
        <p:spPr>
          <a:xfrm>
            <a:off x="1792224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6" name="Shape 224"/>
          <p:cNvSpPr/>
          <p:nvPr/>
        </p:nvSpPr>
        <p:spPr>
          <a:xfrm>
            <a:off x="2359152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7" name="Shape 225"/>
          <p:cNvSpPr/>
          <p:nvPr/>
        </p:nvSpPr>
        <p:spPr>
          <a:xfrm>
            <a:off x="292608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8" name="Shape 226"/>
          <p:cNvSpPr/>
          <p:nvPr/>
        </p:nvSpPr>
        <p:spPr>
          <a:xfrm>
            <a:off x="349300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9" name="Shape 227"/>
          <p:cNvSpPr/>
          <p:nvPr/>
        </p:nvSpPr>
        <p:spPr>
          <a:xfrm>
            <a:off x="4059936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0" name="Shape 228"/>
          <p:cNvSpPr/>
          <p:nvPr/>
        </p:nvSpPr>
        <p:spPr>
          <a:xfrm>
            <a:off x="4626864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1" name="Shape 229"/>
          <p:cNvSpPr/>
          <p:nvPr/>
        </p:nvSpPr>
        <p:spPr>
          <a:xfrm>
            <a:off x="5193792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2" name="Shape 230"/>
          <p:cNvSpPr/>
          <p:nvPr/>
        </p:nvSpPr>
        <p:spPr>
          <a:xfrm>
            <a:off x="576072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3" name="Shape 231"/>
          <p:cNvSpPr/>
          <p:nvPr/>
        </p:nvSpPr>
        <p:spPr>
          <a:xfrm>
            <a:off x="632764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4" name="Shape 232"/>
          <p:cNvSpPr/>
          <p:nvPr/>
        </p:nvSpPr>
        <p:spPr>
          <a:xfrm>
            <a:off x="6894576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5" name="Shape 233"/>
          <p:cNvSpPr/>
          <p:nvPr/>
        </p:nvSpPr>
        <p:spPr>
          <a:xfrm>
            <a:off x="7461504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6" name="Shape 234"/>
          <p:cNvSpPr/>
          <p:nvPr/>
        </p:nvSpPr>
        <p:spPr>
          <a:xfrm>
            <a:off x="8028432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7" name="Shape 235"/>
          <p:cNvSpPr/>
          <p:nvPr/>
        </p:nvSpPr>
        <p:spPr>
          <a:xfrm>
            <a:off x="859536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8" name="Shape 236"/>
          <p:cNvSpPr/>
          <p:nvPr/>
        </p:nvSpPr>
        <p:spPr>
          <a:xfrm>
            <a:off x="916228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9" name="Shape 237"/>
          <p:cNvSpPr/>
          <p:nvPr/>
        </p:nvSpPr>
        <p:spPr>
          <a:xfrm>
            <a:off x="9729216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0" name="Shape 238"/>
          <p:cNvSpPr/>
          <p:nvPr/>
        </p:nvSpPr>
        <p:spPr>
          <a:xfrm>
            <a:off x="10296144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1" name="Shape 239"/>
          <p:cNvSpPr/>
          <p:nvPr/>
        </p:nvSpPr>
        <p:spPr>
          <a:xfrm>
            <a:off x="10863072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2" name="Shape 240"/>
          <p:cNvSpPr/>
          <p:nvPr/>
        </p:nvSpPr>
        <p:spPr>
          <a:xfrm>
            <a:off x="11430000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3" name="Shape 241"/>
          <p:cNvSpPr/>
          <p:nvPr/>
        </p:nvSpPr>
        <p:spPr>
          <a:xfrm>
            <a:off x="11996928" y="5852160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4" name="Shape 242"/>
          <p:cNvSpPr/>
          <p:nvPr/>
        </p:nvSpPr>
        <p:spPr>
          <a:xfrm>
            <a:off x="9144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5" name="Shape 243"/>
          <p:cNvSpPr/>
          <p:nvPr/>
        </p:nvSpPr>
        <p:spPr>
          <a:xfrm>
            <a:off x="65836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6" name="Shape 244"/>
          <p:cNvSpPr/>
          <p:nvPr/>
        </p:nvSpPr>
        <p:spPr>
          <a:xfrm>
            <a:off x="1225296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7" name="Shape 245"/>
          <p:cNvSpPr/>
          <p:nvPr/>
        </p:nvSpPr>
        <p:spPr>
          <a:xfrm>
            <a:off x="1792224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8" name="Shape 246"/>
          <p:cNvSpPr/>
          <p:nvPr/>
        </p:nvSpPr>
        <p:spPr>
          <a:xfrm>
            <a:off x="2359152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9" name="Shape 247"/>
          <p:cNvSpPr/>
          <p:nvPr/>
        </p:nvSpPr>
        <p:spPr>
          <a:xfrm>
            <a:off x="292608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0" name="Shape 248"/>
          <p:cNvSpPr/>
          <p:nvPr/>
        </p:nvSpPr>
        <p:spPr>
          <a:xfrm>
            <a:off x="349300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1" name="Shape 249"/>
          <p:cNvSpPr/>
          <p:nvPr/>
        </p:nvSpPr>
        <p:spPr>
          <a:xfrm>
            <a:off x="4059936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2" name="Shape 250"/>
          <p:cNvSpPr/>
          <p:nvPr/>
        </p:nvSpPr>
        <p:spPr>
          <a:xfrm>
            <a:off x="4626864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3" name="Shape 251"/>
          <p:cNvSpPr/>
          <p:nvPr/>
        </p:nvSpPr>
        <p:spPr>
          <a:xfrm>
            <a:off x="5193792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4" name="Shape 252"/>
          <p:cNvSpPr/>
          <p:nvPr/>
        </p:nvSpPr>
        <p:spPr>
          <a:xfrm>
            <a:off x="576072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5" name="Shape 253"/>
          <p:cNvSpPr/>
          <p:nvPr/>
        </p:nvSpPr>
        <p:spPr>
          <a:xfrm>
            <a:off x="632764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6" name="Shape 254"/>
          <p:cNvSpPr/>
          <p:nvPr/>
        </p:nvSpPr>
        <p:spPr>
          <a:xfrm>
            <a:off x="6894576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7" name="Shape 255"/>
          <p:cNvSpPr/>
          <p:nvPr/>
        </p:nvSpPr>
        <p:spPr>
          <a:xfrm>
            <a:off x="7461504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8" name="Shape 256"/>
          <p:cNvSpPr/>
          <p:nvPr/>
        </p:nvSpPr>
        <p:spPr>
          <a:xfrm>
            <a:off x="8028432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9" name="Shape 257"/>
          <p:cNvSpPr/>
          <p:nvPr/>
        </p:nvSpPr>
        <p:spPr>
          <a:xfrm>
            <a:off x="859536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0" name="Shape 258"/>
          <p:cNvSpPr/>
          <p:nvPr/>
        </p:nvSpPr>
        <p:spPr>
          <a:xfrm>
            <a:off x="916228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1" name="Shape 259"/>
          <p:cNvSpPr/>
          <p:nvPr/>
        </p:nvSpPr>
        <p:spPr>
          <a:xfrm>
            <a:off x="9729216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2" name="Shape 260"/>
          <p:cNvSpPr/>
          <p:nvPr/>
        </p:nvSpPr>
        <p:spPr>
          <a:xfrm>
            <a:off x="10296144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3" name="Shape 261"/>
          <p:cNvSpPr/>
          <p:nvPr/>
        </p:nvSpPr>
        <p:spPr>
          <a:xfrm>
            <a:off x="10863072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4" name="Shape 262"/>
          <p:cNvSpPr/>
          <p:nvPr/>
        </p:nvSpPr>
        <p:spPr>
          <a:xfrm>
            <a:off x="11430000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5" name="Shape 263"/>
          <p:cNvSpPr/>
          <p:nvPr/>
        </p:nvSpPr>
        <p:spPr>
          <a:xfrm>
            <a:off x="11996928" y="6428232"/>
            <a:ext cx="36576" cy="36576"/>
          </a:xfrm>
          <a:prstGeom prst="rect">
            <a:avLst/>
          </a:prstGeom>
          <a:solidFill>
            <a:srgbClr val="1A2E45"/>
          </a:solidFill>
          <a:ln w="1270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6" name="Shape 264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7" name="Shape 265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8" name="Shape 266"/>
          <p:cNvSpPr/>
          <p:nvPr/>
        </p:nvSpPr>
        <p:spPr>
          <a:xfrm>
            <a:off x="0" y="73152"/>
            <a:ext cx="91440" cy="6711696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9" name="Shape 267"/>
          <p:cNvSpPr/>
          <p:nvPr/>
        </p:nvSpPr>
        <p:spPr>
          <a:xfrm>
            <a:off x="91440" y="73152"/>
            <a:ext cx="7680960" cy="6711696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0" name="Text 268"/>
          <p:cNvSpPr txBox="1"/>
          <p:nvPr/>
        </p:nvSpPr>
        <p:spPr>
          <a:xfrm>
            <a:off x="457200" y="502920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80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 *  FROM</a:t>
            </a:r>
            <a:endParaRPr lang="en-US" sz="4800" dirty="0"/>
          </a:p>
        </p:txBody>
      </p:sp>
      <p:sp>
        <p:nvSpPr>
          <p:cNvPr id="271" name="Text 269"/>
          <p:cNvSpPr txBox="1"/>
          <p:nvPr/>
        </p:nvSpPr>
        <p:spPr>
          <a:xfrm>
            <a:off x="457200" y="5650992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080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databases;</a:t>
            </a:r>
            <a:endParaRPr lang="en-US" sz="4800" dirty="0"/>
          </a:p>
        </p:txBody>
      </p:sp>
      <p:sp>
        <p:nvSpPr>
          <p:cNvPr id="272" name="Shape 270"/>
          <p:cNvSpPr/>
          <p:nvPr/>
        </p:nvSpPr>
        <p:spPr>
          <a:xfrm>
            <a:off x="7955280" y="746150"/>
            <a:ext cx="2377440" cy="3185770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3" name="Shape 271"/>
          <p:cNvSpPr/>
          <p:nvPr/>
        </p:nvSpPr>
        <p:spPr>
          <a:xfrm>
            <a:off x="7955280" y="365760"/>
            <a:ext cx="2377440" cy="760781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4" name="Shape 272"/>
          <p:cNvSpPr/>
          <p:nvPr/>
        </p:nvSpPr>
        <p:spPr>
          <a:xfrm>
            <a:off x="7955280" y="3551530"/>
            <a:ext cx="2377440" cy="760781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5" name="Shape 273"/>
          <p:cNvSpPr/>
          <p:nvPr/>
        </p:nvSpPr>
        <p:spPr>
          <a:xfrm>
            <a:off x="7991856" y="1466990"/>
            <a:ext cx="2304288" cy="34235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6" name="Shape 274"/>
          <p:cNvSpPr/>
          <p:nvPr/>
        </p:nvSpPr>
        <p:spPr>
          <a:xfrm>
            <a:off x="7991856" y="2231575"/>
            <a:ext cx="2304288" cy="34235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7" name="Shape 275"/>
          <p:cNvSpPr/>
          <p:nvPr/>
        </p:nvSpPr>
        <p:spPr>
          <a:xfrm>
            <a:off x="7991856" y="2996160"/>
            <a:ext cx="2304288" cy="34235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8" name="Shape 276"/>
          <p:cNvSpPr/>
          <p:nvPr/>
        </p:nvSpPr>
        <p:spPr>
          <a:xfrm>
            <a:off x="10378440" y="1192378"/>
            <a:ext cx="1737360" cy="2328062"/>
          </a:xfrm>
          <a:prstGeom prst="rect">
            <a:avLst/>
          </a:prstGeom>
          <a:solidFill>
            <a:srgbClr val="0F2235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9" name="Shape 277"/>
          <p:cNvSpPr/>
          <p:nvPr/>
        </p:nvSpPr>
        <p:spPr>
          <a:xfrm>
            <a:off x="10378440" y="914400"/>
            <a:ext cx="1737360" cy="555955"/>
          </a:xfrm>
          <a:prstGeom prst="ellipse">
            <a:avLst/>
          </a:prstGeom>
          <a:solidFill>
            <a:srgbClr val="0A1E30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0" name="Shape 278"/>
          <p:cNvSpPr/>
          <p:nvPr/>
        </p:nvSpPr>
        <p:spPr>
          <a:xfrm>
            <a:off x="10378440" y="3242462"/>
            <a:ext cx="1737360" cy="555955"/>
          </a:xfrm>
          <a:prstGeom prst="ellipse">
            <a:avLst/>
          </a:prstGeom>
          <a:solidFill>
            <a:srgbClr val="0F2235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1" name="Shape 279"/>
          <p:cNvSpPr/>
          <p:nvPr/>
        </p:nvSpPr>
        <p:spPr>
          <a:xfrm>
            <a:off x="10415016" y="1719145"/>
            <a:ext cx="1664208" cy="250180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2" name="Shape 280"/>
          <p:cNvSpPr/>
          <p:nvPr/>
        </p:nvSpPr>
        <p:spPr>
          <a:xfrm>
            <a:off x="10415016" y="2277880"/>
            <a:ext cx="1664208" cy="250180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3" name="Shape 281"/>
          <p:cNvSpPr/>
          <p:nvPr/>
        </p:nvSpPr>
        <p:spPr>
          <a:xfrm>
            <a:off x="10415016" y="2836615"/>
            <a:ext cx="1664208" cy="250180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4" name="Shape 282"/>
          <p:cNvSpPr/>
          <p:nvPr/>
        </p:nvSpPr>
        <p:spPr>
          <a:xfrm>
            <a:off x="8961120" y="3160166"/>
            <a:ext cx="1463040" cy="1960474"/>
          </a:xfrm>
          <a:prstGeom prst="rect">
            <a:avLst/>
          </a:prstGeom>
          <a:solidFill>
            <a:srgbClr val="0F2235"/>
          </a:solidFill>
          <a:ln w="1524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5" name="Shape 283"/>
          <p:cNvSpPr/>
          <p:nvPr/>
        </p:nvSpPr>
        <p:spPr>
          <a:xfrm>
            <a:off x="8961120" y="2926080"/>
            <a:ext cx="1463040" cy="468173"/>
          </a:xfrm>
          <a:prstGeom prst="ellipse">
            <a:avLst/>
          </a:prstGeom>
          <a:solidFill>
            <a:srgbClr val="0A1E30"/>
          </a:solidFill>
          <a:ln w="1524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6" name="Shape 284"/>
          <p:cNvSpPr/>
          <p:nvPr/>
        </p:nvSpPr>
        <p:spPr>
          <a:xfrm>
            <a:off x="8961120" y="4886554"/>
            <a:ext cx="1463040" cy="468173"/>
          </a:xfrm>
          <a:prstGeom prst="ellipse">
            <a:avLst/>
          </a:prstGeom>
          <a:solidFill>
            <a:srgbClr val="0F2235"/>
          </a:solidFill>
          <a:ln w="1524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7" name="Shape 285"/>
          <p:cNvSpPr/>
          <p:nvPr/>
        </p:nvSpPr>
        <p:spPr>
          <a:xfrm>
            <a:off x="8997696" y="3603760"/>
            <a:ext cx="1389888" cy="210678"/>
          </a:xfrm>
          <a:prstGeom prst="ellipse">
            <a:avLst/>
          </a:prstGeom>
          <a:solidFill>
            <a:srgbClr val="0F2235"/>
          </a:solidFill>
          <a:ln w="63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8" name="Shape 286"/>
          <p:cNvSpPr/>
          <p:nvPr/>
        </p:nvSpPr>
        <p:spPr>
          <a:xfrm>
            <a:off x="8997696" y="4074274"/>
            <a:ext cx="1389888" cy="210678"/>
          </a:xfrm>
          <a:prstGeom prst="ellipse">
            <a:avLst/>
          </a:prstGeom>
          <a:solidFill>
            <a:srgbClr val="0F2235"/>
          </a:solidFill>
          <a:ln w="63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9" name="Shape 287"/>
          <p:cNvSpPr/>
          <p:nvPr/>
        </p:nvSpPr>
        <p:spPr>
          <a:xfrm>
            <a:off x="8997696" y="4544787"/>
            <a:ext cx="1389888" cy="210678"/>
          </a:xfrm>
          <a:prstGeom prst="ellipse">
            <a:avLst/>
          </a:prstGeom>
          <a:solidFill>
            <a:srgbClr val="0F2235"/>
          </a:solidFill>
          <a:ln w="635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0" name="Shape 288"/>
          <p:cNvSpPr/>
          <p:nvPr/>
        </p:nvSpPr>
        <p:spPr>
          <a:xfrm>
            <a:off x="10515600" y="3727094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1" name="Shape 289"/>
          <p:cNvSpPr/>
          <p:nvPr/>
        </p:nvSpPr>
        <p:spPr>
          <a:xfrm>
            <a:off x="10515600" y="3566160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2" name="Shape 290"/>
          <p:cNvSpPr/>
          <p:nvPr/>
        </p:nvSpPr>
        <p:spPr>
          <a:xfrm>
            <a:off x="10515600" y="4913986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3" name="Shape 291"/>
          <p:cNvSpPr/>
          <p:nvPr/>
        </p:nvSpPr>
        <p:spPr>
          <a:xfrm>
            <a:off x="10552176" y="4032065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4" name="Shape 292"/>
          <p:cNvSpPr/>
          <p:nvPr/>
        </p:nvSpPr>
        <p:spPr>
          <a:xfrm>
            <a:off x="10552176" y="435554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5" name="Shape 293"/>
          <p:cNvSpPr/>
          <p:nvPr/>
        </p:nvSpPr>
        <p:spPr>
          <a:xfrm>
            <a:off x="10552176" y="467902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6" name="Text 294"/>
          <p:cNvSpPr txBox="1"/>
          <p:nvPr/>
        </p:nvSpPr>
        <p:spPr>
          <a:xfrm>
            <a:off x="457200" y="1417320"/>
            <a:ext cx="7315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kern="0" spc="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</a:t>
            </a:r>
            <a:endParaRPr lang="en-US" sz="1800" dirty="0"/>
          </a:p>
        </p:txBody>
      </p:sp>
      <p:sp>
        <p:nvSpPr>
          <p:cNvPr id="297" name="Text 295"/>
          <p:cNvSpPr txBox="1"/>
          <p:nvPr/>
        </p:nvSpPr>
        <p:spPr>
          <a:xfrm>
            <a:off x="365760" y="1755648"/>
            <a:ext cx="73152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</a:t>
            </a:r>
            <a:endParaRPr lang="en-US" sz="12000" dirty="0"/>
          </a:p>
        </p:txBody>
      </p:sp>
      <p:sp>
        <p:nvSpPr>
          <p:cNvPr id="298" name="Shape 296"/>
          <p:cNvSpPr/>
          <p:nvPr/>
        </p:nvSpPr>
        <p:spPr>
          <a:xfrm>
            <a:off x="457200" y="3529584"/>
            <a:ext cx="4754880" cy="6400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9" name="Text 297"/>
          <p:cNvSpPr txBox="1"/>
          <p:nvPr/>
        </p:nvSpPr>
        <p:spPr>
          <a:xfrm>
            <a:off x="457200" y="3675888"/>
            <a:ext cx="73152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Data Analytics/Science</a:t>
            </a:r>
            <a:endParaRPr lang="en-US" sz="2400" dirty="0"/>
          </a:p>
        </p:txBody>
      </p:sp>
      <p:sp>
        <p:nvSpPr>
          <p:cNvPr id="300" name="Shape 298"/>
          <p:cNvSpPr/>
          <p:nvPr/>
        </p:nvSpPr>
        <p:spPr>
          <a:xfrm>
            <a:off x="457200" y="4279392"/>
            <a:ext cx="3840480" cy="402336"/>
          </a:xfrm>
          <a:prstGeom prst="rect">
            <a:avLst/>
          </a:prstGeom>
          <a:solidFill>
            <a:srgbClr val="0F2235"/>
          </a:solidFill>
          <a:ln w="762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1" name="Text 299"/>
          <p:cNvSpPr txBox="1"/>
          <p:nvPr/>
        </p:nvSpPr>
        <p:spPr>
          <a:xfrm>
            <a:off x="594360" y="4352544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Introductory Seminar for Statistics Students</a:t>
            </a:r>
            <a:endParaRPr lang="en-US" sz="1200" dirty="0"/>
          </a:p>
        </p:txBody>
      </p:sp>
      <p:sp>
        <p:nvSpPr>
          <p:cNvPr id="404" name="t404"/>
          <p:cNvSpPr txBox="1"/>
          <p:nvPr/>
        </p:nvSpPr>
        <p:spPr>
          <a:xfrm rot="-900000">
            <a:off x="822960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5" name="t405"/>
          <p:cNvSpPr txBox="1"/>
          <p:nvPr/>
        </p:nvSpPr>
        <p:spPr>
          <a:xfrm rot="-900000">
            <a:off x="905256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6" name="t406"/>
          <p:cNvSpPr txBox="1"/>
          <p:nvPr/>
        </p:nvSpPr>
        <p:spPr>
          <a:xfrm rot="-900000">
            <a:off x="987552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7" name="t407"/>
          <p:cNvSpPr txBox="1"/>
          <p:nvPr/>
        </p:nvSpPr>
        <p:spPr>
          <a:xfrm rot="-900000">
            <a:off x="1069848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8" name="t408"/>
          <p:cNvSpPr txBox="1"/>
          <p:nvPr/>
        </p:nvSpPr>
        <p:spPr>
          <a:xfrm rot="-900000">
            <a:off x="11521440" y="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09" name="t409"/>
          <p:cNvSpPr txBox="1"/>
          <p:nvPr/>
        </p:nvSpPr>
        <p:spPr>
          <a:xfrm rot="-900000">
            <a:off x="864108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0" name="t410"/>
          <p:cNvSpPr txBox="1"/>
          <p:nvPr/>
        </p:nvSpPr>
        <p:spPr>
          <a:xfrm rot="-900000">
            <a:off x="946404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1" name="t411"/>
          <p:cNvSpPr txBox="1"/>
          <p:nvPr/>
        </p:nvSpPr>
        <p:spPr>
          <a:xfrm rot="-900000">
            <a:off x="1028700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2" name="t412"/>
          <p:cNvSpPr txBox="1"/>
          <p:nvPr/>
        </p:nvSpPr>
        <p:spPr>
          <a:xfrm rot="-900000">
            <a:off x="1110996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3" name="t413"/>
          <p:cNvSpPr txBox="1"/>
          <p:nvPr/>
        </p:nvSpPr>
        <p:spPr>
          <a:xfrm rot="-900000">
            <a:off x="11932920" y="685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4" name="t414"/>
          <p:cNvSpPr txBox="1"/>
          <p:nvPr/>
        </p:nvSpPr>
        <p:spPr>
          <a:xfrm rot="-900000">
            <a:off x="822960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5" name="t415"/>
          <p:cNvSpPr txBox="1"/>
          <p:nvPr/>
        </p:nvSpPr>
        <p:spPr>
          <a:xfrm rot="-900000">
            <a:off x="905256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6" name="t416"/>
          <p:cNvSpPr txBox="1"/>
          <p:nvPr/>
        </p:nvSpPr>
        <p:spPr>
          <a:xfrm rot="-900000">
            <a:off x="987552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7" name="t417"/>
          <p:cNvSpPr txBox="1"/>
          <p:nvPr/>
        </p:nvSpPr>
        <p:spPr>
          <a:xfrm rot="-900000">
            <a:off x="1069848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8" name="t418"/>
          <p:cNvSpPr txBox="1"/>
          <p:nvPr/>
        </p:nvSpPr>
        <p:spPr>
          <a:xfrm rot="-900000">
            <a:off x="11521440" y="1371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19" name="t419"/>
          <p:cNvSpPr txBox="1"/>
          <p:nvPr/>
        </p:nvSpPr>
        <p:spPr>
          <a:xfrm rot="-900000">
            <a:off x="864108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0" name="t420"/>
          <p:cNvSpPr txBox="1"/>
          <p:nvPr/>
        </p:nvSpPr>
        <p:spPr>
          <a:xfrm rot="-900000">
            <a:off x="946404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1" name="t421"/>
          <p:cNvSpPr txBox="1"/>
          <p:nvPr/>
        </p:nvSpPr>
        <p:spPr>
          <a:xfrm rot="-900000">
            <a:off x="1028700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2" name="t422"/>
          <p:cNvSpPr txBox="1"/>
          <p:nvPr/>
        </p:nvSpPr>
        <p:spPr>
          <a:xfrm rot="-900000">
            <a:off x="1110996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3" name="t423"/>
          <p:cNvSpPr txBox="1"/>
          <p:nvPr/>
        </p:nvSpPr>
        <p:spPr>
          <a:xfrm rot="-900000">
            <a:off x="11932920" y="2057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4" name="t424"/>
          <p:cNvSpPr txBox="1"/>
          <p:nvPr/>
        </p:nvSpPr>
        <p:spPr>
          <a:xfrm rot="-900000">
            <a:off x="822960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5" name="t425"/>
          <p:cNvSpPr txBox="1"/>
          <p:nvPr/>
        </p:nvSpPr>
        <p:spPr>
          <a:xfrm rot="-900000">
            <a:off x="905256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6" name="t426"/>
          <p:cNvSpPr txBox="1"/>
          <p:nvPr/>
        </p:nvSpPr>
        <p:spPr>
          <a:xfrm rot="-900000">
            <a:off x="987552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7" name="t427"/>
          <p:cNvSpPr txBox="1"/>
          <p:nvPr/>
        </p:nvSpPr>
        <p:spPr>
          <a:xfrm rot="-900000">
            <a:off x="1069848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8" name="t428"/>
          <p:cNvSpPr txBox="1"/>
          <p:nvPr/>
        </p:nvSpPr>
        <p:spPr>
          <a:xfrm rot="-900000">
            <a:off x="11521440" y="2743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29" name="t429"/>
          <p:cNvSpPr txBox="1"/>
          <p:nvPr/>
        </p:nvSpPr>
        <p:spPr>
          <a:xfrm rot="-900000">
            <a:off x="864108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0" name="t430"/>
          <p:cNvSpPr txBox="1"/>
          <p:nvPr/>
        </p:nvSpPr>
        <p:spPr>
          <a:xfrm rot="-900000">
            <a:off x="946404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1" name="t431"/>
          <p:cNvSpPr txBox="1"/>
          <p:nvPr/>
        </p:nvSpPr>
        <p:spPr>
          <a:xfrm rot="-900000">
            <a:off x="1028700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2" name="t432"/>
          <p:cNvSpPr txBox="1"/>
          <p:nvPr/>
        </p:nvSpPr>
        <p:spPr>
          <a:xfrm rot="-900000">
            <a:off x="1110996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3" name="t433"/>
          <p:cNvSpPr txBox="1"/>
          <p:nvPr/>
        </p:nvSpPr>
        <p:spPr>
          <a:xfrm rot="-900000">
            <a:off x="11932920" y="34290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4" name="t434"/>
          <p:cNvSpPr txBox="1"/>
          <p:nvPr/>
        </p:nvSpPr>
        <p:spPr>
          <a:xfrm rot="-900000">
            <a:off x="822960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5" name="t435"/>
          <p:cNvSpPr txBox="1"/>
          <p:nvPr/>
        </p:nvSpPr>
        <p:spPr>
          <a:xfrm rot="-900000">
            <a:off x="905256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6" name="t436"/>
          <p:cNvSpPr txBox="1"/>
          <p:nvPr/>
        </p:nvSpPr>
        <p:spPr>
          <a:xfrm rot="-900000">
            <a:off x="987552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7" name="t437"/>
          <p:cNvSpPr txBox="1"/>
          <p:nvPr/>
        </p:nvSpPr>
        <p:spPr>
          <a:xfrm rot="-900000">
            <a:off x="1069848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8" name="t438"/>
          <p:cNvSpPr txBox="1"/>
          <p:nvPr/>
        </p:nvSpPr>
        <p:spPr>
          <a:xfrm rot="-900000">
            <a:off x="11521440" y="41148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39" name="t439"/>
          <p:cNvSpPr txBox="1"/>
          <p:nvPr/>
        </p:nvSpPr>
        <p:spPr>
          <a:xfrm rot="-900000">
            <a:off x="864108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0" name="t440"/>
          <p:cNvSpPr txBox="1"/>
          <p:nvPr/>
        </p:nvSpPr>
        <p:spPr>
          <a:xfrm rot="-900000">
            <a:off x="946404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1" name="t441"/>
          <p:cNvSpPr txBox="1"/>
          <p:nvPr/>
        </p:nvSpPr>
        <p:spPr>
          <a:xfrm rot="-900000">
            <a:off x="1028700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2" name="t442"/>
          <p:cNvSpPr txBox="1"/>
          <p:nvPr/>
        </p:nvSpPr>
        <p:spPr>
          <a:xfrm rot="-900000">
            <a:off x="1110996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3" name="t443"/>
          <p:cNvSpPr txBox="1"/>
          <p:nvPr/>
        </p:nvSpPr>
        <p:spPr>
          <a:xfrm rot="-900000">
            <a:off x="11932920" y="48006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4" name="t444"/>
          <p:cNvSpPr txBox="1"/>
          <p:nvPr/>
        </p:nvSpPr>
        <p:spPr>
          <a:xfrm rot="-900000">
            <a:off x="822960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5" name="t445"/>
          <p:cNvSpPr txBox="1"/>
          <p:nvPr/>
        </p:nvSpPr>
        <p:spPr>
          <a:xfrm rot="-900000">
            <a:off x="905256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6" name="t446"/>
          <p:cNvSpPr txBox="1"/>
          <p:nvPr/>
        </p:nvSpPr>
        <p:spPr>
          <a:xfrm rot="-900000">
            <a:off x="987552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7" name="t447"/>
          <p:cNvSpPr txBox="1"/>
          <p:nvPr/>
        </p:nvSpPr>
        <p:spPr>
          <a:xfrm rot="-900000">
            <a:off x="1069848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8" name="t448"/>
          <p:cNvSpPr txBox="1"/>
          <p:nvPr/>
        </p:nvSpPr>
        <p:spPr>
          <a:xfrm rot="-900000">
            <a:off x="11521440" y="54864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49" name="t449"/>
          <p:cNvSpPr txBox="1"/>
          <p:nvPr/>
        </p:nvSpPr>
        <p:spPr>
          <a:xfrm rot="-900000">
            <a:off x="864108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0" name="t450"/>
          <p:cNvSpPr txBox="1"/>
          <p:nvPr/>
        </p:nvSpPr>
        <p:spPr>
          <a:xfrm rot="-900000">
            <a:off x="946404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1" name="t451"/>
          <p:cNvSpPr txBox="1"/>
          <p:nvPr/>
        </p:nvSpPr>
        <p:spPr>
          <a:xfrm rot="-900000">
            <a:off x="1028700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2" name="t452"/>
          <p:cNvSpPr txBox="1"/>
          <p:nvPr/>
        </p:nvSpPr>
        <p:spPr>
          <a:xfrm rot="-900000">
            <a:off x="1110996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3" name="t453"/>
          <p:cNvSpPr txBox="1"/>
          <p:nvPr/>
        </p:nvSpPr>
        <p:spPr>
          <a:xfrm rot="-900000">
            <a:off x="11932920" y="6172200"/>
            <a:ext cx="658368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1E4A5E">
                    <a:alpha val="45000"/>
                  </a:srgbClr>
                </a:solidFill>
                <a:latin typeface="Calibri"/>
              </a:rPr>
              <a:t>SQL</a:t>
            </a:r>
          </a:p>
        </p:txBody>
      </p:sp>
      <p:sp>
        <p:nvSpPr>
          <p:cNvPr id="454" name="r454"/>
          <p:cNvSpPr/>
          <p:nvPr/>
        </p:nvSpPr>
        <p:spPr>
          <a:xfrm>
            <a:off x="502920" y="5577840"/>
            <a:ext cx="70591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5" name="t455"/>
          <p:cNvSpPr txBox="1"/>
          <p:nvPr/>
        </p:nvSpPr>
        <p:spPr>
          <a:xfrm>
            <a:off x="576072" y="5614416"/>
            <a:ext cx="61447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SELECT</a:t>
            </a:r>
          </a:p>
        </p:txBody>
      </p:sp>
      <p:sp>
        <p:nvSpPr>
          <p:cNvPr id="456" name="r456"/>
          <p:cNvSpPr/>
          <p:nvPr/>
        </p:nvSpPr>
        <p:spPr>
          <a:xfrm>
            <a:off x="1481328" y="5577840"/>
            <a:ext cx="621792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7" name="t457"/>
          <p:cNvSpPr txBox="1"/>
          <p:nvPr/>
        </p:nvSpPr>
        <p:spPr>
          <a:xfrm>
            <a:off x="1554480" y="5614416"/>
            <a:ext cx="530352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WHERE</a:t>
            </a:r>
          </a:p>
        </p:txBody>
      </p:sp>
      <p:sp>
        <p:nvSpPr>
          <p:cNvPr id="458" name="r458"/>
          <p:cNvSpPr/>
          <p:nvPr/>
        </p:nvSpPr>
        <p:spPr>
          <a:xfrm>
            <a:off x="2340864" y="5577840"/>
            <a:ext cx="537667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59" name="t459"/>
          <p:cNvSpPr txBox="1"/>
          <p:nvPr/>
        </p:nvSpPr>
        <p:spPr>
          <a:xfrm>
            <a:off x="2414016" y="5614416"/>
            <a:ext cx="446227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JOIN</a:t>
            </a:r>
          </a:p>
        </p:txBody>
      </p:sp>
      <p:sp>
        <p:nvSpPr>
          <p:cNvPr id="460" name="r460"/>
          <p:cNvSpPr/>
          <p:nvPr/>
        </p:nvSpPr>
        <p:spPr>
          <a:xfrm>
            <a:off x="3054096" y="5577840"/>
            <a:ext cx="87416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1" name="t461"/>
          <p:cNvSpPr txBox="1"/>
          <p:nvPr/>
        </p:nvSpPr>
        <p:spPr>
          <a:xfrm>
            <a:off x="3127248" y="5614416"/>
            <a:ext cx="78272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GROUP BY</a:t>
            </a:r>
          </a:p>
        </p:txBody>
      </p:sp>
      <p:sp>
        <p:nvSpPr>
          <p:cNvPr id="462" name="r462"/>
          <p:cNvSpPr/>
          <p:nvPr/>
        </p:nvSpPr>
        <p:spPr>
          <a:xfrm>
            <a:off x="4187952" y="5577840"/>
            <a:ext cx="87416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3" name="t463"/>
          <p:cNvSpPr txBox="1"/>
          <p:nvPr/>
        </p:nvSpPr>
        <p:spPr>
          <a:xfrm>
            <a:off x="4261104" y="5614416"/>
            <a:ext cx="78272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ORDER BY</a:t>
            </a:r>
          </a:p>
        </p:txBody>
      </p:sp>
      <p:sp>
        <p:nvSpPr>
          <p:cNvPr id="464" name="r464"/>
          <p:cNvSpPr/>
          <p:nvPr/>
        </p:nvSpPr>
        <p:spPr>
          <a:xfrm>
            <a:off x="502920" y="5870448"/>
            <a:ext cx="621792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5" name="t465"/>
          <p:cNvSpPr txBox="1"/>
          <p:nvPr/>
        </p:nvSpPr>
        <p:spPr>
          <a:xfrm>
            <a:off x="576072" y="5907024"/>
            <a:ext cx="530352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AVG()</a:t>
            </a:r>
          </a:p>
        </p:txBody>
      </p:sp>
      <p:sp>
        <p:nvSpPr>
          <p:cNvPr id="466" name="r466"/>
          <p:cNvSpPr/>
          <p:nvPr/>
        </p:nvSpPr>
        <p:spPr>
          <a:xfrm>
            <a:off x="1463040" y="5870448"/>
            <a:ext cx="70591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7" name="t467"/>
          <p:cNvSpPr txBox="1"/>
          <p:nvPr/>
        </p:nvSpPr>
        <p:spPr>
          <a:xfrm>
            <a:off x="1536192" y="5907024"/>
            <a:ext cx="61447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HAVING</a:t>
            </a:r>
          </a:p>
        </p:txBody>
      </p:sp>
      <p:sp>
        <p:nvSpPr>
          <p:cNvPr id="468" name="r468"/>
          <p:cNvSpPr/>
          <p:nvPr/>
        </p:nvSpPr>
        <p:spPr>
          <a:xfrm>
            <a:off x="2505456" y="5870448"/>
            <a:ext cx="621792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69" name="t469"/>
          <p:cNvSpPr txBox="1"/>
          <p:nvPr/>
        </p:nvSpPr>
        <p:spPr>
          <a:xfrm>
            <a:off x="2578608" y="5907024"/>
            <a:ext cx="530352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LIMIT</a:t>
            </a:r>
          </a:p>
        </p:txBody>
      </p:sp>
      <p:sp>
        <p:nvSpPr>
          <p:cNvPr id="470" name="r470"/>
          <p:cNvSpPr/>
          <p:nvPr/>
        </p:nvSpPr>
        <p:spPr>
          <a:xfrm>
            <a:off x="3310128" y="5870448"/>
            <a:ext cx="874166" cy="219456"/>
          </a:xfrm>
          <a:prstGeom prst="rect">
            <a:avLst/>
          </a:prstGeom>
          <a:solidFill>
            <a:srgbClr val="091828">
              <a:alpha val="25000"/>
            </a:srgbClr>
          </a:solidFill>
          <a:ln w="5080">
            <a:solidFill>
              <a:srgbClr val="162840">
                <a:alpha val="25000"/>
              </a:srgbClr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71" name="t471"/>
          <p:cNvSpPr txBox="1"/>
          <p:nvPr/>
        </p:nvSpPr>
        <p:spPr>
          <a:xfrm>
            <a:off x="3383280" y="5907024"/>
            <a:ext cx="782726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50" dirty="0">
                <a:solidFill>
                  <a:srgbClr val="1E4A6A">
                    <a:alpha val="25000"/>
                  </a:srgbClr>
                </a:solidFill>
                <a:latin typeface="Courier New"/>
              </a:rPr>
              <a:t>DISTINCT</a:t>
            </a:r>
          </a:p>
        </p:txBody>
      </p:sp>
      <p:sp>
        <p:nvSpPr>
          <p:cNvPr id="472" name="r472"/>
          <p:cNvSpPr/>
          <p:nvPr/>
        </p:nvSpPr>
        <p:spPr>
          <a:xfrm>
            <a:off x="502920" y="6144768"/>
            <a:ext cx="5303520" cy="658368"/>
          </a:xfrm>
          <a:prstGeom prst="rect">
            <a:avLst/>
          </a:prstGeom>
          <a:solidFill>
            <a:srgbClr val="060E18"/>
          </a:solidFill>
          <a:ln w="7620">
            <a:solidFill>
              <a:srgbClr val="1A3040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473" name="t473"/>
          <p:cNvSpPr txBox="1"/>
          <p:nvPr/>
        </p:nvSpPr>
        <p:spPr>
          <a:xfrm>
            <a:off x="594360" y="6217920"/>
            <a:ext cx="164592" cy="493776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700" dirty="0">
                <a:solidFill>
                  <a:srgbClr val="2A4A5A"/>
                </a:solidFill>
                <a:latin typeface="Courier New"/>
              </a:rPr>
              <a:t>1</a:t>
            </a:r>
          </a:p>
          <a:p>
            <a:pPr marL="0" indent="0" algn="l">
              <a:buNone/>
            </a:pPr>
            <a:r>
              <a:rPr lang="en-US" sz="700" dirty="0">
                <a:solidFill>
                  <a:srgbClr val="2A4A5A"/>
                </a:solidFill>
                <a:latin typeface="Courier New"/>
              </a:rPr>
              <a:t>2</a:t>
            </a:r>
          </a:p>
          <a:p>
            <a:pPr marL="0" indent="0" algn="l">
              <a:buNone/>
            </a:pPr>
            <a:r>
              <a:rPr lang="en-US" sz="700" dirty="0">
                <a:solidFill>
                  <a:srgbClr val="2A4A5A"/>
                </a:solidFill>
                <a:latin typeface="Courier New"/>
              </a:rPr>
              <a:t>3</a:t>
            </a:r>
          </a:p>
        </p:txBody>
      </p:sp>
      <p:sp>
        <p:nvSpPr>
          <p:cNvPr id="474" name="t474"/>
          <p:cNvSpPr txBox="1"/>
          <p:nvPr/>
        </p:nvSpPr>
        <p:spPr>
          <a:xfrm>
            <a:off x="804672" y="6217920"/>
            <a:ext cx="64008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/>
              </a:rPr>
              <a:t>SELECT</a:t>
            </a:r>
          </a:p>
        </p:txBody>
      </p:sp>
      <p:sp>
        <p:nvSpPr>
          <p:cNvPr id="475" name="t475"/>
          <p:cNvSpPr txBox="1"/>
          <p:nvPr/>
        </p:nvSpPr>
        <p:spPr>
          <a:xfrm>
            <a:off x="1463040" y="6217920"/>
            <a:ext cx="256032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/>
              </a:rPr>
              <a:t>destination_name, category</a:t>
            </a:r>
          </a:p>
        </p:txBody>
      </p:sp>
      <p:sp>
        <p:nvSpPr>
          <p:cNvPr id="476" name="t476"/>
          <p:cNvSpPr txBox="1"/>
          <p:nvPr/>
        </p:nvSpPr>
        <p:spPr>
          <a:xfrm>
            <a:off x="804672" y="6382512"/>
            <a:ext cx="475488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/>
              </a:rPr>
              <a:t>FROM</a:t>
            </a:r>
          </a:p>
        </p:txBody>
      </p:sp>
      <p:sp>
        <p:nvSpPr>
          <p:cNvPr id="477" name="t477"/>
          <p:cNvSpPr txBox="1"/>
          <p:nvPr/>
        </p:nvSpPr>
        <p:spPr>
          <a:xfrm>
            <a:off x="1298448" y="6382512"/>
            <a:ext cx="146304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dirty="0">
                <a:solidFill>
                  <a:srgbClr val="4FC3F7"/>
                </a:solidFill>
                <a:latin typeface="Courier New"/>
              </a:rPr>
              <a:t>destinations</a:t>
            </a:r>
          </a:p>
        </p:txBody>
      </p:sp>
      <p:sp>
        <p:nvSpPr>
          <p:cNvPr id="478" name="t478"/>
          <p:cNvSpPr txBox="1"/>
          <p:nvPr/>
        </p:nvSpPr>
        <p:spPr>
          <a:xfrm>
            <a:off x="804672" y="6547104"/>
            <a:ext cx="54864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/>
              </a:rPr>
              <a:t>WHERE</a:t>
            </a:r>
          </a:p>
        </p:txBody>
      </p:sp>
      <p:sp>
        <p:nvSpPr>
          <p:cNvPr id="479" name="t479"/>
          <p:cNvSpPr txBox="1"/>
          <p:nvPr/>
        </p:nvSpPr>
        <p:spPr>
          <a:xfrm>
            <a:off x="1371600" y="6547104"/>
            <a:ext cx="3291840" cy="1645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/>
              </a:rPr>
              <a:t>category = 'Beach';</a:t>
            </a:r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 Today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594360" y="148132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💡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SQL is and why it matters in real data work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93976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594360" y="2185416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212848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data is actually structured in databases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2798064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594360" y="288950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⌨️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188720" y="2916936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SQL commands — the ones you'll use 80% of the time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3502152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594360" y="359359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🧹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621024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cleaning and statistical summaries in SQL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57200" y="4206240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594360" y="429768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325112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SQL connects to R and Python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457200" y="4910328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594360" y="500176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🎬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1188720" y="5029200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demo tying it all together</a:t>
            </a:r>
            <a:endParaRPr lang="en-US" sz="1500" dirty="0"/>
          </a:p>
        </p:txBody>
      </p:sp>
      <p:sp>
        <p:nvSpPr>
          <p:cNvPr id="24" name="Shape 18">
            <a:extLst>
              <a:ext uri="{FF2B5EF4-FFF2-40B4-BE49-F238E27FC236}">
                <a16:creationId xmlns:a16="http://schemas.microsoft.com/office/drawing/2014/main" id="{C2277376-1D87-B390-9487-B9B530C962C5}"/>
              </a:ext>
            </a:extLst>
          </p:cNvPr>
          <p:cNvSpPr/>
          <p:nvPr/>
        </p:nvSpPr>
        <p:spPr>
          <a:xfrm>
            <a:off x="462915" y="5630037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pic>
        <p:nvPicPr>
          <p:cNvPr id="26" name="Picture 25" descr="Question Mark l What is a Question Mark? - Teaching Wiki">
            <a:extLst>
              <a:ext uri="{FF2B5EF4-FFF2-40B4-BE49-F238E27FC236}">
                <a16:creationId xmlns:a16="http://schemas.microsoft.com/office/drawing/2014/main" id="{3C135F6B-A639-1DA2-792C-60FD482E74CF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</a:blip>
          <a:srcRect/>
          <a:stretch>
            <a:fillRect/>
          </a:stretch>
        </p:blipFill>
        <p:spPr>
          <a:xfrm>
            <a:off x="736016" y="5757510"/>
            <a:ext cx="219607" cy="311981"/>
          </a:xfrm>
          <a:prstGeom prst="rect">
            <a:avLst/>
          </a:prstGeom>
        </p:spPr>
      </p:pic>
      <p:sp>
        <p:nvSpPr>
          <p:cNvPr id="28" name="Text 20">
            <a:extLst>
              <a:ext uri="{FF2B5EF4-FFF2-40B4-BE49-F238E27FC236}">
                <a16:creationId xmlns:a16="http://schemas.microsoft.com/office/drawing/2014/main" id="{32EB217B-008C-F59C-7B4D-B50C2A866E6C}"/>
              </a:ext>
            </a:extLst>
          </p:cNvPr>
          <p:cNvSpPr txBox="1"/>
          <p:nvPr/>
        </p:nvSpPr>
        <p:spPr>
          <a:xfrm>
            <a:off x="1188720" y="5736116"/>
            <a:ext cx="102412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</a:t>
            </a:r>
            <a:r>
              <a:rPr lang="en-US" sz="150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Forum — Feel free to ask</a:t>
            </a:r>
            <a:endParaRPr lang="en-US" sz="1500" dirty="0"/>
          </a:p>
        </p:txBody>
      </p:sp>
    </p:spTree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We Start: A Quick Poll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5394960" cy="1188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85800" y="173736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✋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81051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Excel before?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309360" y="1463040"/>
            <a:ext cx="5394960" cy="1188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6537960" y="173736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✋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7269480" y="181051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R or Python?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5394960" cy="1188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85800" y="324612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✋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31927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Heard of SQL?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309360" y="2971800"/>
            <a:ext cx="5394960" cy="1188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6537960" y="3246120"/>
            <a:ext cx="6400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rgbClr val="000000"/>
                </a:solidFill>
              </a:rPr>
              <a:t>✋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7269480" y="3319272"/>
            <a:ext cx="4297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a SQL query?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56692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wrong answers — just helping me read the room.</a:t>
            </a:r>
            <a:endParaRPr lang="en-US" sz="1200" dirty="0"/>
          </a:p>
        </p:txBody>
      </p:sp>
    </p:spTree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SQL's Role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What SQL is and where it fits in real data work</a:t>
            </a:r>
          </a:p>
        </p:txBody>
      </p:sp>
    </p:spTree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SQL?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Text 3"/>
          <p:cNvSpPr txBox="1"/>
          <p:nvPr/>
        </p:nvSpPr>
        <p:spPr>
          <a:xfrm>
            <a:off x="457200" y="117043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 Structured Query Language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66420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Pronounced: </a:t>
            </a:r>
            <a:r>
              <a:rPr lang="en-US" sz="14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"sequel"</a:t>
            </a: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or  </a:t>
            </a:r>
            <a:r>
              <a:rPr lang="en-US" sz="14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"S-Q-L"</a:t>
            </a: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both are correct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121408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640080" y="2212848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language used to communicate with databases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88336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640080" y="2779776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Retrieve, filter, summarize, and combine data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255264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40080" y="3346704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build apps, run models, or make charts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822192"/>
            <a:ext cx="71323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 txBox="1"/>
          <p:nvPr/>
        </p:nvSpPr>
        <p:spPr>
          <a:xfrm>
            <a:off x="640080" y="3913632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Gets you the data you need to do all of that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4709160"/>
            <a:ext cx="7132320" cy="566928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640080" y="4818888"/>
            <a:ext cx="6766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"SQL is closer to writing a sentence than writing a program."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8430768" y="4123944"/>
            <a:ext cx="3291840" cy="9144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Shape 16"/>
          <p:cNvSpPr/>
          <p:nvPr/>
        </p:nvSpPr>
        <p:spPr>
          <a:xfrm>
            <a:off x="8748979" y="3970325"/>
            <a:ext cx="182880" cy="201168"/>
          </a:xfrm>
          <a:prstGeom prst="rect">
            <a:avLst/>
          </a:prstGeom>
          <a:solidFill>
            <a:srgbClr val="0A1824"/>
          </a:solidFill>
          <a:ln w="635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Shape 17"/>
          <p:cNvSpPr/>
          <p:nvPr/>
        </p:nvSpPr>
        <p:spPr>
          <a:xfrm>
            <a:off x="8595360" y="4069080"/>
            <a:ext cx="182880" cy="201168"/>
          </a:xfrm>
          <a:prstGeom prst="rect">
            <a:avLst/>
          </a:prstGeom>
          <a:solidFill>
            <a:srgbClr val="0D2035"/>
          </a:solidFill>
          <a:ln w="635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Shape 18"/>
          <p:cNvSpPr/>
          <p:nvPr/>
        </p:nvSpPr>
        <p:spPr>
          <a:xfrm>
            <a:off x="11291011" y="3970325"/>
            <a:ext cx="182880" cy="201168"/>
          </a:xfrm>
          <a:prstGeom prst="rect">
            <a:avLst/>
          </a:prstGeom>
          <a:solidFill>
            <a:srgbClr val="0A1824"/>
          </a:solidFill>
          <a:ln w="635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Shape 19"/>
          <p:cNvSpPr/>
          <p:nvPr/>
        </p:nvSpPr>
        <p:spPr>
          <a:xfrm>
            <a:off x="11137392" y="4069080"/>
            <a:ext cx="182880" cy="201168"/>
          </a:xfrm>
          <a:prstGeom prst="rect">
            <a:avLst/>
          </a:prstGeom>
          <a:solidFill>
            <a:srgbClr val="0D2035"/>
          </a:solidFill>
          <a:ln w="635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Shape 20"/>
          <p:cNvSpPr/>
          <p:nvPr/>
        </p:nvSpPr>
        <p:spPr>
          <a:xfrm>
            <a:off x="8577072" y="886968"/>
            <a:ext cx="3291840" cy="201168"/>
          </a:xfrm>
          <a:prstGeom prst="rect">
            <a:avLst/>
          </a:prstGeom>
          <a:solidFill>
            <a:srgbClr val="162840"/>
          </a:solidFill>
          <a:ln w="1016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Shape 21"/>
          <p:cNvSpPr/>
          <p:nvPr/>
        </p:nvSpPr>
        <p:spPr>
          <a:xfrm>
            <a:off x="8321040" y="1051560"/>
            <a:ext cx="256032" cy="0"/>
          </a:xfrm>
          <a:prstGeom prst="line">
            <a:avLst/>
          </a:prstGeom>
          <a:noFill/>
          <a:ln w="1016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4" name="Shape 22"/>
          <p:cNvSpPr/>
          <p:nvPr/>
        </p:nvSpPr>
        <p:spPr>
          <a:xfrm>
            <a:off x="11612880" y="1051560"/>
            <a:ext cx="256032" cy="0"/>
          </a:xfrm>
          <a:prstGeom prst="line">
            <a:avLst/>
          </a:prstGeom>
          <a:noFill/>
          <a:ln w="1016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Shape 23"/>
          <p:cNvSpPr/>
          <p:nvPr/>
        </p:nvSpPr>
        <p:spPr>
          <a:xfrm>
            <a:off x="11612880" y="1051560"/>
            <a:ext cx="256032" cy="3017520"/>
          </a:xfrm>
          <a:prstGeom prst="rect">
            <a:avLst/>
          </a:prstGeom>
          <a:solidFill>
            <a:srgbClr val="0A1E30"/>
          </a:solidFill>
          <a:ln w="1016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Shape 24"/>
          <p:cNvSpPr/>
          <p:nvPr/>
        </p:nvSpPr>
        <p:spPr>
          <a:xfrm>
            <a:off x="11612880" y="1051560"/>
            <a:ext cx="256032" cy="0"/>
          </a:xfrm>
          <a:prstGeom prst="line">
            <a:avLst/>
          </a:prstGeom>
          <a:noFill/>
          <a:ln w="1016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Shape 25"/>
          <p:cNvSpPr/>
          <p:nvPr/>
        </p:nvSpPr>
        <p:spPr>
          <a:xfrm>
            <a:off x="11612880" y="4069080"/>
            <a:ext cx="256032" cy="0"/>
          </a:xfrm>
          <a:prstGeom prst="line">
            <a:avLst/>
          </a:prstGeom>
          <a:noFill/>
          <a:ln w="7620">
            <a:solidFill>
              <a:srgbClr val="1A3A5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Shape 26"/>
          <p:cNvSpPr/>
          <p:nvPr/>
        </p:nvSpPr>
        <p:spPr>
          <a:xfrm>
            <a:off x="8321040" y="1051560"/>
            <a:ext cx="3291840" cy="3017520"/>
          </a:xfrm>
          <a:prstGeom prst="rect">
            <a:avLst/>
          </a:prstGeom>
          <a:solidFill>
            <a:srgbClr val="0D2035"/>
          </a:solidFill>
          <a:ln w="1270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Shape 27"/>
          <p:cNvSpPr/>
          <p:nvPr/>
        </p:nvSpPr>
        <p:spPr>
          <a:xfrm>
            <a:off x="8421624" y="1143000"/>
            <a:ext cx="3090672" cy="841248"/>
          </a:xfrm>
          <a:prstGeom prst="rect">
            <a:avLst/>
          </a:prstGeom>
          <a:solidFill>
            <a:srgbClr val="091826"/>
          </a:solidFill>
          <a:ln w="635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" name="Shape 28"/>
          <p:cNvSpPr/>
          <p:nvPr/>
        </p:nvSpPr>
        <p:spPr>
          <a:xfrm>
            <a:off x="8458200" y="1179576"/>
            <a:ext cx="3017520" cy="768096"/>
          </a:xfrm>
          <a:prstGeom prst="rect">
            <a:avLst/>
          </a:prstGeom>
          <a:solidFill>
            <a:srgbClr val="102840"/>
          </a:solidFill>
          <a:ln w="889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Shape 29"/>
          <p:cNvSpPr/>
          <p:nvPr/>
        </p:nvSpPr>
        <p:spPr>
          <a:xfrm>
            <a:off x="8458200" y="1179576"/>
            <a:ext cx="3017520" cy="27432"/>
          </a:xfrm>
          <a:prstGeom prst="rect">
            <a:avLst/>
          </a:prstGeom>
          <a:solidFill>
            <a:srgbClr val="1E4A6A"/>
          </a:solidFill>
          <a:ln w="12700">
            <a:solidFill>
              <a:srgbClr val="1E4A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2" name="Shape 30"/>
          <p:cNvSpPr/>
          <p:nvPr/>
        </p:nvSpPr>
        <p:spPr>
          <a:xfrm>
            <a:off x="9491472" y="1516075"/>
            <a:ext cx="1005840" cy="1828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Shape 31"/>
          <p:cNvSpPr/>
          <p:nvPr/>
        </p:nvSpPr>
        <p:spPr>
          <a:xfrm>
            <a:off x="9464040" y="1479499"/>
            <a:ext cx="1005840" cy="182880"/>
          </a:xfrm>
          <a:prstGeom prst="rect">
            <a:avLst/>
          </a:prstGeom>
          <a:solidFill>
            <a:srgbClr val="1A4A6A"/>
          </a:solidFill>
          <a:ln w="1143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Shape 32"/>
          <p:cNvSpPr/>
          <p:nvPr/>
        </p:nvSpPr>
        <p:spPr>
          <a:xfrm>
            <a:off x="9573768" y="1506931"/>
            <a:ext cx="402336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Text 33"/>
          <p:cNvSpPr txBox="1"/>
          <p:nvPr/>
        </p:nvSpPr>
        <p:spPr>
          <a:xfrm>
            <a:off x="8494776" y="1746504"/>
            <a:ext cx="2944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cs typeface="Courier New" pitchFamily="34" charset="-120"/>
              </a:rPr>
              <a:t>destinations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8421624" y="2057400"/>
            <a:ext cx="3090672" cy="841248"/>
          </a:xfrm>
          <a:prstGeom prst="rect">
            <a:avLst/>
          </a:prstGeom>
          <a:solidFill>
            <a:srgbClr val="091826"/>
          </a:solidFill>
          <a:ln w="635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Shape 35"/>
          <p:cNvSpPr/>
          <p:nvPr/>
        </p:nvSpPr>
        <p:spPr>
          <a:xfrm>
            <a:off x="8458200" y="2093976"/>
            <a:ext cx="3017520" cy="768096"/>
          </a:xfrm>
          <a:prstGeom prst="rect">
            <a:avLst/>
          </a:prstGeom>
          <a:solidFill>
            <a:srgbClr val="102840"/>
          </a:solidFill>
          <a:ln w="889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8" name="Shape 36"/>
          <p:cNvSpPr/>
          <p:nvPr/>
        </p:nvSpPr>
        <p:spPr>
          <a:xfrm>
            <a:off x="8458200" y="2093976"/>
            <a:ext cx="3017520" cy="27432"/>
          </a:xfrm>
          <a:prstGeom prst="rect">
            <a:avLst/>
          </a:prstGeom>
          <a:solidFill>
            <a:srgbClr val="1E4A6A"/>
          </a:solidFill>
          <a:ln w="12700">
            <a:solidFill>
              <a:srgbClr val="1E4A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9" name="Shape 37"/>
          <p:cNvSpPr/>
          <p:nvPr/>
        </p:nvSpPr>
        <p:spPr>
          <a:xfrm>
            <a:off x="9491472" y="2430475"/>
            <a:ext cx="1005840" cy="1828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Shape 38"/>
          <p:cNvSpPr/>
          <p:nvPr/>
        </p:nvSpPr>
        <p:spPr>
          <a:xfrm>
            <a:off x="9464040" y="2393899"/>
            <a:ext cx="1005840" cy="182880"/>
          </a:xfrm>
          <a:prstGeom prst="rect">
            <a:avLst/>
          </a:prstGeom>
          <a:solidFill>
            <a:srgbClr val="1A4A6A"/>
          </a:solidFill>
          <a:ln w="1143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1" name="Shape 39"/>
          <p:cNvSpPr/>
          <p:nvPr/>
        </p:nvSpPr>
        <p:spPr>
          <a:xfrm>
            <a:off x="9573768" y="2421331"/>
            <a:ext cx="402336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2" name="Text 40"/>
          <p:cNvSpPr txBox="1"/>
          <p:nvPr/>
        </p:nvSpPr>
        <p:spPr>
          <a:xfrm>
            <a:off x="8494776" y="2660904"/>
            <a:ext cx="2944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cs typeface="Courier New" pitchFamily="34" charset="-120"/>
              </a:rPr>
              <a:t>tourists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8421624" y="2971800"/>
            <a:ext cx="3090672" cy="841248"/>
          </a:xfrm>
          <a:prstGeom prst="rect">
            <a:avLst/>
          </a:prstGeom>
          <a:solidFill>
            <a:srgbClr val="091826"/>
          </a:solidFill>
          <a:ln w="6350">
            <a:solidFill>
              <a:srgbClr val="0A162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4" name="Shape 42"/>
          <p:cNvSpPr/>
          <p:nvPr/>
        </p:nvSpPr>
        <p:spPr>
          <a:xfrm>
            <a:off x="8458200" y="3008376"/>
            <a:ext cx="3017520" cy="768096"/>
          </a:xfrm>
          <a:prstGeom prst="rect">
            <a:avLst/>
          </a:prstGeom>
          <a:solidFill>
            <a:srgbClr val="102840"/>
          </a:solidFill>
          <a:ln w="8890">
            <a:solidFill>
              <a:srgbClr val="1E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5" name="Shape 43"/>
          <p:cNvSpPr/>
          <p:nvPr/>
        </p:nvSpPr>
        <p:spPr>
          <a:xfrm>
            <a:off x="8458200" y="3008376"/>
            <a:ext cx="3017520" cy="27432"/>
          </a:xfrm>
          <a:prstGeom prst="rect">
            <a:avLst/>
          </a:prstGeom>
          <a:solidFill>
            <a:srgbClr val="1E4A6A"/>
          </a:solidFill>
          <a:ln w="12700">
            <a:solidFill>
              <a:srgbClr val="1E4A6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6" name="Shape 44"/>
          <p:cNvSpPr/>
          <p:nvPr/>
        </p:nvSpPr>
        <p:spPr>
          <a:xfrm>
            <a:off x="9491472" y="3344875"/>
            <a:ext cx="1005840" cy="182880"/>
          </a:xfrm>
          <a:prstGeom prst="rect">
            <a:avLst/>
          </a:prstGeom>
          <a:solidFill>
            <a:srgbClr val="060E1A"/>
          </a:solidFill>
          <a:ln w="12700">
            <a:solidFill>
              <a:srgbClr val="060E1A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7" name="Shape 45"/>
          <p:cNvSpPr/>
          <p:nvPr/>
        </p:nvSpPr>
        <p:spPr>
          <a:xfrm>
            <a:off x="9464040" y="3308299"/>
            <a:ext cx="1005840" cy="182880"/>
          </a:xfrm>
          <a:prstGeom prst="rect">
            <a:avLst/>
          </a:prstGeom>
          <a:solidFill>
            <a:srgbClr val="1A4A6A"/>
          </a:solidFill>
          <a:ln w="1143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8" name="Shape 46"/>
          <p:cNvSpPr/>
          <p:nvPr/>
        </p:nvSpPr>
        <p:spPr>
          <a:xfrm>
            <a:off x="9573768" y="3335731"/>
            <a:ext cx="402336" cy="36576"/>
          </a:xfrm>
          <a:prstGeom prst="rect">
            <a:avLst/>
          </a:prstGeom>
          <a:solidFill>
            <a:srgbClr val="4FC3F7"/>
          </a:solidFill>
          <a:ln w="1270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9" name="Text 47"/>
          <p:cNvSpPr txBox="1"/>
          <p:nvPr/>
        </p:nvSpPr>
        <p:spPr>
          <a:xfrm>
            <a:off x="8494776" y="3575304"/>
            <a:ext cx="29443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446520" y="1078992"/>
            <a:ext cx="1444752" cy="402336"/>
          </a:xfrm>
          <a:prstGeom prst="rect">
            <a:avLst/>
          </a:prstGeom>
          <a:solidFill>
            <a:srgbClr val="0A2218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1" name="Text 49"/>
          <p:cNvSpPr txBox="1"/>
          <p:nvPr/>
        </p:nvSpPr>
        <p:spPr>
          <a:xfrm>
            <a:off x="6537960" y="1115568"/>
            <a:ext cx="12618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6537960" y="1298448"/>
            <a:ext cx="126187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cabinet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7891272" y="1280160"/>
            <a:ext cx="429768" cy="1129284"/>
          </a:xfrm>
          <a:prstGeom prst="line">
            <a:avLst/>
          </a:prstGeom>
          <a:noFill/>
          <a:ln w="1016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54" name="Shape 52"/>
          <p:cNvSpPr/>
          <p:nvPr/>
        </p:nvSpPr>
        <p:spPr>
          <a:xfrm>
            <a:off x="6446520" y="2148840"/>
            <a:ext cx="1444752" cy="402336"/>
          </a:xfrm>
          <a:prstGeom prst="rect">
            <a:avLst/>
          </a:prstGeom>
          <a:solidFill>
            <a:srgbClr val="0A2218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5" name="Text 53"/>
          <p:cNvSpPr txBox="1"/>
          <p:nvPr/>
        </p:nvSpPr>
        <p:spPr>
          <a:xfrm>
            <a:off x="6537960" y="2185416"/>
            <a:ext cx="126187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6537960" y="2368296"/>
            <a:ext cx="1261872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drawer = one table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7891272" y="2350008"/>
            <a:ext cx="566928" cy="128016"/>
          </a:xfrm>
          <a:prstGeom prst="line">
            <a:avLst/>
          </a:prstGeom>
          <a:noFill/>
          <a:ln w="1016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58" name="Shape 56"/>
          <p:cNvSpPr/>
          <p:nvPr/>
        </p:nvSpPr>
        <p:spPr>
          <a:xfrm>
            <a:off x="9966960" y="4325112"/>
            <a:ext cx="9144" cy="256032"/>
          </a:xfrm>
          <a:prstGeom prst="line">
            <a:avLst/>
          </a:prstGeom>
          <a:noFill/>
          <a:ln w="1524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59" name="Text 57"/>
          <p:cNvSpPr txBox="1"/>
          <p:nvPr/>
        </p:nvSpPr>
        <p:spPr>
          <a:xfrm>
            <a:off x="8229600" y="4599432"/>
            <a:ext cx="3474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a drawer: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7726680" y="3950208"/>
            <a:ext cx="1005840" cy="310896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1" name="Text 59"/>
          <p:cNvSpPr txBox="1"/>
          <p:nvPr/>
        </p:nvSpPr>
        <p:spPr>
          <a:xfrm>
            <a:off x="7763256" y="4005072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lang="en-US" sz="800" dirty="0"/>
          </a:p>
        </p:txBody>
      </p:sp>
      <p:sp>
        <p:nvSpPr>
          <p:cNvPr id="62" name="Shape 60"/>
          <p:cNvSpPr/>
          <p:nvPr/>
        </p:nvSpPr>
        <p:spPr>
          <a:xfrm>
            <a:off x="8732520" y="3950208"/>
            <a:ext cx="1051560" cy="310896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3" name="Text 61"/>
          <p:cNvSpPr txBox="1"/>
          <p:nvPr/>
        </p:nvSpPr>
        <p:spPr>
          <a:xfrm>
            <a:off x="8769096" y="4005072"/>
            <a:ext cx="978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9784080" y="3950208"/>
            <a:ext cx="1143000" cy="310896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5" name="Text 63"/>
          <p:cNvSpPr txBox="1"/>
          <p:nvPr/>
        </p:nvSpPr>
        <p:spPr>
          <a:xfrm>
            <a:off x="9820656" y="4005072"/>
            <a:ext cx="1069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726680" y="4261104"/>
            <a:ext cx="100584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7" name="Text 65"/>
          <p:cNvSpPr txBox="1"/>
          <p:nvPr/>
        </p:nvSpPr>
        <p:spPr>
          <a:xfrm>
            <a:off x="7763256" y="4306824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T001</a:t>
            </a:r>
            <a:endParaRPr lang="en-US" sz="800" dirty="0"/>
          </a:p>
        </p:txBody>
      </p:sp>
      <p:sp>
        <p:nvSpPr>
          <p:cNvPr id="68" name="Shape 66"/>
          <p:cNvSpPr/>
          <p:nvPr/>
        </p:nvSpPr>
        <p:spPr>
          <a:xfrm>
            <a:off x="8732520" y="4261104"/>
            <a:ext cx="105156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9" name="Text 67"/>
          <p:cNvSpPr txBox="1"/>
          <p:nvPr/>
        </p:nvSpPr>
        <p:spPr>
          <a:xfrm>
            <a:off x="8769096" y="4306824"/>
            <a:ext cx="978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Kim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84080" y="4261104"/>
            <a:ext cx="114300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1" name="Text 69"/>
          <p:cNvSpPr txBox="1"/>
          <p:nvPr/>
        </p:nvSpPr>
        <p:spPr>
          <a:xfrm>
            <a:off x="9820656" y="4306824"/>
            <a:ext cx="1069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7726680" y="4553712"/>
            <a:ext cx="1005840" cy="29260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3" name="Text 71"/>
          <p:cNvSpPr txBox="1"/>
          <p:nvPr/>
        </p:nvSpPr>
        <p:spPr>
          <a:xfrm>
            <a:off x="7763256" y="4599432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T002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8732520" y="4553712"/>
            <a:ext cx="1051560" cy="29260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5" name="Text 73"/>
          <p:cNvSpPr txBox="1"/>
          <p:nvPr/>
        </p:nvSpPr>
        <p:spPr>
          <a:xfrm>
            <a:off x="8769096" y="4599432"/>
            <a:ext cx="978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Smith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784080" y="4553712"/>
            <a:ext cx="1143000" cy="29260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7" name="Text 75"/>
          <p:cNvSpPr txBox="1"/>
          <p:nvPr/>
        </p:nvSpPr>
        <p:spPr>
          <a:xfrm>
            <a:off x="9820656" y="4599432"/>
            <a:ext cx="1069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American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7726680" y="4846320"/>
            <a:ext cx="100584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9" name="Text 77"/>
          <p:cNvSpPr txBox="1"/>
          <p:nvPr/>
        </p:nvSpPr>
        <p:spPr>
          <a:xfrm>
            <a:off x="7763256" y="4892040"/>
            <a:ext cx="93268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T003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8732520" y="4846320"/>
            <a:ext cx="105156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1" name="Text 79"/>
          <p:cNvSpPr txBox="1"/>
          <p:nvPr/>
        </p:nvSpPr>
        <p:spPr>
          <a:xfrm>
            <a:off x="8769096" y="4892040"/>
            <a:ext cx="97840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Dela Cruz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9784080" y="4846320"/>
            <a:ext cx="1143000" cy="292608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3" name="Text 81"/>
          <p:cNvSpPr txBox="1"/>
          <p:nvPr/>
        </p:nvSpPr>
        <p:spPr>
          <a:xfrm>
            <a:off x="9820656" y="4892040"/>
            <a:ext cx="10698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7726680" y="3950208"/>
            <a:ext cx="3200400" cy="1188720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5" name="Shape 83"/>
          <p:cNvSpPr/>
          <p:nvPr/>
        </p:nvSpPr>
        <p:spPr>
          <a:xfrm>
            <a:off x="7726680" y="5248656"/>
            <a:ext cx="1389888" cy="402336"/>
          </a:xfrm>
          <a:prstGeom prst="rect">
            <a:avLst/>
          </a:prstGeom>
          <a:solidFill>
            <a:srgbClr val="0A2218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6" name="Text 84"/>
          <p:cNvSpPr txBox="1"/>
          <p:nvPr/>
        </p:nvSpPr>
        <p:spPr>
          <a:xfrm>
            <a:off x="7818120" y="5285232"/>
            <a:ext cx="1207008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</a:t>
            </a:r>
            <a:endParaRPr lang="en-US" sz="1000" dirty="0"/>
          </a:p>
        </p:txBody>
      </p:sp>
      <p:sp>
        <p:nvSpPr>
          <p:cNvPr id="87" name="Text 85"/>
          <p:cNvSpPr txBox="1"/>
          <p:nvPr/>
        </p:nvSpPr>
        <p:spPr>
          <a:xfrm>
            <a:off x="7818120" y="5468112"/>
            <a:ext cx="12070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tourist record</a:t>
            </a:r>
            <a:endParaRPr lang="en-US" sz="800" dirty="0"/>
          </a:p>
        </p:txBody>
      </p:sp>
      <p:sp>
        <p:nvSpPr>
          <p:cNvPr id="88" name="Shape 86"/>
          <p:cNvSpPr/>
          <p:nvPr/>
        </p:nvSpPr>
        <p:spPr>
          <a:xfrm>
            <a:off x="8421624" y="5248656"/>
            <a:ext cx="0" cy="0"/>
          </a:xfrm>
          <a:prstGeom prst="line">
            <a:avLst/>
          </a:prstGeom>
          <a:noFill/>
          <a:ln w="1016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89" name="Shape 87"/>
          <p:cNvSpPr/>
          <p:nvPr/>
        </p:nvSpPr>
        <p:spPr>
          <a:xfrm>
            <a:off x="7955280" y="3493008"/>
            <a:ext cx="1426464" cy="402336"/>
          </a:xfrm>
          <a:prstGeom prst="rect">
            <a:avLst/>
          </a:prstGeom>
          <a:solidFill>
            <a:srgbClr val="0A2218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0" name="Text 88"/>
          <p:cNvSpPr txBox="1"/>
          <p:nvPr/>
        </p:nvSpPr>
        <p:spPr>
          <a:xfrm>
            <a:off x="8046720" y="3529584"/>
            <a:ext cx="1243584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</a:t>
            </a:r>
            <a:endParaRPr lang="en-US" sz="1000" dirty="0"/>
          </a:p>
        </p:txBody>
      </p:sp>
      <p:sp>
        <p:nvSpPr>
          <p:cNvPr id="91" name="Text 89"/>
          <p:cNvSpPr txBox="1"/>
          <p:nvPr/>
        </p:nvSpPr>
        <p:spPr>
          <a:xfrm>
            <a:off x="8046720" y="3712464"/>
            <a:ext cx="1243584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field / attribute</a:t>
            </a:r>
            <a:endParaRPr lang="en-US" sz="800" dirty="0"/>
          </a:p>
        </p:txBody>
      </p:sp>
      <p:sp>
        <p:nvSpPr>
          <p:cNvPr id="92" name="Shape 90"/>
          <p:cNvSpPr/>
          <p:nvPr/>
        </p:nvSpPr>
        <p:spPr>
          <a:xfrm>
            <a:off x="9258300" y="3950208"/>
            <a:ext cx="0" cy="0"/>
          </a:xfrm>
          <a:prstGeom prst="line">
            <a:avLst/>
          </a:prstGeom>
          <a:noFill/>
          <a:ln w="1016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</p:spTree>
  </p:cSld>
  <p:clrMapOvr>
    <a:masterClrMapping/>
  </p:clrMapOvr>
  <p:transition spd="med">
    <p:push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SQL Matters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4712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40080" y="1481328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real-world data lives in databases — not Excel files or CSVs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048256"/>
            <a:ext cx="1124712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640080" y="2139696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can analyze anything, you need the data in the right shape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706624"/>
            <a:ext cx="1124712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640080" y="2798064"/>
            <a:ext cx="107899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is the tool that gets you there</a:t>
            </a:r>
            <a:endParaRPr lang="en-US" sz="1500" dirty="0"/>
          </a:p>
        </p:txBody>
      </p:sp>
      <p:sp>
        <p:nvSpPr>
          <p:cNvPr id="48" name="Shape 10">
            <a:extLst>
              <a:ext uri="{FF2B5EF4-FFF2-40B4-BE49-F238E27FC236}">
                <a16:creationId xmlns:a16="http://schemas.microsoft.com/office/drawing/2014/main" id="{1C5B1380-E0C9-726B-F57C-38CDBBCE03F0}"/>
              </a:ext>
            </a:extLst>
          </p:cNvPr>
          <p:cNvSpPr/>
          <p:nvPr/>
        </p:nvSpPr>
        <p:spPr>
          <a:xfrm>
            <a:off x="457200" y="3749040"/>
            <a:ext cx="2514600" cy="21945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BDBE2624-ADB2-5D01-9015-E9142E4AD98F}"/>
              </a:ext>
            </a:extLst>
          </p:cNvPr>
          <p:cNvSpPr/>
          <p:nvPr/>
        </p:nvSpPr>
        <p:spPr>
          <a:xfrm>
            <a:off x="868680" y="4019702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2" name="Shape 12">
            <a:extLst>
              <a:ext uri="{FF2B5EF4-FFF2-40B4-BE49-F238E27FC236}">
                <a16:creationId xmlns:a16="http://schemas.microsoft.com/office/drawing/2014/main" id="{E8B35F60-6DE4-E19B-4F44-A9ED4B142BB3}"/>
              </a:ext>
            </a:extLst>
          </p:cNvPr>
          <p:cNvSpPr/>
          <p:nvPr/>
        </p:nvSpPr>
        <p:spPr>
          <a:xfrm>
            <a:off x="868680" y="3858768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4" name="Shape 13">
            <a:extLst>
              <a:ext uri="{FF2B5EF4-FFF2-40B4-BE49-F238E27FC236}">
                <a16:creationId xmlns:a16="http://schemas.microsoft.com/office/drawing/2014/main" id="{1CD67227-339E-913A-5B98-0C9EEFBA36A9}"/>
              </a:ext>
            </a:extLst>
          </p:cNvPr>
          <p:cNvSpPr/>
          <p:nvPr/>
        </p:nvSpPr>
        <p:spPr>
          <a:xfrm>
            <a:off x="868680" y="5206594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6" name="Shape 14">
            <a:extLst>
              <a:ext uri="{FF2B5EF4-FFF2-40B4-BE49-F238E27FC236}">
                <a16:creationId xmlns:a16="http://schemas.microsoft.com/office/drawing/2014/main" id="{64C2CFDB-1E5C-1CE4-0225-6867BCCC874E}"/>
              </a:ext>
            </a:extLst>
          </p:cNvPr>
          <p:cNvSpPr/>
          <p:nvPr/>
        </p:nvSpPr>
        <p:spPr>
          <a:xfrm>
            <a:off x="905256" y="432467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8" name="Shape 15">
            <a:extLst>
              <a:ext uri="{FF2B5EF4-FFF2-40B4-BE49-F238E27FC236}">
                <a16:creationId xmlns:a16="http://schemas.microsoft.com/office/drawing/2014/main" id="{942469B3-7FC6-3942-682B-C3C37F11E10E}"/>
              </a:ext>
            </a:extLst>
          </p:cNvPr>
          <p:cNvSpPr/>
          <p:nvPr/>
        </p:nvSpPr>
        <p:spPr>
          <a:xfrm>
            <a:off x="905256" y="464815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E30B0BC1-550B-B481-6B1B-4237B00779D8}"/>
              </a:ext>
            </a:extLst>
          </p:cNvPr>
          <p:cNvSpPr/>
          <p:nvPr/>
        </p:nvSpPr>
        <p:spPr>
          <a:xfrm>
            <a:off x="905256" y="4971629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2" name="Text 17">
            <a:extLst>
              <a:ext uri="{FF2B5EF4-FFF2-40B4-BE49-F238E27FC236}">
                <a16:creationId xmlns:a16="http://schemas.microsoft.com/office/drawing/2014/main" id="{C2B28B3E-E7C5-20AD-F885-6E9AA1DC6AF2}"/>
              </a:ext>
            </a:extLst>
          </p:cNvPr>
          <p:cNvSpPr txBox="1"/>
          <p:nvPr/>
        </p:nvSpPr>
        <p:spPr>
          <a:xfrm>
            <a:off x="457200" y="5230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Government</a:t>
            </a:r>
            <a:endParaRPr lang="en-US" sz="1400" dirty="0"/>
          </a:p>
        </p:txBody>
      </p:sp>
      <p:sp>
        <p:nvSpPr>
          <p:cNvPr id="64" name="Text 18">
            <a:extLst>
              <a:ext uri="{FF2B5EF4-FFF2-40B4-BE49-F238E27FC236}">
                <a16:creationId xmlns:a16="http://schemas.microsoft.com/office/drawing/2014/main" id="{90BCE507-6528-3E4F-1670-36790535B7AA}"/>
              </a:ext>
            </a:extLst>
          </p:cNvPr>
          <p:cNvSpPr txBox="1"/>
          <p:nvPr/>
        </p:nvSpPr>
        <p:spPr>
          <a:xfrm>
            <a:off x="548640" y="55046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Census, surveys,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data</a:t>
            </a:r>
            <a:endParaRPr lang="en-US" sz="900" dirty="0"/>
          </a:p>
        </p:txBody>
      </p:sp>
      <p:sp>
        <p:nvSpPr>
          <p:cNvPr id="66" name="Shape 19">
            <a:extLst>
              <a:ext uri="{FF2B5EF4-FFF2-40B4-BE49-F238E27FC236}">
                <a16:creationId xmlns:a16="http://schemas.microsoft.com/office/drawing/2014/main" id="{87CFDD24-C4DA-3E3F-FAFD-0AEB932A041C}"/>
              </a:ext>
            </a:extLst>
          </p:cNvPr>
          <p:cNvSpPr/>
          <p:nvPr/>
        </p:nvSpPr>
        <p:spPr>
          <a:xfrm>
            <a:off x="3246120" y="3749040"/>
            <a:ext cx="2514600" cy="21945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8" name="Shape 20">
            <a:extLst>
              <a:ext uri="{FF2B5EF4-FFF2-40B4-BE49-F238E27FC236}">
                <a16:creationId xmlns:a16="http://schemas.microsoft.com/office/drawing/2014/main" id="{C2CFE43A-9D40-D286-BA6A-1248DD6924D9}"/>
              </a:ext>
            </a:extLst>
          </p:cNvPr>
          <p:cNvSpPr/>
          <p:nvPr/>
        </p:nvSpPr>
        <p:spPr>
          <a:xfrm>
            <a:off x="3657600" y="4019702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0" name="Shape 21">
            <a:extLst>
              <a:ext uri="{FF2B5EF4-FFF2-40B4-BE49-F238E27FC236}">
                <a16:creationId xmlns:a16="http://schemas.microsoft.com/office/drawing/2014/main" id="{177088BE-F5D1-AD09-4AEF-021EEF62700E}"/>
              </a:ext>
            </a:extLst>
          </p:cNvPr>
          <p:cNvSpPr/>
          <p:nvPr/>
        </p:nvSpPr>
        <p:spPr>
          <a:xfrm>
            <a:off x="3657600" y="3858768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2" name="Shape 22">
            <a:extLst>
              <a:ext uri="{FF2B5EF4-FFF2-40B4-BE49-F238E27FC236}">
                <a16:creationId xmlns:a16="http://schemas.microsoft.com/office/drawing/2014/main" id="{F2B60E4C-B80F-B96C-F12D-0716746450B1}"/>
              </a:ext>
            </a:extLst>
          </p:cNvPr>
          <p:cNvSpPr/>
          <p:nvPr/>
        </p:nvSpPr>
        <p:spPr>
          <a:xfrm>
            <a:off x="3657600" y="5206594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4" name="Shape 23">
            <a:extLst>
              <a:ext uri="{FF2B5EF4-FFF2-40B4-BE49-F238E27FC236}">
                <a16:creationId xmlns:a16="http://schemas.microsoft.com/office/drawing/2014/main" id="{B1B69822-2D13-6CFE-9833-4F527D665F46}"/>
              </a:ext>
            </a:extLst>
          </p:cNvPr>
          <p:cNvSpPr/>
          <p:nvPr/>
        </p:nvSpPr>
        <p:spPr>
          <a:xfrm>
            <a:off x="3694176" y="432467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6" name="Shape 24">
            <a:extLst>
              <a:ext uri="{FF2B5EF4-FFF2-40B4-BE49-F238E27FC236}">
                <a16:creationId xmlns:a16="http://schemas.microsoft.com/office/drawing/2014/main" id="{1F2CF6C1-CE4D-E317-2E99-CB723145CF5D}"/>
              </a:ext>
            </a:extLst>
          </p:cNvPr>
          <p:cNvSpPr/>
          <p:nvPr/>
        </p:nvSpPr>
        <p:spPr>
          <a:xfrm>
            <a:off x="3694176" y="464815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8" name="Shape 25">
            <a:extLst>
              <a:ext uri="{FF2B5EF4-FFF2-40B4-BE49-F238E27FC236}">
                <a16:creationId xmlns:a16="http://schemas.microsoft.com/office/drawing/2014/main" id="{A53A6CE2-5163-656A-E750-AF8D0F73E82E}"/>
              </a:ext>
            </a:extLst>
          </p:cNvPr>
          <p:cNvSpPr/>
          <p:nvPr/>
        </p:nvSpPr>
        <p:spPr>
          <a:xfrm>
            <a:off x="3694176" y="4971629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0" name="Text 26">
            <a:extLst>
              <a:ext uri="{FF2B5EF4-FFF2-40B4-BE49-F238E27FC236}">
                <a16:creationId xmlns:a16="http://schemas.microsoft.com/office/drawing/2014/main" id="{6B0C157C-F941-37FD-0BA1-F41036E6FE80}"/>
              </a:ext>
            </a:extLst>
          </p:cNvPr>
          <p:cNvSpPr txBox="1"/>
          <p:nvPr/>
        </p:nvSpPr>
        <p:spPr>
          <a:xfrm>
            <a:off x="3246120" y="5230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</a:t>
            </a:r>
            <a:endParaRPr lang="en-US" sz="1400" dirty="0"/>
          </a:p>
        </p:txBody>
      </p:sp>
      <p:sp>
        <p:nvSpPr>
          <p:cNvPr id="82" name="Text 27">
            <a:extLst>
              <a:ext uri="{FF2B5EF4-FFF2-40B4-BE49-F238E27FC236}">
                <a16:creationId xmlns:a16="http://schemas.microsoft.com/office/drawing/2014/main" id="{A3584CA4-EFD1-3069-9DD6-1D28392E9806}"/>
              </a:ext>
            </a:extLst>
          </p:cNvPr>
          <p:cNvSpPr txBox="1"/>
          <p:nvPr/>
        </p:nvSpPr>
        <p:spPr>
          <a:xfrm>
            <a:off x="3337560" y="55046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records,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claims, outcomes</a:t>
            </a:r>
            <a:endParaRPr lang="en-US" sz="900" dirty="0"/>
          </a:p>
        </p:txBody>
      </p:sp>
      <p:sp>
        <p:nvSpPr>
          <p:cNvPr id="84" name="Shape 28">
            <a:extLst>
              <a:ext uri="{FF2B5EF4-FFF2-40B4-BE49-F238E27FC236}">
                <a16:creationId xmlns:a16="http://schemas.microsoft.com/office/drawing/2014/main" id="{7F1C0F7C-3843-8730-AAB4-B1472CB81128}"/>
              </a:ext>
            </a:extLst>
          </p:cNvPr>
          <p:cNvSpPr/>
          <p:nvPr/>
        </p:nvSpPr>
        <p:spPr>
          <a:xfrm>
            <a:off x="6035040" y="3749040"/>
            <a:ext cx="2514600" cy="21945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6" name="Shape 29">
            <a:extLst>
              <a:ext uri="{FF2B5EF4-FFF2-40B4-BE49-F238E27FC236}">
                <a16:creationId xmlns:a16="http://schemas.microsoft.com/office/drawing/2014/main" id="{BE2D2256-B66D-2C47-9299-9090958D7DC8}"/>
              </a:ext>
            </a:extLst>
          </p:cNvPr>
          <p:cNvSpPr/>
          <p:nvPr/>
        </p:nvSpPr>
        <p:spPr>
          <a:xfrm>
            <a:off x="6446520" y="4019702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8" name="Shape 30">
            <a:extLst>
              <a:ext uri="{FF2B5EF4-FFF2-40B4-BE49-F238E27FC236}">
                <a16:creationId xmlns:a16="http://schemas.microsoft.com/office/drawing/2014/main" id="{694F7F8B-123D-CA5B-7BFD-A83839F5E290}"/>
              </a:ext>
            </a:extLst>
          </p:cNvPr>
          <p:cNvSpPr/>
          <p:nvPr/>
        </p:nvSpPr>
        <p:spPr>
          <a:xfrm>
            <a:off x="6446520" y="3858768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0" name="Shape 31">
            <a:extLst>
              <a:ext uri="{FF2B5EF4-FFF2-40B4-BE49-F238E27FC236}">
                <a16:creationId xmlns:a16="http://schemas.microsoft.com/office/drawing/2014/main" id="{093CF788-FA3A-BE52-D795-4360C1B2D67A}"/>
              </a:ext>
            </a:extLst>
          </p:cNvPr>
          <p:cNvSpPr/>
          <p:nvPr/>
        </p:nvSpPr>
        <p:spPr>
          <a:xfrm>
            <a:off x="6446520" y="5206594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2" name="Shape 32">
            <a:extLst>
              <a:ext uri="{FF2B5EF4-FFF2-40B4-BE49-F238E27FC236}">
                <a16:creationId xmlns:a16="http://schemas.microsoft.com/office/drawing/2014/main" id="{105B0D9A-CFDB-BA3F-13CB-AEAD94B74B6B}"/>
              </a:ext>
            </a:extLst>
          </p:cNvPr>
          <p:cNvSpPr/>
          <p:nvPr/>
        </p:nvSpPr>
        <p:spPr>
          <a:xfrm>
            <a:off x="6483096" y="432467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4" name="Shape 33">
            <a:extLst>
              <a:ext uri="{FF2B5EF4-FFF2-40B4-BE49-F238E27FC236}">
                <a16:creationId xmlns:a16="http://schemas.microsoft.com/office/drawing/2014/main" id="{454AD403-724F-0AE4-D024-067A1E88AA5D}"/>
              </a:ext>
            </a:extLst>
          </p:cNvPr>
          <p:cNvSpPr/>
          <p:nvPr/>
        </p:nvSpPr>
        <p:spPr>
          <a:xfrm>
            <a:off x="6483096" y="464815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6" name="Shape 34">
            <a:extLst>
              <a:ext uri="{FF2B5EF4-FFF2-40B4-BE49-F238E27FC236}">
                <a16:creationId xmlns:a16="http://schemas.microsoft.com/office/drawing/2014/main" id="{7920957F-2209-8B5A-B5CF-D27E295BD1AD}"/>
              </a:ext>
            </a:extLst>
          </p:cNvPr>
          <p:cNvSpPr/>
          <p:nvPr/>
        </p:nvSpPr>
        <p:spPr>
          <a:xfrm>
            <a:off x="6483096" y="4971629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8" name="Text 35">
            <a:extLst>
              <a:ext uri="{FF2B5EF4-FFF2-40B4-BE49-F238E27FC236}">
                <a16:creationId xmlns:a16="http://schemas.microsoft.com/office/drawing/2014/main" id="{AFA73D8B-8478-5B0F-E79C-30B3724ED257}"/>
              </a:ext>
            </a:extLst>
          </p:cNvPr>
          <p:cNvSpPr txBox="1"/>
          <p:nvPr/>
        </p:nvSpPr>
        <p:spPr>
          <a:xfrm>
            <a:off x="6035040" y="5230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400" dirty="0"/>
          </a:p>
        </p:txBody>
      </p:sp>
      <p:sp>
        <p:nvSpPr>
          <p:cNvPr id="100" name="Text 36">
            <a:extLst>
              <a:ext uri="{FF2B5EF4-FFF2-40B4-BE49-F238E27FC236}">
                <a16:creationId xmlns:a16="http://schemas.microsoft.com/office/drawing/2014/main" id="{A820F315-3C69-9645-8796-76C171164226}"/>
              </a:ext>
            </a:extLst>
          </p:cNvPr>
          <p:cNvSpPr txBox="1"/>
          <p:nvPr/>
        </p:nvSpPr>
        <p:spPr>
          <a:xfrm>
            <a:off x="6126480" y="55046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studies,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datasets</a:t>
            </a:r>
            <a:endParaRPr lang="en-US" sz="900" dirty="0"/>
          </a:p>
        </p:txBody>
      </p:sp>
      <p:sp>
        <p:nvSpPr>
          <p:cNvPr id="102" name="Shape 37">
            <a:extLst>
              <a:ext uri="{FF2B5EF4-FFF2-40B4-BE49-F238E27FC236}">
                <a16:creationId xmlns:a16="http://schemas.microsoft.com/office/drawing/2014/main" id="{917480FF-FDDD-757D-8777-3880FB7C03FB}"/>
              </a:ext>
            </a:extLst>
          </p:cNvPr>
          <p:cNvSpPr/>
          <p:nvPr/>
        </p:nvSpPr>
        <p:spPr>
          <a:xfrm>
            <a:off x="8823960" y="3749040"/>
            <a:ext cx="2514600" cy="21945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4" name="Shape 38">
            <a:extLst>
              <a:ext uri="{FF2B5EF4-FFF2-40B4-BE49-F238E27FC236}">
                <a16:creationId xmlns:a16="http://schemas.microsoft.com/office/drawing/2014/main" id="{57570BEA-9A9C-2EDA-7EC5-3386E8A27D4E}"/>
              </a:ext>
            </a:extLst>
          </p:cNvPr>
          <p:cNvSpPr/>
          <p:nvPr/>
        </p:nvSpPr>
        <p:spPr>
          <a:xfrm>
            <a:off x="9235440" y="4019702"/>
            <a:ext cx="1005840" cy="1347826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6" name="Shape 39">
            <a:extLst>
              <a:ext uri="{FF2B5EF4-FFF2-40B4-BE49-F238E27FC236}">
                <a16:creationId xmlns:a16="http://schemas.microsoft.com/office/drawing/2014/main" id="{81A4C429-7020-8582-DD15-3F966FF51BB9}"/>
              </a:ext>
            </a:extLst>
          </p:cNvPr>
          <p:cNvSpPr/>
          <p:nvPr/>
        </p:nvSpPr>
        <p:spPr>
          <a:xfrm>
            <a:off x="9235440" y="3858768"/>
            <a:ext cx="1005840" cy="321869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8" name="Shape 40">
            <a:extLst>
              <a:ext uri="{FF2B5EF4-FFF2-40B4-BE49-F238E27FC236}">
                <a16:creationId xmlns:a16="http://schemas.microsoft.com/office/drawing/2014/main" id="{A80F27BE-48E4-EE5C-3B17-B46A835AAFC5}"/>
              </a:ext>
            </a:extLst>
          </p:cNvPr>
          <p:cNvSpPr/>
          <p:nvPr/>
        </p:nvSpPr>
        <p:spPr>
          <a:xfrm>
            <a:off x="9235440" y="5206594"/>
            <a:ext cx="1005840" cy="321869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0" name="Shape 41">
            <a:extLst>
              <a:ext uri="{FF2B5EF4-FFF2-40B4-BE49-F238E27FC236}">
                <a16:creationId xmlns:a16="http://schemas.microsoft.com/office/drawing/2014/main" id="{A1EE988B-1186-F966-A084-3002EA998EF4}"/>
              </a:ext>
            </a:extLst>
          </p:cNvPr>
          <p:cNvSpPr/>
          <p:nvPr/>
        </p:nvSpPr>
        <p:spPr>
          <a:xfrm>
            <a:off x="9272016" y="4324673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2" name="Shape 42">
            <a:extLst>
              <a:ext uri="{FF2B5EF4-FFF2-40B4-BE49-F238E27FC236}">
                <a16:creationId xmlns:a16="http://schemas.microsoft.com/office/drawing/2014/main" id="{A72E8D8B-1DD5-13C9-F595-8017B7ACC68D}"/>
              </a:ext>
            </a:extLst>
          </p:cNvPr>
          <p:cNvSpPr/>
          <p:nvPr/>
        </p:nvSpPr>
        <p:spPr>
          <a:xfrm>
            <a:off x="9272016" y="4648151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4" name="Shape 43">
            <a:extLst>
              <a:ext uri="{FF2B5EF4-FFF2-40B4-BE49-F238E27FC236}">
                <a16:creationId xmlns:a16="http://schemas.microsoft.com/office/drawing/2014/main" id="{93C2F36A-F8CE-D401-5A3B-7F866EAA951F}"/>
              </a:ext>
            </a:extLst>
          </p:cNvPr>
          <p:cNvSpPr/>
          <p:nvPr/>
        </p:nvSpPr>
        <p:spPr>
          <a:xfrm>
            <a:off x="9272016" y="4971629"/>
            <a:ext cx="932688" cy="144841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6" name="Text 44">
            <a:extLst>
              <a:ext uri="{FF2B5EF4-FFF2-40B4-BE49-F238E27FC236}">
                <a16:creationId xmlns:a16="http://schemas.microsoft.com/office/drawing/2014/main" id="{0A3D068F-3043-7B7A-F777-74F7B02C5ED9}"/>
              </a:ext>
            </a:extLst>
          </p:cNvPr>
          <p:cNvSpPr txBox="1"/>
          <p:nvPr/>
        </p:nvSpPr>
        <p:spPr>
          <a:xfrm>
            <a:off x="8823960" y="5230368"/>
            <a:ext cx="2514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</a:t>
            </a:r>
            <a:endParaRPr lang="en-US" sz="1400" dirty="0"/>
          </a:p>
        </p:txBody>
      </p:sp>
      <p:sp>
        <p:nvSpPr>
          <p:cNvPr id="118" name="Text 45">
            <a:extLst>
              <a:ext uri="{FF2B5EF4-FFF2-40B4-BE49-F238E27FC236}">
                <a16:creationId xmlns:a16="http://schemas.microsoft.com/office/drawing/2014/main" id="{59EDF214-D910-DC8D-1671-EB8FC364F099}"/>
              </a:ext>
            </a:extLst>
          </p:cNvPr>
          <p:cNvSpPr txBox="1"/>
          <p:nvPr/>
        </p:nvSpPr>
        <p:spPr>
          <a:xfrm>
            <a:off x="8915400" y="5504688"/>
            <a:ext cx="2331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metrics,</a:t>
            </a:r>
            <a:endParaRPr lang="en-US" sz="900" dirty="0"/>
          </a:p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analytics</a:t>
            </a:r>
            <a:endParaRPr lang="en-US" sz="900" dirty="0"/>
          </a:p>
        </p:txBody>
      </p:sp>
      <p:sp>
        <p:nvSpPr>
          <p:cNvPr id="120" name="Text 46">
            <a:extLst>
              <a:ext uri="{FF2B5EF4-FFF2-40B4-BE49-F238E27FC236}">
                <a16:creationId xmlns:a16="http://schemas.microsoft.com/office/drawing/2014/main" id="{A24C210B-2939-F094-C4B2-29A2E7B17515}"/>
              </a:ext>
            </a:extLst>
          </p:cNvPr>
          <p:cNvSpPr txBox="1"/>
          <p:nvPr/>
        </p:nvSpPr>
        <p:spPr>
          <a:xfrm>
            <a:off x="457200" y="6108192"/>
            <a:ext cx="10972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Wherever large datasets live — SQL is usually nearby</a:t>
            </a:r>
            <a:endParaRPr lang="en-US" sz="1200" dirty="0"/>
          </a:p>
        </p:txBody>
      </p:sp>
      <p:sp>
        <p:nvSpPr>
          <p:cNvPr id="122" name="Text 9">
            <a:extLst>
              <a:ext uri="{FF2B5EF4-FFF2-40B4-BE49-F238E27FC236}">
                <a16:creationId xmlns:a16="http://schemas.microsoft.com/office/drawing/2014/main" id="{A6A0B464-4366-2BD4-C384-5A6293501F22}"/>
              </a:ext>
            </a:extLst>
          </p:cNvPr>
          <p:cNvSpPr txBox="1"/>
          <p:nvPr/>
        </p:nvSpPr>
        <p:spPr>
          <a:xfrm>
            <a:off x="457200" y="34290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Sectors where you'll likely use this:</a:t>
            </a:r>
            <a:endParaRPr lang="en-US" sz="1300" dirty="0"/>
          </a:p>
        </p:txBody>
      </p:sp>
    </p:spTree>
  </p:cSld>
  <p:clrMapOvr>
    <a:masterClrMapping/>
  </p:clrMapOvr>
  <p:transition spd="slow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What I Use at Work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777240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40080" y="1481328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At work, we use Snowflake — a cloud-based SQL platform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2029968"/>
            <a:ext cx="777240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640080" y="2121408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Daily: querying millions of claims records, building metrics pipelines, QA checks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457200" y="2670048"/>
            <a:ext cx="777240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640080" y="2761488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Same core SQL you'll learn today — just running on a much bigger dataset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3310128"/>
            <a:ext cx="777240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40080" y="3401568"/>
            <a:ext cx="74066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Tools change.  SQL syntax doesn't — learn it once, use it everywhere.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8595360" y="1234440"/>
            <a:ext cx="3291840" cy="475488"/>
          </a:xfrm>
          <a:prstGeom prst="rect">
            <a:avLst/>
          </a:prstGeom>
          <a:solidFill>
            <a:srgbClr val="29B5E8"/>
          </a:solidFill>
          <a:ln w="12700">
            <a:solidFill>
              <a:srgbClr val="29B5E8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8595360" y="1316736"/>
            <a:ext cx="32918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❄  Snowflake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9006840" y="2242109"/>
            <a:ext cx="2468880" cy="3308299"/>
          </a:xfrm>
          <a:prstGeom prst="rect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9006840" y="1847088"/>
            <a:ext cx="2468880" cy="790042"/>
          </a:xfrm>
          <a:prstGeom prst="ellipse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9006840" y="5155387"/>
            <a:ext cx="2468880" cy="790042"/>
          </a:xfrm>
          <a:prstGeom prst="ellipse">
            <a:avLst/>
          </a:prstGeom>
          <a:solidFill>
            <a:srgbClr val="0F2235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9043416" y="2990673"/>
            <a:ext cx="2395728" cy="355519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9043416" y="3784665"/>
            <a:ext cx="2395728" cy="355519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043416" y="4578657"/>
            <a:ext cx="2395728" cy="355519"/>
          </a:xfrm>
          <a:prstGeom prst="ellipse">
            <a:avLst/>
          </a:prstGeom>
          <a:solidFill>
            <a:srgbClr val="0F2235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8595360" y="54223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Cloud SQL Platform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200" y="4059936"/>
            <a:ext cx="7772400" cy="214884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658368" y="4206240"/>
            <a:ext cx="7370064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The same SQL you learn today...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patient_id, claim_date, diagnosis_code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claims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claim_year = 2024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AND status = 'approved';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24844450"/>
      </p:ext>
    </p:extLst>
  </p:cSld>
  <p:clrMapOvr>
    <a:masterClrMapping/>
  </p:clrMapOvr>
  <p:transition spd="slow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SQL vs. Tools You Already Know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2560320" cy="438912"/>
          </a:xfrm>
          <a:prstGeom prst="rect">
            <a:avLst/>
          </a:prstGeom>
          <a:solidFill>
            <a:srgbClr val="0F2A3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566928" y="13533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3108960" y="1280160"/>
            <a:ext cx="3840480" cy="438912"/>
          </a:xfrm>
          <a:prstGeom prst="rect">
            <a:avLst/>
          </a:prstGeom>
          <a:solidFill>
            <a:srgbClr val="0F2A3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3218688" y="1353312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Strong At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7040880" y="1280160"/>
            <a:ext cx="4572000" cy="438912"/>
          </a:xfrm>
          <a:prstGeom prst="rect">
            <a:avLst/>
          </a:prstGeom>
          <a:solidFill>
            <a:srgbClr val="0F2A3F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7150608" y="1353312"/>
            <a:ext cx="4352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Limitation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1737360"/>
            <a:ext cx="2560320" cy="438912"/>
          </a:xfrm>
          <a:prstGeom prst="rect">
            <a:avLst/>
          </a:prstGeom>
          <a:solidFill>
            <a:srgbClr val="0A1E30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566928" y="18105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Excel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3108960" y="1737360"/>
            <a:ext cx="384048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3218688" y="1810512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Small data, quick charts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7040880" y="1737360"/>
            <a:ext cx="457200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7150608" y="1810512"/>
            <a:ext cx="4352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Struggles above ~100k rows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2194560"/>
            <a:ext cx="2560320" cy="438912"/>
          </a:xfrm>
          <a:prstGeom prst="rect">
            <a:avLst/>
          </a:prstGeom>
          <a:solidFill>
            <a:srgbClr val="0A1E30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566928" y="22677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SPSS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3108960" y="2194560"/>
            <a:ext cx="384048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3218688" y="2267712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tests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7040880" y="2194560"/>
            <a:ext cx="457200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7150608" y="2267712"/>
            <a:ext cx="4352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Struggles with raw messy data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" y="2651760"/>
            <a:ext cx="2560320" cy="438912"/>
          </a:xfrm>
          <a:prstGeom prst="rect">
            <a:avLst/>
          </a:prstGeom>
          <a:solidFill>
            <a:srgbClr val="0A1E30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566928" y="27249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/ Python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3108960" y="2651760"/>
            <a:ext cx="384048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3218688" y="2724912"/>
            <a:ext cx="36210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Modeling &amp; visualization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7040880" y="2651760"/>
            <a:ext cx="4572000" cy="438912"/>
          </a:xfrm>
          <a:prstGeom prst="rect">
            <a:avLst/>
          </a:prstGeom>
          <a:solidFill>
            <a:srgbClr val="0A1628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7150608" y="2724912"/>
            <a:ext cx="435254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You still need the data first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57200" y="3108960"/>
            <a:ext cx="11247120" cy="438912"/>
          </a:xfrm>
          <a:prstGeom prst="rect">
            <a:avLst/>
          </a:prstGeom>
          <a:solidFill>
            <a:srgbClr val="0F2A3F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566928" y="3182112"/>
            <a:ext cx="23408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3218688" y="3182112"/>
            <a:ext cx="371246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Retrieve, filter, clean at any scale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Text 30"/>
          <p:cNvSpPr txBox="1"/>
          <p:nvPr/>
        </p:nvSpPr>
        <p:spPr>
          <a:xfrm>
            <a:off x="7150608" y="3182112"/>
            <a:ext cx="44622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Not for modeling, visualization, or app logic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6208598" y="4398264"/>
            <a:ext cx="41148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8" name="Group 77">
            <a:extLst>
              <a:ext uri="{FF2B5EF4-FFF2-40B4-BE49-F238E27FC236}">
                <a16:creationId xmlns:a16="http://schemas.microsoft.com/office/drawing/2014/main" id="{3439B686-BC12-DD4A-5D0A-5251007AE8DE}"/>
              </a:ext>
            </a:extLst>
          </p:cNvPr>
          <p:cNvGrpSpPr/>
          <p:nvPr/>
        </p:nvGrpSpPr>
        <p:grpSpPr>
          <a:xfrm>
            <a:off x="6639732" y="4104827"/>
            <a:ext cx="2862072" cy="548640"/>
            <a:chOff x="8796528" y="3950208"/>
            <a:chExt cx="2862072" cy="548640"/>
          </a:xfrm>
        </p:grpSpPr>
        <p:sp>
          <p:nvSpPr>
            <p:cNvPr id="45" name="Shape 43"/>
            <p:cNvSpPr/>
            <p:nvPr/>
          </p:nvSpPr>
          <p:spPr>
            <a:xfrm>
              <a:off x="8796528" y="3950208"/>
              <a:ext cx="1737360" cy="548640"/>
            </a:xfrm>
            <a:prstGeom prst="rect">
              <a:avLst/>
            </a:prstGeom>
            <a:solidFill>
              <a:srgbClr val="0F2235"/>
            </a:solidFill>
            <a:ln w="6350">
              <a:solidFill>
                <a:srgbClr val="1E3A5F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H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46" name="Text 44"/>
            <p:cNvSpPr txBox="1"/>
            <p:nvPr/>
          </p:nvSpPr>
          <p:spPr>
            <a:xfrm>
              <a:off x="8796528" y="4087368"/>
              <a:ext cx="1737360" cy="2743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CBD5E1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Analysis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35E831AE-CAD3-EA0F-57A4-DDEA1BEDFF72}"/>
                </a:ext>
              </a:extLst>
            </p:cNvPr>
            <p:cNvGrpSpPr/>
            <p:nvPr/>
          </p:nvGrpSpPr>
          <p:grpSpPr>
            <a:xfrm>
              <a:off x="10561320" y="3950208"/>
              <a:ext cx="1097280" cy="548640"/>
              <a:chOff x="10561320" y="3950208"/>
              <a:chExt cx="1097280" cy="548640"/>
            </a:xfrm>
          </p:grpSpPr>
          <p:sp>
            <p:nvSpPr>
              <p:cNvPr id="47" name="Shape 45"/>
              <p:cNvSpPr/>
              <p:nvPr/>
            </p:nvSpPr>
            <p:spPr>
              <a:xfrm>
                <a:off x="10561320" y="3950208"/>
                <a:ext cx="1097280" cy="548640"/>
              </a:xfrm>
              <a:prstGeom prst="rect">
                <a:avLst/>
              </a:prstGeom>
              <a:solidFill>
                <a:srgbClr val="0F2235"/>
              </a:solidFill>
              <a:ln w="5080">
                <a:solidFill>
                  <a:srgbClr val="1E3A5F"/>
                </a:solidFill>
                <a:prstDash val="solid"/>
              </a:ln>
            </p:spPr>
            <p:txBody>
              <a:bodyPr/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PH" sz="18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8" name="Text 46"/>
              <p:cNvSpPr txBox="1"/>
              <p:nvPr/>
            </p:nvSpPr>
            <p:spPr>
              <a:xfrm>
                <a:off x="10561320" y="3959352"/>
                <a:ext cx="1097280" cy="1828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📊</a:t>
                </a:r>
                <a:endPara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49" name="Text 47"/>
              <p:cNvSpPr txBox="1"/>
              <p:nvPr/>
            </p:nvSpPr>
            <p:spPr>
              <a:xfrm>
                <a:off x="10561320" y="4133088"/>
                <a:ext cx="1097280" cy="18288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🔬</a:t>
                </a:r>
                <a:endPara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  <p:sp>
            <p:nvSpPr>
              <p:cNvPr id="50" name="Text 48"/>
              <p:cNvSpPr txBox="1"/>
              <p:nvPr/>
            </p:nvSpPr>
            <p:spPr>
              <a:xfrm>
                <a:off x="10632570" y="4325112"/>
                <a:ext cx="975360" cy="164592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000" b="0" i="0" u="none" strike="noStrike" kern="1200" cap="none" spc="0" normalizeH="0" baseline="0" noProof="0" dirty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Calibri" panose="020F0502020204030204"/>
                    <a:ea typeface="+mn-ea"/>
                    <a:cs typeface="+mn-cs"/>
                  </a:rPr>
                  <a:t>📋</a:t>
                </a:r>
                <a:endParaRPr kumimoji="0" lang="en-US" sz="10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endParaRPr>
              </a:p>
            </p:txBody>
          </p:sp>
        </p:grpSp>
      </p:grpSp>
      <p:sp>
        <p:nvSpPr>
          <p:cNvPr id="51" name="Shape 49"/>
          <p:cNvSpPr/>
          <p:nvPr/>
        </p:nvSpPr>
        <p:spPr>
          <a:xfrm>
            <a:off x="419793" y="5462194"/>
            <a:ext cx="11247120" cy="566928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Text 50"/>
          <p:cNvSpPr txBox="1"/>
          <p:nvPr/>
        </p:nvSpPr>
        <p:spPr>
          <a:xfrm>
            <a:off x="655320" y="5595299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SQL doesn't replace these tools.  It feeds them.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74001BA-FB4F-4F2D-058A-5AB47E34E8E3}"/>
              </a:ext>
            </a:extLst>
          </p:cNvPr>
          <p:cNvGrpSpPr/>
          <p:nvPr/>
        </p:nvGrpSpPr>
        <p:grpSpPr>
          <a:xfrm>
            <a:off x="1996895" y="4101853"/>
            <a:ext cx="2011680" cy="566928"/>
            <a:chOff x="457200" y="5614416"/>
            <a:chExt cx="2011680" cy="731520"/>
          </a:xfrm>
        </p:grpSpPr>
        <p:sp>
          <p:nvSpPr>
            <p:cNvPr id="56" name="Shape 40">
              <a:extLst>
                <a:ext uri="{FF2B5EF4-FFF2-40B4-BE49-F238E27FC236}">
                  <a16:creationId xmlns:a16="http://schemas.microsoft.com/office/drawing/2014/main" id="{63F80358-8687-4EE6-987E-E681C9C6B002}"/>
                </a:ext>
              </a:extLst>
            </p:cNvPr>
            <p:cNvSpPr/>
            <p:nvPr/>
          </p:nvSpPr>
          <p:spPr>
            <a:xfrm>
              <a:off x="457200" y="5614416"/>
              <a:ext cx="2011680" cy="731520"/>
            </a:xfrm>
            <a:prstGeom prst="rect">
              <a:avLst/>
            </a:prstGeom>
            <a:solidFill>
              <a:srgbClr val="0A1E30"/>
            </a:solidFill>
            <a:ln w="15240">
              <a:solidFill>
                <a:srgbClr val="00C9A7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H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58" name="Text 41">
              <a:extLst>
                <a:ext uri="{FF2B5EF4-FFF2-40B4-BE49-F238E27FC236}">
                  <a16:creationId xmlns:a16="http://schemas.microsoft.com/office/drawing/2014/main" id="{C77D8359-6DC8-557E-C518-85FF0E85E2FE}"/>
                </a:ext>
              </a:extLst>
            </p:cNvPr>
            <p:cNvSpPr txBox="1"/>
            <p:nvPr/>
          </p:nvSpPr>
          <p:spPr>
            <a:xfrm>
              <a:off x="457200" y="5760720"/>
              <a:ext cx="201168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1200" cap="none" spc="0" normalizeH="0" baseline="0" noProof="0" dirty="0">
                  <a:ln>
                    <a:noFill/>
                  </a:ln>
                  <a:solidFill>
                    <a:srgbClr val="00C9A7"/>
                  </a:solidFill>
                  <a:effectLst/>
                  <a:uLnTx/>
                  <a:uFillTx/>
                  <a:latin typeface="Courier New" pitchFamily="34" charset="0"/>
                  <a:ea typeface="Courier New" pitchFamily="34" charset="-122"/>
                  <a:cs typeface="Courier New" pitchFamily="34" charset="-120"/>
                </a:rPr>
                <a:t>SQL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1" name="Shape 42">
            <a:extLst>
              <a:ext uri="{FF2B5EF4-FFF2-40B4-BE49-F238E27FC236}">
                <a16:creationId xmlns:a16="http://schemas.microsoft.com/office/drawing/2014/main" id="{9CDAEBF1-303E-4091-17ED-CEC9683B5CD3}"/>
              </a:ext>
            </a:extLst>
          </p:cNvPr>
          <p:cNvSpPr/>
          <p:nvPr/>
        </p:nvSpPr>
        <p:spPr>
          <a:xfrm>
            <a:off x="4016353" y="4384488"/>
            <a:ext cx="41148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76" name="Group 75">
            <a:extLst>
              <a:ext uri="{FF2B5EF4-FFF2-40B4-BE49-F238E27FC236}">
                <a16:creationId xmlns:a16="http://schemas.microsoft.com/office/drawing/2014/main" id="{149A6C72-673B-553E-0434-E3589115459D}"/>
              </a:ext>
            </a:extLst>
          </p:cNvPr>
          <p:cNvGrpSpPr/>
          <p:nvPr/>
        </p:nvGrpSpPr>
        <p:grpSpPr>
          <a:xfrm>
            <a:off x="4451584" y="3885371"/>
            <a:ext cx="1737360" cy="1133856"/>
            <a:chOff x="3146486" y="5614416"/>
            <a:chExt cx="1737360" cy="1133856"/>
          </a:xfrm>
        </p:grpSpPr>
        <p:sp>
          <p:nvSpPr>
            <p:cNvPr id="63" name="Shape 31">
              <a:extLst>
                <a:ext uri="{FF2B5EF4-FFF2-40B4-BE49-F238E27FC236}">
                  <a16:creationId xmlns:a16="http://schemas.microsoft.com/office/drawing/2014/main" id="{779F38D7-C832-768C-045A-69A834C40AE4}"/>
                </a:ext>
              </a:extLst>
            </p:cNvPr>
            <p:cNvSpPr/>
            <p:nvPr/>
          </p:nvSpPr>
          <p:spPr>
            <a:xfrm>
              <a:off x="3146486" y="5614416"/>
              <a:ext cx="1737360" cy="1133856"/>
            </a:xfrm>
            <a:prstGeom prst="rect">
              <a:avLst/>
            </a:prstGeom>
            <a:solidFill>
              <a:srgbClr val="0F2235"/>
            </a:solidFill>
            <a:ln w="6350">
              <a:solidFill>
                <a:srgbClr val="1E3A5F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H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5" name="Shape 43">
              <a:extLst>
                <a:ext uri="{FF2B5EF4-FFF2-40B4-BE49-F238E27FC236}">
                  <a16:creationId xmlns:a16="http://schemas.microsoft.com/office/drawing/2014/main" id="{5566CE4D-912A-03BA-8A5F-07D3ACC0793D}"/>
                </a:ext>
              </a:extLst>
            </p:cNvPr>
            <p:cNvSpPr/>
            <p:nvPr/>
          </p:nvSpPr>
          <p:spPr>
            <a:xfrm>
              <a:off x="3291840" y="5715000"/>
              <a:ext cx="1446415" cy="282093"/>
            </a:xfrm>
            <a:prstGeom prst="rect">
              <a:avLst/>
            </a:prstGeom>
            <a:solidFill>
              <a:srgbClr val="0F2235"/>
            </a:solidFill>
            <a:ln w="6350">
              <a:solidFill>
                <a:srgbClr val="1E3A5F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H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7" name="Text 32">
              <a:extLst>
                <a:ext uri="{FF2B5EF4-FFF2-40B4-BE49-F238E27FC236}">
                  <a16:creationId xmlns:a16="http://schemas.microsoft.com/office/drawing/2014/main" id="{041D4852-C154-C264-9449-F4A5E57611C9}"/>
                </a:ext>
              </a:extLst>
            </p:cNvPr>
            <p:cNvSpPr txBox="1"/>
            <p:nvPr/>
          </p:nvSpPr>
          <p:spPr>
            <a:xfrm>
              <a:off x="3379123" y="5727802"/>
              <a:ext cx="1271847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CBD5E1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Excel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69" name="Shape 43">
              <a:extLst>
                <a:ext uri="{FF2B5EF4-FFF2-40B4-BE49-F238E27FC236}">
                  <a16:creationId xmlns:a16="http://schemas.microsoft.com/office/drawing/2014/main" id="{9E791EDA-0A0E-026F-AD58-E11B98AB237E}"/>
                </a:ext>
              </a:extLst>
            </p:cNvPr>
            <p:cNvSpPr/>
            <p:nvPr/>
          </p:nvSpPr>
          <p:spPr>
            <a:xfrm>
              <a:off x="3297658" y="6072530"/>
              <a:ext cx="1446415" cy="282093"/>
            </a:xfrm>
            <a:prstGeom prst="rect">
              <a:avLst/>
            </a:prstGeom>
            <a:solidFill>
              <a:srgbClr val="0F2235"/>
            </a:solidFill>
            <a:ln w="6350">
              <a:solidFill>
                <a:srgbClr val="1E3A5F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H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1" name="Text 32">
              <a:extLst>
                <a:ext uri="{FF2B5EF4-FFF2-40B4-BE49-F238E27FC236}">
                  <a16:creationId xmlns:a16="http://schemas.microsoft.com/office/drawing/2014/main" id="{090F5F48-C6EB-88FF-6D83-BF6A7AD3C8F3}"/>
                </a:ext>
              </a:extLst>
            </p:cNvPr>
            <p:cNvSpPr txBox="1"/>
            <p:nvPr/>
          </p:nvSpPr>
          <p:spPr>
            <a:xfrm>
              <a:off x="3384941" y="6085332"/>
              <a:ext cx="1271847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CBD5E1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SPSS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3" name="Shape 43">
              <a:extLst>
                <a:ext uri="{FF2B5EF4-FFF2-40B4-BE49-F238E27FC236}">
                  <a16:creationId xmlns:a16="http://schemas.microsoft.com/office/drawing/2014/main" id="{00CA290A-039D-9F65-3EB8-2CFE2053822D}"/>
                </a:ext>
              </a:extLst>
            </p:cNvPr>
            <p:cNvSpPr/>
            <p:nvPr/>
          </p:nvSpPr>
          <p:spPr>
            <a:xfrm>
              <a:off x="3297658" y="6395181"/>
              <a:ext cx="1446415" cy="282093"/>
            </a:xfrm>
            <a:prstGeom prst="rect">
              <a:avLst/>
            </a:prstGeom>
            <a:solidFill>
              <a:srgbClr val="0F2235"/>
            </a:solidFill>
            <a:ln w="6350">
              <a:solidFill>
                <a:srgbClr val="1E3A5F"/>
              </a:solidFill>
              <a:prstDash val="solid"/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PH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75" name="Text 32">
              <a:extLst>
                <a:ext uri="{FF2B5EF4-FFF2-40B4-BE49-F238E27FC236}">
                  <a16:creationId xmlns:a16="http://schemas.microsoft.com/office/drawing/2014/main" id="{4B3CDA0D-5EE8-347F-1450-9BFC62CECCE8}"/>
                </a:ext>
              </a:extLst>
            </p:cNvPr>
            <p:cNvSpPr txBox="1"/>
            <p:nvPr/>
          </p:nvSpPr>
          <p:spPr>
            <a:xfrm>
              <a:off x="3384941" y="6407983"/>
              <a:ext cx="1271847" cy="2286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200" b="0" i="0" u="none" strike="noStrike" kern="1200" cap="none" spc="0" normalizeH="0" baseline="0" noProof="0" dirty="0">
                  <a:ln>
                    <a:noFill/>
                  </a:ln>
                  <a:solidFill>
                    <a:srgbClr val="CBD5E1"/>
                  </a:solidFill>
                  <a:effectLst/>
                  <a:uLnTx/>
                  <a:uFillTx/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R/Python</a:t>
              </a:r>
              <a:endPara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</p:spTree>
  </p:cSld>
  <p:clrMapOvr>
    <a:masterClrMapping/>
  </p:clrMapOvr>
  <p:transition spd="slow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SQL is NOT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40080" y="158191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61872" y="1600200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visualization tool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3125560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Text 7"/>
          <p:cNvSpPr txBox="1"/>
          <p:nvPr/>
        </p:nvSpPr>
        <p:spPr>
          <a:xfrm>
            <a:off x="640080" y="329015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1261872" y="3308440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for IT people or software developers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57200" y="4012528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40080" y="41771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261872" y="4195408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difficult to start — the basics read like English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57200" y="4899496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640080" y="506408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261872" y="5082376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something you have to memorize — even pros Google syntax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472440" y="5748528"/>
            <a:ext cx="11247120" cy="548640"/>
          </a:xfrm>
          <a:prstGeom prst="rect">
            <a:avLst/>
          </a:prstGeom>
          <a:solidFill>
            <a:srgbClr val="0A2A1A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655320" y="58674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It's closer to writing a sentence than writing a program.</a:t>
            </a:r>
            <a:endParaRPr lang="en-US" sz="1400" dirty="0"/>
          </a:p>
        </p:txBody>
      </p:sp>
      <p:sp>
        <p:nvSpPr>
          <p:cNvPr id="20" name="Shape 3">
            <a:extLst>
              <a:ext uri="{FF2B5EF4-FFF2-40B4-BE49-F238E27FC236}">
                <a16:creationId xmlns:a16="http://schemas.microsoft.com/office/drawing/2014/main" id="{14C95B8A-4E5D-D836-41A5-DC0B882AB132}"/>
              </a:ext>
            </a:extLst>
          </p:cNvPr>
          <p:cNvSpPr/>
          <p:nvPr/>
        </p:nvSpPr>
        <p:spPr>
          <a:xfrm>
            <a:off x="457200" y="2254843"/>
            <a:ext cx="1124712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21411304-6412-4E9E-CB06-3146AE0ABFF2}"/>
              </a:ext>
            </a:extLst>
          </p:cNvPr>
          <p:cNvSpPr txBox="1"/>
          <p:nvPr/>
        </p:nvSpPr>
        <p:spPr>
          <a:xfrm>
            <a:off x="640080" y="2419435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</a:rPr>
              <a:t>❌</a:t>
            </a:r>
            <a:endParaRPr lang="en-US" sz="2000" dirty="0"/>
          </a:p>
        </p:txBody>
      </p:sp>
      <p:sp>
        <p:nvSpPr>
          <p:cNvPr id="24" name="Text 5">
            <a:extLst>
              <a:ext uri="{FF2B5EF4-FFF2-40B4-BE49-F238E27FC236}">
                <a16:creationId xmlns:a16="http://schemas.microsoft.com/office/drawing/2014/main" id="{F6B697CA-AC01-A275-9715-99162FD78B2D}"/>
              </a:ext>
            </a:extLst>
          </p:cNvPr>
          <p:cNvSpPr txBox="1"/>
          <p:nvPr/>
        </p:nvSpPr>
        <p:spPr>
          <a:xfrm>
            <a:off x="1261872" y="2437723"/>
            <a:ext cx="10149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replacement for the tools you already know</a:t>
            </a:r>
            <a:endParaRPr lang="en-US" sz="1500" dirty="0"/>
          </a:p>
        </p:txBody>
      </p:sp>
    </p:spTree>
  </p:cSld>
  <p:clrMapOvr>
    <a:masterClrMapping/>
  </p:clrMapOvr>
  <p:transition spd="slow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SQL'S ROLE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 History + Common Tools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640080" y="1719072"/>
            <a:ext cx="1060704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Shape 4"/>
          <p:cNvSpPr/>
          <p:nvPr/>
        </p:nvSpPr>
        <p:spPr>
          <a:xfrm>
            <a:off x="1188720" y="1600200"/>
            <a:ext cx="256032" cy="25603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Text 5"/>
          <p:cNvSpPr txBox="1"/>
          <p:nvPr/>
        </p:nvSpPr>
        <p:spPr>
          <a:xfrm>
            <a:off x="640080" y="11887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1970s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19385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IBM develops SQL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600200"/>
            <a:ext cx="256032" cy="25603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3840480" y="11887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1986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840480" y="19385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ANSI standard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412480" y="1600200"/>
            <a:ext cx="256032" cy="25603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3" name="Text 11"/>
          <p:cNvSpPr txBox="1"/>
          <p:nvPr/>
        </p:nvSpPr>
        <p:spPr>
          <a:xfrm>
            <a:off x="7863840" y="11887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863840" y="1938528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50+ years, still #1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6060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SQL tools: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9923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5"/>
          <p:cNvSpPr/>
          <p:nvPr/>
        </p:nvSpPr>
        <p:spPr>
          <a:xfrm>
            <a:off x="548640" y="3108960"/>
            <a:ext cx="475488" cy="36576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1115568" y="307238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3337560" y="30906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Lightweight, local — great for learning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3075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Shape 19"/>
          <p:cNvSpPr/>
          <p:nvPr/>
        </p:nvSpPr>
        <p:spPr>
          <a:xfrm>
            <a:off x="548640" y="3840480"/>
            <a:ext cx="475488" cy="36576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 20"/>
          <p:cNvSpPr txBox="1"/>
          <p:nvPr/>
        </p:nvSpPr>
        <p:spPr>
          <a:xfrm>
            <a:off x="1115568" y="380390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PostgreSQL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3337560" y="382219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powerful, widely used in analytics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446227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Shape 23"/>
          <p:cNvSpPr/>
          <p:nvPr/>
        </p:nvSpPr>
        <p:spPr>
          <a:xfrm>
            <a:off x="548640" y="4572000"/>
            <a:ext cx="475488" cy="365760"/>
          </a:xfrm>
          <a:prstGeom prst="rect">
            <a:avLst/>
          </a:prstGeom>
          <a:solidFill>
            <a:srgbClr val="4479A1"/>
          </a:solidFill>
          <a:ln w="12700">
            <a:solidFill>
              <a:srgbClr val="4479A1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Text 24"/>
          <p:cNvSpPr txBox="1"/>
          <p:nvPr/>
        </p:nvSpPr>
        <p:spPr>
          <a:xfrm>
            <a:off x="1115568" y="453542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MySQL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337560" y="455371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in web &amp; research databases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55080" y="299923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Shape 27"/>
          <p:cNvSpPr/>
          <p:nvPr/>
        </p:nvSpPr>
        <p:spPr>
          <a:xfrm>
            <a:off x="6446520" y="3108960"/>
            <a:ext cx="475488" cy="365760"/>
          </a:xfrm>
          <a:prstGeom prst="rect">
            <a:avLst/>
          </a:prstGeom>
          <a:solidFill>
            <a:srgbClr val="29B5E8"/>
          </a:solidFill>
          <a:ln w="12700">
            <a:solidFill>
              <a:srgbClr val="29B5E8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0" name="Text 28"/>
          <p:cNvSpPr txBox="1"/>
          <p:nvPr/>
        </p:nvSpPr>
        <p:spPr>
          <a:xfrm>
            <a:off x="7013448" y="307238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Snowflake / BigQuery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9235440" y="309067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platforms — large organizations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6355080" y="3730752"/>
            <a:ext cx="557784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Shape 31"/>
          <p:cNvSpPr/>
          <p:nvPr/>
        </p:nvSpPr>
        <p:spPr>
          <a:xfrm>
            <a:off x="6446520" y="3840480"/>
            <a:ext cx="475488" cy="365760"/>
          </a:xfrm>
          <a:prstGeom prst="rect">
            <a:avLst/>
          </a:prstGeom>
          <a:solidFill>
            <a:srgbClr val="CC2927"/>
          </a:solidFill>
          <a:ln w="12700">
            <a:solidFill>
              <a:srgbClr val="CC292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Text 32"/>
          <p:cNvSpPr txBox="1"/>
          <p:nvPr/>
        </p:nvSpPr>
        <p:spPr>
          <a:xfrm>
            <a:off x="7013448" y="3803904"/>
            <a:ext cx="2194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 SQL Server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9235440" y="3822192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&amp; government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596128"/>
            <a:ext cx="2560320" cy="347472"/>
          </a:xfrm>
          <a:prstGeom prst="rect">
            <a:avLst/>
          </a:prstGeom>
          <a:solidFill>
            <a:srgbClr val="0A2A1A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Text 35"/>
          <p:cNvSpPr txBox="1"/>
          <p:nvPr/>
        </p:nvSpPr>
        <p:spPr>
          <a:xfrm>
            <a:off x="566928" y="5669280"/>
            <a:ext cx="23774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use SQLite today</a:t>
            </a:r>
            <a:endParaRPr lang="en-US" sz="1100" dirty="0"/>
          </a:p>
        </p:txBody>
      </p:sp>
    </p:spTree>
  </p:cSld>
  <p:clrMapOvr>
    <a:masterClrMapping/>
  </p:clrMapOvr>
  <p:transition spd="slow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Databases &amp; Data Structure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Tables, rows, columns, keys, and how data is structured</a:t>
            </a:r>
          </a:p>
        </p:txBody>
      </p:sp>
    </p:spTree>
  </p:cSld>
  <p:clrMapOvr>
    <a:masterClrMapping/>
  </p:clrMapOvr>
  <p:transition spd="med">
    <p:push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DATABASES &amp; DATA STRUCTURE</a:t>
            </a:r>
            <a:endParaRPr lang="en-US" sz="900"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Database?</a:t>
            </a:r>
            <a:endParaRPr lang="en-US" sz="2800" dirty="0"/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Rectangle 4"/>
          <p:cNvSpPr/>
          <p:nvPr/>
        </p:nvSpPr>
        <p:spPr>
          <a:xfrm>
            <a:off x="457200" y="1371600"/>
            <a:ext cx="5212080" cy="3474720"/>
          </a:xfrm>
          <a:prstGeom prst="rect">
            <a:avLst/>
          </a:prstGeom>
          <a:solidFill>
            <a:srgbClr val="0F2235"/>
          </a:solidFill>
          <a:ln w="635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4754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Spreadsheet</a:t>
            </a:r>
            <a:endParaRPr lang="en-US" sz="1500" dirty="0"/>
          </a:p>
        </p:txBody>
      </p:sp>
      <p:sp>
        <p:nvSpPr>
          <p:cNvPr id="7" name="Rectangle 6"/>
          <p:cNvSpPr/>
          <p:nvPr/>
        </p:nvSpPr>
        <p:spPr>
          <a:xfrm>
            <a:off x="685800" y="1965960"/>
            <a:ext cx="1463040" cy="384048"/>
          </a:xfrm>
          <a:prstGeom prst="rect">
            <a:avLst/>
          </a:prstGeom>
          <a:solidFill>
            <a:srgbClr val="0F2A3F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Box 7"/>
          <p:cNvSpPr txBox="1"/>
          <p:nvPr/>
        </p:nvSpPr>
        <p:spPr>
          <a:xfrm>
            <a:off x="731520" y="202996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lang="en-US" sz="1000" dirty="0"/>
          </a:p>
        </p:txBody>
      </p:sp>
      <p:sp>
        <p:nvSpPr>
          <p:cNvPr id="9" name="Rectangle 8"/>
          <p:cNvSpPr/>
          <p:nvPr/>
        </p:nvSpPr>
        <p:spPr>
          <a:xfrm>
            <a:off x="2240280" y="1965960"/>
            <a:ext cx="1463040" cy="384048"/>
          </a:xfrm>
          <a:prstGeom prst="rect">
            <a:avLst/>
          </a:prstGeom>
          <a:solidFill>
            <a:srgbClr val="0F2A3F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Box 9"/>
          <p:cNvSpPr txBox="1"/>
          <p:nvPr/>
        </p:nvSpPr>
        <p:spPr>
          <a:xfrm>
            <a:off x="2286000" y="202996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endParaRPr lang="en-US" sz="1000" dirty="0"/>
          </a:p>
        </p:txBody>
      </p:sp>
      <p:sp>
        <p:nvSpPr>
          <p:cNvPr id="11" name="Rectangle 10"/>
          <p:cNvSpPr/>
          <p:nvPr/>
        </p:nvSpPr>
        <p:spPr>
          <a:xfrm>
            <a:off x="3794760" y="1965960"/>
            <a:ext cx="1463040" cy="384048"/>
          </a:xfrm>
          <a:prstGeom prst="rect">
            <a:avLst/>
          </a:prstGeom>
          <a:solidFill>
            <a:srgbClr val="0F2A3F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Box 11"/>
          <p:cNvSpPr txBox="1"/>
          <p:nvPr/>
        </p:nvSpPr>
        <p:spPr>
          <a:xfrm>
            <a:off x="3840480" y="2029968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cs typeface="Courier New" pitchFamily="34" charset="-120"/>
              </a:rPr>
              <a:t>nationality</a:t>
            </a:r>
            <a:endParaRPr lang="en-US" sz="1000" dirty="0"/>
          </a:p>
        </p:txBody>
      </p:sp>
      <p:sp>
        <p:nvSpPr>
          <p:cNvPr id="13" name="Rectangle 12"/>
          <p:cNvSpPr/>
          <p:nvPr/>
        </p:nvSpPr>
        <p:spPr>
          <a:xfrm>
            <a:off x="685800" y="2404872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Rectangle 13"/>
          <p:cNvSpPr/>
          <p:nvPr/>
        </p:nvSpPr>
        <p:spPr>
          <a:xfrm>
            <a:off x="2240280" y="2404872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Rectangle 14"/>
          <p:cNvSpPr/>
          <p:nvPr/>
        </p:nvSpPr>
        <p:spPr>
          <a:xfrm>
            <a:off x="3794760" y="2404872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Rectangle 15"/>
          <p:cNvSpPr/>
          <p:nvPr/>
        </p:nvSpPr>
        <p:spPr>
          <a:xfrm>
            <a:off x="685800" y="2843784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Rectangle 16"/>
          <p:cNvSpPr/>
          <p:nvPr/>
        </p:nvSpPr>
        <p:spPr>
          <a:xfrm>
            <a:off x="2240280" y="2843784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Rectangle 17"/>
          <p:cNvSpPr/>
          <p:nvPr/>
        </p:nvSpPr>
        <p:spPr>
          <a:xfrm>
            <a:off x="3794760" y="2843784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Rectangle 18"/>
          <p:cNvSpPr/>
          <p:nvPr/>
        </p:nvSpPr>
        <p:spPr>
          <a:xfrm>
            <a:off x="685800" y="3282696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Rectangle 19"/>
          <p:cNvSpPr/>
          <p:nvPr/>
        </p:nvSpPr>
        <p:spPr>
          <a:xfrm>
            <a:off x="2240280" y="3282696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Rectangle 20"/>
          <p:cNvSpPr/>
          <p:nvPr/>
        </p:nvSpPr>
        <p:spPr>
          <a:xfrm>
            <a:off x="3794760" y="3282696"/>
            <a:ext cx="1463040" cy="384048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TextBox 21"/>
          <p:cNvSpPr txBox="1"/>
          <p:nvPr/>
        </p:nvSpPr>
        <p:spPr>
          <a:xfrm>
            <a:off x="685800" y="3886200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Great for smaller data you can see and work with directly</a:t>
            </a:r>
            <a:endParaRPr lang="en-US" sz="1200" dirty="0"/>
          </a:p>
        </p:txBody>
      </p:sp>
      <p:sp>
        <p:nvSpPr>
          <p:cNvPr id="23" name="TextBox 22"/>
          <p:cNvSpPr txBox="1"/>
          <p:nvPr/>
        </p:nvSpPr>
        <p:spPr>
          <a:xfrm>
            <a:off x="685800" y="4215384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Struggles past ~1 million rows</a:t>
            </a:r>
            <a:endParaRPr lang="en-US" sz="1200" dirty="0"/>
          </a:p>
        </p:txBody>
      </p:sp>
      <p:sp>
        <p:nvSpPr>
          <p:cNvPr id="24" name="TextBox 23"/>
          <p:cNvSpPr txBox="1"/>
          <p:nvPr/>
        </p:nvSpPr>
        <p:spPr>
          <a:xfrm>
            <a:off x="685800" y="4544568"/>
            <a:ext cx="4572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Formulas break as data grows</a:t>
            </a:r>
            <a:endParaRPr lang="en-US" sz="1200" dirty="0"/>
          </a:p>
        </p:txBody>
      </p:sp>
      <p:sp>
        <p:nvSpPr>
          <p:cNvPr id="25" name="TextBox 24"/>
          <p:cNvSpPr txBox="1"/>
          <p:nvPr/>
        </p:nvSpPr>
        <p:spPr>
          <a:xfrm>
            <a:off x="5623560" y="2834640"/>
            <a:ext cx="640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200" dirty="0"/>
          </a:p>
        </p:txBody>
      </p:sp>
      <p:sp>
        <p:nvSpPr>
          <p:cNvPr id="26" name="Rectangle 25"/>
          <p:cNvSpPr/>
          <p:nvPr/>
        </p:nvSpPr>
        <p:spPr>
          <a:xfrm>
            <a:off x="6309360" y="1371600"/>
            <a:ext cx="5394960" cy="347472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TextBox 26"/>
          <p:cNvSpPr txBox="1"/>
          <p:nvPr/>
        </p:nvSpPr>
        <p:spPr>
          <a:xfrm>
            <a:off x="6537960" y="1508760"/>
            <a:ext cx="5029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500" dirty="0"/>
          </a:p>
        </p:txBody>
      </p:sp>
      <p:sp>
        <p:nvSpPr>
          <p:cNvPr id="28" name="Rectangle 27"/>
          <p:cNvSpPr/>
          <p:nvPr/>
        </p:nvSpPr>
        <p:spPr>
          <a:xfrm>
            <a:off x="6537960" y="1938528"/>
            <a:ext cx="228600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TextBox 28"/>
          <p:cNvSpPr txBox="1"/>
          <p:nvPr/>
        </p:nvSpPr>
        <p:spPr>
          <a:xfrm>
            <a:off x="6629400" y="19933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tourists</a:t>
            </a:r>
            <a:endParaRPr lang="en-US" sz="1200" dirty="0"/>
          </a:p>
        </p:txBody>
      </p:sp>
      <p:sp>
        <p:nvSpPr>
          <p:cNvPr id="30" name="Rectangle 29"/>
          <p:cNvSpPr/>
          <p:nvPr/>
        </p:nvSpPr>
        <p:spPr>
          <a:xfrm>
            <a:off x="6537960" y="2322576"/>
            <a:ext cx="228600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Box 30"/>
          <p:cNvSpPr txBox="1"/>
          <p:nvPr/>
        </p:nvSpPr>
        <p:spPr>
          <a:xfrm>
            <a:off x="6629400" y="236829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lang="en-US" sz="1000" dirty="0"/>
          </a:p>
        </p:txBody>
      </p:sp>
      <p:sp>
        <p:nvSpPr>
          <p:cNvPr id="32" name="Rectangle 31"/>
          <p:cNvSpPr/>
          <p:nvPr/>
        </p:nvSpPr>
        <p:spPr>
          <a:xfrm>
            <a:off x="6537960" y="2633472"/>
            <a:ext cx="228600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TextBox 32"/>
          <p:cNvSpPr txBox="1"/>
          <p:nvPr/>
        </p:nvSpPr>
        <p:spPr>
          <a:xfrm>
            <a:off x="6629400" y="267919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endParaRPr lang="en-US" sz="1000" dirty="0"/>
          </a:p>
        </p:txBody>
      </p:sp>
      <p:sp>
        <p:nvSpPr>
          <p:cNvPr id="34" name="Rectangle 33"/>
          <p:cNvSpPr/>
          <p:nvPr/>
        </p:nvSpPr>
        <p:spPr>
          <a:xfrm>
            <a:off x="6537960" y="2944368"/>
            <a:ext cx="228600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TextBox 34"/>
          <p:cNvSpPr txBox="1"/>
          <p:nvPr/>
        </p:nvSpPr>
        <p:spPr>
          <a:xfrm>
            <a:off x="6629400" y="2990088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lang="en-US" sz="1000" dirty="0"/>
          </a:p>
        </p:txBody>
      </p:sp>
      <p:sp>
        <p:nvSpPr>
          <p:cNvPr id="36" name="Rectangle 35"/>
          <p:cNvSpPr/>
          <p:nvPr/>
        </p:nvSpPr>
        <p:spPr>
          <a:xfrm>
            <a:off x="6537960" y="1938528"/>
            <a:ext cx="2286000" cy="1316736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Rectangle 36"/>
          <p:cNvSpPr/>
          <p:nvPr/>
        </p:nvSpPr>
        <p:spPr>
          <a:xfrm>
            <a:off x="9235440" y="1938528"/>
            <a:ext cx="228600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8" name="TextBox 37"/>
          <p:cNvSpPr txBox="1"/>
          <p:nvPr/>
        </p:nvSpPr>
        <p:spPr>
          <a:xfrm>
            <a:off x="9326880" y="1993392"/>
            <a:ext cx="21031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endParaRPr lang="en-US" sz="1200" dirty="0"/>
          </a:p>
        </p:txBody>
      </p:sp>
      <p:sp>
        <p:nvSpPr>
          <p:cNvPr id="39" name="Rectangle 38"/>
          <p:cNvSpPr/>
          <p:nvPr/>
        </p:nvSpPr>
        <p:spPr>
          <a:xfrm>
            <a:off x="9235440" y="2322576"/>
            <a:ext cx="228600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TextBox 39"/>
          <p:cNvSpPr txBox="1"/>
          <p:nvPr/>
        </p:nvSpPr>
        <p:spPr>
          <a:xfrm>
            <a:off x="9326880" y="2368296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visit_id</a:t>
            </a:r>
            <a:endParaRPr lang="en-US" sz="1000" dirty="0"/>
          </a:p>
        </p:txBody>
      </p:sp>
      <p:sp>
        <p:nvSpPr>
          <p:cNvPr id="41" name="Rectangle 40"/>
          <p:cNvSpPr/>
          <p:nvPr/>
        </p:nvSpPr>
        <p:spPr>
          <a:xfrm>
            <a:off x="9235440" y="2633472"/>
            <a:ext cx="228600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2" name="TextBox 41"/>
          <p:cNvSpPr txBox="1"/>
          <p:nvPr/>
        </p:nvSpPr>
        <p:spPr>
          <a:xfrm>
            <a:off x="9326880" y="2679192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lang="en-US" sz="1000" dirty="0"/>
          </a:p>
        </p:txBody>
      </p:sp>
      <p:sp>
        <p:nvSpPr>
          <p:cNvPr id="43" name="Rectangle 42"/>
          <p:cNvSpPr/>
          <p:nvPr/>
        </p:nvSpPr>
        <p:spPr>
          <a:xfrm>
            <a:off x="9235440" y="2944368"/>
            <a:ext cx="228600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4" name="TextBox 43"/>
          <p:cNvSpPr txBox="1"/>
          <p:nvPr/>
        </p:nvSpPr>
        <p:spPr>
          <a:xfrm>
            <a:off x="9326880" y="2990088"/>
            <a:ext cx="21031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endParaRPr lang="en-US" sz="1000" dirty="0"/>
          </a:p>
        </p:txBody>
      </p:sp>
      <p:sp>
        <p:nvSpPr>
          <p:cNvPr id="45" name="Rectangle 44"/>
          <p:cNvSpPr/>
          <p:nvPr/>
        </p:nvSpPr>
        <p:spPr>
          <a:xfrm>
            <a:off x="9235440" y="1938528"/>
            <a:ext cx="2286000" cy="1316736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7" name="TextBox 46"/>
          <p:cNvSpPr txBox="1"/>
          <p:nvPr/>
        </p:nvSpPr>
        <p:spPr>
          <a:xfrm>
            <a:off x="6537960" y="3886200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Multiple connected tables</a:t>
            </a:r>
            <a:endParaRPr lang="en-US" sz="1200" dirty="0"/>
          </a:p>
        </p:txBody>
      </p:sp>
      <p:sp>
        <p:nvSpPr>
          <p:cNvPr id="48" name="TextBox 47"/>
          <p:cNvSpPr txBox="1"/>
          <p:nvPr/>
        </p:nvSpPr>
        <p:spPr>
          <a:xfrm>
            <a:off x="6537960" y="4215384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Many users at once</a:t>
            </a:r>
            <a:endParaRPr lang="en-US" sz="1200" dirty="0"/>
          </a:p>
        </p:txBody>
      </p:sp>
      <p:sp>
        <p:nvSpPr>
          <p:cNvPr id="49" name="TextBox 48"/>
          <p:cNvSpPr txBox="1"/>
          <p:nvPr/>
        </p:nvSpPr>
        <p:spPr>
          <a:xfrm>
            <a:off x="6537960" y="4544568"/>
            <a:ext cx="5029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Billions of rows — no sweat</a:t>
            </a:r>
            <a:endParaRPr lang="en-US" sz="1200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FB8FEFC6-07F8-8FDB-85BD-41495A1A34B0}"/>
              </a:ext>
            </a:extLst>
          </p:cNvPr>
          <p:cNvCxnSpPr>
            <a:cxnSpLocks/>
          </p:cNvCxnSpPr>
          <p:nvPr/>
        </p:nvCxnSpPr>
        <p:spPr>
          <a:xfrm>
            <a:off x="8823960" y="2497873"/>
            <a:ext cx="411480" cy="291047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slow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DATABASES &amp; DATA STRUCTURE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Tables, Rows, Columns, and Keys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40080" y="149961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Table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2633472" y="151790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 collection of related data (like one sheet in Excel)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57200" y="225856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640080" y="236829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2633472" y="238658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One record — one tourist, one visit, one destination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457200" y="312724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640080" y="323697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Column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2633472" y="325526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One attribute — tourist_id, nationality, age_group, sex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457200" y="399592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640080" y="410565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Primary Key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2633472" y="412394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Unique identifier for each row  (e.g. tourist_id) 🔑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57200" y="4864608"/>
            <a:ext cx="5852160" cy="71323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640080" y="4974336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Foreign Key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2633472" y="4992624"/>
            <a:ext cx="349300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Column that links to another table's primary key  🔗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6675120" y="3950208"/>
            <a:ext cx="109728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6711696" y="4014216"/>
            <a:ext cx="10241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7772400" y="3950208"/>
            <a:ext cx="118872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7808976" y="4014216"/>
            <a:ext cx="11155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first_name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961120" y="3950208"/>
            <a:ext cx="164592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8997696" y="4014216"/>
            <a:ext cx="15727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675120" y="4297680"/>
            <a:ext cx="10972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6711696" y="4352544"/>
            <a:ext cx="102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T001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7772400" y="4297680"/>
            <a:ext cx="118872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7808976" y="4352544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Kim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961120" y="4297680"/>
            <a:ext cx="164592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8997696" y="4352544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675120" y="4645152"/>
            <a:ext cx="10972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6711696" y="4700016"/>
            <a:ext cx="102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T002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7772400" y="4645152"/>
            <a:ext cx="118872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 txBox="1"/>
          <p:nvPr/>
        </p:nvSpPr>
        <p:spPr>
          <a:xfrm>
            <a:off x="7808976" y="4700016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Smith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8961120" y="4645152"/>
            <a:ext cx="164592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 txBox="1"/>
          <p:nvPr/>
        </p:nvSpPr>
        <p:spPr>
          <a:xfrm>
            <a:off x="8997696" y="4700016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American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6675120" y="4992624"/>
            <a:ext cx="10972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 txBox="1"/>
          <p:nvPr/>
        </p:nvSpPr>
        <p:spPr>
          <a:xfrm>
            <a:off x="6711696" y="5047488"/>
            <a:ext cx="102412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T003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7772400" y="4992624"/>
            <a:ext cx="118872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 txBox="1"/>
          <p:nvPr/>
        </p:nvSpPr>
        <p:spPr>
          <a:xfrm>
            <a:off x="7808976" y="5047488"/>
            <a:ext cx="11155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Dela Cruz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8961120" y="4992624"/>
            <a:ext cx="164592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 txBox="1"/>
          <p:nvPr/>
        </p:nvSpPr>
        <p:spPr>
          <a:xfrm>
            <a:off x="8997696" y="5047488"/>
            <a:ext cx="157276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r54"/>
          <p:cNvSpPr/>
          <p:nvPr/>
        </p:nvSpPr>
        <p:spPr>
          <a:xfrm>
            <a:off x="7658100" y="3346704"/>
            <a:ext cx="1417320" cy="402336"/>
          </a:xfrm>
          <a:prstGeom prst="rect">
            <a:avLst/>
          </a:prstGeom>
          <a:solidFill>
            <a:srgbClr val="0A1828"/>
          </a:solidFill>
          <a:ln w="8890">
            <a:solidFill>
              <a:srgbClr val="A78BF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t55"/>
          <p:cNvSpPr txBox="1"/>
          <p:nvPr/>
        </p:nvSpPr>
        <p:spPr>
          <a:xfrm>
            <a:off x="7749540" y="3383280"/>
            <a:ext cx="123444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A78BF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COLUMN</a:t>
            </a:r>
          </a:p>
        </p:txBody>
      </p:sp>
      <p:sp>
        <p:nvSpPr>
          <p:cNvPr id="56" name="t56"/>
          <p:cNvSpPr txBox="1"/>
          <p:nvPr/>
        </p:nvSpPr>
        <p:spPr>
          <a:xfrm>
            <a:off x="7749540" y="3566160"/>
            <a:ext cx="1234440" cy="14630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one attribute</a:t>
            </a:r>
          </a:p>
        </p:txBody>
      </p:sp>
      <p:sp>
        <p:nvSpPr>
          <p:cNvPr id="57" name="arr57"/>
          <p:cNvSpPr/>
          <p:nvPr/>
        </p:nvSpPr>
        <p:spPr>
          <a:xfrm>
            <a:off x="8366760" y="3749040"/>
            <a:ext cx="9144" cy="201168"/>
          </a:xfrm>
          <a:prstGeom prst="line">
            <a:avLst/>
          </a:prstGeom>
          <a:noFill/>
          <a:ln w="11430">
            <a:solidFill>
              <a:srgbClr val="A78BFA"/>
            </a:solidFill>
            <a:tailEnd type="arrow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r58"/>
          <p:cNvSpPr/>
          <p:nvPr/>
        </p:nvSpPr>
        <p:spPr>
          <a:xfrm>
            <a:off x="10698480" y="4617720"/>
            <a:ext cx="1188720" cy="402336"/>
          </a:xfrm>
          <a:prstGeom prst="rect">
            <a:avLst/>
          </a:prstGeom>
          <a:solidFill>
            <a:srgbClr val="0A1828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9" name="t59"/>
          <p:cNvSpPr txBox="1"/>
          <p:nvPr/>
        </p:nvSpPr>
        <p:spPr>
          <a:xfrm>
            <a:off x="10789919" y="4654296"/>
            <a:ext cx="1078992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ROW</a:t>
            </a:r>
          </a:p>
        </p:txBody>
      </p:sp>
      <p:sp>
        <p:nvSpPr>
          <p:cNvPr id="60" name="t60"/>
          <p:cNvSpPr txBox="1"/>
          <p:nvPr/>
        </p:nvSpPr>
        <p:spPr>
          <a:xfrm>
            <a:off x="10789919" y="4837176"/>
            <a:ext cx="1078992" cy="14630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one record</a:t>
            </a:r>
          </a:p>
        </p:txBody>
      </p:sp>
      <p:sp>
        <p:nvSpPr>
          <p:cNvPr id="61" name="arr61"/>
          <p:cNvSpPr/>
          <p:nvPr/>
        </p:nvSpPr>
        <p:spPr>
          <a:xfrm>
            <a:off x="10607040" y="4818888"/>
            <a:ext cx="91439" cy="9144"/>
          </a:xfrm>
          <a:prstGeom prst="line">
            <a:avLst/>
          </a:prstGeom>
          <a:noFill/>
          <a:ln w="11430">
            <a:solidFill>
              <a:srgbClr val="4FC3F7"/>
            </a:solidFill>
            <a:tailEnd type="arrow" w="sm" len="sm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2" name="t62"/>
          <p:cNvSpPr txBox="1"/>
          <p:nvPr/>
        </p:nvSpPr>
        <p:spPr>
          <a:xfrm>
            <a:off x="6675120" y="5449824"/>
            <a:ext cx="3931920" cy="219456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tourists  (table)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5DD7B7D-C694-80C2-4EBE-A2A665ECFF09}"/>
              </a:ext>
            </a:extLst>
          </p:cNvPr>
          <p:cNvSpPr txBox="1"/>
          <p:nvPr/>
        </p:nvSpPr>
        <p:spPr>
          <a:xfrm>
            <a:off x="7472362" y="3993249"/>
            <a:ext cx="37147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🔑</a:t>
            </a:r>
            <a:endParaRPr kumimoji="0" lang="en-PH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r51">
            <a:extLst>
              <a:ext uri="{FF2B5EF4-FFF2-40B4-BE49-F238E27FC236}">
                <a16:creationId xmlns:a16="http://schemas.microsoft.com/office/drawing/2014/main" id="{E8F04037-771D-C5D2-EC3A-9DBDA249153D}"/>
              </a:ext>
            </a:extLst>
          </p:cNvPr>
          <p:cNvSpPr/>
          <p:nvPr/>
        </p:nvSpPr>
        <p:spPr>
          <a:xfrm>
            <a:off x="6675120" y="3950208"/>
            <a:ext cx="3931920" cy="1389888"/>
          </a:xfrm>
          <a:prstGeom prst="rect">
            <a:avLst/>
          </a:prstGeom>
          <a:noFill/>
          <a:ln w="12700">
            <a:solidFill>
              <a:srgbClr val="00C9A7"/>
            </a:solidFill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  <p:transition spd="slow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85A74C-C86B-E8E3-2E50-E6FF22621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D95F2C95-910F-126B-2771-D4E809BBF81F}"/>
              </a:ext>
            </a:extLst>
          </p:cNvPr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DATA CLEANING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5BA4CEC-56A9-8CE9-2EC7-16D2180633E9}"/>
              </a:ext>
            </a:extLst>
          </p:cNvPr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Data Types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728C76A-D53B-B994-0C65-C1A83A57A655}"/>
              </a:ext>
            </a:extLst>
          </p:cNvPr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2C5410B-0119-E474-7858-A182A62EFE41}"/>
              </a:ext>
            </a:extLst>
          </p:cNvPr>
          <p:cNvSpPr/>
          <p:nvPr/>
        </p:nvSpPr>
        <p:spPr>
          <a:xfrm>
            <a:off x="457200" y="1389888"/>
            <a:ext cx="11247120" cy="74980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83DA643-C1AB-E691-1BB6-9A35D0F0612D}"/>
              </a:ext>
            </a:extLst>
          </p:cNvPr>
          <p:cNvSpPr txBox="1"/>
          <p:nvPr/>
        </p:nvSpPr>
        <p:spPr>
          <a:xfrm>
            <a:off x="566928" y="1536192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571C10F5-33FB-9B81-2766-68454E9DC28B}"/>
              </a:ext>
            </a:extLst>
          </p:cNvPr>
          <p:cNvSpPr txBox="1"/>
          <p:nvPr/>
        </p:nvSpPr>
        <p:spPr>
          <a:xfrm>
            <a:off x="1133856" y="1508760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 / BIGINT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3879673A-7067-B292-1169-64A616B71766}"/>
              </a:ext>
            </a:extLst>
          </p:cNvPr>
          <p:cNvSpPr txBox="1"/>
          <p:nvPr/>
        </p:nvSpPr>
        <p:spPr>
          <a:xfrm>
            <a:off x="3950208" y="1508760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Whole numbers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CC8A194-A145-4AE2-CF46-DBB735E41F47}"/>
              </a:ext>
            </a:extLst>
          </p:cNvPr>
          <p:cNvSpPr txBox="1"/>
          <p:nvPr/>
        </p:nvSpPr>
        <p:spPr>
          <a:xfrm>
            <a:off x="7498080" y="152704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e.g.  length_of_stay, count, ID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AFA6667B-3728-151A-CDAB-9AC198385BCE}"/>
              </a:ext>
            </a:extLst>
          </p:cNvPr>
          <p:cNvSpPr/>
          <p:nvPr/>
        </p:nvSpPr>
        <p:spPr>
          <a:xfrm>
            <a:off x="457200" y="2286000"/>
            <a:ext cx="11247120" cy="74980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C4F5D98-9C47-5102-5FB9-6D003F556CC7}"/>
              </a:ext>
            </a:extLst>
          </p:cNvPr>
          <p:cNvSpPr txBox="1"/>
          <p:nvPr/>
        </p:nvSpPr>
        <p:spPr>
          <a:xfrm>
            <a:off x="566928" y="2432304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π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9B9899E8-76BF-0491-861A-82B14B30A6CF}"/>
              </a:ext>
            </a:extLst>
          </p:cNvPr>
          <p:cNvSpPr txBox="1"/>
          <p:nvPr/>
        </p:nvSpPr>
        <p:spPr>
          <a:xfrm>
            <a:off x="1133856" y="2404872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 / DECIMAL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3600272C-4FE5-EF34-A360-6E2D9B5C7EF7}"/>
              </a:ext>
            </a:extLst>
          </p:cNvPr>
          <p:cNvSpPr txBox="1"/>
          <p:nvPr/>
        </p:nvSpPr>
        <p:spPr>
          <a:xfrm>
            <a:off x="3950208" y="2404872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Numbers with decimals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1263A190-1FEB-C97B-8D88-E4FBC42FDED7}"/>
              </a:ext>
            </a:extLst>
          </p:cNvPr>
          <p:cNvSpPr txBox="1"/>
          <p:nvPr/>
        </p:nvSpPr>
        <p:spPr>
          <a:xfrm>
            <a:off x="7498080" y="2423160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e.g.  </a:t>
            </a:r>
            <a:r>
              <a:rPr kumimoji="0" lang="en-US" sz="1100" b="0" i="0" u="none" strike="noStrike" kern="120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spending_php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E34926B4-9344-6C36-47A0-5FBB02F1DC15}"/>
              </a:ext>
            </a:extLst>
          </p:cNvPr>
          <p:cNvSpPr/>
          <p:nvPr/>
        </p:nvSpPr>
        <p:spPr>
          <a:xfrm>
            <a:off x="457200" y="3182112"/>
            <a:ext cx="11247120" cy="74980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7567DC07-B032-2CF1-551B-FDE667F68D44}"/>
              </a:ext>
            </a:extLst>
          </p:cNvPr>
          <p:cNvSpPr txBox="1"/>
          <p:nvPr/>
        </p:nvSpPr>
        <p:spPr>
          <a:xfrm>
            <a:off x="566928" y="3328416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A3693F69-14A7-26B1-B680-513EE574F82C}"/>
              </a:ext>
            </a:extLst>
          </p:cNvPr>
          <p:cNvSpPr txBox="1"/>
          <p:nvPr/>
        </p:nvSpPr>
        <p:spPr>
          <a:xfrm>
            <a:off x="1133856" y="3300984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VARCHAR / TEXT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5BF57DA8-CDCE-6839-DFD0-ACA877CDEFC8}"/>
              </a:ext>
            </a:extLst>
          </p:cNvPr>
          <p:cNvSpPr txBox="1"/>
          <p:nvPr/>
        </p:nvSpPr>
        <p:spPr>
          <a:xfrm>
            <a:off x="3950208" y="3300984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Text strings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02F53FAD-3C40-DB84-69C8-223E3A1CBECD}"/>
              </a:ext>
            </a:extLst>
          </p:cNvPr>
          <p:cNvSpPr txBox="1"/>
          <p:nvPr/>
        </p:nvSpPr>
        <p:spPr>
          <a:xfrm>
            <a:off x="7498080" y="3319272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e.g.  names, codes, categories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5AE1EB3E-9208-1889-9E75-CE5757779437}"/>
              </a:ext>
            </a:extLst>
          </p:cNvPr>
          <p:cNvSpPr/>
          <p:nvPr/>
        </p:nvSpPr>
        <p:spPr>
          <a:xfrm>
            <a:off x="457200" y="4078224"/>
            <a:ext cx="11247120" cy="74980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A381806A-6404-5F47-E4A9-22F9CF979900}"/>
              </a:ext>
            </a:extLst>
          </p:cNvPr>
          <p:cNvSpPr txBox="1"/>
          <p:nvPr/>
        </p:nvSpPr>
        <p:spPr>
          <a:xfrm>
            <a:off x="566928" y="4224528"/>
            <a:ext cx="502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D01DF9BC-0AF2-715B-311D-5302C0E1D6B9}"/>
              </a:ext>
            </a:extLst>
          </p:cNvPr>
          <p:cNvSpPr txBox="1"/>
          <p:nvPr/>
        </p:nvSpPr>
        <p:spPr>
          <a:xfrm>
            <a:off x="1133856" y="4197096"/>
            <a:ext cx="2743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DATE / TIMESTAMP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772FA9D5-BC4B-60D6-9E4D-F904DE0639C6}"/>
              </a:ext>
            </a:extLst>
          </p:cNvPr>
          <p:cNvSpPr txBox="1"/>
          <p:nvPr/>
        </p:nvSpPr>
        <p:spPr>
          <a:xfrm>
            <a:off x="3950208" y="4197096"/>
            <a:ext cx="34747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Dates and times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517DD2D3-2E6F-564A-8294-B256973D4E59}"/>
              </a:ext>
            </a:extLst>
          </p:cNvPr>
          <p:cNvSpPr txBox="1"/>
          <p:nvPr/>
        </p:nvSpPr>
        <p:spPr>
          <a:xfrm>
            <a:off x="7498080" y="4215384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e.g.  visit_date, created_at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53839327"/>
      </p:ext>
    </p:extLst>
  </p:cSld>
  <p:clrMapOvr>
    <a:masterClrMapping/>
  </p:clrMapOvr>
  <p:transition spd="slow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101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 3 · DATABASES &amp; DATA STRUCTURE</a:t>
            </a:r>
          </a:p>
        </p:txBody>
      </p:sp>
      <p:sp>
        <p:nvSpPr>
          <p:cNvPr id="102" name="t102"/>
          <p:cNvSpPr txBox="1"/>
          <p:nvPr/>
        </p:nvSpPr>
        <p:spPr>
          <a:xfrm>
            <a:off x="457200" y="457200"/>
            <a:ext cx="11247120" cy="62179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Why Not Just One Big Table?</a:t>
            </a:r>
          </a:p>
        </p:txBody>
      </p:sp>
      <p:sp>
        <p:nvSpPr>
          <p:cNvPr id="103" name="r103"/>
          <p:cNvSpPr/>
          <p:nvPr/>
        </p:nvSpPr>
        <p:spPr>
          <a:xfrm>
            <a:off x="457200" y="969264"/>
            <a:ext cx="3474720" cy="41148"/>
          </a:xfrm>
          <a:prstGeom prst="rect">
            <a:avLst/>
          </a:prstGeom>
          <a:solidFill>
            <a:srgbClr val="00C9A7"/>
          </a:solidFill>
          <a:ln w="635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t104"/>
          <p:cNvSpPr txBox="1"/>
          <p:nvPr/>
        </p:nvSpPr>
        <p:spPr>
          <a:xfrm>
            <a:off x="457200" y="1078992"/>
            <a:ext cx="5486400" cy="2743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❌  One flat table</a:t>
            </a:r>
          </a:p>
        </p:txBody>
      </p:sp>
      <p:sp>
        <p:nvSpPr>
          <p:cNvPr id="106" name="r106"/>
          <p:cNvSpPr/>
          <p:nvPr/>
        </p:nvSpPr>
        <p:spPr>
          <a:xfrm>
            <a:off x="457200" y="1627632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7" name="t107"/>
          <p:cNvSpPr txBox="1"/>
          <p:nvPr/>
        </p:nvSpPr>
        <p:spPr>
          <a:xfrm>
            <a:off x="530352" y="1719072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tourist_id</a:t>
            </a:r>
          </a:p>
        </p:txBody>
      </p:sp>
      <p:sp>
        <p:nvSpPr>
          <p:cNvPr id="108" name="r108"/>
          <p:cNvSpPr/>
          <p:nvPr/>
        </p:nvSpPr>
        <p:spPr>
          <a:xfrm>
            <a:off x="1463040" y="1627632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t109"/>
          <p:cNvSpPr txBox="1"/>
          <p:nvPr/>
        </p:nvSpPr>
        <p:spPr>
          <a:xfrm>
            <a:off x="1536192" y="1719072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first_name</a:t>
            </a:r>
          </a:p>
        </p:txBody>
      </p:sp>
      <p:sp>
        <p:nvSpPr>
          <p:cNvPr id="110" name="r110"/>
          <p:cNvSpPr/>
          <p:nvPr/>
        </p:nvSpPr>
        <p:spPr>
          <a:xfrm>
            <a:off x="2468880" y="1627632"/>
            <a:ext cx="13716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1" name="t111"/>
          <p:cNvSpPr txBox="1"/>
          <p:nvPr/>
        </p:nvSpPr>
        <p:spPr>
          <a:xfrm>
            <a:off x="2542032" y="1719072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accommodation</a:t>
            </a:r>
          </a:p>
        </p:txBody>
      </p:sp>
      <p:sp>
        <p:nvSpPr>
          <p:cNvPr id="112" name="r112"/>
          <p:cNvSpPr/>
          <p:nvPr/>
        </p:nvSpPr>
        <p:spPr>
          <a:xfrm>
            <a:off x="3840480" y="1627632"/>
            <a:ext cx="109728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3" name="t113"/>
          <p:cNvSpPr txBox="1"/>
          <p:nvPr/>
        </p:nvSpPr>
        <p:spPr>
          <a:xfrm>
            <a:off x="3913632" y="1719072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destination</a:t>
            </a:r>
          </a:p>
        </p:txBody>
      </p:sp>
      <p:sp>
        <p:nvSpPr>
          <p:cNvPr id="114" name="r114"/>
          <p:cNvSpPr/>
          <p:nvPr/>
        </p:nvSpPr>
        <p:spPr>
          <a:xfrm>
            <a:off x="4937760" y="1627632"/>
            <a:ext cx="64008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5" name="t115"/>
          <p:cNvSpPr txBox="1"/>
          <p:nvPr/>
        </p:nvSpPr>
        <p:spPr>
          <a:xfrm>
            <a:off x="5010912" y="1719072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spending</a:t>
            </a:r>
          </a:p>
        </p:txBody>
      </p:sp>
      <p:sp>
        <p:nvSpPr>
          <p:cNvPr id="116" name="r116"/>
          <p:cNvSpPr/>
          <p:nvPr/>
        </p:nvSpPr>
        <p:spPr>
          <a:xfrm>
            <a:off x="457200" y="1975104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7" name="t117"/>
          <p:cNvSpPr txBox="1"/>
          <p:nvPr/>
        </p:nvSpPr>
        <p:spPr>
          <a:xfrm>
            <a:off x="530352" y="2066544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18" name="r118"/>
          <p:cNvSpPr/>
          <p:nvPr/>
        </p:nvSpPr>
        <p:spPr>
          <a:xfrm>
            <a:off x="1463040" y="1975104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9" name="t119"/>
          <p:cNvSpPr txBox="1"/>
          <p:nvPr/>
        </p:nvSpPr>
        <p:spPr>
          <a:xfrm>
            <a:off x="1536192" y="2066544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20" name="r120"/>
          <p:cNvSpPr/>
          <p:nvPr/>
        </p:nvSpPr>
        <p:spPr>
          <a:xfrm>
            <a:off x="2468880" y="1975104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1" name="t121"/>
          <p:cNvSpPr txBox="1"/>
          <p:nvPr/>
        </p:nvSpPr>
        <p:spPr>
          <a:xfrm>
            <a:off x="2542032" y="2066544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122" name="r122"/>
          <p:cNvSpPr/>
          <p:nvPr/>
        </p:nvSpPr>
        <p:spPr>
          <a:xfrm>
            <a:off x="3840480" y="1975104"/>
            <a:ext cx="10972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3" name="t123"/>
          <p:cNvSpPr txBox="1"/>
          <p:nvPr/>
        </p:nvSpPr>
        <p:spPr>
          <a:xfrm>
            <a:off x="3913632" y="2066544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Boracay</a:t>
            </a:r>
          </a:p>
        </p:txBody>
      </p:sp>
      <p:sp>
        <p:nvSpPr>
          <p:cNvPr id="124" name="r124"/>
          <p:cNvSpPr/>
          <p:nvPr/>
        </p:nvSpPr>
        <p:spPr>
          <a:xfrm>
            <a:off x="4937760" y="1975104"/>
            <a:ext cx="6400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5" name="t125"/>
          <p:cNvSpPr txBox="1"/>
          <p:nvPr/>
        </p:nvSpPr>
        <p:spPr>
          <a:xfrm>
            <a:off x="5010912" y="2066544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15,000</a:t>
            </a:r>
          </a:p>
        </p:txBody>
      </p:sp>
      <p:sp>
        <p:nvSpPr>
          <p:cNvPr id="126" name="r126"/>
          <p:cNvSpPr/>
          <p:nvPr/>
        </p:nvSpPr>
        <p:spPr>
          <a:xfrm>
            <a:off x="457200" y="2322576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7" name="t127"/>
          <p:cNvSpPr txBox="1"/>
          <p:nvPr/>
        </p:nvSpPr>
        <p:spPr>
          <a:xfrm>
            <a:off x="530352" y="2414016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28" name="r128"/>
          <p:cNvSpPr/>
          <p:nvPr/>
        </p:nvSpPr>
        <p:spPr>
          <a:xfrm>
            <a:off x="1463040" y="2322576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9" name="t129"/>
          <p:cNvSpPr txBox="1"/>
          <p:nvPr/>
        </p:nvSpPr>
        <p:spPr>
          <a:xfrm>
            <a:off x="1536192" y="2414016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30" name="r130"/>
          <p:cNvSpPr/>
          <p:nvPr/>
        </p:nvSpPr>
        <p:spPr>
          <a:xfrm>
            <a:off x="2468880" y="2322576"/>
            <a:ext cx="13716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1" name="t131"/>
          <p:cNvSpPr txBox="1"/>
          <p:nvPr/>
        </p:nvSpPr>
        <p:spPr>
          <a:xfrm>
            <a:off x="2542032" y="2414016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132" name="r132"/>
          <p:cNvSpPr/>
          <p:nvPr/>
        </p:nvSpPr>
        <p:spPr>
          <a:xfrm>
            <a:off x="3840480" y="2322576"/>
            <a:ext cx="10972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t133"/>
          <p:cNvSpPr txBox="1"/>
          <p:nvPr/>
        </p:nvSpPr>
        <p:spPr>
          <a:xfrm>
            <a:off x="3913632" y="2414016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El Nido</a:t>
            </a:r>
          </a:p>
        </p:txBody>
      </p:sp>
      <p:sp>
        <p:nvSpPr>
          <p:cNvPr id="134" name="r134"/>
          <p:cNvSpPr/>
          <p:nvPr/>
        </p:nvSpPr>
        <p:spPr>
          <a:xfrm>
            <a:off x="4937760" y="2322576"/>
            <a:ext cx="6400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5" name="t135"/>
          <p:cNvSpPr txBox="1"/>
          <p:nvPr/>
        </p:nvSpPr>
        <p:spPr>
          <a:xfrm>
            <a:off x="5010912" y="2414016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22,000</a:t>
            </a:r>
          </a:p>
        </p:txBody>
      </p:sp>
      <p:sp>
        <p:nvSpPr>
          <p:cNvPr id="136" name="r136"/>
          <p:cNvSpPr/>
          <p:nvPr/>
        </p:nvSpPr>
        <p:spPr>
          <a:xfrm>
            <a:off x="457200" y="2670048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7" name="t137"/>
          <p:cNvSpPr txBox="1"/>
          <p:nvPr/>
        </p:nvSpPr>
        <p:spPr>
          <a:xfrm>
            <a:off x="530352" y="2761488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38" name="r138"/>
          <p:cNvSpPr/>
          <p:nvPr/>
        </p:nvSpPr>
        <p:spPr>
          <a:xfrm>
            <a:off x="1463040" y="2670048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9" name="t139"/>
          <p:cNvSpPr txBox="1"/>
          <p:nvPr/>
        </p:nvSpPr>
        <p:spPr>
          <a:xfrm>
            <a:off x="1536192" y="2761488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40" name="r140"/>
          <p:cNvSpPr/>
          <p:nvPr/>
        </p:nvSpPr>
        <p:spPr>
          <a:xfrm>
            <a:off x="2468880" y="2670048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1" name="t141"/>
          <p:cNvSpPr txBox="1"/>
          <p:nvPr/>
        </p:nvSpPr>
        <p:spPr>
          <a:xfrm>
            <a:off x="2542032" y="2761488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Guesthouse</a:t>
            </a:r>
          </a:p>
        </p:txBody>
      </p:sp>
      <p:sp>
        <p:nvSpPr>
          <p:cNvPr id="142" name="r142"/>
          <p:cNvSpPr/>
          <p:nvPr/>
        </p:nvSpPr>
        <p:spPr>
          <a:xfrm>
            <a:off x="3840480" y="2670048"/>
            <a:ext cx="10972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3" name="t143"/>
          <p:cNvSpPr txBox="1"/>
          <p:nvPr/>
        </p:nvSpPr>
        <p:spPr>
          <a:xfrm>
            <a:off x="3913632" y="2761488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Siargao</a:t>
            </a:r>
          </a:p>
        </p:txBody>
      </p:sp>
      <p:sp>
        <p:nvSpPr>
          <p:cNvPr id="144" name="r144"/>
          <p:cNvSpPr/>
          <p:nvPr/>
        </p:nvSpPr>
        <p:spPr>
          <a:xfrm>
            <a:off x="4937760" y="2670048"/>
            <a:ext cx="6400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5" name="t145"/>
          <p:cNvSpPr txBox="1"/>
          <p:nvPr/>
        </p:nvSpPr>
        <p:spPr>
          <a:xfrm>
            <a:off x="5010912" y="2761488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18,500</a:t>
            </a:r>
          </a:p>
        </p:txBody>
      </p:sp>
      <p:sp>
        <p:nvSpPr>
          <p:cNvPr id="146" name="r146"/>
          <p:cNvSpPr/>
          <p:nvPr/>
        </p:nvSpPr>
        <p:spPr>
          <a:xfrm>
            <a:off x="457200" y="3017520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7" name="t147"/>
          <p:cNvSpPr txBox="1"/>
          <p:nvPr/>
        </p:nvSpPr>
        <p:spPr>
          <a:xfrm>
            <a:off x="530352" y="3108960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48" name="r148"/>
          <p:cNvSpPr/>
          <p:nvPr/>
        </p:nvSpPr>
        <p:spPr>
          <a:xfrm>
            <a:off x="1463040" y="3017520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9" name="t149"/>
          <p:cNvSpPr txBox="1"/>
          <p:nvPr/>
        </p:nvSpPr>
        <p:spPr>
          <a:xfrm>
            <a:off x="1536192" y="3108960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50" name="r150"/>
          <p:cNvSpPr/>
          <p:nvPr/>
        </p:nvSpPr>
        <p:spPr>
          <a:xfrm>
            <a:off x="2468880" y="3017520"/>
            <a:ext cx="13716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1" name="t151"/>
          <p:cNvSpPr txBox="1"/>
          <p:nvPr/>
        </p:nvSpPr>
        <p:spPr>
          <a:xfrm>
            <a:off x="2542032" y="3108960"/>
            <a:ext cx="12618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Hotel</a:t>
            </a:r>
          </a:p>
        </p:txBody>
      </p:sp>
      <p:sp>
        <p:nvSpPr>
          <p:cNvPr id="152" name="r152"/>
          <p:cNvSpPr/>
          <p:nvPr/>
        </p:nvSpPr>
        <p:spPr>
          <a:xfrm>
            <a:off x="3840480" y="3017520"/>
            <a:ext cx="10972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t153"/>
          <p:cNvSpPr txBox="1"/>
          <p:nvPr/>
        </p:nvSpPr>
        <p:spPr>
          <a:xfrm>
            <a:off x="3913632" y="3108960"/>
            <a:ext cx="9875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Coron</a:t>
            </a:r>
          </a:p>
        </p:txBody>
      </p:sp>
      <p:sp>
        <p:nvSpPr>
          <p:cNvPr id="154" name="r154"/>
          <p:cNvSpPr/>
          <p:nvPr/>
        </p:nvSpPr>
        <p:spPr>
          <a:xfrm>
            <a:off x="4937760" y="3017520"/>
            <a:ext cx="6400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5" name="t155"/>
          <p:cNvSpPr txBox="1"/>
          <p:nvPr/>
        </p:nvSpPr>
        <p:spPr>
          <a:xfrm>
            <a:off x="5010912" y="3108960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20,000</a:t>
            </a:r>
          </a:p>
        </p:txBody>
      </p:sp>
      <p:sp>
        <p:nvSpPr>
          <p:cNvPr id="156" name="r156"/>
          <p:cNvSpPr/>
          <p:nvPr/>
        </p:nvSpPr>
        <p:spPr>
          <a:xfrm>
            <a:off x="457200" y="1627632"/>
            <a:ext cx="5120640" cy="1737360"/>
          </a:xfrm>
          <a:prstGeom prst="rect">
            <a:avLst/>
          </a:prstGeom>
          <a:noFill/>
          <a:ln w="1016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7" name="r157"/>
          <p:cNvSpPr/>
          <p:nvPr/>
        </p:nvSpPr>
        <p:spPr>
          <a:xfrm>
            <a:off x="109728" y="1975104"/>
            <a:ext cx="256032" cy="1389888"/>
          </a:xfrm>
          <a:prstGeom prst="rect">
            <a:avLst/>
          </a:prstGeom>
          <a:solidFill>
            <a:srgbClr val="EF4444"/>
          </a:solidFill>
          <a:ln w="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t158"/>
          <p:cNvSpPr txBox="1"/>
          <p:nvPr/>
        </p:nvSpPr>
        <p:spPr>
          <a:xfrm>
            <a:off x="128016" y="2392070"/>
            <a:ext cx="219456" cy="45720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55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D2D8142-731D-A4BC-BBA7-7E827BC9DA56}"/>
              </a:ext>
            </a:extLst>
          </p:cNvPr>
          <p:cNvGrpSpPr/>
          <p:nvPr/>
        </p:nvGrpSpPr>
        <p:grpSpPr>
          <a:xfrm>
            <a:off x="457200" y="3696725"/>
            <a:ext cx="5120640" cy="1074736"/>
            <a:chOff x="457200" y="4096511"/>
            <a:chExt cx="5120640" cy="1074736"/>
          </a:xfrm>
        </p:grpSpPr>
        <p:sp>
          <p:nvSpPr>
            <p:cNvPr id="162" name="r162"/>
            <p:cNvSpPr/>
            <p:nvPr/>
          </p:nvSpPr>
          <p:spPr>
            <a:xfrm>
              <a:off x="457200" y="4096511"/>
              <a:ext cx="5120640" cy="438912"/>
            </a:xfrm>
            <a:prstGeom prst="rect">
              <a:avLst/>
            </a:prstGeom>
            <a:solidFill>
              <a:srgbClr val="0F2235"/>
            </a:solidFill>
            <a:ln w="5080">
              <a:solidFill>
                <a:srgbClr val="1A3040"/>
              </a:solidFill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3" name="t163"/>
            <p:cNvSpPr txBox="1"/>
            <p:nvPr/>
          </p:nvSpPr>
          <p:spPr>
            <a:xfrm>
              <a:off x="594360" y="4187951"/>
              <a:ext cx="365760" cy="274320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🔁</a:t>
              </a:r>
            </a:p>
          </p:txBody>
        </p:sp>
        <p:sp>
          <p:nvSpPr>
            <p:cNvPr id="164" name="t164"/>
            <p:cNvSpPr txBox="1"/>
            <p:nvPr/>
          </p:nvSpPr>
          <p:spPr>
            <a:xfrm>
              <a:off x="1005840" y="4151375"/>
              <a:ext cx="1280160" cy="182880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EF4444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Redundancy</a:t>
              </a:r>
            </a:p>
          </p:txBody>
        </p:sp>
        <p:sp>
          <p:nvSpPr>
            <p:cNvPr id="165" name="t165"/>
            <p:cNvSpPr txBox="1"/>
            <p:nvPr/>
          </p:nvSpPr>
          <p:spPr>
            <a:xfrm>
              <a:off x="1005840" y="4334255"/>
              <a:ext cx="4389120" cy="164592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CBD5E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Same data repeated across many rows</a:t>
              </a:r>
            </a:p>
          </p:txBody>
        </p:sp>
        <p:sp>
          <p:nvSpPr>
            <p:cNvPr id="170" name="r170"/>
            <p:cNvSpPr/>
            <p:nvPr/>
          </p:nvSpPr>
          <p:spPr>
            <a:xfrm>
              <a:off x="457200" y="4732335"/>
              <a:ext cx="5120640" cy="438912"/>
            </a:xfrm>
            <a:prstGeom prst="rect">
              <a:avLst/>
            </a:prstGeom>
            <a:solidFill>
              <a:srgbClr val="0F2235"/>
            </a:solidFill>
            <a:ln w="5080">
              <a:solidFill>
                <a:srgbClr val="1A3040"/>
              </a:solidFill>
            </a:ln>
          </p:spPr>
          <p:txBody>
            <a:bodyPr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1" name="t171"/>
            <p:cNvSpPr txBox="1"/>
            <p:nvPr/>
          </p:nvSpPr>
          <p:spPr>
            <a:xfrm>
              <a:off x="594360" y="4823774"/>
              <a:ext cx="365760" cy="274320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 dirty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🗑️</a:t>
              </a:r>
            </a:p>
          </p:txBody>
        </p:sp>
        <p:sp>
          <p:nvSpPr>
            <p:cNvPr id="172" name="t172"/>
            <p:cNvSpPr txBox="1"/>
            <p:nvPr/>
          </p:nvSpPr>
          <p:spPr>
            <a:xfrm>
              <a:off x="1005840" y="4787198"/>
              <a:ext cx="1280160" cy="182880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000" b="1" i="0" u="none" strike="noStrike" kern="1200" cap="none" spc="0" normalizeH="0" baseline="0" noProof="0" dirty="0">
                  <a:ln>
                    <a:noFill/>
                  </a:ln>
                  <a:solidFill>
                    <a:srgbClr val="EF4444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Deletion Anomaly</a:t>
              </a:r>
            </a:p>
          </p:txBody>
        </p:sp>
        <p:sp>
          <p:nvSpPr>
            <p:cNvPr id="173" name="t173"/>
            <p:cNvSpPr txBox="1"/>
            <p:nvPr/>
          </p:nvSpPr>
          <p:spPr>
            <a:xfrm>
              <a:off x="1005840" y="4970078"/>
              <a:ext cx="4389120" cy="164592"/>
            </a:xfrm>
            <a:prstGeom prst="rect">
              <a:avLst/>
            </a:prstGeom>
            <a:noFill/>
          </p:spPr>
          <p:txBody>
            <a:bodyPr wrap="square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900" b="0" i="0" u="none" strike="noStrike" kern="1200" cap="none" spc="0" normalizeH="0" baseline="0" noProof="0" dirty="0">
                  <a:ln>
                    <a:noFill/>
                  </a:ln>
                  <a:solidFill>
                    <a:srgbClr val="CBD5E1"/>
                  </a:solidFill>
                  <a:effectLst/>
                  <a:uLnTx/>
                  <a:uFillTx/>
                  <a:latin typeface="Calibri"/>
                  <a:ea typeface="+mn-ea"/>
                  <a:cs typeface="+mn-cs"/>
                </a:rPr>
                <a:t>Delete a tourist and you lose all their visit records</a:t>
              </a:r>
            </a:p>
          </p:txBody>
        </p:sp>
      </p:grpSp>
      <p:sp>
        <p:nvSpPr>
          <p:cNvPr id="174" name="r174"/>
          <p:cNvSpPr/>
          <p:nvPr/>
        </p:nvSpPr>
        <p:spPr>
          <a:xfrm>
            <a:off x="6144768" y="1078992"/>
            <a:ext cx="36576" cy="5577840"/>
          </a:xfrm>
          <a:prstGeom prst="rect">
            <a:avLst/>
          </a:prstGeom>
          <a:solidFill>
            <a:srgbClr val="1A3040"/>
          </a:solidFill>
          <a:ln w="0">
            <a:solidFill>
              <a:srgbClr val="1A304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5" name="t175"/>
          <p:cNvSpPr txBox="1"/>
          <p:nvPr/>
        </p:nvSpPr>
        <p:spPr>
          <a:xfrm>
            <a:off x="6355080" y="1078992"/>
            <a:ext cx="5486400" cy="27432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✅  Separate tables</a:t>
            </a:r>
          </a:p>
        </p:txBody>
      </p:sp>
      <p:sp>
        <p:nvSpPr>
          <p:cNvPr id="176" name="t176"/>
          <p:cNvSpPr txBox="1"/>
          <p:nvPr/>
        </p:nvSpPr>
        <p:spPr>
          <a:xfrm>
            <a:off x="6355080" y="1371600"/>
            <a:ext cx="54864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Each piece of information stored exactly once.</a:t>
            </a:r>
          </a:p>
        </p:txBody>
      </p:sp>
      <p:sp>
        <p:nvSpPr>
          <p:cNvPr id="177" name="r177"/>
          <p:cNvSpPr/>
          <p:nvPr/>
        </p:nvSpPr>
        <p:spPr>
          <a:xfrm>
            <a:off x="6355080" y="1627632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8" name="t178"/>
          <p:cNvSpPr txBox="1"/>
          <p:nvPr/>
        </p:nvSpPr>
        <p:spPr>
          <a:xfrm>
            <a:off x="6428232" y="1719072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tourist_id</a:t>
            </a:r>
          </a:p>
        </p:txBody>
      </p:sp>
      <p:sp>
        <p:nvSpPr>
          <p:cNvPr id="179" name="r179"/>
          <p:cNvSpPr/>
          <p:nvPr/>
        </p:nvSpPr>
        <p:spPr>
          <a:xfrm>
            <a:off x="7360920" y="1627632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0" name="t180"/>
          <p:cNvSpPr txBox="1"/>
          <p:nvPr/>
        </p:nvSpPr>
        <p:spPr>
          <a:xfrm>
            <a:off x="7434072" y="1719072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first_name</a:t>
            </a:r>
          </a:p>
        </p:txBody>
      </p:sp>
      <p:sp>
        <p:nvSpPr>
          <p:cNvPr id="183" name="r183"/>
          <p:cNvSpPr/>
          <p:nvPr/>
        </p:nvSpPr>
        <p:spPr>
          <a:xfrm>
            <a:off x="6355080" y="1975104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4" name="t184"/>
          <p:cNvSpPr txBox="1"/>
          <p:nvPr/>
        </p:nvSpPr>
        <p:spPr>
          <a:xfrm>
            <a:off x="6428232" y="2066544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185" name="r185"/>
          <p:cNvSpPr/>
          <p:nvPr/>
        </p:nvSpPr>
        <p:spPr>
          <a:xfrm>
            <a:off x="7360920" y="1975104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6" name="t186"/>
          <p:cNvSpPr txBox="1"/>
          <p:nvPr/>
        </p:nvSpPr>
        <p:spPr>
          <a:xfrm>
            <a:off x="7434072" y="2066544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Kim</a:t>
            </a:r>
          </a:p>
        </p:txBody>
      </p:sp>
      <p:sp>
        <p:nvSpPr>
          <p:cNvPr id="189" name="r189"/>
          <p:cNvSpPr/>
          <p:nvPr/>
        </p:nvSpPr>
        <p:spPr>
          <a:xfrm>
            <a:off x="6355080" y="2322576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0" name="t190"/>
          <p:cNvSpPr txBox="1"/>
          <p:nvPr/>
        </p:nvSpPr>
        <p:spPr>
          <a:xfrm>
            <a:off x="6428232" y="2414016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T002</a:t>
            </a:r>
          </a:p>
        </p:txBody>
      </p:sp>
      <p:sp>
        <p:nvSpPr>
          <p:cNvPr id="191" name="r191"/>
          <p:cNvSpPr/>
          <p:nvPr/>
        </p:nvSpPr>
        <p:spPr>
          <a:xfrm>
            <a:off x="7360920" y="2322576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2" name="t192"/>
          <p:cNvSpPr txBox="1"/>
          <p:nvPr/>
        </p:nvSpPr>
        <p:spPr>
          <a:xfrm>
            <a:off x="7434072" y="2414016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Smith</a:t>
            </a:r>
          </a:p>
        </p:txBody>
      </p:sp>
      <p:sp>
        <p:nvSpPr>
          <p:cNvPr id="195" name="r195"/>
          <p:cNvSpPr/>
          <p:nvPr/>
        </p:nvSpPr>
        <p:spPr>
          <a:xfrm>
            <a:off x="6355080" y="1627632"/>
            <a:ext cx="2020824" cy="1042416"/>
          </a:xfrm>
          <a:prstGeom prst="rect">
            <a:avLst/>
          </a:prstGeom>
          <a:noFill/>
          <a:ln w="1016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6" name="t196"/>
          <p:cNvSpPr txBox="1"/>
          <p:nvPr/>
        </p:nvSpPr>
        <p:spPr>
          <a:xfrm>
            <a:off x="6355080" y="2743200"/>
            <a:ext cx="338328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tourists</a:t>
            </a:r>
          </a:p>
        </p:txBody>
      </p:sp>
      <p:sp>
        <p:nvSpPr>
          <p:cNvPr id="197" name="r197"/>
          <p:cNvSpPr/>
          <p:nvPr/>
        </p:nvSpPr>
        <p:spPr>
          <a:xfrm>
            <a:off x="6862572" y="3054096"/>
            <a:ext cx="36576" cy="347472"/>
          </a:xfrm>
          <a:prstGeom prst="rect">
            <a:avLst/>
          </a:prstGeom>
          <a:solidFill>
            <a:srgbClr val="00C9A7"/>
          </a:solidFill>
          <a:ln w="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8" name="r198"/>
          <p:cNvSpPr/>
          <p:nvPr/>
        </p:nvSpPr>
        <p:spPr>
          <a:xfrm>
            <a:off x="6862572" y="3401568"/>
            <a:ext cx="2368296" cy="36576"/>
          </a:xfrm>
          <a:prstGeom prst="rect">
            <a:avLst/>
          </a:prstGeom>
          <a:solidFill>
            <a:srgbClr val="00C9A7"/>
          </a:solidFill>
          <a:ln w="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9" name="r199"/>
          <p:cNvSpPr/>
          <p:nvPr/>
        </p:nvSpPr>
        <p:spPr>
          <a:xfrm>
            <a:off x="9194292" y="3401568"/>
            <a:ext cx="36576" cy="384048"/>
          </a:xfrm>
          <a:prstGeom prst="rect">
            <a:avLst/>
          </a:prstGeom>
          <a:solidFill>
            <a:srgbClr val="00C9A7"/>
          </a:solidFill>
          <a:ln w="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0" name="t200"/>
          <p:cNvSpPr txBox="1"/>
          <p:nvPr/>
        </p:nvSpPr>
        <p:spPr>
          <a:xfrm>
            <a:off x="7200900" y="3108960"/>
            <a:ext cx="2286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tourist_id  (FK)</a:t>
            </a:r>
          </a:p>
        </p:txBody>
      </p:sp>
      <p:sp>
        <p:nvSpPr>
          <p:cNvPr id="201" name="r201"/>
          <p:cNvSpPr/>
          <p:nvPr/>
        </p:nvSpPr>
        <p:spPr>
          <a:xfrm>
            <a:off x="6355080" y="3858768"/>
            <a:ext cx="100584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2" name="t202"/>
          <p:cNvSpPr txBox="1"/>
          <p:nvPr/>
        </p:nvSpPr>
        <p:spPr>
          <a:xfrm>
            <a:off x="6428232" y="3950207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visit_id</a:t>
            </a:r>
          </a:p>
        </p:txBody>
      </p:sp>
      <p:sp>
        <p:nvSpPr>
          <p:cNvPr id="203" name="r203"/>
          <p:cNvSpPr/>
          <p:nvPr/>
        </p:nvSpPr>
        <p:spPr>
          <a:xfrm>
            <a:off x="7360920" y="3858768"/>
            <a:ext cx="9144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4" name="t204"/>
          <p:cNvSpPr txBox="1"/>
          <p:nvPr/>
        </p:nvSpPr>
        <p:spPr>
          <a:xfrm>
            <a:off x="7434072" y="3950207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tourist_id</a:t>
            </a:r>
          </a:p>
        </p:txBody>
      </p:sp>
      <p:sp>
        <p:nvSpPr>
          <p:cNvPr id="205" name="r205"/>
          <p:cNvSpPr/>
          <p:nvPr/>
        </p:nvSpPr>
        <p:spPr>
          <a:xfrm>
            <a:off x="8275320" y="3858768"/>
            <a:ext cx="9144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6" name="t206"/>
          <p:cNvSpPr txBox="1"/>
          <p:nvPr/>
        </p:nvSpPr>
        <p:spPr>
          <a:xfrm>
            <a:off x="8275320" y="3950207"/>
            <a:ext cx="987552" cy="146304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accommodation</a:t>
            </a:r>
          </a:p>
        </p:txBody>
      </p:sp>
      <p:sp>
        <p:nvSpPr>
          <p:cNvPr id="207" name="r207"/>
          <p:cNvSpPr/>
          <p:nvPr/>
        </p:nvSpPr>
        <p:spPr>
          <a:xfrm>
            <a:off x="9189720" y="3858768"/>
            <a:ext cx="64008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8" name="t208"/>
          <p:cNvSpPr txBox="1"/>
          <p:nvPr/>
        </p:nvSpPr>
        <p:spPr>
          <a:xfrm>
            <a:off x="9262872" y="3950207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spending</a:t>
            </a:r>
          </a:p>
        </p:txBody>
      </p:sp>
      <p:sp>
        <p:nvSpPr>
          <p:cNvPr id="209" name="r209"/>
          <p:cNvSpPr/>
          <p:nvPr/>
        </p:nvSpPr>
        <p:spPr>
          <a:xfrm>
            <a:off x="6355080" y="4206240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0" name="t210"/>
          <p:cNvSpPr txBox="1"/>
          <p:nvPr/>
        </p:nvSpPr>
        <p:spPr>
          <a:xfrm>
            <a:off x="6428232" y="4297679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V001</a:t>
            </a:r>
          </a:p>
        </p:txBody>
      </p:sp>
      <p:sp>
        <p:nvSpPr>
          <p:cNvPr id="211" name="r211"/>
          <p:cNvSpPr/>
          <p:nvPr/>
        </p:nvSpPr>
        <p:spPr>
          <a:xfrm>
            <a:off x="7360920" y="4206240"/>
            <a:ext cx="9144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2" name="t212"/>
          <p:cNvSpPr txBox="1"/>
          <p:nvPr/>
        </p:nvSpPr>
        <p:spPr>
          <a:xfrm>
            <a:off x="7434072" y="4297679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213" name="r213"/>
          <p:cNvSpPr/>
          <p:nvPr/>
        </p:nvSpPr>
        <p:spPr>
          <a:xfrm>
            <a:off x="8275320" y="4206240"/>
            <a:ext cx="9144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4" name="t214"/>
          <p:cNvSpPr txBox="1"/>
          <p:nvPr/>
        </p:nvSpPr>
        <p:spPr>
          <a:xfrm>
            <a:off x="8348472" y="4297679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215" name="r215"/>
          <p:cNvSpPr/>
          <p:nvPr/>
        </p:nvSpPr>
        <p:spPr>
          <a:xfrm>
            <a:off x="9189720" y="4206240"/>
            <a:ext cx="6400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6" name="t216"/>
          <p:cNvSpPr txBox="1"/>
          <p:nvPr/>
        </p:nvSpPr>
        <p:spPr>
          <a:xfrm>
            <a:off x="9262872" y="4297679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15,000</a:t>
            </a:r>
          </a:p>
        </p:txBody>
      </p:sp>
      <p:sp>
        <p:nvSpPr>
          <p:cNvPr id="217" name="r217"/>
          <p:cNvSpPr/>
          <p:nvPr/>
        </p:nvSpPr>
        <p:spPr>
          <a:xfrm>
            <a:off x="6355080" y="4553712"/>
            <a:ext cx="100584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8" name="t218"/>
          <p:cNvSpPr txBox="1"/>
          <p:nvPr/>
        </p:nvSpPr>
        <p:spPr>
          <a:xfrm>
            <a:off x="6428232" y="4645151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V002</a:t>
            </a:r>
          </a:p>
        </p:txBody>
      </p:sp>
      <p:sp>
        <p:nvSpPr>
          <p:cNvPr id="219" name="r219"/>
          <p:cNvSpPr/>
          <p:nvPr/>
        </p:nvSpPr>
        <p:spPr>
          <a:xfrm>
            <a:off x="7360920" y="4553712"/>
            <a:ext cx="9144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0" name="t220"/>
          <p:cNvSpPr txBox="1"/>
          <p:nvPr/>
        </p:nvSpPr>
        <p:spPr>
          <a:xfrm>
            <a:off x="7434072" y="4645151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T001</a:t>
            </a:r>
          </a:p>
        </p:txBody>
      </p:sp>
      <p:sp>
        <p:nvSpPr>
          <p:cNvPr id="221" name="r221"/>
          <p:cNvSpPr/>
          <p:nvPr/>
        </p:nvSpPr>
        <p:spPr>
          <a:xfrm>
            <a:off x="8275320" y="4553712"/>
            <a:ext cx="9144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2" name="t222"/>
          <p:cNvSpPr txBox="1"/>
          <p:nvPr/>
        </p:nvSpPr>
        <p:spPr>
          <a:xfrm>
            <a:off x="8348472" y="4645151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Hostel</a:t>
            </a:r>
          </a:p>
        </p:txBody>
      </p:sp>
      <p:sp>
        <p:nvSpPr>
          <p:cNvPr id="223" name="r223"/>
          <p:cNvSpPr/>
          <p:nvPr/>
        </p:nvSpPr>
        <p:spPr>
          <a:xfrm>
            <a:off x="9189720" y="4553712"/>
            <a:ext cx="6400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4" name="t224"/>
          <p:cNvSpPr txBox="1"/>
          <p:nvPr/>
        </p:nvSpPr>
        <p:spPr>
          <a:xfrm>
            <a:off x="9262872" y="4645151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22,000</a:t>
            </a:r>
          </a:p>
        </p:txBody>
      </p:sp>
      <p:sp>
        <p:nvSpPr>
          <p:cNvPr id="225" name="r225"/>
          <p:cNvSpPr/>
          <p:nvPr/>
        </p:nvSpPr>
        <p:spPr>
          <a:xfrm>
            <a:off x="6355080" y="4901183"/>
            <a:ext cx="100584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6" name="t226"/>
          <p:cNvSpPr txBox="1"/>
          <p:nvPr/>
        </p:nvSpPr>
        <p:spPr>
          <a:xfrm>
            <a:off x="6428232" y="4992623"/>
            <a:ext cx="89611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V003</a:t>
            </a:r>
          </a:p>
        </p:txBody>
      </p:sp>
      <p:sp>
        <p:nvSpPr>
          <p:cNvPr id="227" name="r227"/>
          <p:cNvSpPr/>
          <p:nvPr/>
        </p:nvSpPr>
        <p:spPr>
          <a:xfrm>
            <a:off x="7360920" y="4901183"/>
            <a:ext cx="9144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8" name="t228"/>
          <p:cNvSpPr txBox="1"/>
          <p:nvPr/>
        </p:nvSpPr>
        <p:spPr>
          <a:xfrm>
            <a:off x="7434072" y="4992623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T002</a:t>
            </a:r>
          </a:p>
        </p:txBody>
      </p:sp>
      <p:sp>
        <p:nvSpPr>
          <p:cNvPr id="229" name="r229"/>
          <p:cNvSpPr/>
          <p:nvPr/>
        </p:nvSpPr>
        <p:spPr>
          <a:xfrm>
            <a:off x="8275320" y="4901183"/>
            <a:ext cx="9144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0" name="t230"/>
          <p:cNvSpPr txBox="1"/>
          <p:nvPr/>
        </p:nvSpPr>
        <p:spPr>
          <a:xfrm>
            <a:off x="8348472" y="4992623"/>
            <a:ext cx="80467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Guesthouse</a:t>
            </a:r>
          </a:p>
        </p:txBody>
      </p:sp>
      <p:sp>
        <p:nvSpPr>
          <p:cNvPr id="231" name="r231"/>
          <p:cNvSpPr/>
          <p:nvPr/>
        </p:nvSpPr>
        <p:spPr>
          <a:xfrm>
            <a:off x="9189720" y="4901183"/>
            <a:ext cx="6400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2" name="t232"/>
          <p:cNvSpPr txBox="1"/>
          <p:nvPr/>
        </p:nvSpPr>
        <p:spPr>
          <a:xfrm>
            <a:off x="9262872" y="4992623"/>
            <a:ext cx="530352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18,500</a:t>
            </a:r>
          </a:p>
        </p:txBody>
      </p:sp>
      <p:sp>
        <p:nvSpPr>
          <p:cNvPr id="233" name="r233"/>
          <p:cNvSpPr/>
          <p:nvPr/>
        </p:nvSpPr>
        <p:spPr>
          <a:xfrm>
            <a:off x="6355080" y="3858768"/>
            <a:ext cx="3474720" cy="1389888"/>
          </a:xfrm>
          <a:prstGeom prst="rect">
            <a:avLst/>
          </a:prstGeom>
          <a:noFill/>
          <a:ln w="1016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4" name="t234"/>
          <p:cNvSpPr txBox="1"/>
          <p:nvPr/>
        </p:nvSpPr>
        <p:spPr>
          <a:xfrm>
            <a:off x="6355080" y="5321808"/>
            <a:ext cx="347472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visits</a:t>
            </a:r>
          </a:p>
        </p:txBody>
      </p:sp>
      <p:sp>
        <p:nvSpPr>
          <p:cNvPr id="235" name="r235"/>
          <p:cNvSpPr/>
          <p:nvPr/>
        </p:nvSpPr>
        <p:spPr>
          <a:xfrm>
            <a:off x="6355080" y="5596128"/>
            <a:ext cx="5577840" cy="402336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6" name="t236"/>
          <p:cNvSpPr txBox="1"/>
          <p:nvPr/>
        </p:nvSpPr>
        <p:spPr>
          <a:xfrm>
            <a:off x="6537960" y="5650992"/>
            <a:ext cx="530352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Kim appears once. Visit records are stored in another table.</a:t>
            </a:r>
          </a:p>
        </p:txBody>
      </p:sp>
      <p:sp>
        <p:nvSpPr>
          <p:cNvPr id="4" name="t105">
            <a:extLst>
              <a:ext uri="{FF2B5EF4-FFF2-40B4-BE49-F238E27FC236}">
                <a16:creationId xmlns:a16="http://schemas.microsoft.com/office/drawing/2014/main" id="{2611022E-861F-8F51-1E94-865CD9E5B574}"/>
              </a:ext>
            </a:extLst>
          </p:cNvPr>
          <p:cNvSpPr txBox="1"/>
          <p:nvPr/>
        </p:nvSpPr>
        <p:spPr>
          <a:xfrm>
            <a:off x="457200" y="1371600"/>
            <a:ext cx="54864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 i="1" dirty="0">
                <a:solidFill>
                  <a:srgbClr val="CBD5E1"/>
                </a:solidFill>
                <a:latin typeface="Calibri"/>
              </a:rPr>
              <a:t>Same </a:t>
            </a:r>
            <a:r>
              <a:rPr lang="en-US" sz="1000" i="1" dirty="0" err="1">
                <a:solidFill>
                  <a:srgbClr val="CBD5E1"/>
                </a:solidFill>
                <a:latin typeface="Calibri"/>
              </a:rPr>
              <a:t>first_name</a:t>
            </a:r>
            <a:r>
              <a:rPr lang="en-US" sz="1000" i="1" dirty="0">
                <a:solidFill>
                  <a:srgbClr val="CBD5E1"/>
                </a:solidFill>
                <a:latin typeface="Calibri"/>
              </a:rPr>
              <a:t> repeated across every visit row.</a:t>
            </a:r>
            <a:endParaRPr kumimoji="0" lang="en-US" sz="1000" b="0" i="1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SQL Fundamentals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SELECT  ·  WHERE  ·  ORDER BY  ·  GROUP BY  ·  Aggregate functions</a:t>
            </a:r>
          </a:p>
        </p:txBody>
      </p:sp>
    </p:spTree>
  </p:cSld>
  <p:clrMapOvr>
    <a:masterClrMapping/>
  </p:clrMapOvr>
  <p:transition spd="med">
    <p:push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Look at a SQL Query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Text 3"/>
          <p:cNvSpPr txBox="1"/>
          <p:nvPr/>
        </p:nvSpPr>
        <p:spPr>
          <a:xfrm>
            <a:off x="457200" y="1353312"/>
            <a:ext cx="5943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before I explain anything: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6217920" cy="233172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Text 5"/>
          <p:cNvSpPr txBox="1"/>
          <p:nvPr/>
        </p:nvSpPr>
        <p:spPr>
          <a:xfrm>
            <a:off x="777240" y="1901952"/>
            <a:ext cx="5669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destination_name, region, category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377440"/>
            <a:ext cx="5669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destinations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852928"/>
            <a:ext cx="5669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category = 'Beach'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328416"/>
            <a:ext cx="56692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destination_name ASC;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748272" y="2852928"/>
            <a:ext cx="502920" cy="9144"/>
          </a:xfrm>
          <a:prstGeom prst="line">
            <a:avLst/>
          </a:prstGeom>
          <a:noFill/>
          <a:ln w="2540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6601968" y="2596896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406640" y="1353312"/>
            <a:ext cx="4480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result: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406640" y="1719072"/>
            <a:ext cx="1371600" cy="347472"/>
          </a:xfrm>
          <a:prstGeom prst="rect">
            <a:avLst/>
          </a:prstGeom>
          <a:solidFill>
            <a:srgbClr val="0F2A3F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7452360" y="178308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destination_name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778240" y="1719072"/>
            <a:ext cx="1280160" cy="347472"/>
          </a:xfrm>
          <a:prstGeom prst="rect">
            <a:avLst/>
          </a:prstGeom>
          <a:solidFill>
            <a:srgbClr val="0F2A3F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7" name="Text 15"/>
          <p:cNvSpPr txBox="1"/>
          <p:nvPr/>
        </p:nvSpPr>
        <p:spPr>
          <a:xfrm>
            <a:off x="8823960" y="1783080"/>
            <a:ext cx="11887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10058400" y="1719072"/>
            <a:ext cx="2011680" cy="347472"/>
          </a:xfrm>
          <a:prstGeom prst="rect">
            <a:avLst/>
          </a:prstGeom>
          <a:solidFill>
            <a:srgbClr val="0F2A3F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9" name="Text 17"/>
          <p:cNvSpPr txBox="1"/>
          <p:nvPr/>
        </p:nvSpPr>
        <p:spPr>
          <a:xfrm>
            <a:off x="10104120" y="1783080"/>
            <a:ext cx="19202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406640" y="2066544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7452360" y="2130552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Boracay Island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778240" y="2066544"/>
            <a:ext cx="128016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1"/>
          <p:cNvSpPr txBox="1"/>
          <p:nvPr/>
        </p:nvSpPr>
        <p:spPr>
          <a:xfrm>
            <a:off x="8823960" y="2130552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Western Visayas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10058400" y="2066544"/>
            <a:ext cx="20116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 txBox="1"/>
          <p:nvPr/>
        </p:nvSpPr>
        <p:spPr>
          <a:xfrm>
            <a:off x="10104120" y="2130552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406640" y="2414016"/>
            <a:ext cx="137160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Text 25"/>
          <p:cNvSpPr txBox="1"/>
          <p:nvPr/>
        </p:nvSpPr>
        <p:spPr>
          <a:xfrm>
            <a:off x="7452360" y="2478024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Panglao Island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778240" y="2414016"/>
            <a:ext cx="128016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Text 27"/>
          <p:cNvSpPr txBox="1"/>
          <p:nvPr/>
        </p:nvSpPr>
        <p:spPr>
          <a:xfrm>
            <a:off x="8823960" y="2478024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Central Visayas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0058400" y="2414016"/>
            <a:ext cx="2011680" cy="347472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10104120" y="2478024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406640" y="2761488"/>
            <a:ext cx="137160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Text 31"/>
          <p:cNvSpPr txBox="1"/>
          <p:nvPr/>
        </p:nvSpPr>
        <p:spPr>
          <a:xfrm>
            <a:off x="7452360" y="2825496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Siargao Island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778240" y="2761488"/>
            <a:ext cx="128016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5" name="Text 33"/>
          <p:cNvSpPr txBox="1"/>
          <p:nvPr/>
        </p:nvSpPr>
        <p:spPr>
          <a:xfrm>
            <a:off x="8823960" y="2825496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Caraga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10058400" y="2761488"/>
            <a:ext cx="2011680" cy="347472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7" name="Text 35"/>
          <p:cNvSpPr txBox="1"/>
          <p:nvPr/>
        </p:nvSpPr>
        <p:spPr>
          <a:xfrm>
            <a:off x="10104120" y="2825496"/>
            <a:ext cx="1920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406640" y="1719072"/>
            <a:ext cx="4663440" cy="1389888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9" name="Shape 37"/>
          <p:cNvSpPr/>
          <p:nvPr/>
        </p:nvSpPr>
        <p:spPr>
          <a:xfrm>
            <a:off x="457200" y="4315968"/>
            <a:ext cx="11704320" cy="566928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Text 38"/>
          <p:cNvSpPr txBox="1"/>
          <p:nvPr/>
        </p:nvSpPr>
        <p:spPr>
          <a:xfrm>
            <a:off x="640080" y="4425696"/>
            <a:ext cx="113385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if you've never seen SQL before — you can probably guess what this does just by reading it.</a:t>
            </a:r>
            <a:endParaRPr lang="en-US" sz="1400" dirty="0"/>
          </a:p>
        </p:txBody>
      </p:sp>
    </p:spTree>
  </p:cSld>
  <p:clrMapOvr>
    <a:masterClrMapping/>
  </p:clrMapOvr>
  <p:transition spd="slow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of a SQL Query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47120" cy="5943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594360" y="149961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👁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15568" y="149961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151790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columns do you want to see?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058400" y="151790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(required)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11247120" cy="594360"/>
          </a:xfrm>
          <a:prstGeom prst="rect">
            <a:avLst/>
          </a:prstGeom>
          <a:solidFill>
            <a:srgbClr val="0F2235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Text 9"/>
          <p:cNvSpPr txBox="1"/>
          <p:nvPr/>
        </p:nvSpPr>
        <p:spPr>
          <a:xfrm>
            <a:off x="594360" y="2212848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🗃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15568" y="2212848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200400" y="223113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table are you getting data from?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0" y="2231136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(required)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816352"/>
            <a:ext cx="1124712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594360" y="2926080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🔍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15568" y="2926080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3200400" y="294436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conditions must the data meet?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0" y="2944368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529584"/>
            <a:ext cx="1124712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594360" y="3639312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📊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115568" y="3639312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3200400" y="3657600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 you want to aggregate?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0" y="3657600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4242816"/>
            <a:ext cx="1124712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6" name="Text 24"/>
          <p:cNvSpPr txBox="1"/>
          <p:nvPr/>
        </p:nvSpPr>
        <p:spPr>
          <a:xfrm>
            <a:off x="594360" y="4352544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↕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1115568" y="4352544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3200400" y="43708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should results be sorted?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0058400" y="4370832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956048"/>
            <a:ext cx="11247120" cy="59436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594360" y="5065776"/>
            <a:ext cx="457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000000"/>
                </a:solidFill>
              </a:rPr>
              <a:t>✂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115568" y="5065776"/>
            <a:ext cx="20116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3200400" y="50840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rows do you want back?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0058400" y="5084064"/>
            <a:ext cx="1463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100" dirty="0"/>
          </a:p>
        </p:txBody>
      </p:sp>
    </p:spTree>
  </p:cSld>
  <p:clrMapOvr>
    <a:masterClrMapping/>
  </p:clrMapOvr>
  <p:transition spd="slow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SELECT and FROM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1247120" cy="14173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108447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</a:t>
            </a: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lang="en-US" sz="1400" dirty="0" err="1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destination_name</a:t>
            </a:r>
            <a:r>
              <a:rPr lang="en-US" sz="14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region </a:t>
            </a: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destinations</a:t>
            </a: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500" dirty="0"/>
          </a:p>
          <a:p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500" dirty="0"/>
          </a:p>
          <a:p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</a:t>
            </a: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</a:t>
            </a:r>
            <a:r>
              <a:rPr lang="en-US" sz="16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destinations</a:t>
            </a:r>
            <a:r>
              <a:rPr lang="en-US" sz="15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-- * means all columns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57200" y="2907792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594360" y="29992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2926080" y="30175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—  tells SQL which columns to return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457200" y="3593592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594360" y="36850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2926080" y="37033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—  tells SQL which table to look in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457200" y="4279392"/>
            <a:ext cx="11247120" cy="56692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594360" y="4370832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semicolon  ;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2926080" y="43891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—  ends the query, like a period ends a sentence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457200" y="4983480"/>
            <a:ext cx="11247120" cy="566928"/>
          </a:xfrm>
          <a:prstGeom prst="rect">
            <a:avLst/>
          </a:prstGeom>
          <a:solidFill>
            <a:srgbClr val="0A1E30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594360" y="5102352"/>
            <a:ext cx="411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💡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1078992" y="5102352"/>
            <a:ext cx="104241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Avoid SELECT * in real work — name your columns. Faster and clearer.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WHERE — Filtering Your Data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 3"/>
          <p:cNvSpPr txBox="1"/>
          <p:nvPr/>
        </p:nvSpPr>
        <p:spPr>
          <a:xfrm>
            <a:off x="8412480" y="1280160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Before WHERE: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hape 4"/>
          <p:cNvSpPr/>
          <p:nvPr/>
        </p:nvSpPr>
        <p:spPr>
          <a:xfrm>
            <a:off x="8412480" y="1554480"/>
            <a:ext cx="3566160" cy="292608"/>
          </a:xfrm>
          <a:prstGeom prst="rect">
            <a:avLst/>
          </a:prstGeom>
          <a:solidFill>
            <a:srgbClr val="0F2A3F"/>
          </a:solidFill>
          <a:ln w="508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503920" y="1609344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10241280" y="1609344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Shape 7"/>
          <p:cNvSpPr/>
          <p:nvPr/>
        </p:nvSpPr>
        <p:spPr>
          <a:xfrm>
            <a:off x="8412480" y="1847088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1A403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618649" y="188366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412480" y="2121408"/>
            <a:ext cx="3566160" cy="246888"/>
          </a:xfrm>
          <a:prstGeom prst="rect">
            <a:avLst/>
          </a:prstGeom>
          <a:solidFill>
            <a:srgbClr val="100A0A"/>
          </a:solidFill>
          <a:ln w="3810">
            <a:solidFill>
              <a:srgbClr val="2A101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8618649" y="215798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A202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Heritage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8412480" y="2395728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1A403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618649" y="243230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412480" y="2670048"/>
            <a:ext cx="3566160" cy="246888"/>
          </a:xfrm>
          <a:prstGeom prst="rect">
            <a:avLst/>
          </a:prstGeom>
          <a:solidFill>
            <a:srgbClr val="100A0A"/>
          </a:solidFill>
          <a:ln w="3810">
            <a:solidFill>
              <a:srgbClr val="2A101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8618649" y="270662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A202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Nature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8412480" y="2944368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1A403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8618649" y="2980944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9829800" y="3584448"/>
            <a:ext cx="9144" cy="256032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8686800" y="3858768"/>
            <a:ext cx="3017520" cy="256032"/>
          </a:xfrm>
          <a:prstGeom prst="rect">
            <a:avLst/>
          </a:prstGeom>
          <a:solidFill>
            <a:srgbClr val="0A1E30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Text 27"/>
          <p:cNvSpPr txBox="1"/>
          <p:nvPr/>
        </p:nvSpPr>
        <p:spPr>
          <a:xfrm>
            <a:off x="8778240" y="3913632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category = 'Beach'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9829800" y="4133088"/>
            <a:ext cx="9144" cy="201168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Text 29"/>
          <p:cNvSpPr txBox="1"/>
          <p:nvPr/>
        </p:nvSpPr>
        <p:spPr>
          <a:xfrm>
            <a:off x="8412480" y="4370832"/>
            <a:ext cx="35661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After WHERE: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8412480" y="4645152"/>
            <a:ext cx="3566160" cy="292608"/>
          </a:xfrm>
          <a:prstGeom prst="rect">
            <a:avLst/>
          </a:prstGeom>
          <a:solidFill>
            <a:srgbClr val="0F2A3F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 txBox="1"/>
          <p:nvPr/>
        </p:nvSpPr>
        <p:spPr>
          <a:xfrm>
            <a:off x="8503920" y="4700016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Text 32"/>
          <p:cNvSpPr txBox="1"/>
          <p:nvPr/>
        </p:nvSpPr>
        <p:spPr>
          <a:xfrm>
            <a:off x="10241280" y="4700016"/>
            <a:ext cx="1645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region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Shape 33"/>
          <p:cNvSpPr/>
          <p:nvPr/>
        </p:nvSpPr>
        <p:spPr>
          <a:xfrm>
            <a:off x="8412480" y="4937760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 txBox="1"/>
          <p:nvPr/>
        </p:nvSpPr>
        <p:spPr>
          <a:xfrm>
            <a:off x="8618656" y="4974336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8412480" y="5212080"/>
            <a:ext cx="3566160" cy="246888"/>
          </a:xfrm>
          <a:prstGeom prst="rect">
            <a:avLst/>
          </a:prstGeom>
          <a:solidFill>
            <a:srgbClr val="0F2235"/>
          </a:solidFill>
          <a:ln w="381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Text 38"/>
          <p:cNvSpPr txBox="1"/>
          <p:nvPr/>
        </p:nvSpPr>
        <p:spPr>
          <a:xfrm>
            <a:off x="8618656" y="5248656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8412480" y="5486400"/>
            <a:ext cx="3566160" cy="246888"/>
          </a:xfrm>
          <a:prstGeom prst="rect">
            <a:avLst/>
          </a:prstGeom>
          <a:solidFill>
            <a:srgbClr val="0A1E14"/>
          </a:solidFill>
          <a:ln w="381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 txBox="1"/>
          <p:nvPr/>
        </p:nvSpPr>
        <p:spPr>
          <a:xfrm>
            <a:off x="8618656" y="5522976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457200" y="1280160"/>
            <a:ext cx="7909560" cy="214884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 txBox="1"/>
          <p:nvPr/>
        </p:nvSpPr>
        <p:spPr>
          <a:xfrm>
            <a:off x="658368" y="1426464"/>
            <a:ext cx="7644384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category = 'Beach’;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category = 'Beach’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AND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region = ‘NCR';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Text 44"/>
          <p:cNvSpPr txBox="1"/>
          <p:nvPr/>
        </p:nvSpPr>
        <p:spPr>
          <a:xfrm>
            <a:off x="457200" y="3456432"/>
            <a:ext cx="8046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Common operators: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Shape 45"/>
          <p:cNvSpPr/>
          <p:nvPr/>
        </p:nvSpPr>
        <p:spPr>
          <a:xfrm>
            <a:off x="457200" y="3767328"/>
            <a:ext cx="374904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Text 46"/>
          <p:cNvSpPr txBox="1"/>
          <p:nvPr/>
        </p:nvSpPr>
        <p:spPr>
          <a:xfrm>
            <a:off x="566928" y="385876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  !=  &gt;  &lt;  &gt;=  &lt;=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 txBox="1"/>
          <p:nvPr/>
        </p:nvSpPr>
        <p:spPr>
          <a:xfrm>
            <a:off x="3200400" y="388620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Comparison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4617720" y="3767328"/>
            <a:ext cx="374904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Text 49"/>
          <p:cNvSpPr txBox="1"/>
          <p:nvPr/>
        </p:nvSpPr>
        <p:spPr>
          <a:xfrm>
            <a:off x="4727448" y="3858768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AND  OR  NOT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Text 50"/>
          <p:cNvSpPr txBox="1"/>
          <p:nvPr/>
        </p:nvSpPr>
        <p:spPr>
          <a:xfrm>
            <a:off x="7360920" y="3886200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Logical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Shape 51"/>
          <p:cNvSpPr/>
          <p:nvPr/>
        </p:nvSpPr>
        <p:spPr>
          <a:xfrm>
            <a:off x="457200" y="4425696"/>
            <a:ext cx="374904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Text 52"/>
          <p:cNvSpPr txBox="1"/>
          <p:nvPr/>
        </p:nvSpPr>
        <p:spPr>
          <a:xfrm>
            <a:off x="566928" y="4517136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LIKE '%stat%'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Text 53"/>
          <p:cNvSpPr txBox="1"/>
          <p:nvPr/>
        </p:nvSpPr>
        <p:spPr>
          <a:xfrm>
            <a:off x="3200400" y="454456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Pattern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6" name="Shape 54"/>
          <p:cNvSpPr/>
          <p:nvPr/>
        </p:nvSpPr>
        <p:spPr>
          <a:xfrm>
            <a:off x="4617720" y="4425696"/>
            <a:ext cx="374904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7" name="Text 55"/>
          <p:cNvSpPr txBox="1"/>
          <p:nvPr/>
        </p:nvSpPr>
        <p:spPr>
          <a:xfrm>
            <a:off x="4727448" y="4517136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 ('A','B')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8" name="Text 56"/>
          <p:cNvSpPr txBox="1"/>
          <p:nvPr/>
        </p:nvSpPr>
        <p:spPr>
          <a:xfrm>
            <a:off x="7360920" y="4544568"/>
            <a:ext cx="868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List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Shape 16">
            <a:extLst>
              <a:ext uri="{FF2B5EF4-FFF2-40B4-BE49-F238E27FC236}">
                <a16:creationId xmlns:a16="http://schemas.microsoft.com/office/drawing/2014/main" id="{0D246D71-96DD-42D1-D4A0-7821D0BBDE6B}"/>
              </a:ext>
            </a:extLst>
          </p:cNvPr>
          <p:cNvSpPr/>
          <p:nvPr/>
        </p:nvSpPr>
        <p:spPr>
          <a:xfrm>
            <a:off x="8412480" y="3211731"/>
            <a:ext cx="3566160" cy="246888"/>
          </a:xfrm>
          <a:prstGeom prst="rect">
            <a:avLst/>
          </a:prstGeom>
          <a:solidFill>
            <a:srgbClr val="100A0A"/>
          </a:solidFill>
          <a:ln w="3810">
            <a:solidFill>
              <a:srgbClr val="2A1010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4" name="Text 12">
            <a:extLst>
              <a:ext uri="{FF2B5EF4-FFF2-40B4-BE49-F238E27FC236}">
                <a16:creationId xmlns:a16="http://schemas.microsoft.com/office/drawing/2014/main" id="{C355A00C-A878-E4CE-1DE5-EE25F39473B2}"/>
              </a:ext>
            </a:extLst>
          </p:cNvPr>
          <p:cNvSpPr txBox="1"/>
          <p:nvPr/>
        </p:nvSpPr>
        <p:spPr>
          <a:xfrm>
            <a:off x="8618649" y="3245325"/>
            <a:ext cx="28346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5A2020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Beach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ORDER BY and LIMIT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7498080" cy="251460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7370064" cy="2514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destination_name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-- highest first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destination_name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ORDER BY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10;            -- top 10 only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686800" y="1417320"/>
            <a:ext cx="1188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🏆</a:t>
            </a:r>
            <a:endParaRPr kumimoji="0" lang="en-US" sz="4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503920" y="2395728"/>
            <a:ext cx="3383280" cy="420624"/>
          </a:xfrm>
          <a:prstGeom prst="rect">
            <a:avLst/>
          </a:prstGeom>
          <a:solidFill>
            <a:srgbClr val="0F2A3F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8613648" y="246888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1.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9006840" y="246888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El Nido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10442448" y="2468880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24,999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503920" y="2898648"/>
            <a:ext cx="3383280" cy="42062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8613648" y="297180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9006840" y="29718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Boracay Island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10442448" y="2971800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22,800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503920" y="3401568"/>
            <a:ext cx="3383280" cy="42062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613648" y="34747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3.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9006840" y="34747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Siargao Island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10442448" y="3474720"/>
            <a:ext cx="129844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21,500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457200" y="3913632"/>
            <a:ext cx="749808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594360" y="4005072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ASC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1783080" y="4014216"/>
            <a:ext cx="5989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—  ascending (lowest → highest, the default)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" y="4572000"/>
            <a:ext cx="749808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594360" y="4663440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1783080" y="4672584"/>
            <a:ext cx="5989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—  descending (highest → lowest)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457200" y="5230368"/>
            <a:ext cx="7498080" cy="53035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Text 25"/>
          <p:cNvSpPr txBox="1"/>
          <p:nvPr/>
        </p:nvSpPr>
        <p:spPr>
          <a:xfrm>
            <a:off x="594360" y="5321808"/>
            <a:ext cx="1097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LIMIT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1783080" y="5330952"/>
            <a:ext cx="598932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—  controls how many rows come back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457200" y="5980176"/>
            <a:ext cx="11247120" cy="566928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 txBox="1"/>
          <p:nvPr/>
        </p:nvSpPr>
        <p:spPr>
          <a:xfrm>
            <a:off x="640080" y="6089904"/>
            <a:ext cx="10881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1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what would you change to get the 10 lowest-spending visits instead?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COUNT, SUM, AVG, MIN, MAX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11247120" cy="32461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10844784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(*) 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How many tourists total?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Average spending per visit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Lowest and highest spending
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length_of_stay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WHERE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destination_id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1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-- Total nights stayed at D01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57200" y="4754880"/>
            <a:ext cx="2542032" cy="100584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Text 6"/>
          <p:cNvSpPr txBox="1"/>
          <p:nvPr/>
        </p:nvSpPr>
        <p:spPr>
          <a:xfrm>
            <a:off x="457200" y="4800600"/>
            <a:ext cx="2542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457200" y="523036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457200" y="5504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≈ Frequency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3264408" y="4754880"/>
            <a:ext cx="2542032" cy="100584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3264408" y="4800600"/>
            <a:ext cx="2542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x̄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3264408" y="523036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AVG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 txBox="1"/>
          <p:nvPr/>
        </p:nvSpPr>
        <p:spPr>
          <a:xfrm>
            <a:off x="3264408" y="5504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≈ Mean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6071616" y="4754880"/>
            <a:ext cx="2542032" cy="100584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6071616" y="4800600"/>
            <a:ext cx="2542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↔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6071616" y="523036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 / MAX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6071616" y="5504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≈ Range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8878824" y="4754880"/>
            <a:ext cx="2542032" cy="1005840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 txBox="1"/>
          <p:nvPr/>
        </p:nvSpPr>
        <p:spPr>
          <a:xfrm>
            <a:off x="8878824" y="4800600"/>
            <a:ext cx="254203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∑</a:t>
            </a:r>
            <a:endParaRPr kumimoji="0" lang="en-US" sz="2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8878824" y="5230368"/>
            <a:ext cx="25420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SUM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8878824" y="5504688"/>
            <a:ext cx="25420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≈ Total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SQL FUNDAMENTALS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GROUP BY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12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719072"/>
            <a:ext cx="7132320" cy="1686158"/>
          </a:xfrm>
          <a:prstGeom prst="rect">
            <a:avLst/>
          </a:prstGeom>
          <a:solidFill>
            <a:srgbClr val="0F2214"/>
          </a:solidFill>
          <a:ln w="614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58368" y="1785376"/>
            <a:ext cx="6729984" cy="9440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COUNT(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*) AS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tourist_count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GROUP BY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7772400" y="1389888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1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Result: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772400" y="1719072"/>
            <a:ext cx="4114800" cy="347472"/>
          </a:xfrm>
          <a:prstGeom prst="rect">
            <a:avLst/>
          </a:prstGeom>
          <a:solidFill>
            <a:srgbClr val="0F2A3F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7863840" y="1783080"/>
            <a:ext cx="25603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Text 8"/>
          <p:cNvSpPr txBox="1"/>
          <p:nvPr/>
        </p:nvSpPr>
        <p:spPr>
          <a:xfrm>
            <a:off x="10184159" y="1783080"/>
            <a:ext cx="1211427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 err="1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tourist_count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772400" y="2066544"/>
            <a:ext cx="4114800" cy="347472"/>
          </a:xfrm>
          <a:prstGeom prst="rect">
            <a:avLst/>
          </a:prstGeom>
          <a:solidFill>
            <a:srgbClr val="0F2214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 txBox="1"/>
          <p:nvPr/>
        </p:nvSpPr>
        <p:spPr>
          <a:xfrm>
            <a:off x="7863840" y="2130552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10184160" y="2130552"/>
            <a:ext cx="112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7772400" y="2450592"/>
            <a:ext cx="4114800" cy="347472"/>
          </a:xfrm>
          <a:prstGeom prst="rect">
            <a:avLst/>
          </a:prstGeom>
          <a:solidFill>
            <a:srgbClr val="0A1612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7863840" y="2514600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American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 txBox="1"/>
          <p:nvPr/>
        </p:nvSpPr>
        <p:spPr>
          <a:xfrm>
            <a:off x="10184160" y="2514600"/>
            <a:ext cx="112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7772400" y="2847466"/>
            <a:ext cx="4114800" cy="347472"/>
          </a:xfrm>
          <a:prstGeom prst="rect">
            <a:avLst/>
          </a:prstGeom>
          <a:solidFill>
            <a:srgbClr val="0F2214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 txBox="1"/>
          <p:nvPr/>
        </p:nvSpPr>
        <p:spPr>
          <a:xfrm>
            <a:off x="7863840" y="2911474"/>
            <a:ext cx="25603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Filipino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10184160" y="2911474"/>
            <a:ext cx="112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7772400" y="1719072"/>
            <a:ext cx="4114800" cy="1499616"/>
          </a:xfrm>
          <a:prstGeom prst="rect">
            <a:avLst/>
          </a:prstGeom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457200" y="2648751"/>
            <a:ext cx="7132320" cy="475488"/>
          </a:xfrm>
          <a:prstGeom prst="rect">
            <a:avLst/>
          </a:prstGeom>
          <a:solidFill>
            <a:srgbClr val="0F2214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 txBox="1"/>
          <p:nvPr/>
        </p:nvSpPr>
        <p:spPr>
          <a:xfrm>
            <a:off x="640080" y="2731047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One output row per group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457200" y="3648616"/>
            <a:ext cx="7132320" cy="475488"/>
          </a:xfrm>
          <a:prstGeom prst="rect">
            <a:avLst/>
          </a:prstGeom>
          <a:solidFill>
            <a:srgbClr val="0F2214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 txBox="1"/>
          <p:nvPr/>
        </p:nvSpPr>
        <p:spPr>
          <a:xfrm>
            <a:off x="640080" y="3729312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Pair with any aggregate: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alibri" pitchFamily="34" charset="-122"/>
                <a:cs typeface="Courier New" pitchFamily="34" charset="-120"/>
              </a:rPr>
              <a:t>AVG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alibri" pitchFamily="34" charset="-122"/>
                <a:cs typeface="Courier New" pitchFamily="34" charset="-120"/>
              </a:rPr>
              <a:t>SUM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alibri" pitchFamily="34" charset="-122"/>
                <a:cs typeface="Courier New" pitchFamily="34" charset="-120"/>
              </a:rPr>
              <a:t>MIN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alibri" pitchFamily="34" charset="-122"/>
                <a:cs typeface="Courier New" pitchFamily="34" charset="-120"/>
              </a:rPr>
              <a:t>MAX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457200" y="4242976"/>
            <a:ext cx="7132320" cy="475488"/>
          </a:xfrm>
          <a:prstGeom prst="rect">
            <a:avLst/>
          </a:prstGeom>
          <a:solidFill>
            <a:srgbClr val="0F2214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 txBox="1"/>
          <p:nvPr/>
        </p:nvSpPr>
        <p:spPr>
          <a:xfrm>
            <a:off x="640080" y="4325272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</a:t>
            </a: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  renames the column to something readable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457200" y="4837176"/>
            <a:ext cx="7132320" cy="475488"/>
          </a:xfrm>
          <a:prstGeom prst="rect">
            <a:avLst/>
          </a:prstGeom>
          <a:solidFill>
            <a:srgbClr val="0F2214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 txBox="1"/>
          <p:nvPr/>
        </p:nvSpPr>
        <p:spPr>
          <a:xfrm>
            <a:off x="640080" y="4919632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Each nationality grouped and counted — your frequency table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Data Cleaning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Handling NULLs  ·  Duplicates </a:t>
            </a:r>
          </a:p>
        </p:txBody>
      </p:sp>
    </p:spTree>
  </p:cSld>
  <p:clrMapOvr>
    <a:masterClrMapping/>
  </p:clrMapOvr>
  <p:transition spd="slow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r8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2" name="r80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3" name="t803"/>
          <p:cNvSpPr txBox="1"/>
          <p:nvPr/>
        </p:nvSpPr>
        <p:spPr>
          <a:xfrm>
            <a:off x="457200" y="137160"/>
            <a:ext cx="109728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 5 · DATA CLEANING</a:t>
            </a:r>
          </a:p>
        </p:txBody>
      </p:sp>
      <p:sp>
        <p:nvSpPr>
          <p:cNvPr id="804" name="t804"/>
          <p:cNvSpPr txBox="1"/>
          <p:nvPr/>
        </p:nvSpPr>
        <p:spPr>
          <a:xfrm>
            <a:off x="457200" y="384048"/>
            <a:ext cx="54864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Handling NULLs</a:t>
            </a:r>
          </a:p>
        </p:txBody>
      </p:sp>
      <p:sp>
        <p:nvSpPr>
          <p:cNvPr id="805" name="r805"/>
          <p:cNvSpPr/>
          <p:nvPr/>
        </p:nvSpPr>
        <p:spPr>
          <a:xfrm>
            <a:off x="457200" y="822960"/>
            <a:ext cx="2011680" cy="36576"/>
          </a:xfrm>
          <a:prstGeom prst="rect">
            <a:avLst/>
          </a:prstGeom>
          <a:solidFill>
            <a:srgbClr val="00C9A7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6" name="t806"/>
          <p:cNvSpPr txBox="1"/>
          <p:nvPr/>
        </p:nvSpPr>
        <p:spPr>
          <a:xfrm>
            <a:off x="457200" y="960120"/>
            <a:ext cx="1124712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NULL  ≠  zero        NULL  ≠  empty string        NULL  =  value was never recorded</a:t>
            </a:r>
          </a:p>
        </p:txBody>
      </p:sp>
      <p:sp>
        <p:nvSpPr>
          <p:cNvPr id="807" name="r807"/>
          <p:cNvSpPr/>
          <p:nvPr/>
        </p:nvSpPr>
        <p:spPr>
          <a:xfrm>
            <a:off x="457200" y="1353312"/>
            <a:ext cx="3474720" cy="1005840"/>
          </a:xfrm>
          <a:prstGeom prst="rect">
            <a:avLst/>
          </a:prstGeom>
          <a:solidFill>
            <a:srgbClr val="1A3050"/>
          </a:solidFill>
          <a:ln w="1524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8" name="t808"/>
          <p:cNvSpPr txBox="1"/>
          <p:nvPr/>
        </p:nvSpPr>
        <p:spPr>
          <a:xfrm>
            <a:off x="457200" y="1389888"/>
            <a:ext cx="3474720" cy="3108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?</a:t>
            </a:r>
          </a:p>
        </p:txBody>
      </p:sp>
      <p:sp>
        <p:nvSpPr>
          <p:cNvPr id="809" name="t809"/>
          <p:cNvSpPr txBox="1"/>
          <p:nvPr/>
        </p:nvSpPr>
        <p:spPr>
          <a:xfrm>
            <a:off x="457200" y="1700784"/>
            <a:ext cx="34747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NULL</a:t>
            </a:r>
          </a:p>
        </p:txBody>
      </p:sp>
      <p:sp>
        <p:nvSpPr>
          <p:cNvPr id="810" name="t810"/>
          <p:cNvSpPr txBox="1"/>
          <p:nvPr/>
        </p:nvSpPr>
        <p:spPr>
          <a:xfrm>
            <a:off x="457200" y="1975104"/>
            <a:ext cx="347472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Value was never recorded</a:t>
            </a:r>
          </a:p>
        </p:txBody>
      </p:sp>
      <p:sp>
        <p:nvSpPr>
          <p:cNvPr id="811" name="r811"/>
          <p:cNvSpPr/>
          <p:nvPr/>
        </p:nvSpPr>
        <p:spPr>
          <a:xfrm>
            <a:off x="4133087" y="1353312"/>
            <a:ext cx="3474720" cy="1005840"/>
          </a:xfrm>
          <a:prstGeom prst="rect">
            <a:avLst/>
          </a:prstGeom>
          <a:solidFill>
            <a:srgbClr val="0F2235"/>
          </a:solidFill>
          <a:ln w="6350">
            <a:solidFill>
              <a:srgbClr val="2A3F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t812"/>
          <p:cNvSpPr txBox="1"/>
          <p:nvPr/>
        </p:nvSpPr>
        <p:spPr>
          <a:xfrm>
            <a:off x="4133087" y="1389888"/>
            <a:ext cx="3474720" cy="3108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0</a:t>
            </a:r>
          </a:p>
        </p:txBody>
      </p:sp>
      <p:sp>
        <p:nvSpPr>
          <p:cNvPr id="813" name="t813"/>
          <p:cNvSpPr txBox="1"/>
          <p:nvPr/>
        </p:nvSpPr>
        <p:spPr>
          <a:xfrm>
            <a:off x="4133087" y="1700784"/>
            <a:ext cx="34747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0  (zero)</a:t>
            </a:r>
          </a:p>
        </p:txBody>
      </p:sp>
      <p:sp>
        <p:nvSpPr>
          <p:cNvPr id="814" name="t814"/>
          <p:cNvSpPr txBox="1"/>
          <p:nvPr/>
        </p:nvSpPr>
        <p:spPr>
          <a:xfrm>
            <a:off x="4133087" y="1975104"/>
            <a:ext cx="347472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 recorded value of zero</a:t>
            </a:r>
          </a:p>
        </p:txBody>
      </p:sp>
      <p:sp>
        <p:nvSpPr>
          <p:cNvPr id="815" name="r815"/>
          <p:cNvSpPr/>
          <p:nvPr/>
        </p:nvSpPr>
        <p:spPr>
          <a:xfrm>
            <a:off x="7808975" y="1353312"/>
            <a:ext cx="3474720" cy="1005840"/>
          </a:xfrm>
          <a:prstGeom prst="rect">
            <a:avLst/>
          </a:prstGeom>
          <a:solidFill>
            <a:srgbClr val="0F2235"/>
          </a:solidFill>
          <a:ln w="6350">
            <a:solidFill>
              <a:srgbClr val="2A3F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6" name="t816"/>
          <p:cNvSpPr txBox="1"/>
          <p:nvPr/>
        </p:nvSpPr>
        <p:spPr>
          <a:xfrm>
            <a:off x="7808975" y="1389888"/>
            <a:ext cx="3474720" cy="3108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""</a:t>
            </a:r>
          </a:p>
        </p:txBody>
      </p:sp>
      <p:sp>
        <p:nvSpPr>
          <p:cNvPr id="817" name="t817"/>
          <p:cNvSpPr txBox="1"/>
          <p:nvPr/>
        </p:nvSpPr>
        <p:spPr>
          <a:xfrm>
            <a:off x="7808975" y="1700784"/>
            <a:ext cx="347472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Empty string</a:t>
            </a:r>
          </a:p>
        </p:txBody>
      </p:sp>
      <p:sp>
        <p:nvSpPr>
          <p:cNvPr id="818" name="t818"/>
          <p:cNvSpPr txBox="1"/>
          <p:nvPr/>
        </p:nvSpPr>
        <p:spPr>
          <a:xfrm>
            <a:off x="7808975" y="1975104"/>
            <a:ext cx="3474720" cy="21945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 blank text field</a:t>
            </a:r>
          </a:p>
        </p:txBody>
      </p:sp>
      <p:sp>
        <p:nvSpPr>
          <p:cNvPr id="819" name="r819"/>
          <p:cNvSpPr/>
          <p:nvPr/>
        </p:nvSpPr>
        <p:spPr>
          <a:xfrm>
            <a:off x="457200" y="2542032"/>
            <a:ext cx="11247120" cy="1115568"/>
          </a:xfrm>
          <a:prstGeom prst="rect">
            <a:avLst/>
          </a:prstGeom>
          <a:solidFill>
            <a:srgbClr val="060E18"/>
          </a:solidFill>
          <a:ln w="6350">
            <a:solidFill>
              <a:srgbClr val="1E3A5F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0" name="t820"/>
          <p:cNvSpPr txBox="1"/>
          <p:nvPr/>
        </p:nvSpPr>
        <p:spPr>
          <a:xfrm>
            <a:off x="640080" y="2577476"/>
            <a:ext cx="107899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-- Check for NULLs</a:t>
            </a:r>
          </a:p>
        </p:txBody>
      </p:sp>
      <p:sp>
        <p:nvSpPr>
          <p:cNvPr id="821" name="t821"/>
          <p:cNvSpPr txBox="1"/>
          <p:nvPr/>
        </p:nvSpPr>
        <p:spPr>
          <a:xfrm>
            <a:off x="640080" y="2822949"/>
            <a:ext cx="107899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SELECT * FROM 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+mn-ea"/>
                <a:cs typeface="Courier New" pitchFamily="34" charset="-120"/>
              </a:rPr>
              <a:t>visits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WHERE </a:t>
            </a:r>
            <a:r>
              <a:rPr kumimoji="0" lang="en-US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+mn-ea"/>
                <a:cs typeface="Courier New" pitchFamily="34" charset="-120"/>
              </a:rPr>
              <a:t>spending_php</a:t>
            </a: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IS NULL;</a:t>
            </a:r>
          </a:p>
        </p:txBody>
      </p:sp>
      <p:sp>
        <p:nvSpPr>
          <p:cNvPr id="822" name="t822"/>
          <p:cNvSpPr txBox="1"/>
          <p:nvPr/>
        </p:nvSpPr>
        <p:spPr>
          <a:xfrm>
            <a:off x="640080" y="3068422"/>
            <a:ext cx="107899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SELECT * FROM 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+mn-ea"/>
                <a:cs typeface="Courier New" pitchFamily="34" charset="-120"/>
              </a:rPr>
              <a:t>visits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WHERE </a:t>
            </a:r>
            <a:r>
              <a:rPr kumimoji="0" 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+mn-ea"/>
                <a:cs typeface="Courier New" pitchFamily="34" charset="-120"/>
              </a:rPr>
              <a:t>spending_php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IS NOT NULL;</a:t>
            </a:r>
          </a:p>
        </p:txBody>
      </p:sp>
      <p:sp>
        <p:nvSpPr>
          <p:cNvPr id="823" name="t823"/>
          <p:cNvSpPr txBox="1"/>
          <p:nvPr/>
        </p:nvSpPr>
        <p:spPr>
          <a:xfrm>
            <a:off x="640080" y="3332750"/>
            <a:ext cx="107899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SELECT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AVG(</a:t>
            </a:r>
            <a:r>
              <a:rPr kumimoji="0" 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+mn-ea"/>
                <a:cs typeface="Courier New" pitchFamily="34" charset="-120"/>
              </a:rPr>
              <a:t>spending_php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+mn-ea"/>
                <a:cs typeface="Courier New" pitchFamily="34" charset="-120"/>
              </a:rPr>
              <a:t>)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FROM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 </a:t>
            </a: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+mn-ea"/>
                <a:cs typeface="Courier New" pitchFamily="34" charset="-120"/>
              </a:rPr>
              <a:t>visits</a:t>
            </a: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;  -- NULLs are skipped automatically</a:t>
            </a:r>
          </a:p>
        </p:txBody>
      </p:sp>
      <p:sp>
        <p:nvSpPr>
          <p:cNvPr id="824" name="r824"/>
          <p:cNvSpPr/>
          <p:nvPr/>
        </p:nvSpPr>
        <p:spPr>
          <a:xfrm>
            <a:off x="457200" y="3840480"/>
            <a:ext cx="11247120" cy="658368"/>
          </a:xfrm>
          <a:prstGeom prst="rect">
            <a:avLst/>
          </a:prstGeom>
          <a:solidFill>
            <a:srgbClr val="1A0A0A"/>
          </a:solidFill>
          <a:ln w="10160">
            <a:solidFill>
              <a:srgbClr val="EF4444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5" name="t825"/>
          <p:cNvSpPr txBox="1"/>
          <p:nvPr/>
        </p:nvSpPr>
        <p:spPr>
          <a:xfrm>
            <a:off x="640080" y="3895344"/>
            <a:ext cx="1097280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❌  Never write: WHERE spending_php = NULL</a:t>
            </a:r>
          </a:p>
        </p:txBody>
      </p:sp>
      <p:sp>
        <p:nvSpPr>
          <p:cNvPr id="826" name="t826"/>
          <p:cNvSpPr txBox="1"/>
          <p:nvPr/>
        </p:nvSpPr>
        <p:spPr>
          <a:xfrm>
            <a:off x="640080" y="4187952"/>
            <a:ext cx="109728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NULL is not equal to anything — not even itself. This will always return zero rows.</a:t>
            </a:r>
          </a:p>
        </p:txBody>
      </p:sp>
    </p:spTree>
  </p:cSld>
  <p:clrMapOvr>
    <a:masterClrMapping/>
  </p:clrMapOvr>
  <p:transition spd="slow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0" cap="none" spc="30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DATA CLEANING</a:t>
            </a:r>
            <a:endParaRPr kumimoji="0" lang="en-US" sz="9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Removing Duplicates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7132320" cy="288036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Text 4"/>
          <p:cNvSpPr txBox="1"/>
          <p:nvPr/>
        </p:nvSpPr>
        <p:spPr>
          <a:xfrm>
            <a:off x="658368" y="1426464"/>
            <a:ext cx="6729984" cy="2880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lvl="0"/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DISTINCT </a:t>
            </a: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Each unique nationality, once only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DISTINCT </a:t>
            </a:r>
            <a:r>
              <a:rPr kumimoji="0" lang="en-US" sz="1500" b="0" i="0" u="none" strike="noStrike" kern="1200" cap="none" spc="0" normalizeH="0" baseline="0" noProof="0" dirty="0" err="1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destination_id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purpose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COUNT(DISTINCT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FROM 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tourists</a:t>
            </a: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Count of unique nationalities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ext 5"/>
          <p:cNvSpPr txBox="1"/>
          <p:nvPr/>
        </p:nvSpPr>
        <p:spPr>
          <a:xfrm>
            <a:off x="8046720" y="1371600"/>
            <a:ext cx="38404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120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Before DISTINCT:</a:t>
            </a:r>
            <a:endParaRPr kumimoji="0" lang="en-US" sz="11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8046720" y="1691640"/>
            <a:ext cx="3840480" cy="274320"/>
          </a:xfrm>
          <a:prstGeom prst="rect">
            <a:avLst/>
          </a:prstGeom>
          <a:solidFill>
            <a:srgbClr val="1A0A0A"/>
          </a:solidFill>
          <a:ln w="3810">
            <a:solidFill>
              <a:srgbClr val="5A1A1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 txBox="1"/>
          <p:nvPr/>
        </p:nvSpPr>
        <p:spPr>
          <a:xfrm>
            <a:off x="8156448" y="174650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8717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046720" y="2011680"/>
            <a:ext cx="3840480" cy="274320"/>
          </a:xfrm>
          <a:prstGeom prst="rect">
            <a:avLst/>
          </a:prstGeom>
          <a:solidFill>
            <a:srgbClr val="1A0A0A"/>
          </a:solidFill>
          <a:ln w="3810">
            <a:solidFill>
              <a:srgbClr val="5A1A1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Text 9"/>
          <p:cNvSpPr txBox="1"/>
          <p:nvPr/>
        </p:nvSpPr>
        <p:spPr>
          <a:xfrm>
            <a:off x="8156448" y="206654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8717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046720" y="2331720"/>
            <a:ext cx="3840480" cy="274320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Text 11"/>
          <p:cNvSpPr txBox="1"/>
          <p:nvPr/>
        </p:nvSpPr>
        <p:spPr>
          <a:xfrm>
            <a:off x="8156448" y="238658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Australian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046720" y="2651760"/>
            <a:ext cx="3840480" cy="274320"/>
          </a:xfrm>
          <a:prstGeom prst="rect">
            <a:avLst/>
          </a:prstGeom>
          <a:solidFill>
            <a:srgbClr val="1A0A0A"/>
          </a:solidFill>
          <a:ln w="3810">
            <a:solidFill>
              <a:srgbClr val="5A1A1A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Text 13"/>
          <p:cNvSpPr txBox="1"/>
          <p:nvPr/>
        </p:nvSpPr>
        <p:spPr>
          <a:xfrm>
            <a:off x="8156448" y="270662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F8717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8046720" y="2971800"/>
            <a:ext cx="3840480" cy="274320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Text 15"/>
          <p:cNvSpPr txBox="1"/>
          <p:nvPr/>
        </p:nvSpPr>
        <p:spPr>
          <a:xfrm>
            <a:off x="8156448" y="3026664"/>
            <a:ext cx="3566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Australian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8046720" y="3383280"/>
            <a:ext cx="3840480" cy="320040"/>
          </a:xfrm>
          <a:prstGeom prst="rect">
            <a:avLst/>
          </a:prstGeom>
          <a:solidFill>
            <a:srgbClr val="0A1E30"/>
          </a:solidFill>
          <a:ln w="889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 17"/>
          <p:cNvSpPr txBox="1"/>
          <p:nvPr/>
        </p:nvSpPr>
        <p:spPr>
          <a:xfrm>
            <a:off x="8046720" y="3456432"/>
            <a:ext cx="3840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↓ DISTINCT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8046720" y="3767328"/>
            <a:ext cx="3840480" cy="292608"/>
          </a:xfrm>
          <a:prstGeom prst="rect">
            <a:avLst/>
          </a:prstGeom>
          <a:solidFill>
            <a:srgbClr val="0A2218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Text 19"/>
          <p:cNvSpPr txBox="1"/>
          <p:nvPr/>
        </p:nvSpPr>
        <p:spPr>
          <a:xfrm>
            <a:off x="8156448" y="3822192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South Korean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046720" y="4114800"/>
            <a:ext cx="3840480" cy="292608"/>
          </a:xfrm>
          <a:prstGeom prst="rect">
            <a:avLst/>
          </a:prstGeom>
          <a:solidFill>
            <a:srgbClr val="0A2218"/>
          </a:solidFill>
          <a:ln w="6350">
            <a:solidFill>
              <a:srgbClr val="00C9A7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Text 21"/>
          <p:cNvSpPr txBox="1"/>
          <p:nvPr/>
        </p:nvSpPr>
        <p:spPr>
          <a:xfrm>
            <a:off x="8156448" y="4169664"/>
            <a:ext cx="356616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Australian</a:t>
            </a: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57200" y="4160520"/>
            <a:ext cx="7132320" cy="493776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PH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Text 23"/>
          <p:cNvSpPr txBox="1"/>
          <p:nvPr/>
        </p:nvSpPr>
        <p:spPr>
          <a:xfrm>
            <a:off x="640080" y="4251960"/>
            <a:ext cx="67665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DISTINCT removes duplicate rows from your result set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Combining Tables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All four JOIN types  ·  INNER  ·  LEFT  ·  RIGHT  ·  FULL OUTER</a:t>
            </a:r>
          </a:p>
        </p:txBody>
      </p:sp>
    </p:spTree>
  </p:cSld>
  <p:clrMapOvr>
    <a:masterClrMapping/>
  </p:clrMapOvr>
  <p:transition spd="slow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COMBINING TABLES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JOIN and Why Does It Exist?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389888"/>
            <a:ext cx="11247120" cy="51206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640080" y="1481328"/>
            <a:ext cx="10789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databases split data across tables by design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029968"/>
            <a:ext cx="11247120" cy="51206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Text 6"/>
          <p:cNvSpPr txBox="1"/>
          <p:nvPr/>
        </p:nvSpPr>
        <p:spPr>
          <a:xfrm>
            <a:off x="640080" y="2121408"/>
            <a:ext cx="10789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combine them back together when you need the full picture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1247120" cy="438912"/>
          </a:xfrm>
          <a:prstGeom prst="rect">
            <a:avLst/>
          </a:prstGeom>
          <a:solidFill>
            <a:srgbClr val="0A2218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640080" y="2761488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 Think: VLOOKUP in Excel — matching two datasets on a shared column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310128"/>
            <a:ext cx="347472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548640" y="33649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694176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 txBox="1"/>
          <p:nvPr/>
        </p:nvSpPr>
        <p:spPr>
          <a:xfrm>
            <a:off x="548640" y="3739896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  🔑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7200" y="4005072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6" name="Text 14"/>
          <p:cNvSpPr txBox="1"/>
          <p:nvPr/>
        </p:nvSpPr>
        <p:spPr>
          <a:xfrm>
            <a:off x="548640" y="4050792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CBD5E1"/>
                </a:solidFill>
                <a:latin typeface="Courier New" pitchFamily="34" charset="0"/>
                <a:cs typeface="Courier New" pitchFamily="34" charset="-120"/>
              </a:rPr>
              <a:t>first_name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4315968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548640" y="436168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nationality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7200" y="4626864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0" name="Text 18"/>
          <p:cNvSpPr txBox="1"/>
          <p:nvPr/>
        </p:nvSpPr>
        <p:spPr>
          <a:xfrm>
            <a:off x="548640" y="4672584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age_group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310128"/>
            <a:ext cx="3474720" cy="1627632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2" name="Shape 20"/>
          <p:cNvSpPr/>
          <p:nvPr/>
        </p:nvSpPr>
        <p:spPr>
          <a:xfrm>
            <a:off x="8229600" y="3310128"/>
            <a:ext cx="3474720" cy="384048"/>
          </a:xfrm>
          <a:prstGeom prst="rect">
            <a:avLst/>
          </a:prstGeom>
          <a:solidFill>
            <a:srgbClr val="0F2A3F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1"/>
          <p:cNvSpPr txBox="1"/>
          <p:nvPr/>
        </p:nvSpPr>
        <p:spPr>
          <a:xfrm>
            <a:off x="8321040" y="3364992"/>
            <a:ext cx="3291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visits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229600" y="3694176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 txBox="1"/>
          <p:nvPr/>
        </p:nvSpPr>
        <p:spPr>
          <a:xfrm>
            <a:off x="8321040" y="3739896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visit_id  🔑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229600" y="4005072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7" name="Text 25"/>
          <p:cNvSpPr txBox="1"/>
          <p:nvPr/>
        </p:nvSpPr>
        <p:spPr>
          <a:xfrm>
            <a:off x="8321040" y="4050792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tourist_id  🔗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0" y="4315968"/>
            <a:ext cx="3474720" cy="310896"/>
          </a:xfrm>
          <a:prstGeom prst="rect">
            <a:avLst/>
          </a:prstGeom>
          <a:solidFill>
            <a:srgbClr val="0F2235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9" name="Text 27"/>
          <p:cNvSpPr txBox="1"/>
          <p:nvPr/>
        </p:nvSpPr>
        <p:spPr>
          <a:xfrm>
            <a:off x="8321040" y="4361688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 err="1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destination_name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229600" y="4626864"/>
            <a:ext cx="3474720" cy="310896"/>
          </a:xfrm>
          <a:prstGeom prst="rect">
            <a:avLst/>
          </a:prstGeom>
          <a:solidFill>
            <a:srgbClr val="0A1628"/>
          </a:solidFill>
          <a:ln w="381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8321040" y="4672584"/>
            <a:ext cx="32918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spending_php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229600" y="3310128"/>
            <a:ext cx="3474720" cy="1627632"/>
          </a:xfrm>
          <a:prstGeom prst="rect">
            <a:avLst/>
          </a:prstGeom>
          <a:ln w="1016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3" name="Shape 31"/>
          <p:cNvSpPr/>
          <p:nvPr/>
        </p:nvSpPr>
        <p:spPr>
          <a:xfrm>
            <a:off x="4114800" y="3822192"/>
            <a:ext cx="3931920" cy="658368"/>
          </a:xfrm>
          <a:prstGeom prst="rect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4" name="Text 32"/>
          <p:cNvSpPr txBox="1"/>
          <p:nvPr/>
        </p:nvSpPr>
        <p:spPr>
          <a:xfrm>
            <a:off x="4114800" y="3968496"/>
            <a:ext cx="3931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JOIN  on  tourist_id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3931920" y="3900856"/>
            <a:ext cx="18288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36" name="Shape 34"/>
          <p:cNvSpPr/>
          <p:nvPr/>
        </p:nvSpPr>
        <p:spPr>
          <a:xfrm>
            <a:off x="8046720" y="4151376"/>
            <a:ext cx="18288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38" name="Shape 7">
            <a:extLst>
              <a:ext uri="{FF2B5EF4-FFF2-40B4-BE49-F238E27FC236}">
                <a16:creationId xmlns:a16="http://schemas.microsoft.com/office/drawing/2014/main" id="{81540516-3EE1-A6C5-F695-D53DA307E976}"/>
              </a:ext>
            </a:extLst>
          </p:cNvPr>
          <p:cNvSpPr/>
          <p:nvPr/>
        </p:nvSpPr>
        <p:spPr>
          <a:xfrm>
            <a:off x="457200" y="5340096"/>
            <a:ext cx="11247120" cy="438912"/>
          </a:xfrm>
          <a:prstGeom prst="rect">
            <a:avLst/>
          </a:prstGeom>
          <a:solidFill>
            <a:srgbClr val="0A2218"/>
          </a:solidFill>
          <a:ln w="762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40" name="Text 8">
            <a:extLst>
              <a:ext uri="{FF2B5EF4-FFF2-40B4-BE49-F238E27FC236}">
                <a16:creationId xmlns:a16="http://schemas.microsoft.com/office/drawing/2014/main" id="{FDE9BA0C-E252-D272-DF4A-8DCE0E76E3F2}"/>
              </a:ext>
            </a:extLst>
          </p:cNvPr>
          <p:cNvSpPr txBox="1"/>
          <p:nvPr/>
        </p:nvSpPr>
        <p:spPr>
          <a:xfrm>
            <a:off x="457200" y="541269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JOIN, you can’t answer: </a:t>
            </a:r>
            <a:r>
              <a:rPr lang="en-US" sz="1300" b="1" i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“Which nationality visits Boracay the most?” </a:t>
            </a:r>
            <a:r>
              <a:rPr lang="en-US" sz="1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nationality is in tourists. The destination is in visits. YOU NEED BOTH.  </a:t>
            </a:r>
            <a:endParaRPr lang="en-US" sz="1300" dirty="0"/>
          </a:p>
        </p:txBody>
      </p:sp>
    </p:spTree>
  </p:cSld>
  <p:clrMapOvr>
    <a:masterClrMapping/>
  </p:clrMapOvr>
  <p:transition spd="med">
    <p:push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101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 7 · COMBINING TABLES</a:t>
            </a:r>
          </a:p>
        </p:txBody>
      </p:sp>
      <p:sp>
        <p:nvSpPr>
          <p:cNvPr id="102" name="t102"/>
          <p:cNvSpPr txBox="1"/>
          <p:nvPr/>
        </p:nvSpPr>
        <p:spPr>
          <a:xfrm>
            <a:off x="457200" y="457200"/>
            <a:ext cx="9144000" cy="5943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Types of JOIN</a:t>
            </a:r>
          </a:p>
        </p:txBody>
      </p:sp>
      <p:sp>
        <p:nvSpPr>
          <p:cNvPr id="103" name="r103"/>
          <p:cNvSpPr/>
          <p:nvPr/>
        </p:nvSpPr>
        <p:spPr>
          <a:xfrm>
            <a:off x="457200" y="969264"/>
            <a:ext cx="2286000" cy="41148"/>
          </a:xfrm>
          <a:prstGeom prst="rect">
            <a:avLst/>
          </a:prstGeom>
          <a:solidFill>
            <a:srgbClr val="00C9A7"/>
          </a:solidFill>
          <a:ln w="635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4" name="t104"/>
          <p:cNvSpPr txBox="1"/>
          <p:nvPr/>
        </p:nvSpPr>
        <p:spPr>
          <a:xfrm>
            <a:off x="457200" y="1060704"/>
            <a:ext cx="201168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JOIN Type</a:t>
            </a:r>
          </a:p>
        </p:txBody>
      </p:sp>
      <p:sp>
        <p:nvSpPr>
          <p:cNvPr id="105" name="t105"/>
          <p:cNvSpPr txBox="1"/>
          <p:nvPr/>
        </p:nvSpPr>
        <p:spPr>
          <a:xfrm>
            <a:off x="2560320" y="1060704"/>
            <a:ext cx="448056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What gets returned</a:t>
            </a:r>
          </a:p>
        </p:txBody>
      </p:sp>
      <p:sp>
        <p:nvSpPr>
          <p:cNvPr id="106" name="t106"/>
          <p:cNvSpPr txBox="1"/>
          <p:nvPr/>
        </p:nvSpPr>
        <p:spPr>
          <a:xfrm>
            <a:off x="7178040" y="1060704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Definition &amp; Use Case</a:t>
            </a:r>
          </a:p>
        </p:txBody>
      </p:sp>
      <p:sp>
        <p:nvSpPr>
          <p:cNvPr id="107" name="r107"/>
          <p:cNvSpPr/>
          <p:nvPr/>
        </p:nvSpPr>
        <p:spPr>
          <a:xfrm>
            <a:off x="457200" y="1280160"/>
            <a:ext cx="11247120" cy="27432"/>
          </a:xfrm>
          <a:prstGeom prst="rect">
            <a:avLst/>
          </a:prstGeom>
          <a:solidFill>
            <a:srgbClr val="0A1E30"/>
          </a:solidFill>
          <a:ln w="6350">
            <a:solidFill>
              <a:srgbClr val="0A1E30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8" name="r108"/>
          <p:cNvSpPr/>
          <p:nvPr/>
        </p:nvSpPr>
        <p:spPr>
          <a:xfrm>
            <a:off x="457200" y="1371600"/>
            <a:ext cx="11247120" cy="1207007"/>
          </a:xfrm>
          <a:prstGeom prst="rect">
            <a:avLst/>
          </a:prstGeom>
          <a:solidFill>
            <a:srgbClr val="0A1A2A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9" name="t109"/>
          <p:cNvSpPr txBox="1"/>
          <p:nvPr/>
        </p:nvSpPr>
        <p:spPr>
          <a:xfrm>
            <a:off x="457200" y="1773936"/>
            <a:ext cx="201168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INNER JOIN</a:t>
            </a:r>
          </a:p>
        </p:txBody>
      </p:sp>
      <p:sp>
        <p:nvSpPr>
          <p:cNvPr id="110" name="r110"/>
          <p:cNvSpPr/>
          <p:nvPr/>
        </p:nvSpPr>
        <p:spPr>
          <a:xfrm>
            <a:off x="2560320" y="1554480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1" name="t111"/>
          <p:cNvSpPr txBox="1"/>
          <p:nvPr/>
        </p:nvSpPr>
        <p:spPr>
          <a:xfrm>
            <a:off x="2560320" y="1673352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tourists</a:t>
            </a:r>
          </a:p>
        </p:txBody>
      </p:sp>
      <p:sp>
        <p:nvSpPr>
          <p:cNvPr id="112" name="r112"/>
          <p:cNvSpPr/>
          <p:nvPr/>
        </p:nvSpPr>
        <p:spPr>
          <a:xfrm>
            <a:off x="4059935" y="1554480"/>
            <a:ext cx="1481328" cy="438912"/>
          </a:xfrm>
          <a:prstGeom prst="rect">
            <a:avLst/>
          </a:prstGeom>
          <a:solidFill>
            <a:srgbClr val="00C9A7"/>
          </a:solidFill>
          <a:ln w="1778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3" name="t113"/>
          <p:cNvSpPr txBox="1"/>
          <p:nvPr/>
        </p:nvSpPr>
        <p:spPr>
          <a:xfrm>
            <a:off x="4059935" y="1673352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matched</a:t>
            </a:r>
          </a:p>
        </p:txBody>
      </p:sp>
      <p:sp>
        <p:nvSpPr>
          <p:cNvPr id="114" name="r114"/>
          <p:cNvSpPr/>
          <p:nvPr/>
        </p:nvSpPr>
        <p:spPr>
          <a:xfrm>
            <a:off x="5559552" y="1554480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5" name="t115"/>
          <p:cNvSpPr txBox="1"/>
          <p:nvPr/>
        </p:nvSpPr>
        <p:spPr>
          <a:xfrm>
            <a:off x="5559552" y="1673352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visits</a:t>
            </a:r>
          </a:p>
        </p:txBody>
      </p:sp>
      <p:sp>
        <p:nvSpPr>
          <p:cNvPr id="116" name="t116"/>
          <p:cNvSpPr txBox="1"/>
          <p:nvPr/>
        </p:nvSpPr>
        <p:spPr>
          <a:xfrm>
            <a:off x="7178040" y="1444752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Returns only rows with matching values in both tables.</a:t>
            </a:r>
          </a:p>
        </p:txBody>
      </p:sp>
      <p:sp>
        <p:nvSpPr>
          <p:cNvPr id="117" name="t117"/>
          <p:cNvSpPr txBox="1"/>
          <p:nvPr/>
        </p:nvSpPr>
        <p:spPr>
          <a:xfrm>
            <a:off x="7178040" y="1645920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Non-matching rows are excluded entirely.</a:t>
            </a:r>
          </a:p>
        </p:txBody>
      </p:sp>
      <p:sp>
        <p:nvSpPr>
          <p:cNvPr id="119" name="t119"/>
          <p:cNvSpPr txBox="1"/>
          <p:nvPr/>
        </p:nvSpPr>
        <p:spPr>
          <a:xfrm>
            <a:off x="7178040" y="2212848"/>
            <a:ext cx="45720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Fully supported in SQLite</a:t>
            </a:r>
          </a:p>
        </p:txBody>
      </p:sp>
      <p:sp>
        <p:nvSpPr>
          <p:cNvPr id="120" name="r120"/>
          <p:cNvSpPr/>
          <p:nvPr/>
        </p:nvSpPr>
        <p:spPr>
          <a:xfrm>
            <a:off x="457200" y="2578608"/>
            <a:ext cx="11247120" cy="27432"/>
          </a:xfrm>
          <a:prstGeom prst="rect">
            <a:avLst/>
          </a:prstGeom>
          <a:solidFill>
            <a:srgbClr val="0A1E30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1" name="t121"/>
          <p:cNvSpPr txBox="1"/>
          <p:nvPr/>
        </p:nvSpPr>
        <p:spPr>
          <a:xfrm>
            <a:off x="457200" y="3035808"/>
            <a:ext cx="201168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4FC3F7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LEFT JOIN</a:t>
            </a:r>
          </a:p>
        </p:txBody>
      </p:sp>
      <p:sp>
        <p:nvSpPr>
          <p:cNvPr id="122" name="r122"/>
          <p:cNvSpPr/>
          <p:nvPr/>
        </p:nvSpPr>
        <p:spPr>
          <a:xfrm>
            <a:off x="2560320" y="2816352"/>
            <a:ext cx="1481328" cy="438912"/>
          </a:xfrm>
          <a:prstGeom prst="rect">
            <a:avLst/>
          </a:prstGeom>
          <a:solidFill>
            <a:srgbClr val="4FC3F7"/>
          </a:solidFill>
          <a:ln w="17780">
            <a:solidFill>
              <a:srgbClr val="4FC3F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3" name="t123"/>
          <p:cNvSpPr txBox="1"/>
          <p:nvPr/>
        </p:nvSpPr>
        <p:spPr>
          <a:xfrm>
            <a:off x="2560320" y="2935224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tourists</a:t>
            </a:r>
          </a:p>
        </p:txBody>
      </p:sp>
      <p:sp>
        <p:nvSpPr>
          <p:cNvPr id="124" name="r124"/>
          <p:cNvSpPr/>
          <p:nvPr/>
        </p:nvSpPr>
        <p:spPr>
          <a:xfrm>
            <a:off x="4059935" y="2816352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5" name="t125"/>
          <p:cNvSpPr txBox="1"/>
          <p:nvPr/>
        </p:nvSpPr>
        <p:spPr>
          <a:xfrm>
            <a:off x="4059935" y="2935224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matched</a:t>
            </a:r>
          </a:p>
        </p:txBody>
      </p:sp>
      <p:sp>
        <p:nvSpPr>
          <p:cNvPr id="126" name="r126"/>
          <p:cNvSpPr/>
          <p:nvPr/>
        </p:nvSpPr>
        <p:spPr>
          <a:xfrm>
            <a:off x="5559552" y="2816352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7" name="t127"/>
          <p:cNvSpPr txBox="1"/>
          <p:nvPr/>
        </p:nvSpPr>
        <p:spPr>
          <a:xfrm>
            <a:off x="5559552" y="2935224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visits</a:t>
            </a:r>
          </a:p>
        </p:txBody>
      </p:sp>
      <p:sp>
        <p:nvSpPr>
          <p:cNvPr id="128" name="t128"/>
          <p:cNvSpPr txBox="1"/>
          <p:nvPr/>
        </p:nvSpPr>
        <p:spPr>
          <a:xfrm>
            <a:off x="7178040" y="2706624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Returns all rows from the left table, plus matching rows from the right.</a:t>
            </a:r>
          </a:p>
        </p:txBody>
      </p:sp>
      <p:sp>
        <p:nvSpPr>
          <p:cNvPr id="129" name="t129"/>
          <p:cNvSpPr txBox="1"/>
          <p:nvPr/>
        </p:nvSpPr>
        <p:spPr>
          <a:xfrm>
            <a:off x="7178040" y="2907791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 match on the right = NULL.</a:t>
            </a:r>
          </a:p>
        </p:txBody>
      </p:sp>
      <p:sp>
        <p:nvSpPr>
          <p:cNvPr id="130" name="t130"/>
          <p:cNvSpPr txBox="1"/>
          <p:nvPr/>
        </p:nvSpPr>
        <p:spPr>
          <a:xfrm>
            <a:off x="7178040" y="3145536"/>
            <a:ext cx="45720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case: Keep your primary table intact while pulling in optional data.</a:t>
            </a:r>
          </a:p>
        </p:txBody>
      </p:sp>
      <p:sp>
        <p:nvSpPr>
          <p:cNvPr id="131" name="t131"/>
          <p:cNvSpPr txBox="1"/>
          <p:nvPr/>
        </p:nvSpPr>
        <p:spPr>
          <a:xfrm>
            <a:off x="7178040" y="3474720"/>
            <a:ext cx="45720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Fully supported in SQLite</a:t>
            </a:r>
          </a:p>
        </p:txBody>
      </p:sp>
      <p:sp>
        <p:nvSpPr>
          <p:cNvPr id="132" name="r132"/>
          <p:cNvSpPr/>
          <p:nvPr/>
        </p:nvSpPr>
        <p:spPr>
          <a:xfrm>
            <a:off x="457200" y="3840480"/>
            <a:ext cx="11247120" cy="27432"/>
          </a:xfrm>
          <a:prstGeom prst="rect">
            <a:avLst/>
          </a:prstGeom>
          <a:solidFill>
            <a:srgbClr val="0A1E30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3" name="r133"/>
          <p:cNvSpPr/>
          <p:nvPr/>
        </p:nvSpPr>
        <p:spPr>
          <a:xfrm>
            <a:off x="457200" y="3895344"/>
            <a:ext cx="11247120" cy="1207007"/>
          </a:xfrm>
          <a:prstGeom prst="rect">
            <a:avLst/>
          </a:prstGeom>
          <a:solidFill>
            <a:srgbClr val="0A1A2A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4" name="t134"/>
          <p:cNvSpPr txBox="1"/>
          <p:nvPr/>
        </p:nvSpPr>
        <p:spPr>
          <a:xfrm>
            <a:off x="457200" y="4297680"/>
            <a:ext cx="201168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RIGHT JOIN</a:t>
            </a:r>
          </a:p>
        </p:txBody>
      </p:sp>
      <p:sp>
        <p:nvSpPr>
          <p:cNvPr id="135" name="r135"/>
          <p:cNvSpPr/>
          <p:nvPr/>
        </p:nvSpPr>
        <p:spPr>
          <a:xfrm>
            <a:off x="2560320" y="4078224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6" name="t136"/>
          <p:cNvSpPr txBox="1"/>
          <p:nvPr/>
        </p:nvSpPr>
        <p:spPr>
          <a:xfrm>
            <a:off x="2560320" y="4197096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tourists</a:t>
            </a:r>
          </a:p>
        </p:txBody>
      </p:sp>
      <p:sp>
        <p:nvSpPr>
          <p:cNvPr id="137" name="r137"/>
          <p:cNvSpPr/>
          <p:nvPr/>
        </p:nvSpPr>
        <p:spPr>
          <a:xfrm>
            <a:off x="4059935" y="4078224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8" name="t138"/>
          <p:cNvSpPr txBox="1"/>
          <p:nvPr/>
        </p:nvSpPr>
        <p:spPr>
          <a:xfrm>
            <a:off x="4059935" y="4197096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matched</a:t>
            </a:r>
          </a:p>
        </p:txBody>
      </p:sp>
      <p:sp>
        <p:nvSpPr>
          <p:cNvPr id="139" name="r139"/>
          <p:cNvSpPr/>
          <p:nvPr/>
        </p:nvSpPr>
        <p:spPr>
          <a:xfrm>
            <a:off x="5559552" y="4078224"/>
            <a:ext cx="1481328" cy="438912"/>
          </a:xfrm>
          <a:prstGeom prst="rect">
            <a:avLst/>
          </a:prstGeom>
          <a:solidFill>
            <a:srgbClr val="F59E0B"/>
          </a:solidFill>
          <a:ln w="17780">
            <a:solidFill>
              <a:srgbClr val="F59E0B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0" name="t140"/>
          <p:cNvSpPr txBox="1"/>
          <p:nvPr/>
        </p:nvSpPr>
        <p:spPr>
          <a:xfrm>
            <a:off x="5559552" y="4197096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visits</a:t>
            </a:r>
          </a:p>
        </p:txBody>
      </p:sp>
      <p:sp>
        <p:nvSpPr>
          <p:cNvPr id="141" name="t141"/>
          <p:cNvSpPr txBox="1"/>
          <p:nvPr/>
        </p:nvSpPr>
        <p:spPr>
          <a:xfrm>
            <a:off x="7178040" y="3968496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Returns all rows from the right table, plus matching rows from the left.</a:t>
            </a:r>
          </a:p>
        </p:txBody>
      </p:sp>
      <p:sp>
        <p:nvSpPr>
          <p:cNvPr id="142" name="t142"/>
          <p:cNvSpPr txBox="1"/>
          <p:nvPr/>
        </p:nvSpPr>
        <p:spPr>
          <a:xfrm>
            <a:off x="7178040" y="4169663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 match on the left = NULL.</a:t>
            </a:r>
          </a:p>
        </p:txBody>
      </p:sp>
      <p:sp>
        <p:nvSpPr>
          <p:cNvPr id="143" name="t143"/>
          <p:cNvSpPr txBox="1"/>
          <p:nvPr/>
        </p:nvSpPr>
        <p:spPr>
          <a:xfrm>
            <a:off x="7178040" y="4407408"/>
            <a:ext cx="45720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case: Rarely used — any RIGHT JOIN can be rewritten as a LEFT JOIN by swapping table order.</a:t>
            </a:r>
          </a:p>
        </p:txBody>
      </p:sp>
      <p:sp>
        <p:nvSpPr>
          <p:cNvPr id="144" name="t144"/>
          <p:cNvSpPr txBox="1"/>
          <p:nvPr/>
        </p:nvSpPr>
        <p:spPr>
          <a:xfrm>
            <a:off x="7178040" y="4736592"/>
            <a:ext cx="45720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F59E0B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Limited SQLite support (v3.39+)</a:t>
            </a:r>
          </a:p>
        </p:txBody>
      </p:sp>
      <p:sp>
        <p:nvSpPr>
          <p:cNvPr id="145" name="r145"/>
          <p:cNvSpPr/>
          <p:nvPr/>
        </p:nvSpPr>
        <p:spPr>
          <a:xfrm>
            <a:off x="457200" y="5102352"/>
            <a:ext cx="11247120" cy="27432"/>
          </a:xfrm>
          <a:prstGeom prst="rect">
            <a:avLst/>
          </a:prstGeom>
          <a:solidFill>
            <a:srgbClr val="0A1E30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6" name="t146"/>
          <p:cNvSpPr txBox="1"/>
          <p:nvPr/>
        </p:nvSpPr>
        <p:spPr>
          <a:xfrm>
            <a:off x="457200" y="5559552"/>
            <a:ext cx="201168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A78BFA"/>
                </a:solidFill>
                <a:effectLst/>
                <a:uLnTx/>
                <a:uFillTx/>
                <a:latin typeface="Courier New"/>
                <a:ea typeface="+mn-ea"/>
                <a:cs typeface="+mn-cs"/>
              </a:rPr>
              <a:t>FULL OUTER JOIN</a:t>
            </a:r>
          </a:p>
        </p:txBody>
      </p:sp>
      <p:sp>
        <p:nvSpPr>
          <p:cNvPr id="147" name="r147"/>
          <p:cNvSpPr/>
          <p:nvPr/>
        </p:nvSpPr>
        <p:spPr>
          <a:xfrm>
            <a:off x="2560320" y="5340096"/>
            <a:ext cx="1481328" cy="438912"/>
          </a:xfrm>
          <a:prstGeom prst="rect">
            <a:avLst/>
          </a:prstGeom>
          <a:solidFill>
            <a:srgbClr val="A78BFA"/>
          </a:solidFill>
          <a:ln w="17780">
            <a:solidFill>
              <a:srgbClr val="A78BF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8" name="t148"/>
          <p:cNvSpPr txBox="1"/>
          <p:nvPr/>
        </p:nvSpPr>
        <p:spPr>
          <a:xfrm>
            <a:off x="2560320" y="5458968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tourists</a:t>
            </a:r>
          </a:p>
        </p:txBody>
      </p:sp>
      <p:sp>
        <p:nvSpPr>
          <p:cNvPr id="149" name="r149"/>
          <p:cNvSpPr/>
          <p:nvPr/>
        </p:nvSpPr>
        <p:spPr>
          <a:xfrm>
            <a:off x="4059935" y="5340096"/>
            <a:ext cx="1481328" cy="438912"/>
          </a:xfrm>
          <a:prstGeom prst="rect">
            <a:avLst/>
          </a:prstGeom>
          <a:solidFill>
            <a:srgbClr val="0A1E2E"/>
          </a:solidFill>
          <a:ln w="5080">
            <a:solidFill>
              <a:srgbClr val="1A3A4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0" name="t150"/>
          <p:cNvSpPr txBox="1"/>
          <p:nvPr/>
        </p:nvSpPr>
        <p:spPr>
          <a:xfrm>
            <a:off x="4059935" y="5458968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0" u="none" strike="noStrike" kern="1200" cap="none" spc="0" normalizeH="0" baseline="0" noProof="0" dirty="0">
                <a:ln>
                  <a:noFill/>
                </a:ln>
                <a:solidFill>
                  <a:srgbClr val="2A5A6A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matched</a:t>
            </a:r>
          </a:p>
        </p:txBody>
      </p:sp>
      <p:sp>
        <p:nvSpPr>
          <p:cNvPr id="151" name="r151"/>
          <p:cNvSpPr/>
          <p:nvPr/>
        </p:nvSpPr>
        <p:spPr>
          <a:xfrm>
            <a:off x="5559552" y="5340096"/>
            <a:ext cx="1481328" cy="438912"/>
          </a:xfrm>
          <a:prstGeom prst="rect">
            <a:avLst/>
          </a:prstGeom>
          <a:solidFill>
            <a:srgbClr val="A78BFA"/>
          </a:solidFill>
          <a:ln w="17780">
            <a:solidFill>
              <a:srgbClr val="A78BFA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2" name="t152"/>
          <p:cNvSpPr txBox="1"/>
          <p:nvPr/>
        </p:nvSpPr>
        <p:spPr>
          <a:xfrm>
            <a:off x="5559552" y="5458968"/>
            <a:ext cx="1481328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1" i="0" u="none" strike="noStrike" kern="1200" cap="none" spc="0" normalizeH="0" baseline="0" noProof="0" dirty="0">
                <a:ln>
                  <a:noFill/>
                </a:ln>
                <a:solidFill>
                  <a:srgbClr val="0A162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visits</a:t>
            </a:r>
          </a:p>
        </p:txBody>
      </p:sp>
      <p:sp>
        <p:nvSpPr>
          <p:cNvPr id="153" name="t153"/>
          <p:cNvSpPr txBox="1"/>
          <p:nvPr/>
        </p:nvSpPr>
        <p:spPr>
          <a:xfrm>
            <a:off x="7178040" y="5230368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Returns all rows from both tables. Matches align side-by-side;</a:t>
            </a:r>
          </a:p>
        </p:txBody>
      </p:sp>
      <p:sp>
        <p:nvSpPr>
          <p:cNvPr id="154" name="t154"/>
          <p:cNvSpPr txBox="1"/>
          <p:nvPr/>
        </p:nvSpPr>
        <p:spPr>
          <a:xfrm>
            <a:off x="7178040" y="5431536"/>
            <a:ext cx="45720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where no match exists, NULLs fill the gaps.</a:t>
            </a:r>
          </a:p>
        </p:txBody>
      </p:sp>
      <p:sp>
        <p:nvSpPr>
          <p:cNvPr id="155" name="t155"/>
          <p:cNvSpPr txBox="1"/>
          <p:nvPr/>
        </p:nvSpPr>
        <p:spPr>
          <a:xfrm>
            <a:off x="7178040" y="5669279"/>
            <a:ext cx="45720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case: Data reconciliation — finding mismatches between two systems.</a:t>
            </a:r>
          </a:p>
        </p:txBody>
      </p:sp>
      <p:sp>
        <p:nvSpPr>
          <p:cNvPr id="156" name="t156"/>
          <p:cNvSpPr txBox="1"/>
          <p:nvPr/>
        </p:nvSpPr>
        <p:spPr>
          <a:xfrm>
            <a:off x="7178040" y="5998464"/>
            <a:ext cx="4572000" cy="18288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EF4444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Not supported in SQLite</a:t>
            </a:r>
          </a:p>
        </p:txBody>
      </p:sp>
      <p:sp>
        <p:nvSpPr>
          <p:cNvPr id="157" name="r157"/>
          <p:cNvSpPr/>
          <p:nvPr/>
        </p:nvSpPr>
        <p:spPr>
          <a:xfrm>
            <a:off x="457200" y="6364224"/>
            <a:ext cx="11247120" cy="27432"/>
          </a:xfrm>
          <a:prstGeom prst="rect">
            <a:avLst/>
          </a:prstGeom>
          <a:solidFill>
            <a:srgbClr val="0A1E30"/>
          </a:solidFill>
          <a:ln w="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8" name="r158"/>
          <p:cNvSpPr/>
          <p:nvPr/>
        </p:nvSpPr>
        <p:spPr>
          <a:xfrm>
            <a:off x="457200" y="6382512"/>
            <a:ext cx="11247120" cy="384048"/>
          </a:xfrm>
          <a:prstGeom prst="rect">
            <a:avLst/>
          </a:prstGeom>
          <a:solidFill>
            <a:srgbClr val="0F2235"/>
          </a:solidFill>
          <a:ln w="7620">
            <a:solidFill>
              <a:srgbClr val="00C9A7"/>
            </a:solidFill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9" name="t159"/>
          <p:cNvSpPr txBox="1"/>
          <p:nvPr/>
        </p:nvSpPr>
        <p:spPr>
          <a:xfrm>
            <a:off x="640080" y="6492240"/>
            <a:ext cx="109728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00C9A7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In practice: INNER JOIN and LEFT JOIN cover 95% of real-world use cases. RIGHT JOIN and FULL OUTER JOIN are rare.</a:t>
            </a:r>
          </a:p>
        </p:txBody>
      </p:sp>
      <p:sp>
        <p:nvSpPr>
          <p:cNvPr id="3" name="t118">
            <a:extLst>
              <a:ext uri="{FF2B5EF4-FFF2-40B4-BE49-F238E27FC236}">
                <a16:creationId xmlns:a16="http://schemas.microsoft.com/office/drawing/2014/main" id="{BB48AC78-87AD-738A-4F78-B65C22CD9AFF}"/>
              </a:ext>
            </a:extLst>
          </p:cNvPr>
          <p:cNvSpPr txBox="1"/>
          <p:nvPr/>
        </p:nvSpPr>
        <p:spPr>
          <a:xfrm>
            <a:off x="7178040" y="1826514"/>
            <a:ext cx="45720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50" b="0" i="1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Use case: When you need complete, fully paired records from both tables.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50" i="1" dirty="0">
                <a:solidFill>
                  <a:srgbClr val="CBD5E1"/>
                </a:solidFill>
                <a:latin typeface="Calibri"/>
              </a:rPr>
              <a:t>Ex: If a tourist has no visit record, they don’t appear. If a visit has no matching tourist, it doesn’t appear either. </a:t>
            </a:r>
            <a:endParaRPr kumimoji="0" lang="en-US" sz="850" b="0" i="1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</p:cSld>
  <p:clrMapOvr>
    <a:masterClrMapping/>
  </p:clrMapOvr>
  <p:transition spd="slow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Bridging to R / Python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SQL gets the data ready  ·  R and Python take it further</a:t>
            </a:r>
          </a:p>
        </p:txBody>
      </p:sp>
    </p:spTree>
  </p:cSld>
  <p:clrMapOvr>
    <a:masterClrMapping/>
  </p:clrMapOvr>
  <p:transition spd="slow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8 · BRIDGING TO R / PYTHON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Gets the Data Ready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365760" y="1435608"/>
            <a:ext cx="914400" cy="640080"/>
          </a:xfrm>
          <a:prstGeom prst="rect">
            <a:avLst/>
          </a:prstGeom>
          <a:solidFill>
            <a:srgbClr val="0F2235"/>
          </a:solidFill>
          <a:ln w="1016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Shape 4"/>
          <p:cNvSpPr/>
          <p:nvPr/>
        </p:nvSpPr>
        <p:spPr>
          <a:xfrm>
            <a:off x="438912" y="1474013"/>
            <a:ext cx="640080" cy="857707"/>
          </a:xfrm>
          <a:prstGeom prst="rect">
            <a:avLst/>
          </a:prstGeom>
          <a:solidFill>
            <a:srgbClr val="0F2235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7" name="Shape 5"/>
          <p:cNvSpPr/>
          <p:nvPr/>
        </p:nvSpPr>
        <p:spPr>
          <a:xfrm>
            <a:off x="438912" y="1371600"/>
            <a:ext cx="640080" cy="204826"/>
          </a:xfrm>
          <a:prstGeom prst="ellipse">
            <a:avLst/>
          </a:prstGeom>
          <a:solidFill>
            <a:srgbClr val="0A1E30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8" name="Shape 6"/>
          <p:cNvSpPr/>
          <p:nvPr/>
        </p:nvSpPr>
        <p:spPr>
          <a:xfrm>
            <a:off x="438912" y="2229307"/>
            <a:ext cx="640080" cy="204826"/>
          </a:xfrm>
          <a:prstGeom prst="ellipse">
            <a:avLst/>
          </a:prstGeom>
          <a:solidFill>
            <a:srgbClr val="0F2235"/>
          </a:solidFill>
          <a:ln w="1524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9" name="Shape 7"/>
          <p:cNvSpPr/>
          <p:nvPr/>
        </p:nvSpPr>
        <p:spPr>
          <a:xfrm>
            <a:off x="475488" y="1668085"/>
            <a:ext cx="566928" cy="92172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Shape 8"/>
          <p:cNvSpPr/>
          <p:nvPr/>
        </p:nvSpPr>
        <p:spPr>
          <a:xfrm>
            <a:off x="475488" y="1873935"/>
            <a:ext cx="566928" cy="92172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1" name="Shape 9"/>
          <p:cNvSpPr/>
          <p:nvPr/>
        </p:nvSpPr>
        <p:spPr>
          <a:xfrm>
            <a:off x="475488" y="2079785"/>
            <a:ext cx="566928" cy="92172"/>
          </a:xfrm>
          <a:prstGeom prst="ellipse">
            <a:avLst/>
          </a:prstGeom>
          <a:solidFill>
            <a:srgbClr val="0F2235"/>
          </a:solidFill>
          <a:ln w="6350">
            <a:solidFill>
              <a:srgbClr val="1A4060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2" name="Text 10"/>
          <p:cNvSpPr txBox="1"/>
          <p:nvPr/>
        </p:nvSpPr>
        <p:spPr>
          <a:xfrm>
            <a:off x="365760" y="2048256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298448" y="1801368"/>
            <a:ext cx="50292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14" name="Shape 12"/>
          <p:cNvSpPr/>
          <p:nvPr/>
        </p:nvSpPr>
        <p:spPr>
          <a:xfrm>
            <a:off x="1828800" y="1408176"/>
            <a:ext cx="1737360" cy="713232"/>
          </a:xfrm>
          <a:prstGeom prst="rect">
            <a:avLst/>
          </a:prstGeom>
          <a:solidFill>
            <a:srgbClr val="0A1E30"/>
          </a:solidFill>
          <a:ln w="1524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5" name="Text 13"/>
          <p:cNvSpPr txBox="1"/>
          <p:nvPr/>
        </p:nvSpPr>
        <p:spPr>
          <a:xfrm>
            <a:off x="1828800" y="1536192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00C9A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3584448" y="1801368"/>
            <a:ext cx="502920" cy="9144"/>
          </a:xfrm>
          <a:prstGeom prst="line">
            <a:avLst/>
          </a:prstGeom>
          <a:noFill/>
          <a:ln w="19050">
            <a:solidFill>
              <a:srgbClr val="00C9A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17" name="Shape 15"/>
          <p:cNvSpPr/>
          <p:nvPr/>
        </p:nvSpPr>
        <p:spPr>
          <a:xfrm>
            <a:off x="4114800" y="1435608"/>
            <a:ext cx="1737360" cy="640080"/>
          </a:xfrm>
          <a:prstGeom prst="rect">
            <a:avLst/>
          </a:prstGeom>
          <a:solidFill>
            <a:srgbClr val="0F2235"/>
          </a:solidFill>
          <a:ln w="10160">
            <a:solidFill>
              <a:srgbClr val="4FC3F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4114800" y="1591056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/ Python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870448" y="1801368"/>
            <a:ext cx="502920" cy="9144"/>
          </a:xfrm>
          <a:prstGeom prst="line">
            <a:avLst/>
          </a:prstGeom>
          <a:noFill/>
          <a:ln w="19050">
            <a:solidFill>
              <a:srgbClr val="4FC3F7"/>
            </a:solidFill>
            <a:prstDash val="solid"/>
            <a:tailEnd type="arrow"/>
          </a:ln>
        </p:spPr>
        <p:txBody>
          <a:bodyPr/>
          <a:lstStyle/>
          <a:p>
            <a:endParaRPr lang="en-PH"/>
          </a:p>
        </p:txBody>
      </p:sp>
      <p:sp>
        <p:nvSpPr>
          <p:cNvPr id="20" name="Shape 18"/>
          <p:cNvSpPr/>
          <p:nvPr/>
        </p:nvSpPr>
        <p:spPr>
          <a:xfrm>
            <a:off x="6400800" y="1280160"/>
            <a:ext cx="1554480" cy="32918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1" name="Text 19"/>
          <p:cNvSpPr txBox="1"/>
          <p:nvPr/>
        </p:nvSpPr>
        <p:spPr>
          <a:xfrm>
            <a:off x="6400800" y="1353312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0" y="1664208"/>
            <a:ext cx="1554480" cy="32918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3" name="Text 21"/>
          <p:cNvSpPr txBox="1"/>
          <p:nvPr/>
        </p:nvSpPr>
        <p:spPr>
          <a:xfrm>
            <a:off x="6400800" y="1737360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0" y="2048256"/>
            <a:ext cx="1554480" cy="329184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5" name="Text 23"/>
          <p:cNvSpPr txBox="1"/>
          <p:nvPr/>
        </p:nvSpPr>
        <p:spPr>
          <a:xfrm>
            <a:off x="6400800" y="2121408"/>
            <a:ext cx="15544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457200" y="248716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Python: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2715768"/>
            <a:ext cx="11247120" cy="14173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Text 26"/>
          <p:cNvSpPr txBox="1"/>
          <p:nvPr/>
        </p:nvSpPr>
        <p:spPr>
          <a:xfrm>
            <a:off x="658368" y="2862072"/>
            <a:ext cx="108447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 pandas as pd, sqlite3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 = sqlite3.connect('tourism_ph.db')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= pd.read_sql("SELECT * FROM tourists”, conn)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57200" y="4384597"/>
            <a:ext cx="11247120" cy="1417320"/>
          </a:xfrm>
          <a:prstGeom prst="rect">
            <a:avLst/>
          </a:prstGeom>
          <a:solidFill>
            <a:srgbClr val="0F2235"/>
          </a:solidFill>
          <a:ln w="6350">
            <a:solidFill>
              <a:srgbClr val="1E3A5F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31" name="Text 29"/>
          <p:cNvSpPr txBox="1"/>
          <p:nvPr/>
        </p:nvSpPr>
        <p:spPr>
          <a:xfrm>
            <a:off x="658368" y="4530901"/>
            <a:ext cx="10844784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library(DBI)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conn &lt;- dbConnect(RSQLite::SQLite(), 'tourism_ph.db')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4FC3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df &lt;- dbGetQuery(conn, 'SELECT * FROM tourists')</a:t>
            </a:r>
            <a:endParaRPr lang="en-US" sz="1500" dirty="0"/>
          </a:p>
        </p:txBody>
      </p:sp>
      <p:sp>
        <p:nvSpPr>
          <p:cNvPr id="33" name="Text 24">
            <a:extLst>
              <a:ext uri="{FF2B5EF4-FFF2-40B4-BE49-F238E27FC236}">
                <a16:creationId xmlns:a16="http://schemas.microsoft.com/office/drawing/2014/main" id="{C0B270BA-9A35-9BCB-165E-F7091A54DAB3}"/>
              </a:ext>
            </a:extLst>
          </p:cNvPr>
          <p:cNvSpPr txBox="1"/>
          <p:nvPr/>
        </p:nvSpPr>
        <p:spPr>
          <a:xfrm>
            <a:off x="457200" y="4152752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R:</a:t>
            </a:r>
            <a:endParaRPr lang="en-US" sz="1200" dirty="0"/>
          </a:p>
        </p:txBody>
      </p:sp>
    </p:spTree>
  </p:cSld>
  <p:clrMapOvr>
    <a:masterClrMapping/>
  </p:clrMapOvr>
  <p:transition spd="med">
    <p:push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60E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r10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1628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r102"/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3" name="r103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104"/>
          <p:cNvSpPr txBox="1"/>
          <p:nvPr/>
        </p:nvSpPr>
        <p:spPr>
          <a:xfrm>
            <a:off x="502920" y="2377440"/>
            <a:ext cx="11430000" cy="12801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/>
              </a:rPr>
              <a:t>Live Demo</a:t>
            </a:r>
          </a:p>
        </p:txBody>
      </p:sp>
      <p:sp>
        <p:nvSpPr>
          <p:cNvPr id="105" name="r105"/>
          <p:cNvSpPr/>
          <p:nvPr/>
        </p:nvSpPr>
        <p:spPr>
          <a:xfrm>
            <a:off x="502920" y="3584448"/>
            <a:ext cx="8686800" cy="64008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6" name="t106"/>
          <p:cNvSpPr txBox="1"/>
          <p:nvPr/>
        </p:nvSpPr>
        <p:spPr>
          <a:xfrm>
            <a:off x="521207" y="3767328"/>
            <a:ext cx="11430000" cy="365760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>
              <a:buNone/>
            </a:pPr>
            <a:r>
              <a:rPr lang="en-US" sz="1400" b="0" dirty="0">
                <a:solidFill>
                  <a:srgbClr val="94A3B8"/>
                </a:solidFill>
                <a:latin typeface="Calibri"/>
              </a:rPr>
              <a:t>tourists  ·  visits  ·  destinations  ·  SQLiteOnline.com</a:t>
            </a:r>
          </a:p>
        </p:txBody>
      </p:sp>
    </p:spTree>
  </p:cSld>
  <p:clrMapOvr>
    <a:masterClrMapping/>
  </p:clrMapOvr>
  <p:transition spd="slow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r801"/>
          <p:cNvSpPr/>
          <p:nvPr/>
        </p:nvSpPr>
        <p:spPr>
          <a:xfrm>
            <a:off x="57912" y="-460736"/>
            <a:ext cx="12188952" cy="6858000"/>
          </a:xfrm>
          <a:prstGeom prst="rect">
            <a:avLst/>
          </a:prstGeom>
          <a:solidFill>
            <a:srgbClr val="0A1628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2" name="r80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00C9A7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3" name="t803"/>
          <p:cNvSpPr txBox="1"/>
          <p:nvPr/>
        </p:nvSpPr>
        <p:spPr>
          <a:xfrm>
            <a:off x="457200" y="164592"/>
            <a:ext cx="7315200" cy="2011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1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SECTION 9 · LIVE DEMO</a:t>
            </a:r>
          </a:p>
        </p:txBody>
      </p:sp>
      <p:sp>
        <p:nvSpPr>
          <p:cNvPr id="804" name="t804"/>
          <p:cNvSpPr txBox="1"/>
          <p:nvPr/>
        </p:nvSpPr>
        <p:spPr>
          <a:xfrm>
            <a:off x="457200" y="384048"/>
            <a:ext cx="4572000" cy="47548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Live Demo</a:t>
            </a:r>
          </a:p>
        </p:txBody>
      </p:sp>
      <p:sp>
        <p:nvSpPr>
          <p:cNvPr id="805" name="r805"/>
          <p:cNvSpPr/>
          <p:nvPr/>
        </p:nvSpPr>
        <p:spPr>
          <a:xfrm>
            <a:off x="457200" y="841248"/>
            <a:ext cx="1097280" cy="36576"/>
          </a:xfrm>
          <a:prstGeom prst="rect">
            <a:avLst/>
          </a:prstGeom>
          <a:solidFill>
            <a:srgbClr val="00C9A7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6" name="r806"/>
          <p:cNvSpPr/>
          <p:nvPr/>
        </p:nvSpPr>
        <p:spPr>
          <a:xfrm>
            <a:off x="457200" y="987552"/>
            <a:ext cx="11247120" cy="292608"/>
          </a:xfrm>
          <a:prstGeom prst="rect">
            <a:avLst/>
          </a:prstGeom>
          <a:solidFill>
            <a:srgbClr val="0F2235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7" name="t807"/>
          <p:cNvSpPr txBox="1"/>
          <p:nvPr/>
        </p:nvSpPr>
        <p:spPr>
          <a:xfrm>
            <a:off x="640080" y="987552"/>
            <a:ext cx="100584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Tool:  SQLiteOnline.com  —  runs in the browser, nothing to install</a:t>
            </a:r>
          </a:p>
        </p:txBody>
      </p:sp>
      <p:sp>
        <p:nvSpPr>
          <p:cNvPr id="808" name="r808"/>
          <p:cNvSpPr/>
          <p:nvPr/>
        </p:nvSpPr>
        <p:spPr>
          <a:xfrm>
            <a:off x="457200" y="1417320"/>
            <a:ext cx="256032" cy="256032"/>
          </a:xfrm>
          <a:prstGeom prst="rect">
            <a:avLst/>
          </a:prstGeom>
          <a:solidFill>
            <a:srgbClr val="1A3050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09" name="t809"/>
          <p:cNvSpPr txBox="1"/>
          <p:nvPr/>
        </p:nvSpPr>
        <p:spPr>
          <a:xfrm>
            <a:off x="457200" y="1417320"/>
            <a:ext cx="256032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A</a:t>
            </a:r>
          </a:p>
        </p:txBody>
      </p:sp>
      <p:sp>
        <p:nvSpPr>
          <p:cNvPr id="810" name="t810"/>
          <p:cNvSpPr txBox="1"/>
          <p:nvPr/>
        </p:nvSpPr>
        <p:spPr>
          <a:xfrm>
            <a:off x="777240" y="1417320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Getting to Know the Data</a:t>
            </a:r>
          </a:p>
        </p:txBody>
      </p:sp>
      <p:sp>
        <p:nvSpPr>
          <p:cNvPr id="811" name="r811"/>
          <p:cNvSpPr/>
          <p:nvPr/>
        </p:nvSpPr>
        <p:spPr>
          <a:xfrm>
            <a:off x="457200" y="1691640"/>
            <a:ext cx="5486400" cy="18288"/>
          </a:xfrm>
          <a:prstGeom prst="rect">
            <a:avLst/>
          </a:prstGeom>
          <a:solidFill>
            <a:srgbClr val="1E3A5F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2" name="t812"/>
          <p:cNvSpPr txBox="1"/>
          <p:nvPr/>
        </p:nvSpPr>
        <p:spPr>
          <a:xfrm>
            <a:off x="777240" y="1764792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What do our tourists, visits, and destinations tables look like?</a:t>
            </a:r>
          </a:p>
        </p:txBody>
      </p:sp>
      <p:sp>
        <p:nvSpPr>
          <p:cNvPr id="813" name="r813"/>
          <p:cNvSpPr/>
          <p:nvPr/>
        </p:nvSpPr>
        <p:spPr>
          <a:xfrm>
            <a:off x="457200" y="2423160"/>
            <a:ext cx="256032" cy="256032"/>
          </a:xfrm>
          <a:prstGeom prst="rect">
            <a:avLst/>
          </a:prstGeom>
          <a:solidFill>
            <a:srgbClr val="1A3050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4" name="t814"/>
          <p:cNvSpPr txBox="1"/>
          <p:nvPr/>
        </p:nvSpPr>
        <p:spPr>
          <a:xfrm>
            <a:off x="457200" y="2423160"/>
            <a:ext cx="256032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C</a:t>
            </a:r>
          </a:p>
        </p:txBody>
      </p:sp>
      <p:sp>
        <p:nvSpPr>
          <p:cNvPr id="815" name="t815"/>
          <p:cNvSpPr txBox="1"/>
          <p:nvPr/>
        </p:nvSpPr>
        <p:spPr>
          <a:xfrm>
            <a:off x="809244" y="3390065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Where Are They Going?</a:t>
            </a:r>
          </a:p>
        </p:txBody>
      </p:sp>
      <p:sp>
        <p:nvSpPr>
          <p:cNvPr id="816" name="r816"/>
          <p:cNvSpPr/>
          <p:nvPr/>
        </p:nvSpPr>
        <p:spPr>
          <a:xfrm>
            <a:off x="457200" y="2697479"/>
            <a:ext cx="5486400" cy="18288"/>
          </a:xfrm>
          <a:prstGeom prst="rect">
            <a:avLst/>
          </a:prstGeom>
          <a:solidFill>
            <a:srgbClr val="1E3A5F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17" name="t817"/>
          <p:cNvSpPr txBox="1"/>
          <p:nvPr/>
        </p:nvSpPr>
        <p:spPr>
          <a:xfrm>
            <a:off x="777240" y="3748808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How many visits did each region receive?</a:t>
            </a:r>
          </a:p>
        </p:txBody>
      </p:sp>
      <p:sp>
        <p:nvSpPr>
          <p:cNvPr id="819" name="r819"/>
          <p:cNvSpPr/>
          <p:nvPr/>
        </p:nvSpPr>
        <p:spPr>
          <a:xfrm>
            <a:off x="457200" y="3429000"/>
            <a:ext cx="256032" cy="256032"/>
          </a:xfrm>
          <a:prstGeom prst="rect">
            <a:avLst/>
          </a:prstGeom>
          <a:solidFill>
            <a:srgbClr val="1A3050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0" name="t820"/>
          <p:cNvSpPr txBox="1"/>
          <p:nvPr/>
        </p:nvSpPr>
        <p:spPr>
          <a:xfrm>
            <a:off x="457200" y="3429000"/>
            <a:ext cx="256032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E</a:t>
            </a:r>
          </a:p>
        </p:txBody>
      </p:sp>
      <p:sp>
        <p:nvSpPr>
          <p:cNvPr id="821" name="t821"/>
          <p:cNvSpPr txBox="1"/>
          <p:nvPr/>
        </p:nvSpPr>
        <p:spPr>
          <a:xfrm>
            <a:off x="6659880" y="1389887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How Clean Is Our Data?</a:t>
            </a:r>
          </a:p>
        </p:txBody>
      </p:sp>
      <p:sp>
        <p:nvSpPr>
          <p:cNvPr id="822" name="r822"/>
          <p:cNvSpPr/>
          <p:nvPr/>
        </p:nvSpPr>
        <p:spPr>
          <a:xfrm>
            <a:off x="457200" y="3703320"/>
            <a:ext cx="5486400" cy="18288"/>
          </a:xfrm>
          <a:prstGeom prst="rect">
            <a:avLst/>
          </a:prstGeom>
          <a:solidFill>
            <a:srgbClr val="1E3A5F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3" name="t823"/>
          <p:cNvSpPr txBox="1"/>
          <p:nvPr/>
        </p:nvSpPr>
        <p:spPr>
          <a:xfrm>
            <a:off x="6641592" y="1726926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Are there visits with missing spending data?</a:t>
            </a:r>
          </a:p>
        </p:txBody>
      </p:sp>
      <p:sp>
        <p:nvSpPr>
          <p:cNvPr id="826" name="r826"/>
          <p:cNvSpPr/>
          <p:nvPr/>
        </p:nvSpPr>
        <p:spPr>
          <a:xfrm>
            <a:off x="457200" y="4426213"/>
            <a:ext cx="256032" cy="256032"/>
          </a:xfrm>
          <a:prstGeom prst="rect">
            <a:avLst/>
          </a:prstGeom>
          <a:solidFill>
            <a:srgbClr val="1A3050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27" name="t827"/>
          <p:cNvSpPr txBox="1"/>
          <p:nvPr/>
        </p:nvSpPr>
        <p:spPr>
          <a:xfrm>
            <a:off x="457200" y="4434322"/>
            <a:ext cx="256032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G</a:t>
            </a:r>
          </a:p>
        </p:txBody>
      </p:sp>
      <p:sp>
        <p:nvSpPr>
          <p:cNvPr id="828" name="t828"/>
          <p:cNvSpPr txBox="1"/>
          <p:nvPr/>
        </p:nvSpPr>
        <p:spPr>
          <a:xfrm>
            <a:off x="777240" y="4425178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The Full Picture: A 3-Table JOIN</a:t>
            </a:r>
          </a:p>
        </p:txBody>
      </p:sp>
      <p:sp>
        <p:nvSpPr>
          <p:cNvPr id="829" name="r829"/>
          <p:cNvSpPr/>
          <p:nvPr/>
        </p:nvSpPr>
        <p:spPr>
          <a:xfrm>
            <a:off x="457200" y="4699497"/>
            <a:ext cx="5486400" cy="18288"/>
          </a:xfrm>
          <a:prstGeom prst="rect">
            <a:avLst/>
          </a:prstGeom>
          <a:solidFill>
            <a:srgbClr val="1E3A5F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0" name="t830"/>
          <p:cNvSpPr txBox="1"/>
          <p:nvPr/>
        </p:nvSpPr>
        <p:spPr>
          <a:xfrm>
            <a:off x="777240" y="4772650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Give me a complete visitor profile — tourist, destination, spending.</a:t>
            </a:r>
          </a:p>
        </p:txBody>
      </p:sp>
      <p:sp>
        <p:nvSpPr>
          <p:cNvPr id="831" name="r831"/>
          <p:cNvSpPr/>
          <p:nvPr/>
        </p:nvSpPr>
        <p:spPr>
          <a:xfrm>
            <a:off x="6327648" y="1417320"/>
            <a:ext cx="256032" cy="256032"/>
          </a:xfrm>
          <a:prstGeom prst="rect">
            <a:avLst/>
          </a:prstGeom>
          <a:solidFill>
            <a:srgbClr val="1A3050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2" name="t832"/>
          <p:cNvSpPr txBox="1"/>
          <p:nvPr/>
        </p:nvSpPr>
        <p:spPr>
          <a:xfrm>
            <a:off x="6327648" y="1417320"/>
            <a:ext cx="256032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B</a:t>
            </a:r>
          </a:p>
        </p:txBody>
      </p:sp>
      <p:sp>
        <p:nvSpPr>
          <p:cNvPr id="833" name="t833"/>
          <p:cNvSpPr txBox="1"/>
          <p:nvPr/>
        </p:nvSpPr>
        <p:spPr>
          <a:xfrm>
            <a:off x="809244" y="2425393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Who is Visiting?</a:t>
            </a:r>
          </a:p>
        </p:txBody>
      </p:sp>
      <p:sp>
        <p:nvSpPr>
          <p:cNvPr id="834" name="r834"/>
          <p:cNvSpPr/>
          <p:nvPr/>
        </p:nvSpPr>
        <p:spPr>
          <a:xfrm>
            <a:off x="6327648" y="1691640"/>
            <a:ext cx="5486400" cy="18288"/>
          </a:xfrm>
          <a:prstGeom prst="rect">
            <a:avLst/>
          </a:prstGeom>
          <a:solidFill>
            <a:srgbClr val="1E3A5F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5" name="t835"/>
          <p:cNvSpPr txBox="1"/>
          <p:nvPr/>
        </p:nvSpPr>
        <p:spPr>
          <a:xfrm>
            <a:off x="777240" y="2712891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How many tourists do we have by nationality?</a:t>
            </a:r>
          </a:p>
        </p:txBody>
      </p:sp>
      <p:sp>
        <p:nvSpPr>
          <p:cNvPr id="836" name="t836"/>
          <p:cNvSpPr txBox="1"/>
          <p:nvPr/>
        </p:nvSpPr>
        <p:spPr>
          <a:xfrm>
            <a:off x="757428" y="2934188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How many tourists do we have by tourist type?</a:t>
            </a:r>
          </a:p>
        </p:txBody>
      </p:sp>
      <p:sp>
        <p:nvSpPr>
          <p:cNvPr id="837" name="r837"/>
          <p:cNvSpPr/>
          <p:nvPr/>
        </p:nvSpPr>
        <p:spPr>
          <a:xfrm>
            <a:off x="6327648" y="2423160"/>
            <a:ext cx="256032" cy="256032"/>
          </a:xfrm>
          <a:prstGeom prst="rect">
            <a:avLst/>
          </a:prstGeom>
          <a:solidFill>
            <a:srgbClr val="1A3050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38" name="t838"/>
          <p:cNvSpPr txBox="1"/>
          <p:nvPr/>
        </p:nvSpPr>
        <p:spPr>
          <a:xfrm>
            <a:off x="6327648" y="2450592"/>
            <a:ext cx="22860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D</a:t>
            </a:r>
          </a:p>
        </p:txBody>
      </p:sp>
      <p:sp>
        <p:nvSpPr>
          <p:cNvPr id="839" name="t839"/>
          <p:cNvSpPr txBox="1"/>
          <p:nvPr/>
        </p:nvSpPr>
        <p:spPr>
          <a:xfrm>
            <a:off x="6647688" y="2423160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Overloading or Underserved?</a:t>
            </a:r>
          </a:p>
        </p:txBody>
      </p:sp>
      <p:sp>
        <p:nvSpPr>
          <p:cNvPr id="840" name="r840"/>
          <p:cNvSpPr/>
          <p:nvPr/>
        </p:nvSpPr>
        <p:spPr>
          <a:xfrm>
            <a:off x="6327648" y="2697479"/>
            <a:ext cx="5486400" cy="18288"/>
          </a:xfrm>
          <a:prstGeom prst="rect">
            <a:avLst/>
          </a:prstGeom>
          <a:solidFill>
            <a:srgbClr val="1E3A5F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1" name="t841"/>
          <p:cNvSpPr txBox="1"/>
          <p:nvPr/>
        </p:nvSpPr>
        <p:spPr>
          <a:xfrm>
            <a:off x="6647688" y="2770632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Which destinations receive the most visits?</a:t>
            </a:r>
          </a:p>
        </p:txBody>
      </p:sp>
      <p:sp>
        <p:nvSpPr>
          <p:cNvPr id="842" name="t842"/>
          <p:cNvSpPr txBox="1"/>
          <p:nvPr/>
        </p:nvSpPr>
        <p:spPr>
          <a:xfrm>
            <a:off x="6647688" y="3008376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50" b="0" i="0" u="none" strike="noStrike" kern="1200" cap="none" spc="0" normalizeH="0" baseline="0" noProof="0" dirty="0">
              <a:ln>
                <a:noFill/>
              </a:ln>
              <a:solidFill>
                <a:srgbClr val="CBD5E1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43" name="r843"/>
          <p:cNvSpPr/>
          <p:nvPr/>
        </p:nvSpPr>
        <p:spPr>
          <a:xfrm>
            <a:off x="6385560" y="3442716"/>
            <a:ext cx="256032" cy="256032"/>
          </a:xfrm>
          <a:prstGeom prst="rect">
            <a:avLst/>
          </a:prstGeom>
          <a:solidFill>
            <a:srgbClr val="1A3050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4" name="t844"/>
          <p:cNvSpPr txBox="1"/>
          <p:nvPr/>
        </p:nvSpPr>
        <p:spPr>
          <a:xfrm>
            <a:off x="6385560" y="3470146"/>
            <a:ext cx="228600" cy="228601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F</a:t>
            </a:r>
          </a:p>
        </p:txBody>
      </p:sp>
      <p:sp>
        <p:nvSpPr>
          <p:cNvPr id="845" name="t845"/>
          <p:cNvSpPr txBox="1"/>
          <p:nvPr/>
        </p:nvSpPr>
        <p:spPr>
          <a:xfrm>
            <a:off x="6705600" y="3442716"/>
            <a:ext cx="548640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What Does a Visit Look Like?</a:t>
            </a:r>
          </a:p>
        </p:txBody>
      </p:sp>
      <p:sp>
        <p:nvSpPr>
          <p:cNvPr id="846" name="r846"/>
          <p:cNvSpPr/>
          <p:nvPr/>
        </p:nvSpPr>
        <p:spPr>
          <a:xfrm>
            <a:off x="6385560" y="3717036"/>
            <a:ext cx="5486400" cy="18288"/>
          </a:xfrm>
          <a:prstGeom prst="rect">
            <a:avLst/>
          </a:prstGeom>
          <a:solidFill>
            <a:srgbClr val="1E3A5F"/>
          </a:solidFill>
          <a:ln w="6350">
            <a:noFill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47" name="t847"/>
          <p:cNvSpPr txBox="1"/>
          <p:nvPr/>
        </p:nvSpPr>
        <p:spPr>
          <a:xfrm>
            <a:off x="6705600" y="3790188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What is the avg, min, and max spending per destination category?</a:t>
            </a:r>
          </a:p>
        </p:txBody>
      </p:sp>
      <p:sp>
        <p:nvSpPr>
          <p:cNvPr id="848" name="t848"/>
          <p:cNvSpPr txBox="1"/>
          <p:nvPr/>
        </p:nvSpPr>
        <p:spPr>
          <a:xfrm>
            <a:off x="6705600" y="4027932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Which purpose of visit generates the highest average spending?</a:t>
            </a:r>
          </a:p>
        </p:txBody>
      </p:sp>
      <p:sp>
        <p:nvSpPr>
          <p:cNvPr id="849" name="t849"/>
          <p:cNvSpPr txBox="1"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1" u="none" strike="noStrike" kern="1200" cap="none" spc="0" normalizeH="0" baseline="0" noProof="0" dirty="0">
                <a:ln>
                  <a:noFill/>
                </a:ln>
                <a:solidFill>
                  <a:srgbClr val="94A3B8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One dataset.  Three pillars.  Every concept from today — applied to Philippine tourism.</a:t>
            </a:r>
          </a:p>
        </p:txBody>
      </p:sp>
      <p:sp>
        <p:nvSpPr>
          <p:cNvPr id="3" name="t841">
            <a:extLst>
              <a:ext uri="{FF2B5EF4-FFF2-40B4-BE49-F238E27FC236}">
                <a16:creationId xmlns:a16="http://schemas.microsoft.com/office/drawing/2014/main" id="{3AB65F8A-60A0-9510-6687-14245D67BEC6}"/>
              </a:ext>
            </a:extLst>
          </p:cNvPr>
          <p:cNvSpPr txBox="1"/>
          <p:nvPr/>
        </p:nvSpPr>
        <p:spPr>
          <a:xfrm>
            <a:off x="6647688" y="3017520"/>
            <a:ext cx="5394960" cy="2286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50" b="0" i="0" u="none" strike="noStrike" kern="1200" cap="none" spc="0" normalizeH="0" baseline="0" noProof="0" dirty="0">
                <a:ln>
                  <a:noFill/>
                </a:ln>
                <a:solidFill>
                  <a:srgbClr val="CBD5E1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· Which destinations receive the least visits?</a:t>
            </a:r>
          </a:p>
        </p:txBody>
      </p:sp>
    </p:spTree>
  </p:cSld>
  <p:clrMapOvr>
    <a:masterClrMapping/>
  </p:clrMapOvr>
  <p:transition spd="med">
    <p:push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64592"/>
            <a:ext cx="112471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10 · OPEN FORUM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0292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Go From Here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1005840"/>
            <a:ext cx="1280160" cy="4114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5394960" cy="62179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6" name="Text 4"/>
          <p:cNvSpPr txBox="1"/>
          <p:nvPr/>
        </p:nvSpPr>
        <p:spPr>
          <a:xfrm>
            <a:off x="594360" y="1545336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🌐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152704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SQLZoo.net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154533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exercises, free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417320"/>
            <a:ext cx="5394960" cy="62179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0" name="Text 8"/>
          <p:cNvSpPr txBox="1"/>
          <p:nvPr/>
        </p:nvSpPr>
        <p:spPr>
          <a:xfrm>
            <a:off x="6355080" y="1545336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457200" y="2194560"/>
            <a:ext cx="5394960" cy="62179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4" name="Text 12"/>
          <p:cNvSpPr txBox="1"/>
          <p:nvPr/>
        </p:nvSpPr>
        <p:spPr>
          <a:xfrm>
            <a:off x="594360" y="2322576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🔍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143000" y="230428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W3Schools SQL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566160" y="232257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syntax reference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217920" y="2194560"/>
            <a:ext cx="5394960" cy="621792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18" name="Text 16"/>
          <p:cNvSpPr txBox="1"/>
          <p:nvPr/>
        </p:nvSpPr>
        <p:spPr>
          <a:xfrm>
            <a:off x="6355080" y="2322576"/>
            <a:ext cx="47548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🎓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365760" y="321085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level when ready: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365760" y="3540034"/>
            <a:ext cx="11247120" cy="475488"/>
          </a:xfrm>
          <a:prstGeom prst="rect">
            <a:avLst/>
          </a:prstGeom>
          <a:solidFill>
            <a:srgbClr val="0F2235"/>
          </a:solidFill>
          <a:ln w="5080">
            <a:solidFill>
              <a:srgbClr val="1A2E45"/>
            </a:solidFill>
            <a:prstDash val="solid"/>
          </a:ln>
        </p:spPr>
        <p:txBody>
          <a:bodyPr/>
          <a:lstStyle/>
          <a:p>
            <a:endParaRPr lang="en-PH"/>
          </a:p>
        </p:txBody>
      </p:sp>
      <p:sp>
        <p:nvSpPr>
          <p:cNvPr id="28" name="Text 26"/>
          <p:cNvSpPr txBox="1"/>
          <p:nvPr/>
        </p:nvSpPr>
        <p:spPr>
          <a:xfrm>
            <a:off x="548640" y="3622330"/>
            <a:ext cx="1078992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functions  ·  Subqueries  ·  CTEs  ·  Indexes</a:t>
            </a:r>
            <a:endParaRPr lang="en-US" sz="1300" dirty="0"/>
          </a:p>
        </p:txBody>
      </p:sp>
      <p:sp>
        <p:nvSpPr>
          <p:cNvPr id="30" name="r901">
            <a:extLst>
              <a:ext uri="{FF2B5EF4-FFF2-40B4-BE49-F238E27FC236}">
                <a16:creationId xmlns:a16="http://schemas.microsoft.com/office/drawing/2014/main" id="{A9F0E67C-956C-F188-1107-2C8B791A193F}"/>
              </a:ext>
            </a:extLst>
          </p:cNvPr>
          <p:cNvSpPr/>
          <p:nvPr/>
        </p:nvSpPr>
        <p:spPr>
          <a:xfrm>
            <a:off x="372294" y="4426051"/>
            <a:ext cx="11247120" cy="548640"/>
          </a:xfrm>
          <a:prstGeom prst="rect">
            <a:avLst/>
          </a:prstGeom>
          <a:solidFill>
            <a:srgbClr val="0A1E30"/>
          </a:solidFill>
          <a:ln w="10160">
            <a:solidFill>
              <a:srgbClr val="00C9A7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2" name="t903">
            <a:extLst>
              <a:ext uri="{FF2B5EF4-FFF2-40B4-BE49-F238E27FC236}">
                <a16:creationId xmlns:a16="http://schemas.microsoft.com/office/drawing/2014/main" id="{EF8A01CF-9D44-C3F0-6D9C-CB94E6F07AA1}"/>
              </a:ext>
            </a:extLst>
          </p:cNvPr>
          <p:cNvSpPr txBox="1"/>
          <p:nvPr/>
        </p:nvSpPr>
        <p:spPr>
          <a:xfrm>
            <a:off x="365760" y="4471771"/>
            <a:ext cx="3200400" cy="256032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100" b="1" i="0" dirty="0">
                <a:solidFill>
                  <a:srgbClr val="00C9A7"/>
                </a:solidFill>
                <a:latin typeface="Calibri"/>
              </a:rPr>
              <a:t>📦  </a:t>
            </a:r>
            <a:r>
              <a:rPr lang="en-US" sz="1300" b="1" i="0" dirty="0">
                <a:solidFill>
                  <a:srgbClr val="00C9A7"/>
                </a:solidFill>
                <a:latin typeface="Calibri"/>
              </a:rPr>
              <a:t>Today's materials:</a:t>
            </a:r>
          </a:p>
        </p:txBody>
      </p:sp>
      <p:sp>
        <p:nvSpPr>
          <p:cNvPr id="34" name="t904">
            <a:extLst>
              <a:ext uri="{FF2B5EF4-FFF2-40B4-BE49-F238E27FC236}">
                <a16:creationId xmlns:a16="http://schemas.microsoft.com/office/drawing/2014/main" id="{9EF1D3A2-A5DD-69CB-E7E1-F8694ADB9D30}"/>
              </a:ext>
            </a:extLst>
          </p:cNvPr>
          <p:cNvSpPr txBox="1"/>
          <p:nvPr/>
        </p:nvSpPr>
        <p:spPr>
          <a:xfrm>
            <a:off x="365760" y="4746091"/>
            <a:ext cx="10515600" cy="201168"/>
          </a:xfrm>
          <a:prstGeom prst="rect">
            <a:avLst/>
          </a:prstGeom>
          <a:noFill/>
        </p:spPr>
        <p:txBody>
          <a:bodyPr wrap="square" rtlCol="0"/>
          <a:lstStyle/>
          <a:p>
            <a:pPr marL="0" indent="0" algn="l">
              <a:buNone/>
            </a:pPr>
            <a:r>
              <a:rPr lang="en-US" sz="1100" b="0" i="0" dirty="0">
                <a:solidFill>
                  <a:srgbClr val="FFFFFF"/>
                </a:solidFill>
                <a:latin typeface="Courier New"/>
              </a:rPr>
              <a:t>github.com/rachellvinculado/sql-seminar-nsm2026</a:t>
            </a:r>
          </a:p>
        </p:txBody>
      </p:sp>
      <p:sp>
        <p:nvSpPr>
          <p:cNvPr id="31" name="Text 9">
            <a:extLst>
              <a:ext uri="{FF2B5EF4-FFF2-40B4-BE49-F238E27FC236}">
                <a16:creationId xmlns:a16="http://schemas.microsoft.com/office/drawing/2014/main" id="{0FD91189-9F0A-6968-2160-A6E9080E9F69}"/>
              </a:ext>
            </a:extLst>
          </p:cNvPr>
          <p:cNvSpPr txBox="1"/>
          <p:nvPr/>
        </p:nvSpPr>
        <p:spPr>
          <a:xfrm>
            <a:off x="6903720" y="1605426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SQLBolt</a:t>
            </a:r>
            <a:endParaRPr lang="en-US" sz="1200" dirty="0"/>
          </a:p>
        </p:txBody>
      </p:sp>
      <p:sp>
        <p:nvSpPr>
          <p:cNvPr id="35" name="Text 10">
            <a:extLst>
              <a:ext uri="{FF2B5EF4-FFF2-40B4-BE49-F238E27FC236}">
                <a16:creationId xmlns:a16="http://schemas.microsoft.com/office/drawing/2014/main" id="{A6C3897B-20D0-E63B-AA24-A1A133B3FD56}"/>
              </a:ext>
            </a:extLst>
          </p:cNvPr>
          <p:cNvSpPr txBox="1"/>
          <p:nvPr/>
        </p:nvSpPr>
        <p:spPr>
          <a:xfrm>
            <a:off x="9326880" y="162371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Interactive, no account needed</a:t>
            </a:r>
            <a:endParaRPr lang="en-US" sz="1100" dirty="0"/>
          </a:p>
        </p:txBody>
      </p:sp>
      <p:sp>
        <p:nvSpPr>
          <p:cNvPr id="37" name="Text 17">
            <a:extLst>
              <a:ext uri="{FF2B5EF4-FFF2-40B4-BE49-F238E27FC236}">
                <a16:creationId xmlns:a16="http://schemas.microsoft.com/office/drawing/2014/main" id="{37470B74-E405-5F14-525C-EE5B6D07755D}"/>
              </a:ext>
            </a:extLst>
          </p:cNvPr>
          <p:cNvSpPr txBox="1"/>
          <p:nvPr/>
        </p:nvSpPr>
        <p:spPr>
          <a:xfrm>
            <a:off x="6903720" y="2304288"/>
            <a:ext cx="2377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 Academy SQL</a:t>
            </a:r>
            <a:endParaRPr lang="en-US" sz="1200" dirty="0"/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211C4A62-0661-E158-A7A5-154F09DFE0AE}"/>
              </a:ext>
            </a:extLst>
          </p:cNvPr>
          <p:cNvSpPr txBox="1"/>
          <p:nvPr/>
        </p:nvSpPr>
        <p:spPr>
          <a:xfrm>
            <a:off x="9326880" y="2358201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Free, beginner-friendly, self-paced</a:t>
            </a:r>
            <a:endParaRPr lang="en-US" sz="1100" dirty="0"/>
          </a:p>
        </p:txBody>
      </p:sp>
    </p:spTree>
  </p:cSld>
  <p:clrMapOvr>
    <a:masterClrMapping/>
  </p:clrMapOvr>
  <p:transition spd="med">
    <p:push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17063</TotalTime>
  <Words>2798</Words>
  <Application>Microsoft Office PowerPoint</Application>
  <PresentationFormat>Widescreen</PresentationFormat>
  <Paragraphs>726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Aptos</vt:lpstr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Rachell Batucan</cp:lastModifiedBy>
  <cp:revision>118</cp:revision>
  <dcterms:created xsi:type="dcterms:W3CDTF">2026-09-28T19:30:56Z</dcterms:created>
  <dcterms:modified xsi:type="dcterms:W3CDTF">2026-10-20T13:29:04Z</dcterms:modified>
</cp:coreProperties>
</file>