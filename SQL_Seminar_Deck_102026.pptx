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301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8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77" autoAdjust="0"/>
    <p:restoredTop sz="66223" autoAdjust="0"/>
  </p:normalViewPr>
  <p:slideViewPr>
    <p:cSldViewPr snapToGrid="0" snapToObjects="1">
      <p:cViewPr varScale="1">
        <p:scale>
          <a:sx n="73" d="100"/>
          <a:sy n="73" d="100"/>
        </p:scale>
        <p:origin x="1806" y="6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273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65836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Shape 2"/>
          <p:cNvSpPr/>
          <p:nvPr/>
        </p:nvSpPr>
        <p:spPr>
          <a:xfrm>
            <a:off x="122529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179222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235915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292608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349300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05993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62686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519379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576072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1"/>
          <p:cNvSpPr/>
          <p:nvPr/>
        </p:nvSpPr>
        <p:spPr>
          <a:xfrm>
            <a:off x="632764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689457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Shape 13"/>
          <p:cNvSpPr/>
          <p:nvPr/>
        </p:nvSpPr>
        <p:spPr>
          <a:xfrm>
            <a:off x="746150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802843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859536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916228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972921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029614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086307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1143000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1199692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9144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65836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22529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79222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235915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292608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349300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405993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462686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519379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576072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Shape 33"/>
          <p:cNvSpPr/>
          <p:nvPr/>
        </p:nvSpPr>
        <p:spPr>
          <a:xfrm>
            <a:off x="632764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689457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746150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02843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859536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16228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72921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Shape 40"/>
          <p:cNvSpPr/>
          <p:nvPr/>
        </p:nvSpPr>
        <p:spPr>
          <a:xfrm>
            <a:off x="1029614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3" name="Shape 41"/>
          <p:cNvSpPr/>
          <p:nvPr/>
        </p:nvSpPr>
        <p:spPr>
          <a:xfrm>
            <a:off x="1086307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1143000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1199692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144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65836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122529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Shape 47"/>
          <p:cNvSpPr/>
          <p:nvPr/>
        </p:nvSpPr>
        <p:spPr>
          <a:xfrm>
            <a:off x="179222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48"/>
          <p:cNvSpPr/>
          <p:nvPr/>
        </p:nvSpPr>
        <p:spPr>
          <a:xfrm>
            <a:off x="235915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Shape 49"/>
          <p:cNvSpPr/>
          <p:nvPr/>
        </p:nvSpPr>
        <p:spPr>
          <a:xfrm>
            <a:off x="292608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50"/>
          <p:cNvSpPr/>
          <p:nvPr/>
        </p:nvSpPr>
        <p:spPr>
          <a:xfrm>
            <a:off x="349300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3" name="Shape 51"/>
          <p:cNvSpPr/>
          <p:nvPr/>
        </p:nvSpPr>
        <p:spPr>
          <a:xfrm>
            <a:off x="405993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462686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Shape 53"/>
          <p:cNvSpPr/>
          <p:nvPr/>
        </p:nvSpPr>
        <p:spPr>
          <a:xfrm>
            <a:off x="519379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54"/>
          <p:cNvSpPr/>
          <p:nvPr/>
        </p:nvSpPr>
        <p:spPr>
          <a:xfrm>
            <a:off x="576072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Shape 55"/>
          <p:cNvSpPr/>
          <p:nvPr/>
        </p:nvSpPr>
        <p:spPr>
          <a:xfrm>
            <a:off x="632764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689457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9" name="Shape 57"/>
          <p:cNvSpPr/>
          <p:nvPr/>
        </p:nvSpPr>
        <p:spPr>
          <a:xfrm>
            <a:off x="746150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58"/>
          <p:cNvSpPr/>
          <p:nvPr/>
        </p:nvSpPr>
        <p:spPr>
          <a:xfrm>
            <a:off x="802843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Shape 59"/>
          <p:cNvSpPr/>
          <p:nvPr/>
        </p:nvSpPr>
        <p:spPr>
          <a:xfrm>
            <a:off x="859536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Shape 60"/>
          <p:cNvSpPr/>
          <p:nvPr/>
        </p:nvSpPr>
        <p:spPr>
          <a:xfrm>
            <a:off x="916228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Shape 61"/>
          <p:cNvSpPr/>
          <p:nvPr/>
        </p:nvSpPr>
        <p:spPr>
          <a:xfrm>
            <a:off x="972921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4" name="Shape 62"/>
          <p:cNvSpPr/>
          <p:nvPr/>
        </p:nvSpPr>
        <p:spPr>
          <a:xfrm>
            <a:off x="1029614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Shape 63"/>
          <p:cNvSpPr/>
          <p:nvPr/>
        </p:nvSpPr>
        <p:spPr>
          <a:xfrm>
            <a:off x="1086307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6" name="Shape 64"/>
          <p:cNvSpPr/>
          <p:nvPr/>
        </p:nvSpPr>
        <p:spPr>
          <a:xfrm>
            <a:off x="1143000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Shape 65"/>
          <p:cNvSpPr/>
          <p:nvPr/>
        </p:nvSpPr>
        <p:spPr>
          <a:xfrm>
            <a:off x="1199692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66"/>
          <p:cNvSpPr/>
          <p:nvPr/>
        </p:nvSpPr>
        <p:spPr>
          <a:xfrm>
            <a:off x="9144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Shape 67"/>
          <p:cNvSpPr/>
          <p:nvPr/>
        </p:nvSpPr>
        <p:spPr>
          <a:xfrm>
            <a:off x="65836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68"/>
          <p:cNvSpPr/>
          <p:nvPr/>
        </p:nvSpPr>
        <p:spPr>
          <a:xfrm>
            <a:off x="122529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Shape 69"/>
          <p:cNvSpPr/>
          <p:nvPr/>
        </p:nvSpPr>
        <p:spPr>
          <a:xfrm>
            <a:off x="179222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70"/>
          <p:cNvSpPr/>
          <p:nvPr/>
        </p:nvSpPr>
        <p:spPr>
          <a:xfrm>
            <a:off x="235915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Shape 71"/>
          <p:cNvSpPr/>
          <p:nvPr/>
        </p:nvSpPr>
        <p:spPr>
          <a:xfrm>
            <a:off x="292608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72"/>
          <p:cNvSpPr/>
          <p:nvPr/>
        </p:nvSpPr>
        <p:spPr>
          <a:xfrm>
            <a:off x="349300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Shape 73"/>
          <p:cNvSpPr/>
          <p:nvPr/>
        </p:nvSpPr>
        <p:spPr>
          <a:xfrm>
            <a:off x="405993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74"/>
          <p:cNvSpPr/>
          <p:nvPr/>
        </p:nvSpPr>
        <p:spPr>
          <a:xfrm>
            <a:off x="462686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Shape 75"/>
          <p:cNvSpPr/>
          <p:nvPr/>
        </p:nvSpPr>
        <p:spPr>
          <a:xfrm>
            <a:off x="519379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76"/>
          <p:cNvSpPr/>
          <p:nvPr/>
        </p:nvSpPr>
        <p:spPr>
          <a:xfrm>
            <a:off x="576072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Shape 77"/>
          <p:cNvSpPr/>
          <p:nvPr/>
        </p:nvSpPr>
        <p:spPr>
          <a:xfrm>
            <a:off x="632764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Shape 78"/>
          <p:cNvSpPr/>
          <p:nvPr/>
        </p:nvSpPr>
        <p:spPr>
          <a:xfrm>
            <a:off x="689457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Shape 79"/>
          <p:cNvSpPr/>
          <p:nvPr/>
        </p:nvSpPr>
        <p:spPr>
          <a:xfrm>
            <a:off x="746150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2" name="Shape 80"/>
          <p:cNvSpPr/>
          <p:nvPr/>
        </p:nvSpPr>
        <p:spPr>
          <a:xfrm>
            <a:off x="802843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Shape 81"/>
          <p:cNvSpPr/>
          <p:nvPr/>
        </p:nvSpPr>
        <p:spPr>
          <a:xfrm>
            <a:off x="859536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4" name="Shape 82"/>
          <p:cNvSpPr/>
          <p:nvPr/>
        </p:nvSpPr>
        <p:spPr>
          <a:xfrm>
            <a:off x="916228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972921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84"/>
          <p:cNvSpPr/>
          <p:nvPr/>
        </p:nvSpPr>
        <p:spPr>
          <a:xfrm>
            <a:off x="1029614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7" name="Shape 85"/>
          <p:cNvSpPr/>
          <p:nvPr/>
        </p:nvSpPr>
        <p:spPr>
          <a:xfrm>
            <a:off x="1086307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86"/>
          <p:cNvSpPr/>
          <p:nvPr/>
        </p:nvSpPr>
        <p:spPr>
          <a:xfrm>
            <a:off x="1143000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1199692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88"/>
          <p:cNvSpPr/>
          <p:nvPr/>
        </p:nvSpPr>
        <p:spPr>
          <a:xfrm>
            <a:off x="9144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1" name="Shape 89"/>
          <p:cNvSpPr/>
          <p:nvPr/>
        </p:nvSpPr>
        <p:spPr>
          <a:xfrm>
            <a:off x="65836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90"/>
          <p:cNvSpPr/>
          <p:nvPr/>
        </p:nvSpPr>
        <p:spPr>
          <a:xfrm>
            <a:off x="122529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3" name="Shape 91"/>
          <p:cNvSpPr/>
          <p:nvPr/>
        </p:nvSpPr>
        <p:spPr>
          <a:xfrm>
            <a:off x="179222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92"/>
          <p:cNvSpPr/>
          <p:nvPr/>
        </p:nvSpPr>
        <p:spPr>
          <a:xfrm>
            <a:off x="235915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5" name="Shape 93"/>
          <p:cNvSpPr/>
          <p:nvPr/>
        </p:nvSpPr>
        <p:spPr>
          <a:xfrm>
            <a:off x="292608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94"/>
          <p:cNvSpPr/>
          <p:nvPr/>
        </p:nvSpPr>
        <p:spPr>
          <a:xfrm>
            <a:off x="349300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7" name="Shape 95"/>
          <p:cNvSpPr/>
          <p:nvPr/>
        </p:nvSpPr>
        <p:spPr>
          <a:xfrm>
            <a:off x="405993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Shape 96"/>
          <p:cNvSpPr/>
          <p:nvPr/>
        </p:nvSpPr>
        <p:spPr>
          <a:xfrm>
            <a:off x="462686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9" name="Shape 97"/>
          <p:cNvSpPr/>
          <p:nvPr/>
        </p:nvSpPr>
        <p:spPr>
          <a:xfrm>
            <a:off x="519379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0" name="Shape 98"/>
          <p:cNvSpPr/>
          <p:nvPr/>
        </p:nvSpPr>
        <p:spPr>
          <a:xfrm>
            <a:off x="576072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1" name="Shape 99"/>
          <p:cNvSpPr/>
          <p:nvPr/>
        </p:nvSpPr>
        <p:spPr>
          <a:xfrm>
            <a:off x="632764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2" name="Shape 100"/>
          <p:cNvSpPr/>
          <p:nvPr/>
        </p:nvSpPr>
        <p:spPr>
          <a:xfrm>
            <a:off x="689457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3" name="Shape 101"/>
          <p:cNvSpPr/>
          <p:nvPr/>
        </p:nvSpPr>
        <p:spPr>
          <a:xfrm>
            <a:off x="746150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102"/>
          <p:cNvSpPr/>
          <p:nvPr/>
        </p:nvSpPr>
        <p:spPr>
          <a:xfrm>
            <a:off x="802843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5" name="Shape 103"/>
          <p:cNvSpPr/>
          <p:nvPr/>
        </p:nvSpPr>
        <p:spPr>
          <a:xfrm>
            <a:off x="859536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104"/>
          <p:cNvSpPr/>
          <p:nvPr/>
        </p:nvSpPr>
        <p:spPr>
          <a:xfrm>
            <a:off x="916228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7" name="Shape 105"/>
          <p:cNvSpPr/>
          <p:nvPr/>
        </p:nvSpPr>
        <p:spPr>
          <a:xfrm>
            <a:off x="972921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106"/>
          <p:cNvSpPr/>
          <p:nvPr/>
        </p:nvSpPr>
        <p:spPr>
          <a:xfrm>
            <a:off x="1029614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9" name="Shape 107"/>
          <p:cNvSpPr/>
          <p:nvPr/>
        </p:nvSpPr>
        <p:spPr>
          <a:xfrm>
            <a:off x="1086307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108"/>
          <p:cNvSpPr/>
          <p:nvPr/>
        </p:nvSpPr>
        <p:spPr>
          <a:xfrm>
            <a:off x="1143000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1" name="Shape 109"/>
          <p:cNvSpPr/>
          <p:nvPr/>
        </p:nvSpPr>
        <p:spPr>
          <a:xfrm>
            <a:off x="1199692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110"/>
          <p:cNvSpPr/>
          <p:nvPr/>
        </p:nvSpPr>
        <p:spPr>
          <a:xfrm>
            <a:off x="9144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3" name="Shape 111"/>
          <p:cNvSpPr/>
          <p:nvPr/>
        </p:nvSpPr>
        <p:spPr>
          <a:xfrm>
            <a:off x="65836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112"/>
          <p:cNvSpPr/>
          <p:nvPr/>
        </p:nvSpPr>
        <p:spPr>
          <a:xfrm>
            <a:off x="122529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5" name="Shape 113"/>
          <p:cNvSpPr/>
          <p:nvPr/>
        </p:nvSpPr>
        <p:spPr>
          <a:xfrm>
            <a:off x="179222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Shape 114"/>
          <p:cNvSpPr/>
          <p:nvPr/>
        </p:nvSpPr>
        <p:spPr>
          <a:xfrm>
            <a:off x="235915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7" name="Shape 115"/>
          <p:cNvSpPr/>
          <p:nvPr/>
        </p:nvSpPr>
        <p:spPr>
          <a:xfrm>
            <a:off x="292608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8" name="Shape 116"/>
          <p:cNvSpPr/>
          <p:nvPr/>
        </p:nvSpPr>
        <p:spPr>
          <a:xfrm>
            <a:off x="349300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9" name="Shape 117"/>
          <p:cNvSpPr/>
          <p:nvPr/>
        </p:nvSpPr>
        <p:spPr>
          <a:xfrm>
            <a:off x="405993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0" name="Shape 118"/>
          <p:cNvSpPr/>
          <p:nvPr/>
        </p:nvSpPr>
        <p:spPr>
          <a:xfrm>
            <a:off x="462686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1" name="Shape 119"/>
          <p:cNvSpPr/>
          <p:nvPr/>
        </p:nvSpPr>
        <p:spPr>
          <a:xfrm>
            <a:off x="519379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2" name="Shape 120"/>
          <p:cNvSpPr/>
          <p:nvPr/>
        </p:nvSpPr>
        <p:spPr>
          <a:xfrm>
            <a:off x="576072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3" name="Shape 121"/>
          <p:cNvSpPr/>
          <p:nvPr/>
        </p:nvSpPr>
        <p:spPr>
          <a:xfrm>
            <a:off x="632764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4" name="Shape 122"/>
          <p:cNvSpPr/>
          <p:nvPr/>
        </p:nvSpPr>
        <p:spPr>
          <a:xfrm>
            <a:off x="689457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5" name="Shape 123"/>
          <p:cNvSpPr/>
          <p:nvPr/>
        </p:nvSpPr>
        <p:spPr>
          <a:xfrm>
            <a:off x="746150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6" name="Shape 124"/>
          <p:cNvSpPr/>
          <p:nvPr/>
        </p:nvSpPr>
        <p:spPr>
          <a:xfrm>
            <a:off x="802843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7" name="Shape 125"/>
          <p:cNvSpPr/>
          <p:nvPr/>
        </p:nvSpPr>
        <p:spPr>
          <a:xfrm>
            <a:off x="859536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8" name="Shape 126"/>
          <p:cNvSpPr/>
          <p:nvPr/>
        </p:nvSpPr>
        <p:spPr>
          <a:xfrm>
            <a:off x="916228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9" name="Shape 127"/>
          <p:cNvSpPr/>
          <p:nvPr/>
        </p:nvSpPr>
        <p:spPr>
          <a:xfrm>
            <a:off x="972921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0" name="Shape 128"/>
          <p:cNvSpPr/>
          <p:nvPr/>
        </p:nvSpPr>
        <p:spPr>
          <a:xfrm>
            <a:off x="1029614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1" name="Shape 129"/>
          <p:cNvSpPr/>
          <p:nvPr/>
        </p:nvSpPr>
        <p:spPr>
          <a:xfrm>
            <a:off x="1086307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2" name="Shape 130"/>
          <p:cNvSpPr/>
          <p:nvPr/>
        </p:nvSpPr>
        <p:spPr>
          <a:xfrm>
            <a:off x="1143000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3" name="Shape 131"/>
          <p:cNvSpPr/>
          <p:nvPr/>
        </p:nvSpPr>
        <p:spPr>
          <a:xfrm>
            <a:off x="1199692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4" name="Shape 132"/>
          <p:cNvSpPr/>
          <p:nvPr/>
        </p:nvSpPr>
        <p:spPr>
          <a:xfrm>
            <a:off x="9144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5" name="Shape 133"/>
          <p:cNvSpPr/>
          <p:nvPr/>
        </p:nvSpPr>
        <p:spPr>
          <a:xfrm>
            <a:off x="65836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6" name="Shape 134"/>
          <p:cNvSpPr/>
          <p:nvPr/>
        </p:nvSpPr>
        <p:spPr>
          <a:xfrm>
            <a:off x="122529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7" name="Shape 135"/>
          <p:cNvSpPr/>
          <p:nvPr/>
        </p:nvSpPr>
        <p:spPr>
          <a:xfrm>
            <a:off x="179222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8" name="Shape 136"/>
          <p:cNvSpPr/>
          <p:nvPr/>
        </p:nvSpPr>
        <p:spPr>
          <a:xfrm>
            <a:off x="235915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9" name="Shape 137"/>
          <p:cNvSpPr/>
          <p:nvPr/>
        </p:nvSpPr>
        <p:spPr>
          <a:xfrm>
            <a:off x="292608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0" name="Shape 138"/>
          <p:cNvSpPr/>
          <p:nvPr/>
        </p:nvSpPr>
        <p:spPr>
          <a:xfrm>
            <a:off x="349300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1" name="Shape 139"/>
          <p:cNvSpPr/>
          <p:nvPr/>
        </p:nvSpPr>
        <p:spPr>
          <a:xfrm>
            <a:off x="405993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2" name="Shape 140"/>
          <p:cNvSpPr/>
          <p:nvPr/>
        </p:nvSpPr>
        <p:spPr>
          <a:xfrm>
            <a:off x="462686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3" name="Shape 141"/>
          <p:cNvSpPr/>
          <p:nvPr/>
        </p:nvSpPr>
        <p:spPr>
          <a:xfrm>
            <a:off x="519379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4" name="Shape 142"/>
          <p:cNvSpPr/>
          <p:nvPr/>
        </p:nvSpPr>
        <p:spPr>
          <a:xfrm>
            <a:off x="576072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5" name="Shape 143"/>
          <p:cNvSpPr/>
          <p:nvPr/>
        </p:nvSpPr>
        <p:spPr>
          <a:xfrm>
            <a:off x="632764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6" name="Shape 144"/>
          <p:cNvSpPr/>
          <p:nvPr/>
        </p:nvSpPr>
        <p:spPr>
          <a:xfrm>
            <a:off x="689457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7" name="Shape 145"/>
          <p:cNvSpPr/>
          <p:nvPr/>
        </p:nvSpPr>
        <p:spPr>
          <a:xfrm>
            <a:off x="746150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8" name="Shape 146"/>
          <p:cNvSpPr/>
          <p:nvPr/>
        </p:nvSpPr>
        <p:spPr>
          <a:xfrm>
            <a:off x="802843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9" name="Shape 147"/>
          <p:cNvSpPr/>
          <p:nvPr/>
        </p:nvSpPr>
        <p:spPr>
          <a:xfrm>
            <a:off x="859536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0" name="Shape 148"/>
          <p:cNvSpPr/>
          <p:nvPr/>
        </p:nvSpPr>
        <p:spPr>
          <a:xfrm>
            <a:off x="916228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1" name="Shape 149"/>
          <p:cNvSpPr/>
          <p:nvPr/>
        </p:nvSpPr>
        <p:spPr>
          <a:xfrm>
            <a:off x="972921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2" name="Shape 150"/>
          <p:cNvSpPr/>
          <p:nvPr/>
        </p:nvSpPr>
        <p:spPr>
          <a:xfrm>
            <a:off x="1029614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3" name="Shape 151"/>
          <p:cNvSpPr/>
          <p:nvPr/>
        </p:nvSpPr>
        <p:spPr>
          <a:xfrm>
            <a:off x="1086307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4" name="Shape 152"/>
          <p:cNvSpPr/>
          <p:nvPr/>
        </p:nvSpPr>
        <p:spPr>
          <a:xfrm>
            <a:off x="1143000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5" name="Shape 153"/>
          <p:cNvSpPr/>
          <p:nvPr/>
        </p:nvSpPr>
        <p:spPr>
          <a:xfrm>
            <a:off x="1199692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6" name="Shape 154"/>
          <p:cNvSpPr/>
          <p:nvPr/>
        </p:nvSpPr>
        <p:spPr>
          <a:xfrm>
            <a:off x="9144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7" name="Shape 155"/>
          <p:cNvSpPr/>
          <p:nvPr/>
        </p:nvSpPr>
        <p:spPr>
          <a:xfrm>
            <a:off x="65836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8" name="Shape 156"/>
          <p:cNvSpPr/>
          <p:nvPr/>
        </p:nvSpPr>
        <p:spPr>
          <a:xfrm>
            <a:off x="122529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9" name="Shape 157"/>
          <p:cNvSpPr/>
          <p:nvPr/>
        </p:nvSpPr>
        <p:spPr>
          <a:xfrm>
            <a:off x="179222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0" name="Shape 158"/>
          <p:cNvSpPr/>
          <p:nvPr/>
        </p:nvSpPr>
        <p:spPr>
          <a:xfrm>
            <a:off x="235915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1" name="Shape 159"/>
          <p:cNvSpPr/>
          <p:nvPr/>
        </p:nvSpPr>
        <p:spPr>
          <a:xfrm>
            <a:off x="292608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2" name="Shape 160"/>
          <p:cNvSpPr/>
          <p:nvPr/>
        </p:nvSpPr>
        <p:spPr>
          <a:xfrm>
            <a:off x="349300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3" name="Shape 161"/>
          <p:cNvSpPr/>
          <p:nvPr/>
        </p:nvSpPr>
        <p:spPr>
          <a:xfrm>
            <a:off x="405993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4" name="Shape 162"/>
          <p:cNvSpPr/>
          <p:nvPr/>
        </p:nvSpPr>
        <p:spPr>
          <a:xfrm>
            <a:off x="462686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5" name="Shape 163"/>
          <p:cNvSpPr/>
          <p:nvPr/>
        </p:nvSpPr>
        <p:spPr>
          <a:xfrm>
            <a:off x="519379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6" name="Shape 164"/>
          <p:cNvSpPr/>
          <p:nvPr/>
        </p:nvSpPr>
        <p:spPr>
          <a:xfrm>
            <a:off x="576072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7" name="Shape 165"/>
          <p:cNvSpPr/>
          <p:nvPr/>
        </p:nvSpPr>
        <p:spPr>
          <a:xfrm>
            <a:off x="632764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8" name="Shape 166"/>
          <p:cNvSpPr/>
          <p:nvPr/>
        </p:nvSpPr>
        <p:spPr>
          <a:xfrm>
            <a:off x="689457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9" name="Shape 167"/>
          <p:cNvSpPr/>
          <p:nvPr/>
        </p:nvSpPr>
        <p:spPr>
          <a:xfrm>
            <a:off x="746150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0" name="Shape 168"/>
          <p:cNvSpPr/>
          <p:nvPr/>
        </p:nvSpPr>
        <p:spPr>
          <a:xfrm>
            <a:off x="802843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1" name="Shape 169"/>
          <p:cNvSpPr/>
          <p:nvPr/>
        </p:nvSpPr>
        <p:spPr>
          <a:xfrm>
            <a:off x="859536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2" name="Shape 170"/>
          <p:cNvSpPr/>
          <p:nvPr/>
        </p:nvSpPr>
        <p:spPr>
          <a:xfrm>
            <a:off x="916228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3" name="Shape 171"/>
          <p:cNvSpPr/>
          <p:nvPr/>
        </p:nvSpPr>
        <p:spPr>
          <a:xfrm>
            <a:off x="972921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4" name="Shape 172"/>
          <p:cNvSpPr/>
          <p:nvPr/>
        </p:nvSpPr>
        <p:spPr>
          <a:xfrm>
            <a:off x="1029614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5" name="Shape 173"/>
          <p:cNvSpPr/>
          <p:nvPr/>
        </p:nvSpPr>
        <p:spPr>
          <a:xfrm>
            <a:off x="1086307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6" name="Shape 174"/>
          <p:cNvSpPr/>
          <p:nvPr/>
        </p:nvSpPr>
        <p:spPr>
          <a:xfrm>
            <a:off x="1143000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7" name="Shape 175"/>
          <p:cNvSpPr/>
          <p:nvPr/>
        </p:nvSpPr>
        <p:spPr>
          <a:xfrm>
            <a:off x="1199692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8" name="Shape 176"/>
          <p:cNvSpPr/>
          <p:nvPr/>
        </p:nvSpPr>
        <p:spPr>
          <a:xfrm>
            <a:off x="9144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9" name="Shape 177"/>
          <p:cNvSpPr/>
          <p:nvPr/>
        </p:nvSpPr>
        <p:spPr>
          <a:xfrm>
            <a:off x="65836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0" name="Shape 178"/>
          <p:cNvSpPr/>
          <p:nvPr/>
        </p:nvSpPr>
        <p:spPr>
          <a:xfrm>
            <a:off x="122529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1" name="Shape 179"/>
          <p:cNvSpPr/>
          <p:nvPr/>
        </p:nvSpPr>
        <p:spPr>
          <a:xfrm>
            <a:off x="179222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2" name="Shape 180"/>
          <p:cNvSpPr/>
          <p:nvPr/>
        </p:nvSpPr>
        <p:spPr>
          <a:xfrm>
            <a:off x="235915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3" name="Shape 181"/>
          <p:cNvSpPr/>
          <p:nvPr/>
        </p:nvSpPr>
        <p:spPr>
          <a:xfrm>
            <a:off x="292608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4" name="Shape 182"/>
          <p:cNvSpPr/>
          <p:nvPr/>
        </p:nvSpPr>
        <p:spPr>
          <a:xfrm>
            <a:off x="349300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5" name="Shape 183"/>
          <p:cNvSpPr/>
          <p:nvPr/>
        </p:nvSpPr>
        <p:spPr>
          <a:xfrm>
            <a:off x="405993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6" name="Shape 184"/>
          <p:cNvSpPr/>
          <p:nvPr/>
        </p:nvSpPr>
        <p:spPr>
          <a:xfrm>
            <a:off x="462686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7" name="Shape 185"/>
          <p:cNvSpPr/>
          <p:nvPr/>
        </p:nvSpPr>
        <p:spPr>
          <a:xfrm>
            <a:off x="519379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8" name="Shape 186"/>
          <p:cNvSpPr/>
          <p:nvPr/>
        </p:nvSpPr>
        <p:spPr>
          <a:xfrm>
            <a:off x="576072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9" name="Shape 187"/>
          <p:cNvSpPr/>
          <p:nvPr/>
        </p:nvSpPr>
        <p:spPr>
          <a:xfrm>
            <a:off x="632764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0" name="Shape 188"/>
          <p:cNvSpPr/>
          <p:nvPr/>
        </p:nvSpPr>
        <p:spPr>
          <a:xfrm>
            <a:off x="689457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1" name="Shape 189"/>
          <p:cNvSpPr/>
          <p:nvPr/>
        </p:nvSpPr>
        <p:spPr>
          <a:xfrm>
            <a:off x="746150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2" name="Shape 190"/>
          <p:cNvSpPr/>
          <p:nvPr/>
        </p:nvSpPr>
        <p:spPr>
          <a:xfrm>
            <a:off x="802843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3" name="Shape 191"/>
          <p:cNvSpPr/>
          <p:nvPr/>
        </p:nvSpPr>
        <p:spPr>
          <a:xfrm>
            <a:off x="859536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4" name="Shape 192"/>
          <p:cNvSpPr/>
          <p:nvPr/>
        </p:nvSpPr>
        <p:spPr>
          <a:xfrm>
            <a:off x="916228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5" name="Shape 193"/>
          <p:cNvSpPr/>
          <p:nvPr/>
        </p:nvSpPr>
        <p:spPr>
          <a:xfrm>
            <a:off x="972921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6" name="Shape 194"/>
          <p:cNvSpPr/>
          <p:nvPr/>
        </p:nvSpPr>
        <p:spPr>
          <a:xfrm>
            <a:off x="1029614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7" name="Shape 195"/>
          <p:cNvSpPr/>
          <p:nvPr/>
        </p:nvSpPr>
        <p:spPr>
          <a:xfrm>
            <a:off x="1086307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8" name="Shape 196"/>
          <p:cNvSpPr/>
          <p:nvPr/>
        </p:nvSpPr>
        <p:spPr>
          <a:xfrm>
            <a:off x="1143000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9" name="Shape 197"/>
          <p:cNvSpPr/>
          <p:nvPr/>
        </p:nvSpPr>
        <p:spPr>
          <a:xfrm>
            <a:off x="1199692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0" name="Shape 198"/>
          <p:cNvSpPr/>
          <p:nvPr/>
        </p:nvSpPr>
        <p:spPr>
          <a:xfrm>
            <a:off x="9144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1" name="Shape 199"/>
          <p:cNvSpPr/>
          <p:nvPr/>
        </p:nvSpPr>
        <p:spPr>
          <a:xfrm>
            <a:off x="65836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2" name="Shape 200"/>
          <p:cNvSpPr/>
          <p:nvPr/>
        </p:nvSpPr>
        <p:spPr>
          <a:xfrm>
            <a:off x="122529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3" name="Shape 201"/>
          <p:cNvSpPr/>
          <p:nvPr/>
        </p:nvSpPr>
        <p:spPr>
          <a:xfrm>
            <a:off x="179222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4" name="Shape 202"/>
          <p:cNvSpPr/>
          <p:nvPr/>
        </p:nvSpPr>
        <p:spPr>
          <a:xfrm>
            <a:off x="235915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5" name="Shape 203"/>
          <p:cNvSpPr/>
          <p:nvPr/>
        </p:nvSpPr>
        <p:spPr>
          <a:xfrm>
            <a:off x="292608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6" name="Shape 204"/>
          <p:cNvSpPr/>
          <p:nvPr/>
        </p:nvSpPr>
        <p:spPr>
          <a:xfrm>
            <a:off x="349300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7" name="Shape 205"/>
          <p:cNvSpPr/>
          <p:nvPr/>
        </p:nvSpPr>
        <p:spPr>
          <a:xfrm>
            <a:off x="405993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8" name="Shape 206"/>
          <p:cNvSpPr/>
          <p:nvPr/>
        </p:nvSpPr>
        <p:spPr>
          <a:xfrm>
            <a:off x="462686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9" name="Shape 207"/>
          <p:cNvSpPr/>
          <p:nvPr/>
        </p:nvSpPr>
        <p:spPr>
          <a:xfrm>
            <a:off x="519379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0" name="Shape 208"/>
          <p:cNvSpPr/>
          <p:nvPr/>
        </p:nvSpPr>
        <p:spPr>
          <a:xfrm>
            <a:off x="576072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1" name="Shape 209"/>
          <p:cNvSpPr/>
          <p:nvPr/>
        </p:nvSpPr>
        <p:spPr>
          <a:xfrm>
            <a:off x="632764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2" name="Shape 210"/>
          <p:cNvSpPr/>
          <p:nvPr/>
        </p:nvSpPr>
        <p:spPr>
          <a:xfrm>
            <a:off x="689457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3" name="Shape 211"/>
          <p:cNvSpPr/>
          <p:nvPr/>
        </p:nvSpPr>
        <p:spPr>
          <a:xfrm>
            <a:off x="746150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4" name="Shape 212"/>
          <p:cNvSpPr/>
          <p:nvPr/>
        </p:nvSpPr>
        <p:spPr>
          <a:xfrm>
            <a:off x="802843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5" name="Shape 213"/>
          <p:cNvSpPr/>
          <p:nvPr/>
        </p:nvSpPr>
        <p:spPr>
          <a:xfrm>
            <a:off x="859536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6" name="Shape 214"/>
          <p:cNvSpPr/>
          <p:nvPr/>
        </p:nvSpPr>
        <p:spPr>
          <a:xfrm>
            <a:off x="916228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7" name="Shape 215"/>
          <p:cNvSpPr/>
          <p:nvPr/>
        </p:nvSpPr>
        <p:spPr>
          <a:xfrm>
            <a:off x="972921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8" name="Shape 216"/>
          <p:cNvSpPr/>
          <p:nvPr/>
        </p:nvSpPr>
        <p:spPr>
          <a:xfrm>
            <a:off x="1029614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9" name="Shape 217"/>
          <p:cNvSpPr/>
          <p:nvPr/>
        </p:nvSpPr>
        <p:spPr>
          <a:xfrm>
            <a:off x="1086307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0" name="Shape 218"/>
          <p:cNvSpPr/>
          <p:nvPr/>
        </p:nvSpPr>
        <p:spPr>
          <a:xfrm>
            <a:off x="1143000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1" name="Shape 219"/>
          <p:cNvSpPr/>
          <p:nvPr/>
        </p:nvSpPr>
        <p:spPr>
          <a:xfrm>
            <a:off x="1199692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2" name="Shape 220"/>
          <p:cNvSpPr/>
          <p:nvPr/>
        </p:nvSpPr>
        <p:spPr>
          <a:xfrm>
            <a:off x="9144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3" name="Shape 221"/>
          <p:cNvSpPr/>
          <p:nvPr/>
        </p:nvSpPr>
        <p:spPr>
          <a:xfrm>
            <a:off x="65836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4" name="Shape 222"/>
          <p:cNvSpPr/>
          <p:nvPr/>
        </p:nvSpPr>
        <p:spPr>
          <a:xfrm>
            <a:off x="122529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5" name="Shape 223"/>
          <p:cNvSpPr/>
          <p:nvPr/>
        </p:nvSpPr>
        <p:spPr>
          <a:xfrm>
            <a:off x="179222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6" name="Shape 224"/>
          <p:cNvSpPr/>
          <p:nvPr/>
        </p:nvSpPr>
        <p:spPr>
          <a:xfrm>
            <a:off x="235915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7" name="Shape 225"/>
          <p:cNvSpPr/>
          <p:nvPr/>
        </p:nvSpPr>
        <p:spPr>
          <a:xfrm>
            <a:off x="292608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8" name="Shape 226"/>
          <p:cNvSpPr/>
          <p:nvPr/>
        </p:nvSpPr>
        <p:spPr>
          <a:xfrm>
            <a:off x="349300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9" name="Shape 227"/>
          <p:cNvSpPr/>
          <p:nvPr/>
        </p:nvSpPr>
        <p:spPr>
          <a:xfrm>
            <a:off x="405993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0" name="Shape 228"/>
          <p:cNvSpPr/>
          <p:nvPr/>
        </p:nvSpPr>
        <p:spPr>
          <a:xfrm>
            <a:off x="462686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1" name="Shape 229"/>
          <p:cNvSpPr/>
          <p:nvPr/>
        </p:nvSpPr>
        <p:spPr>
          <a:xfrm>
            <a:off x="519379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2" name="Shape 230"/>
          <p:cNvSpPr/>
          <p:nvPr/>
        </p:nvSpPr>
        <p:spPr>
          <a:xfrm>
            <a:off x="576072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3" name="Shape 231"/>
          <p:cNvSpPr/>
          <p:nvPr/>
        </p:nvSpPr>
        <p:spPr>
          <a:xfrm>
            <a:off x="632764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4" name="Shape 232"/>
          <p:cNvSpPr/>
          <p:nvPr/>
        </p:nvSpPr>
        <p:spPr>
          <a:xfrm>
            <a:off x="689457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5" name="Shape 233"/>
          <p:cNvSpPr/>
          <p:nvPr/>
        </p:nvSpPr>
        <p:spPr>
          <a:xfrm>
            <a:off x="746150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6" name="Shape 234"/>
          <p:cNvSpPr/>
          <p:nvPr/>
        </p:nvSpPr>
        <p:spPr>
          <a:xfrm>
            <a:off x="802843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7" name="Shape 235"/>
          <p:cNvSpPr/>
          <p:nvPr/>
        </p:nvSpPr>
        <p:spPr>
          <a:xfrm>
            <a:off x="859536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8" name="Shape 236"/>
          <p:cNvSpPr/>
          <p:nvPr/>
        </p:nvSpPr>
        <p:spPr>
          <a:xfrm>
            <a:off x="916228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9" name="Shape 237"/>
          <p:cNvSpPr/>
          <p:nvPr/>
        </p:nvSpPr>
        <p:spPr>
          <a:xfrm>
            <a:off x="972921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0" name="Shape 238"/>
          <p:cNvSpPr/>
          <p:nvPr/>
        </p:nvSpPr>
        <p:spPr>
          <a:xfrm>
            <a:off x="1029614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1" name="Shape 239"/>
          <p:cNvSpPr/>
          <p:nvPr/>
        </p:nvSpPr>
        <p:spPr>
          <a:xfrm>
            <a:off x="1086307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2" name="Shape 240"/>
          <p:cNvSpPr/>
          <p:nvPr/>
        </p:nvSpPr>
        <p:spPr>
          <a:xfrm>
            <a:off x="1143000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3" name="Shape 241"/>
          <p:cNvSpPr/>
          <p:nvPr/>
        </p:nvSpPr>
        <p:spPr>
          <a:xfrm>
            <a:off x="1199692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4" name="Shape 242"/>
          <p:cNvSpPr/>
          <p:nvPr/>
        </p:nvSpPr>
        <p:spPr>
          <a:xfrm>
            <a:off x="9144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5" name="Shape 243"/>
          <p:cNvSpPr/>
          <p:nvPr/>
        </p:nvSpPr>
        <p:spPr>
          <a:xfrm>
            <a:off x="65836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6" name="Shape 244"/>
          <p:cNvSpPr/>
          <p:nvPr/>
        </p:nvSpPr>
        <p:spPr>
          <a:xfrm>
            <a:off x="122529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7" name="Shape 245"/>
          <p:cNvSpPr/>
          <p:nvPr/>
        </p:nvSpPr>
        <p:spPr>
          <a:xfrm>
            <a:off x="179222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8" name="Shape 246"/>
          <p:cNvSpPr/>
          <p:nvPr/>
        </p:nvSpPr>
        <p:spPr>
          <a:xfrm>
            <a:off x="235915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9" name="Shape 247"/>
          <p:cNvSpPr/>
          <p:nvPr/>
        </p:nvSpPr>
        <p:spPr>
          <a:xfrm>
            <a:off x="292608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0" name="Shape 248"/>
          <p:cNvSpPr/>
          <p:nvPr/>
        </p:nvSpPr>
        <p:spPr>
          <a:xfrm>
            <a:off x="349300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1" name="Shape 249"/>
          <p:cNvSpPr/>
          <p:nvPr/>
        </p:nvSpPr>
        <p:spPr>
          <a:xfrm>
            <a:off x="405993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2" name="Shape 250"/>
          <p:cNvSpPr/>
          <p:nvPr/>
        </p:nvSpPr>
        <p:spPr>
          <a:xfrm>
            <a:off x="462686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3" name="Shape 251"/>
          <p:cNvSpPr/>
          <p:nvPr/>
        </p:nvSpPr>
        <p:spPr>
          <a:xfrm>
            <a:off x="519379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4" name="Shape 252"/>
          <p:cNvSpPr/>
          <p:nvPr/>
        </p:nvSpPr>
        <p:spPr>
          <a:xfrm>
            <a:off x="576072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5" name="Shape 253"/>
          <p:cNvSpPr/>
          <p:nvPr/>
        </p:nvSpPr>
        <p:spPr>
          <a:xfrm>
            <a:off x="632764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6" name="Shape 254"/>
          <p:cNvSpPr/>
          <p:nvPr/>
        </p:nvSpPr>
        <p:spPr>
          <a:xfrm>
            <a:off x="689457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7" name="Shape 255"/>
          <p:cNvSpPr/>
          <p:nvPr/>
        </p:nvSpPr>
        <p:spPr>
          <a:xfrm>
            <a:off x="746150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8" name="Shape 256"/>
          <p:cNvSpPr/>
          <p:nvPr/>
        </p:nvSpPr>
        <p:spPr>
          <a:xfrm>
            <a:off x="802843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9" name="Shape 257"/>
          <p:cNvSpPr/>
          <p:nvPr/>
        </p:nvSpPr>
        <p:spPr>
          <a:xfrm>
            <a:off x="859536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0" name="Shape 258"/>
          <p:cNvSpPr/>
          <p:nvPr/>
        </p:nvSpPr>
        <p:spPr>
          <a:xfrm>
            <a:off x="916228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1" name="Shape 259"/>
          <p:cNvSpPr/>
          <p:nvPr/>
        </p:nvSpPr>
        <p:spPr>
          <a:xfrm>
            <a:off x="972921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2" name="Shape 260"/>
          <p:cNvSpPr/>
          <p:nvPr/>
        </p:nvSpPr>
        <p:spPr>
          <a:xfrm>
            <a:off x="1029614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3" name="Shape 261"/>
          <p:cNvSpPr/>
          <p:nvPr/>
        </p:nvSpPr>
        <p:spPr>
          <a:xfrm>
            <a:off x="1086307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4" name="Shape 262"/>
          <p:cNvSpPr/>
          <p:nvPr/>
        </p:nvSpPr>
        <p:spPr>
          <a:xfrm>
            <a:off x="1143000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5" name="Shape 263"/>
          <p:cNvSpPr/>
          <p:nvPr/>
        </p:nvSpPr>
        <p:spPr>
          <a:xfrm>
            <a:off x="1199692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6" name="Shape 26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7" name="Shape 26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8" name="Shape 266"/>
          <p:cNvSpPr/>
          <p:nvPr/>
        </p:nvSpPr>
        <p:spPr>
          <a:xfrm>
            <a:off x="0" y="73152"/>
            <a:ext cx="91440" cy="671169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9" name="Shape 267"/>
          <p:cNvSpPr/>
          <p:nvPr/>
        </p:nvSpPr>
        <p:spPr>
          <a:xfrm>
            <a:off x="91440" y="73152"/>
            <a:ext cx="7680960" cy="6711696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0" name="Text 268"/>
          <p:cNvSpPr txBox="1"/>
          <p:nvPr/>
        </p:nvSpPr>
        <p:spPr>
          <a:xfrm>
            <a:off x="457200" y="5029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*  FROM</a:t>
            </a:r>
            <a:endParaRPr lang="en-US" sz="4800" dirty="0"/>
          </a:p>
        </p:txBody>
      </p:sp>
      <p:sp>
        <p:nvSpPr>
          <p:cNvPr id="271" name="Text 269"/>
          <p:cNvSpPr txBox="1"/>
          <p:nvPr/>
        </p:nvSpPr>
        <p:spPr>
          <a:xfrm>
            <a:off x="457200" y="5650992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databases;</a:t>
            </a:r>
            <a:endParaRPr lang="en-US" sz="4800" dirty="0"/>
          </a:p>
        </p:txBody>
      </p:sp>
      <p:sp>
        <p:nvSpPr>
          <p:cNvPr id="272" name="Shape 270"/>
          <p:cNvSpPr/>
          <p:nvPr/>
        </p:nvSpPr>
        <p:spPr>
          <a:xfrm>
            <a:off x="7955280" y="746150"/>
            <a:ext cx="2377440" cy="3185770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3" name="Shape 271"/>
          <p:cNvSpPr/>
          <p:nvPr/>
        </p:nvSpPr>
        <p:spPr>
          <a:xfrm>
            <a:off x="7955280" y="365760"/>
            <a:ext cx="2377440" cy="760781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4" name="Shape 272"/>
          <p:cNvSpPr/>
          <p:nvPr/>
        </p:nvSpPr>
        <p:spPr>
          <a:xfrm>
            <a:off x="7955280" y="3551530"/>
            <a:ext cx="2377440" cy="760781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5" name="Shape 273"/>
          <p:cNvSpPr/>
          <p:nvPr/>
        </p:nvSpPr>
        <p:spPr>
          <a:xfrm>
            <a:off x="7991856" y="146699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6" name="Shape 274"/>
          <p:cNvSpPr/>
          <p:nvPr/>
        </p:nvSpPr>
        <p:spPr>
          <a:xfrm>
            <a:off x="7991856" y="2231575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7" name="Shape 275"/>
          <p:cNvSpPr/>
          <p:nvPr/>
        </p:nvSpPr>
        <p:spPr>
          <a:xfrm>
            <a:off x="7991856" y="299616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8" name="Shape 276"/>
          <p:cNvSpPr/>
          <p:nvPr/>
        </p:nvSpPr>
        <p:spPr>
          <a:xfrm>
            <a:off x="10378440" y="1192378"/>
            <a:ext cx="1737360" cy="2328062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9" name="Shape 277"/>
          <p:cNvSpPr/>
          <p:nvPr/>
        </p:nvSpPr>
        <p:spPr>
          <a:xfrm>
            <a:off x="10378440" y="914400"/>
            <a:ext cx="1737360" cy="555955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0" name="Shape 278"/>
          <p:cNvSpPr/>
          <p:nvPr/>
        </p:nvSpPr>
        <p:spPr>
          <a:xfrm>
            <a:off x="10378440" y="3242462"/>
            <a:ext cx="1737360" cy="555955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1" name="Shape 279"/>
          <p:cNvSpPr/>
          <p:nvPr/>
        </p:nvSpPr>
        <p:spPr>
          <a:xfrm>
            <a:off x="10415016" y="171914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2" name="Shape 280"/>
          <p:cNvSpPr/>
          <p:nvPr/>
        </p:nvSpPr>
        <p:spPr>
          <a:xfrm>
            <a:off x="10415016" y="2277880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3" name="Shape 281"/>
          <p:cNvSpPr/>
          <p:nvPr/>
        </p:nvSpPr>
        <p:spPr>
          <a:xfrm>
            <a:off x="10415016" y="283661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4" name="Shape 282"/>
          <p:cNvSpPr/>
          <p:nvPr/>
        </p:nvSpPr>
        <p:spPr>
          <a:xfrm>
            <a:off x="8961120" y="3160166"/>
            <a:ext cx="1463040" cy="1960474"/>
          </a:xfrm>
          <a:prstGeom prst="rect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5" name="Shape 283"/>
          <p:cNvSpPr/>
          <p:nvPr/>
        </p:nvSpPr>
        <p:spPr>
          <a:xfrm>
            <a:off x="8961120" y="2926080"/>
            <a:ext cx="1463040" cy="468173"/>
          </a:xfrm>
          <a:prstGeom prst="ellipse">
            <a:avLst/>
          </a:prstGeom>
          <a:solidFill>
            <a:srgbClr val="0A1E30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6" name="Shape 284"/>
          <p:cNvSpPr/>
          <p:nvPr/>
        </p:nvSpPr>
        <p:spPr>
          <a:xfrm>
            <a:off x="8961120" y="4886554"/>
            <a:ext cx="1463040" cy="468173"/>
          </a:xfrm>
          <a:prstGeom prst="ellipse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7" name="Shape 285"/>
          <p:cNvSpPr/>
          <p:nvPr/>
        </p:nvSpPr>
        <p:spPr>
          <a:xfrm>
            <a:off x="8997696" y="3603760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8" name="Shape 286"/>
          <p:cNvSpPr/>
          <p:nvPr/>
        </p:nvSpPr>
        <p:spPr>
          <a:xfrm>
            <a:off x="8997696" y="4074274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9" name="Shape 287"/>
          <p:cNvSpPr/>
          <p:nvPr/>
        </p:nvSpPr>
        <p:spPr>
          <a:xfrm>
            <a:off x="8997696" y="4544787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0" name="Shape 288"/>
          <p:cNvSpPr/>
          <p:nvPr/>
        </p:nvSpPr>
        <p:spPr>
          <a:xfrm>
            <a:off x="10515600" y="3727094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1" name="Shape 289"/>
          <p:cNvSpPr/>
          <p:nvPr/>
        </p:nvSpPr>
        <p:spPr>
          <a:xfrm>
            <a:off x="10515600" y="3566160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2" name="Shape 290"/>
          <p:cNvSpPr/>
          <p:nvPr/>
        </p:nvSpPr>
        <p:spPr>
          <a:xfrm>
            <a:off x="10515600" y="4913986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3" name="Shape 291"/>
          <p:cNvSpPr/>
          <p:nvPr/>
        </p:nvSpPr>
        <p:spPr>
          <a:xfrm>
            <a:off x="10552176" y="4032065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4" name="Shape 292"/>
          <p:cNvSpPr/>
          <p:nvPr/>
        </p:nvSpPr>
        <p:spPr>
          <a:xfrm>
            <a:off x="10552176" y="435554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5" name="Shape 293"/>
          <p:cNvSpPr/>
          <p:nvPr/>
        </p:nvSpPr>
        <p:spPr>
          <a:xfrm>
            <a:off x="10552176" y="467902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6" name="Text 294"/>
          <p:cNvSpPr txBox="1"/>
          <p:nvPr/>
        </p:nvSpPr>
        <p:spPr>
          <a:xfrm>
            <a:off x="457200" y="14173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kern="0" spc="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</a:t>
            </a:r>
            <a:endParaRPr lang="en-US" sz="1800" dirty="0"/>
          </a:p>
        </p:txBody>
      </p:sp>
      <p:sp>
        <p:nvSpPr>
          <p:cNvPr id="297" name="Text 295"/>
          <p:cNvSpPr txBox="1"/>
          <p:nvPr/>
        </p:nvSpPr>
        <p:spPr>
          <a:xfrm>
            <a:off x="365760" y="1755648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0" dirty="0"/>
          </a:p>
        </p:txBody>
      </p:sp>
      <p:sp>
        <p:nvSpPr>
          <p:cNvPr id="298" name="Shape 296"/>
          <p:cNvSpPr/>
          <p:nvPr/>
        </p:nvSpPr>
        <p:spPr>
          <a:xfrm>
            <a:off x="457200" y="3529584"/>
            <a:ext cx="475488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9" name="Text 297"/>
          <p:cNvSpPr txBox="1"/>
          <p:nvPr/>
        </p:nvSpPr>
        <p:spPr>
          <a:xfrm>
            <a:off x="457200" y="3675888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Data Analytics/Science</a:t>
            </a:r>
            <a:endParaRPr lang="en-US" sz="2400" dirty="0"/>
          </a:p>
        </p:txBody>
      </p:sp>
      <p:sp>
        <p:nvSpPr>
          <p:cNvPr id="300" name="Shape 298"/>
          <p:cNvSpPr/>
          <p:nvPr/>
        </p:nvSpPr>
        <p:spPr>
          <a:xfrm>
            <a:off x="457200" y="4279392"/>
            <a:ext cx="3840480" cy="402336"/>
          </a:xfrm>
          <a:prstGeom prst="rect">
            <a:avLst/>
          </a:prstGeom>
          <a:solidFill>
            <a:srgbClr val="0F2235"/>
          </a:solidFill>
          <a:ln w="762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1" name="Text 299"/>
          <p:cNvSpPr txBox="1"/>
          <p:nvPr/>
        </p:nvSpPr>
        <p:spPr>
          <a:xfrm>
            <a:off x="594360" y="43525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Introductory Seminar for Statistics Students</a:t>
            </a:r>
            <a:endParaRPr lang="en-US" sz="1200" dirty="0"/>
          </a:p>
        </p:txBody>
      </p:sp>
      <p:sp>
        <p:nvSpPr>
          <p:cNvPr id="404" name="t404"/>
          <p:cNvSpPr txBox="1"/>
          <p:nvPr/>
        </p:nvSpPr>
        <p:spPr>
          <a:xfrm rot="-900000">
            <a:off x="822960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5" name="t405"/>
          <p:cNvSpPr txBox="1"/>
          <p:nvPr/>
        </p:nvSpPr>
        <p:spPr>
          <a:xfrm rot="-900000">
            <a:off x="905256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6" name="t406"/>
          <p:cNvSpPr txBox="1"/>
          <p:nvPr/>
        </p:nvSpPr>
        <p:spPr>
          <a:xfrm rot="-900000">
            <a:off x="987552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7" name="t407"/>
          <p:cNvSpPr txBox="1"/>
          <p:nvPr/>
        </p:nvSpPr>
        <p:spPr>
          <a:xfrm rot="-900000">
            <a:off x="1069848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8" name="t408"/>
          <p:cNvSpPr txBox="1"/>
          <p:nvPr/>
        </p:nvSpPr>
        <p:spPr>
          <a:xfrm rot="-900000">
            <a:off x="1152144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9" name="t409"/>
          <p:cNvSpPr txBox="1"/>
          <p:nvPr/>
        </p:nvSpPr>
        <p:spPr>
          <a:xfrm rot="-900000">
            <a:off x="864108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0" name="t410"/>
          <p:cNvSpPr txBox="1"/>
          <p:nvPr/>
        </p:nvSpPr>
        <p:spPr>
          <a:xfrm rot="-900000">
            <a:off x="946404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1" name="t411"/>
          <p:cNvSpPr txBox="1"/>
          <p:nvPr/>
        </p:nvSpPr>
        <p:spPr>
          <a:xfrm rot="-900000">
            <a:off x="1028700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2" name="t412"/>
          <p:cNvSpPr txBox="1"/>
          <p:nvPr/>
        </p:nvSpPr>
        <p:spPr>
          <a:xfrm rot="-900000">
            <a:off x="1110996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3" name="t413"/>
          <p:cNvSpPr txBox="1"/>
          <p:nvPr/>
        </p:nvSpPr>
        <p:spPr>
          <a:xfrm rot="-900000">
            <a:off x="1193292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4" name="t414"/>
          <p:cNvSpPr txBox="1"/>
          <p:nvPr/>
        </p:nvSpPr>
        <p:spPr>
          <a:xfrm rot="-900000">
            <a:off x="822960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5" name="t415"/>
          <p:cNvSpPr txBox="1"/>
          <p:nvPr/>
        </p:nvSpPr>
        <p:spPr>
          <a:xfrm rot="-900000">
            <a:off x="905256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6" name="t416"/>
          <p:cNvSpPr txBox="1"/>
          <p:nvPr/>
        </p:nvSpPr>
        <p:spPr>
          <a:xfrm rot="-900000">
            <a:off x="987552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7" name="t417"/>
          <p:cNvSpPr txBox="1"/>
          <p:nvPr/>
        </p:nvSpPr>
        <p:spPr>
          <a:xfrm rot="-900000">
            <a:off x="1069848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8" name="t418"/>
          <p:cNvSpPr txBox="1"/>
          <p:nvPr/>
        </p:nvSpPr>
        <p:spPr>
          <a:xfrm rot="-900000">
            <a:off x="1152144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9" name="t419"/>
          <p:cNvSpPr txBox="1"/>
          <p:nvPr/>
        </p:nvSpPr>
        <p:spPr>
          <a:xfrm rot="-900000">
            <a:off x="864108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0" name="t420"/>
          <p:cNvSpPr txBox="1"/>
          <p:nvPr/>
        </p:nvSpPr>
        <p:spPr>
          <a:xfrm rot="-900000">
            <a:off x="946404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1" name="t421"/>
          <p:cNvSpPr txBox="1"/>
          <p:nvPr/>
        </p:nvSpPr>
        <p:spPr>
          <a:xfrm rot="-900000">
            <a:off x="1028700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2" name="t422"/>
          <p:cNvSpPr txBox="1"/>
          <p:nvPr/>
        </p:nvSpPr>
        <p:spPr>
          <a:xfrm rot="-900000">
            <a:off x="1110996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3" name="t423"/>
          <p:cNvSpPr txBox="1"/>
          <p:nvPr/>
        </p:nvSpPr>
        <p:spPr>
          <a:xfrm rot="-900000">
            <a:off x="1193292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4" name="t424"/>
          <p:cNvSpPr txBox="1"/>
          <p:nvPr/>
        </p:nvSpPr>
        <p:spPr>
          <a:xfrm rot="-900000">
            <a:off x="822960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5" name="t425"/>
          <p:cNvSpPr txBox="1"/>
          <p:nvPr/>
        </p:nvSpPr>
        <p:spPr>
          <a:xfrm rot="-900000">
            <a:off x="905256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6" name="t426"/>
          <p:cNvSpPr txBox="1"/>
          <p:nvPr/>
        </p:nvSpPr>
        <p:spPr>
          <a:xfrm rot="-900000">
            <a:off x="987552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7" name="t427"/>
          <p:cNvSpPr txBox="1"/>
          <p:nvPr/>
        </p:nvSpPr>
        <p:spPr>
          <a:xfrm rot="-900000">
            <a:off x="1069848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8" name="t428"/>
          <p:cNvSpPr txBox="1"/>
          <p:nvPr/>
        </p:nvSpPr>
        <p:spPr>
          <a:xfrm rot="-900000">
            <a:off x="1152144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9" name="t429"/>
          <p:cNvSpPr txBox="1"/>
          <p:nvPr/>
        </p:nvSpPr>
        <p:spPr>
          <a:xfrm rot="-900000">
            <a:off x="864108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0" name="t430"/>
          <p:cNvSpPr txBox="1"/>
          <p:nvPr/>
        </p:nvSpPr>
        <p:spPr>
          <a:xfrm rot="-900000">
            <a:off x="946404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1" name="t431"/>
          <p:cNvSpPr txBox="1"/>
          <p:nvPr/>
        </p:nvSpPr>
        <p:spPr>
          <a:xfrm rot="-900000">
            <a:off x="1028700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2" name="t432"/>
          <p:cNvSpPr txBox="1"/>
          <p:nvPr/>
        </p:nvSpPr>
        <p:spPr>
          <a:xfrm rot="-900000">
            <a:off x="1110996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3" name="t433"/>
          <p:cNvSpPr txBox="1"/>
          <p:nvPr/>
        </p:nvSpPr>
        <p:spPr>
          <a:xfrm rot="-900000">
            <a:off x="1193292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4" name="t434"/>
          <p:cNvSpPr txBox="1"/>
          <p:nvPr/>
        </p:nvSpPr>
        <p:spPr>
          <a:xfrm rot="-900000">
            <a:off x="822960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5" name="t435"/>
          <p:cNvSpPr txBox="1"/>
          <p:nvPr/>
        </p:nvSpPr>
        <p:spPr>
          <a:xfrm rot="-900000">
            <a:off x="905256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6" name="t436"/>
          <p:cNvSpPr txBox="1"/>
          <p:nvPr/>
        </p:nvSpPr>
        <p:spPr>
          <a:xfrm rot="-900000">
            <a:off x="987552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7" name="t437"/>
          <p:cNvSpPr txBox="1"/>
          <p:nvPr/>
        </p:nvSpPr>
        <p:spPr>
          <a:xfrm rot="-900000">
            <a:off x="1069848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8" name="t438"/>
          <p:cNvSpPr txBox="1"/>
          <p:nvPr/>
        </p:nvSpPr>
        <p:spPr>
          <a:xfrm rot="-900000">
            <a:off x="1152144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9" name="t439"/>
          <p:cNvSpPr txBox="1"/>
          <p:nvPr/>
        </p:nvSpPr>
        <p:spPr>
          <a:xfrm rot="-900000">
            <a:off x="864108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0" name="t440"/>
          <p:cNvSpPr txBox="1"/>
          <p:nvPr/>
        </p:nvSpPr>
        <p:spPr>
          <a:xfrm rot="-900000">
            <a:off x="946404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1" name="t441"/>
          <p:cNvSpPr txBox="1"/>
          <p:nvPr/>
        </p:nvSpPr>
        <p:spPr>
          <a:xfrm rot="-900000">
            <a:off x="1028700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2" name="t442"/>
          <p:cNvSpPr txBox="1"/>
          <p:nvPr/>
        </p:nvSpPr>
        <p:spPr>
          <a:xfrm rot="-900000">
            <a:off x="1110996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3" name="t443"/>
          <p:cNvSpPr txBox="1"/>
          <p:nvPr/>
        </p:nvSpPr>
        <p:spPr>
          <a:xfrm rot="-900000">
            <a:off x="1193292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4" name="t444"/>
          <p:cNvSpPr txBox="1"/>
          <p:nvPr/>
        </p:nvSpPr>
        <p:spPr>
          <a:xfrm rot="-900000">
            <a:off x="822960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5" name="t445"/>
          <p:cNvSpPr txBox="1"/>
          <p:nvPr/>
        </p:nvSpPr>
        <p:spPr>
          <a:xfrm rot="-900000">
            <a:off x="905256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6" name="t446"/>
          <p:cNvSpPr txBox="1"/>
          <p:nvPr/>
        </p:nvSpPr>
        <p:spPr>
          <a:xfrm rot="-900000">
            <a:off x="987552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7" name="t447"/>
          <p:cNvSpPr txBox="1"/>
          <p:nvPr/>
        </p:nvSpPr>
        <p:spPr>
          <a:xfrm rot="-900000">
            <a:off x="1069848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8" name="t448"/>
          <p:cNvSpPr txBox="1"/>
          <p:nvPr/>
        </p:nvSpPr>
        <p:spPr>
          <a:xfrm rot="-900000">
            <a:off x="1152144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9" name="t449"/>
          <p:cNvSpPr txBox="1"/>
          <p:nvPr/>
        </p:nvSpPr>
        <p:spPr>
          <a:xfrm rot="-900000">
            <a:off x="864108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0" name="t450"/>
          <p:cNvSpPr txBox="1"/>
          <p:nvPr/>
        </p:nvSpPr>
        <p:spPr>
          <a:xfrm rot="-900000">
            <a:off x="946404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1" name="t451"/>
          <p:cNvSpPr txBox="1"/>
          <p:nvPr/>
        </p:nvSpPr>
        <p:spPr>
          <a:xfrm rot="-900000">
            <a:off x="1028700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2" name="t452"/>
          <p:cNvSpPr txBox="1"/>
          <p:nvPr/>
        </p:nvSpPr>
        <p:spPr>
          <a:xfrm rot="-900000">
            <a:off x="1110996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3" name="t453"/>
          <p:cNvSpPr txBox="1"/>
          <p:nvPr/>
        </p:nvSpPr>
        <p:spPr>
          <a:xfrm rot="-900000">
            <a:off x="1193292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4" name="r454"/>
          <p:cNvSpPr/>
          <p:nvPr/>
        </p:nvSpPr>
        <p:spPr>
          <a:xfrm>
            <a:off x="502920" y="5577840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5" name="t455"/>
          <p:cNvSpPr txBox="1"/>
          <p:nvPr/>
        </p:nvSpPr>
        <p:spPr>
          <a:xfrm>
            <a:off x="576072" y="5614416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SELECT</a:t>
            </a:r>
          </a:p>
        </p:txBody>
      </p:sp>
      <p:sp>
        <p:nvSpPr>
          <p:cNvPr id="456" name="r456"/>
          <p:cNvSpPr/>
          <p:nvPr/>
        </p:nvSpPr>
        <p:spPr>
          <a:xfrm>
            <a:off x="1481328" y="5577840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7" name="t457"/>
          <p:cNvSpPr txBox="1"/>
          <p:nvPr/>
        </p:nvSpPr>
        <p:spPr>
          <a:xfrm>
            <a:off x="1554480" y="5614416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WHERE</a:t>
            </a:r>
          </a:p>
        </p:txBody>
      </p:sp>
      <p:sp>
        <p:nvSpPr>
          <p:cNvPr id="458" name="r458"/>
          <p:cNvSpPr/>
          <p:nvPr/>
        </p:nvSpPr>
        <p:spPr>
          <a:xfrm>
            <a:off x="2340864" y="5577840"/>
            <a:ext cx="537667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9" name="t459"/>
          <p:cNvSpPr txBox="1"/>
          <p:nvPr/>
        </p:nvSpPr>
        <p:spPr>
          <a:xfrm>
            <a:off x="2414016" y="5614416"/>
            <a:ext cx="446227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JOIN</a:t>
            </a:r>
          </a:p>
        </p:txBody>
      </p:sp>
      <p:sp>
        <p:nvSpPr>
          <p:cNvPr id="460" name="r460"/>
          <p:cNvSpPr/>
          <p:nvPr/>
        </p:nvSpPr>
        <p:spPr>
          <a:xfrm>
            <a:off x="3054096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1" name="t461"/>
          <p:cNvSpPr txBox="1"/>
          <p:nvPr/>
        </p:nvSpPr>
        <p:spPr>
          <a:xfrm>
            <a:off x="3127248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GROUP BY</a:t>
            </a:r>
          </a:p>
        </p:txBody>
      </p:sp>
      <p:sp>
        <p:nvSpPr>
          <p:cNvPr id="462" name="r462"/>
          <p:cNvSpPr/>
          <p:nvPr/>
        </p:nvSpPr>
        <p:spPr>
          <a:xfrm>
            <a:off x="4187952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3" name="t463"/>
          <p:cNvSpPr txBox="1"/>
          <p:nvPr/>
        </p:nvSpPr>
        <p:spPr>
          <a:xfrm>
            <a:off x="4261104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ORDER BY</a:t>
            </a:r>
          </a:p>
        </p:txBody>
      </p:sp>
      <p:sp>
        <p:nvSpPr>
          <p:cNvPr id="464" name="r464"/>
          <p:cNvSpPr/>
          <p:nvPr/>
        </p:nvSpPr>
        <p:spPr>
          <a:xfrm>
            <a:off x="502920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5" name="t465"/>
          <p:cNvSpPr txBox="1"/>
          <p:nvPr/>
        </p:nvSpPr>
        <p:spPr>
          <a:xfrm>
            <a:off x="576072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AVG()</a:t>
            </a:r>
          </a:p>
        </p:txBody>
      </p:sp>
      <p:sp>
        <p:nvSpPr>
          <p:cNvPr id="466" name="r466"/>
          <p:cNvSpPr/>
          <p:nvPr/>
        </p:nvSpPr>
        <p:spPr>
          <a:xfrm>
            <a:off x="1463040" y="5870448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7" name="t467"/>
          <p:cNvSpPr txBox="1"/>
          <p:nvPr/>
        </p:nvSpPr>
        <p:spPr>
          <a:xfrm>
            <a:off x="1536192" y="5907024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HAVING</a:t>
            </a:r>
          </a:p>
        </p:txBody>
      </p:sp>
      <p:sp>
        <p:nvSpPr>
          <p:cNvPr id="468" name="r468"/>
          <p:cNvSpPr/>
          <p:nvPr/>
        </p:nvSpPr>
        <p:spPr>
          <a:xfrm>
            <a:off x="2505456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9" name="t469"/>
          <p:cNvSpPr txBox="1"/>
          <p:nvPr/>
        </p:nvSpPr>
        <p:spPr>
          <a:xfrm>
            <a:off x="2578608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LIMIT</a:t>
            </a:r>
          </a:p>
        </p:txBody>
      </p:sp>
      <p:sp>
        <p:nvSpPr>
          <p:cNvPr id="470" name="r470"/>
          <p:cNvSpPr/>
          <p:nvPr/>
        </p:nvSpPr>
        <p:spPr>
          <a:xfrm>
            <a:off x="3310128" y="5870448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1" name="t471"/>
          <p:cNvSpPr txBox="1"/>
          <p:nvPr/>
        </p:nvSpPr>
        <p:spPr>
          <a:xfrm>
            <a:off x="3383280" y="5907024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DISTINCT</a:t>
            </a:r>
          </a:p>
        </p:txBody>
      </p:sp>
      <p:sp>
        <p:nvSpPr>
          <p:cNvPr id="472" name="r472"/>
          <p:cNvSpPr/>
          <p:nvPr/>
        </p:nvSpPr>
        <p:spPr>
          <a:xfrm>
            <a:off x="502920" y="6144768"/>
            <a:ext cx="5303520" cy="658368"/>
          </a:xfrm>
          <a:prstGeom prst="rect">
            <a:avLst/>
          </a:prstGeom>
          <a:solidFill>
            <a:srgbClr val="060E18"/>
          </a:solidFill>
          <a:ln w="7620">
            <a:solidFill>
              <a:srgbClr val="1A3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3" name="t473"/>
          <p:cNvSpPr txBox="1"/>
          <p:nvPr/>
        </p:nvSpPr>
        <p:spPr>
          <a:xfrm>
            <a:off x="594360" y="6217920"/>
            <a:ext cx="164592" cy="49377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1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2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3</a:t>
            </a:r>
          </a:p>
        </p:txBody>
      </p:sp>
      <p:sp>
        <p:nvSpPr>
          <p:cNvPr id="474" name="t474"/>
          <p:cNvSpPr txBox="1"/>
          <p:nvPr/>
        </p:nvSpPr>
        <p:spPr>
          <a:xfrm>
            <a:off x="804672" y="6217920"/>
            <a:ext cx="64008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SELECT</a:t>
            </a:r>
          </a:p>
        </p:txBody>
      </p:sp>
      <p:sp>
        <p:nvSpPr>
          <p:cNvPr id="475" name="t475"/>
          <p:cNvSpPr txBox="1"/>
          <p:nvPr/>
        </p:nvSpPr>
        <p:spPr>
          <a:xfrm>
            <a:off x="1463040" y="6217920"/>
            <a:ext cx="25603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destination_name, category</a:t>
            </a:r>
          </a:p>
        </p:txBody>
      </p:sp>
      <p:sp>
        <p:nvSpPr>
          <p:cNvPr id="476" name="t476"/>
          <p:cNvSpPr txBox="1"/>
          <p:nvPr/>
        </p:nvSpPr>
        <p:spPr>
          <a:xfrm>
            <a:off x="804672" y="6382512"/>
            <a:ext cx="475488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FROM</a:t>
            </a:r>
          </a:p>
        </p:txBody>
      </p:sp>
      <p:sp>
        <p:nvSpPr>
          <p:cNvPr id="477" name="t477"/>
          <p:cNvSpPr txBox="1"/>
          <p:nvPr/>
        </p:nvSpPr>
        <p:spPr>
          <a:xfrm>
            <a:off x="1298448" y="6382512"/>
            <a:ext cx="14630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4FC3F7"/>
                </a:solidFill>
                <a:latin typeface="Courier New"/>
              </a:rPr>
              <a:t>destinations</a:t>
            </a:r>
          </a:p>
        </p:txBody>
      </p:sp>
      <p:sp>
        <p:nvSpPr>
          <p:cNvPr id="478" name="t478"/>
          <p:cNvSpPr txBox="1"/>
          <p:nvPr/>
        </p:nvSpPr>
        <p:spPr>
          <a:xfrm>
            <a:off x="804672" y="6547104"/>
            <a:ext cx="5486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WHERE</a:t>
            </a:r>
          </a:p>
        </p:txBody>
      </p:sp>
      <p:sp>
        <p:nvSpPr>
          <p:cNvPr id="479" name="t479"/>
          <p:cNvSpPr txBox="1"/>
          <p:nvPr/>
        </p:nvSpPr>
        <p:spPr>
          <a:xfrm>
            <a:off x="1371600" y="6547104"/>
            <a:ext cx="32918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category = 'Beach';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813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and why it matters in real data work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93976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594360" y="21854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212848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is actually structured in databases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94360" y="288950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⌨️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16936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SQL commands — the ones you'll use 80% of the time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50215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594360" y="3593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21024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and statistical summaries in SQL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94360" y="42976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325112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connects to R and Python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491032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5001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02920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demo tying it all together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Start: A Quick Poll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Excel before?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53796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 or Python?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Heard of SQL?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0936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53796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 SQL query?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669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— just helping me read the room.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SQL's Role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What SQL is and where it fits in real data work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SQL?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Structured Query Language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642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Pronounced: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"sequel"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 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"S-Q-L"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both are correct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21408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212848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used to communicate with databases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88336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7977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summarize, and combine data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255264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3346704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build apps, run models, or make charts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22192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640080" y="391363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you the data you need to do all of that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132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640080" y="4818888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"SQL is closer to writing a sentence than writing a program."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30768" y="4123944"/>
            <a:ext cx="3291840" cy="9144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8748979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8595360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1291011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1137392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577072" y="886968"/>
            <a:ext cx="3291840" cy="201168"/>
          </a:xfrm>
          <a:prstGeom prst="rect">
            <a:avLst/>
          </a:prstGeom>
          <a:solidFill>
            <a:srgbClr val="162840"/>
          </a:solidFill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832104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11612880" y="1051560"/>
            <a:ext cx="256032" cy="3017520"/>
          </a:xfrm>
          <a:prstGeom prst="rect">
            <a:avLst/>
          </a:prstGeom>
          <a:solidFill>
            <a:srgbClr val="0A1E30"/>
          </a:solidFill>
          <a:ln w="1016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1612880" y="4069080"/>
            <a:ext cx="256032" cy="0"/>
          </a:xfrm>
          <a:prstGeom prst="line">
            <a:avLst/>
          </a:prstGeom>
          <a:noFill/>
          <a:ln w="762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8321040" y="1051560"/>
            <a:ext cx="3291840" cy="3017520"/>
          </a:xfrm>
          <a:prstGeom prst="rect">
            <a:avLst/>
          </a:prstGeom>
          <a:solidFill>
            <a:srgbClr val="0D2035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8421624" y="11430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8458200" y="11795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8458200" y="11795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9491472" y="15160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9464040" y="14794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9573768" y="15069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494776" y="17465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destinations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421624" y="20574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8458200" y="20939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458200" y="20939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9491472" y="24304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464040" y="23938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573768" y="24213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8494776" y="26609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tourists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421624" y="29718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8458200" y="30083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8458200" y="30083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491472" y="33448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9464040" y="33082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9573768" y="33357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Text 47"/>
          <p:cNvSpPr txBox="1"/>
          <p:nvPr/>
        </p:nvSpPr>
        <p:spPr>
          <a:xfrm>
            <a:off x="8494776" y="35753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46520" y="1078992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9"/>
          <p:cNvSpPr txBox="1"/>
          <p:nvPr/>
        </p:nvSpPr>
        <p:spPr>
          <a:xfrm>
            <a:off x="6537960" y="1115568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537960" y="1298448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cabinet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891272" y="1280160"/>
            <a:ext cx="429768" cy="1129284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6446520" y="2148840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Text 53"/>
          <p:cNvSpPr txBox="1"/>
          <p:nvPr/>
        </p:nvSpPr>
        <p:spPr>
          <a:xfrm>
            <a:off x="6537960" y="2185416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537960" y="2368296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drawer = one table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891272" y="2350008"/>
            <a:ext cx="566928" cy="128016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9966960" y="4325112"/>
            <a:ext cx="9144" cy="256032"/>
          </a:xfrm>
          <a:prstGeom prst="line">
            <a:avLst/>
          </a:prstGeom>
          <a:noFill/>
          <a:ln w="1524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9" name="Text 57"/>
          <p:cNvSpPr txBox="1"/>
          <p:nvPr/>
        </p:nvSpPr>
        <p:spPr>
          <a:xfrm>
            <a:off x="8229600" y="4599432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drawer: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726680" y="3950208"/>
            <a:ext cx="100584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Text 59"/>
          <p:cNvSpPr txBox="1"/>
          <p:nvPr/>
        </p:nvSpPr>
        <p:spPr>
          <a:xfrm>
            <a:off x="7763256" y="400507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732520" y="3950208"/>
            <a:ext cx="105156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Text 61"/>
          <p:cNvSpPr txBox="1"/>
          <p:nvPr/>
        </p:nvSpPr>
        <p:spPr>
          <a:xfrm>
            <a:off x="8769096" y="400507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784080" y="3950208"/>
            <a:ext cx="114300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Text 63"/>
          <p:cNvSpPr txBox="1"/>
          <p:nvPr/>
        </p:nvSpPr>
        <p:spPr>
          <a:xfrm>
            <a:off x="9820656" y="400507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726680" y="4261104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Text 65"/>
          <p:cNvSpPr txBox="1"/>
          <p:nvPr/>
        </p:nvSpPr>
        <p:spPr>
          <a:xfrm>
            <a:off x="7763256" y="4306824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732520" y="4261104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Text 67"/>
          <p:cNvSpPr txBox="1"/>
          <p:nvPr/>
        </p:nvSpPr>
        <p:spPr>
          <a:xfrm>
            <a:off x="8769096" y="4306824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84080" y="4261104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Text 69"/>
          <p:cNvSpPr txBox="1"/>
          <p:nvPr/>
        </p:nvSpPr>
        <p:spPr>
          <a:xfrm>
            <a:off x="9820656" y="4306824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7726680" y="4553712"/>
            <a:ext cx="100584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Text 71"/>
          <p:cNvSpPr txBox="1"/>
          <p:nvPr/>
        </p:nvSpPr>
        <p:spPr>
          <a:xfrm>
            <a:off x="7763256" y="459943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8732520" y="4553712"/>
            <a:ext cx="105156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Text 73"/>
          <p:cNvSpPr txBox="1"/>
          <p:nvPr/>
        </p:nvSpPr>
        <p:spPr>
          <a:xfrm>
            <a:off x="8769096" y="459943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784080" y="4553712"/>
            <a:ext cx="114300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Text 75"/>
          <p:cNvSpPr txBox="1"/>
          <p:nvPr/>
        </p:nvSpPr>
        <p:spPr>
          <a:xfrm>
            <a:off x="9820656" y="459943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7726680" y="4846320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Text 77"/>
          <p:cNvSpPr txBox="1"/>
          <p:nvPr/>
        </p:nvSpPr>
        <p:spPr>
          <a:xfrm>
            <a:off x="7763256" y="4892040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732520" y="4846320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Text 79"/>
          <p:cNvSpPr txBox="1"/>
          <p:nvPr/>
        </p:nvSpPr>
        <p:spPr>
          <a:xfrm>
            <a:off x="8769096" y="4892040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9784080" y="4846320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Text 81"/>
          <p:cNvSpPr txBox="1"/>
          <p:nvPr/>
        </p:nvSpPr>
        <p:spPr>
          <a:xfrm>
            <a:off x="9820656" y="4892040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7726680" y="3950208"/>
            <a:ext cx="3200400" cy="1188720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7726680" y="5248656"/>
            <a:ext cx="1389888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Text 84"/>
          <p:cNvSpPr txBox="1"/>
          <p:nvPr/>
        </p:nvSpPr>
        <p:spPr>
          <a:xfrm>
            <a:off x="7818120" y="5285232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7818120" y="5468112"/>
            <a:ext cx="12070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tourist record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421624" y="5248656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7955280" y="3493008"/>
            <a:ext cx="1426464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Text 88"/>
          <p:cNvSpPr txBox="1"/>
          <p:nvPr/>
        </p:nvSpPr>
        <p:spPr>
          <a:xfrm>
            <a:off x="8046720" y="3529584"/>
            <a:ext cx="1243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8046720" y="3712464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/ attribute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9258300" y="3950208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SQL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real-world data lives in databases — not Excel files or CSVs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39696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analyze anything, you need the data in the right shape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06624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9806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tool that gets you there</a:t>
            </a:r>
            <a:endParaRPr lang="en-US" sz="150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1C5B1380-E0C9-726B-F57C-38CDBBCE03F0}"/>
              </a:ext>
            </a:extLst>
          </p:cNvPr>
          <p:cNvSpPr/>
          <p:nvPr/>
        </p:nvSpPr>
        <p:spPr>
          <a:xfrm>
            <a:off x="45720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BDBE2624-ADB2-5D01-9015-E9142E4AD98F}"/>
              </a:ext>
            </a:extLst>
          </p:cNvPr>
          <p:cNvSpPr/>
          <p:nvPr/>
        </p:nvSpPr>
        <p:spPr>
          <a:xfrm>
            <a:off x="86868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E8B35F60-6DE4-E19B-4F44-A9ED4B142BB3}"/>
              </a:ext>
            </a:extLst>
          </p:cNvPr>
          <p:cNvSpPr/>
          <p:nvPr/>
        </p:nvSpPr>
        <p:spPr>
          <a:xfrm>
            <a:off x="86868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1CD67227-339E-913A-5B98-0C9EEFBA36A9}"/>
              </a:ext>
            </a:extLst>
          </p:cNvPr>
          <p:cNvSpPr/>
          <p:nvPr/>
        </p:nvSpPr>
        <p:spPr>
          <a:xfrm>
            <a:off x="86868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14">
            <a:extLst>
              <a:ext uri="{FF2B5EF4-FFF2-40B4-BE49-F238E27FC236}">
                <a16:creationId xmlns:a16="http://schemas.microsoft.com/office/drawing/2014/main" id="{64C2CFDB-1E5C-1CE4-0225-6867BCCC874E}"/>
              </a:ext>
            </a:extLst>
          </p:cNvPr>
          <p:cNvSpPr/>
          <p:nvPr/>
        </p:nvSpPr>
        <p:spPr>
          <a:xfrm>
            <a:off x="90525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15">
            <a:extLst>
              <a:ext uri="{FF2B5EF4-FFF2-40B4-BE49-F238E27FC236}">
                <a16:creationId xmlns:a16="http://schemas.microsoft.com/office/drawing/2014/main" id="{942469B3-7FC6-3942-682B-C3C37F11E10E}"/>
              </a:ext>
            </a:extLst>
          </p:cNvPr>
          <p:cNvSpPr/>
          <p:nvPr/>
        </p:nvSpPr>
        <p:spPr>
          <a:xfrm>
            <a:off x="90525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30B0BC1-550B-B481-6B1B-4237B00779D8}"/>
              </a:ext>
            </a:extLst>
          </p:cNvPr>
          <p:cNvSpPr/>
          <p:nvPr/>
        </p:nvSpPr>
        <p:spPr>
          <a:xfrm>
            <a:off x="90525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Text 17">
            <a:extLst>
              <a:ext uri="{FF2B5EF4-FFF2-40B4-BE49-F238E27FC236}">
                <a16:creationId xmlns:a16="http://schemas.microsoft.com/office/drawing/2014/main" id="{C2B28B3E-E7C5-20AD-F885-6E9AA1DC6AF2}"/>
              </a:ext>
            </a:extLst>
          </p:cNvPr>
          <p:cNvSpPr txBox="1"/>
          <p:nvPr/>
        </p:nvSpPr>
        <p:spPr>
          <a:xfrm>
            <a:off x="45720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400" dirty="0"/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90BCE507-6528-3E4F-1670-36790535B7AA}"/>
              </a:ext>
            </a:extLst>
          </p:cNvPr>
          <p:cNvSpPr txBox="1"/>
          <p:nvPr/>
        </p:nvSpPr>
        <p:spPr>
          <a:xfrm>
            <a:off x="54864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Census, surveys,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data</a:t>
            </a:r>
            <a:endParaRPr lang="en-US" sz="900" dirty="0"/>
          </a:p>
        </p:txBody>
      </p:sp>
      <p:sp>
        <p:nvSpPr>
          <p:cNvPr id="66" name="Shape 19">
            <a:extLst>
              <a:ext uri="{FF2B5EF4-FFF2-40B4-BE49-F238E27FC236}">
                <a16:creationId xmlns:a16="http://schemas.microsoft.com/office/drawing/2014/main" id="{87CFDD24-C4DA-3E3F-FAFD-0AEB932A041C}"/>
              </a:ext>
            </a:extLst>
          </p:cNvPr>
          <p:cNvSpPr/>
          <p:nvPr/>
        </p:nvSpPr>
        <p:spPr>
          <a:xfrm>
            <a:off x="324612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C2CFE43A-9D40-D286-BA6A-1248DD6924D9}"/>
              </a:ext>
            </a:extLst>
          </p:cNvPr>
          <p:cNvSpPr/>
          <p:nvPr/>
        </p:nvSpPr>
        <p:spPr>
          <a:xfrm>
            <a:off x="365760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177088BE-F5D1-AD09-4AEF-021EEF62700E}"/>
              </a:ext>
            </a:extLst>
          </p:cNvPr>
          <p:cNvSpPr/>
          <p:nvPr/>
        </p:nvSpPr>
        <p:spPr>
          <a:xfrm>
            <a:off x="365760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F2B60E4C-B80F-B96C-F12D-0716746450B1}"/>
              </a:ext>
            </a:extLst>
          </p:cNvPr>
          <p:cNvSpPr/>
          <p:nvPr/>
        </p:nvSpPr>
        <p:spPr>
          <a:xfrm>
            <a:off x="365760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23">
            <a:extLst>
              <a:ext uri="{FF2B5EF4-FFF2-40B4-BE49-F238E27FC236}">
                <a16:creationId xmlns:a16="http://schemas.microsoft.com/office/drawing/2014/main" id="{B1B69822-2D13-6CFE-9833-4F527D665F46}"/>
              </a:ext>
            </a:extLst>
          </p:cNvPr>
          <p:cNvSpPr/>
          <p:nvPr/>
        </p:nvSpPr>
        <p:spPr>
          <a:xfrm>
            <a:off x="369417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24">
            <a:extLst>
              <a:ext uri="{FF2B5EF4-FFF2-40B4-BE49-F238E27FC236}">
                <a16:creationId xmlns:a16="http://schemas.microsoft.com/office/drawing/2014/main" id="{1F2CF6C1-CE4D-E317-2E99-CB723145CF5D}"/>
              </a:ext>
            </a:extLst>
          </p:cNvPr>
          <p:cNvSpPr/>
          <p:nvPr/>
        </p:nvSpPr>
        <p:spPr>
          <a:xfrm>
            <a:off x="369417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A53A6CE2-5163-656A-E750-AF8D0F73E82E}"/>
              </a:ext>
            </a:extLst>
          </p:cNvPr>
          <p:cNvSpPr/>
          <p:nvPr/>
        </p:nvSpPr>
        <p:spPr>
          <a:xfrm>
            <a:off x="369417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B0C157C-F941-37FD-0BA1-F41036E6FE80}"/>
              </a:ext>
            </a:extLst>
          </p:cNvPr>
          <p:cNvSpPr txBox="1"/>
          <p:nvPr/>
        </p:nvSpPr>
        <p:spPr>
          <a:xfrm>
            <a:off x="324612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400" dirty="0"/>
          </a:p>
        </p:txBody>
      </p:sp>
      <p:sp>
        <p:nvSpPr>
          <p:cNvPr id="82" name="Text 27">
            <a:extLst>
              <a:ext uri="{FF2B5EF4-FFF2-40B4-BE49-F238E27FC236}">
                <a16:creationId xmlns:a16="http://schemas.microsoft.com/office/drawing/2014/main" id="{A3584CA4-EFD1-3069-9DD6-1D28392E9806}"/>
              </a:ext>
            </a:extLst>
          </p:cNvPr>
          <p:cNvSpPr txBox="1"/>
          <p:nvPr/>
        </p:nvSpPr>
        <p:spPr>
          <a:xfrm>
            <a:off x="333756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claims, outcomes</a:t>
            </a:r>
            <a:endParaRPr lang="en-US" sz="900" dirty="0"/>
          </a:p>
        </p:txBody>
      </p:sp>
      <p:sp>
        <p:nvSpPr>
          <p:cNvPr id="84" name="Shape 28">
            <a:extLst>
              <a:ext uri="{FF2B5EF4-FFF2-40B4-BE49-F238E27FC236}">
                <a16:creationId xmlns:a16="http://schemas.microsoft.com/office/drawing/2014/main" id="{7F1C0F7C-3843-8730-AAB4-B1472CB81128}"/>
              </a:ext>
            </a:extLst>
          </p:cNvPr>
          <p:cNvSpPr/>
          <p:nvPr/>
        </p:nvSpPr>
        <p:spPr>
          <a:xfrm>
            <a:off x="603504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29">
            <a:extLst>
              <a:ext uri="{FF2B5EF4-FFF2-40B4-BE49-F238E27FC236}">
                <a16:creationId xmlns:a16="http://schemas.microsoft.com/office/drawing/2014/main" id="{BE2D2256-B66D-2C47-9299-9090958D7DC8}"/>
              </a:ext>
            </a:extLst>
          </p:cNvPr>
          <p:cNvSpPr/>
          <p:nvPr/>
        </p:nvSpPr>
        <p:spPr>
          <a:xfrm>
            <a:off x="644652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30">
            <a:extLst>
              <a:ext uri="{FF2B5EF4-FFF2-40B4-BE49-F238E27FC236}">
                <a16:creationId xmlns:a16="http://schemas.microsoft.com/office/drawing/2014/main" id="{694F7F8B-123D-CA5B-7BFD-A83839F5E290}"/>
              </a:ext>
            </a:extLst>
          </p:cNvPr>
          <p:cNvSpPr/>
          <p:nvPr/>
        </p:nvSpPr>
        <p:spPr>
          <a:xfrm>
            <a:off x="644652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31">
            <a:extLst>
              <a:ext uri="{FF2B5EF4-FFF2-40B4-BE49-F238E27FC236}">
                <a16:creationId xmlns:a16="http://schemas.microsoft.com/office/drawing/2014/main" id="{093CF788-FA3A-BE52-D795-4360C1B2D67A}"/>
              </a:ext>
            </a:extLst>
          </p:cNvPr>
          <p:cNvSpPr/>
          <p:nvPr/>
        </p:nvSpPr>
        <p:spPr>
          <a:xfrm>
            <a:off x="644652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32">
            <a:extLst>
              <a:ext uri="{FF2B5EF4-FFF2-40B4-BE49-F238E27FC236}">
                <a16:creationId xmlns:a16="http://schemas.microsoft.com/office/drawing/2014/main" id="{105B0D9A-CFDB-BA3F-13CB-AEAD94B74B6B}"/>
              </a:ext>
            </a:extLst>
          </p:cNvPr>
          <p:cNvSpPr/>
          <p:nvPr/>
        </p:nvSpPr>
        <p:spPr>
          <a:xfrm>
            <a:off x="648309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33">
            <a:extLst>
              <a:ext uri="{FF2B5EF4-FFF2-40B4-BE49-F238E27FC236}">
                <a16:creationId xmlns:a16="http://schemas.microsoft.com/office/drawing/2014/main" id="{454AD403-724F-0AE4-D024-067A1E88AA5D}"/>
              </a:ext>
            </a:extLst>
          </p:cNvPr>
          <p:cNvSpPr/>
          <p:nvPr/>
        </p:nvSpPr>
        <p:spPr>
          <a:xfrm>
            <a:off x="648309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34">
            <a:extLst>
              <a:ext uri="{FF2B5EF4-FFF2-40B4-BE49-F238E27FC236}">
                <a16:creationId xmlns:a16="http://schemas.microsoft.com/office/drawing/2014/main" id="{7920957F-2209-8B5A-B5CF-D27E295BD1AD}"/>
              </a:ext>
            </a:extLst>
          </p:cNvPr>
          <p:cNvSpPr/>
          <p:nvPr/>
        </p:nvSpPr>
        <p:spPr>
          <a:xfrm>
            <a:off x="648309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Text 35">
            <a:extLst>
              <a:ext uri="{FF2B5EF4-FFF2-40B4-BE49-F238E27FC236}">
                <a16:creationId xmlns:a16="http://schemas.microsoft.com/office/drawing/2014/main" id="{AFA73D8B-8478-5B0F-E79C-30B3724ED257}"/>
              </a:ext>
            </a:extLst>
          </p:cNvPr>
          <p:cNvSpPr txBox="1"/>
          <p:nvPr/>
        </p:nvSpPr>
        <p:spPr>
          <a:xfrm>
            <a:off x="603504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00" name="Text 36">
            <a:extLst>
              <a:ext uri="{FF2B5EF4-FFF2-40B4-BE49-F238E27FC236}">
                <a16:creationId xmlns:a16="http://schemas.microsoft.com/office/drawing/2014/main" id="{A820F315-3C69-9645-8796-76C171164226}"/>
              </a:ext>
            </a:extLst>
          </p:cNvPr>
          <p:cNvSpPr txBox="1"/>
          <p:nvPr/>
        </p:nvSpPr>
        <p:spPr>
          <a:xfrm>
            <a:off x="612648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studies,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</a:t>
            </a:r>
            <a:endParaRPr lang="en-US" sz="900" dirty="0"/>
          </a:p>
        </p:txBody>
      </p:sp>
      <p:sp>
        <p:nvSpPr>
          <p:cNvPr id="102" name="Shape 37">
            <a:extLst>
              <a:ext uri="{FF2B5EF4-FFF2-40B4-BE49-F238E27FC236}">
                <a16:creationId xmlns:a16="http://schemas.microsoft.com/office/drawing/2014/main" id="{917480FF-FDDD-757D-8777-3880FB7C03FB}"/>
              </a:ext>
            </a:extLst>
          </p:cNvPr>
          <p:cNvSpPr/>
          <p:nvPr/>
        </p:nvSpPr>
        <p:spPr>
          <a:xfrm>
            <a:off x="882396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38">
            <a:extLst>
              <a:ext uri="{FF2B5EF4-FFF2-40B4-BE49-F238E27FC236}">
                <a16:creationId xmlns:a16="http://schemas.microsoft.com/office/drawing/2014/main" id="{57570BEA-9A9C-2EDA-7EC5-3386E8A27D4E}"/>
              </a:ext>
            </a:extLst>
          </p:cNvPr>
          <p:cNvSpPr/>
          <p:nvPr/>
        </p:nvSpPr>
        <p:spPr>
          <a:xfrm>
            <a:off x="923544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39">
            <a:extLst>
              <a:ext uri="{FF2B5EF4-FFF2-40B4-BE49-F238E27FC236}">
                <a16:creationId xmlns:a16="http://schemas.microsoft.com/office/drawing/2014/main" id="{81A4C429-7020-8582-DD15-3F966FF51BB9}"/>
              </a:ext>
            </a:extLst>
          </p:cNvPr>
          <p:cNvSpPr/>
          <p:nvPr/>
        </p:nvSpPr>
        <p:spPr>
          <a:xfrm>
            <a:off x="923544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40">
            <a:extLst>
              <a:ext uri="{FF2B5EF4-FFF2-40B4-BE49-F238E27FC236}">
                <a16:creationId xmlns:a16="http://schemas.microsoft.com/office/drawing/2014/main" id="{A80F27BE-48E4-EE5C-3B17-B46A835AAFC5}"/>
              </a:ext>
            </a:extLst>
          </p:cNvPr>
          <p:cNvSpPr/>
          <p:nvPr/>
        </p:nvSpPr>
        <p:spPr>
          <a:xfrm>
            <a:off x="923544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41">
            <a:extLst>
              <a:ext uri="{FF2B5EF4-FFF2-40B4-BE49-F238E27FC236}">
                <a16:creationId xmlns:a16="http://schemas.microsoft.com/office/drawing/2014/main" id="{A1EE988B-1186-F966-A084-3002EA998EF4}"/>
              </a:ext>
            </a:extLst>
          </p:cNvPr>
          <p:cNvSpPr/>
          <p:nvPr/>
        </p:nvSpPr>
        <p:spPr>
          <a:xfrm>
            <a:off x="927201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42">
            <a:extLst>
              <a:ext uri="{FF2B5EF4-FFF2-40B4-BE49-F238E27FC236}">
                <a16:creationId xmlns:a16="http://schemas.microsoft.com/office/drawing/2014/main" id="{A72E8D8B-1DD5-13C9-F595-8017B7ACC68D}"/>
              </a:ext>
            </a:extLst>
          </p:cNvPr>
          <p:cNvSpPr/>
          <p:nvPr/>
        </p:nvSpPr>
        <p:spPr>
          <a:xfrm>
            <a:off x="927201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43">
            <a:extLst>
              <a:ext uri="{FF2B5EF4-FFF2-40B4-BE49-F238E27FC236}">
                <a16:creationId xmlns:a16="http://schemas.microsoft.com/office/drawing/2014/main" id="{93C2F36A-F8CE-D401-5A3B-7F866EAA951F}"/>
              </a:ext>
            </a:extLst>
          </p:cNvPr>
          <p:cNvSpPr/>
          <p:nvPr/>
        </p:nvSpPr>
        <p:spPr>
          <a:xfrm>
            <a:off x="927201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A3D068F-3043-7B7A-F777-74F7B02C5ED9}"/>
              </a:ext>
            </a:extLst>
          </p:cNvPr>
          <p:cNvSpPr txBox="1"/>
          <p:nvPr/>
        </p:nvSpPr>
        <p:spPr>
          <a:xfrm>
            <a:off x="882396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400" dirty="0"/>
          </a:p>
        </p:txBody>
      </p:sp>
      <p:sp>
        <p:nvSpPr>
          <p:cNvPr id="118" name="Text 45">
            <a:extLst>
              <a:ext uri="{FF2B5EF4-FFF2-40B4-BE49-F238E27FC236}">
                <a16:creationId xmlns:a16="http://schemas.microsoft.com/office/drawing/2014/main" id="{59EDF214-D910-DC8D-1671-EB8FC364F099}"/>
              </a:ext>
            </a:extLst>
          </p:cNvPr>
          <p:cNvSpPr txBox="1"/>
          <p:nvPr/>
        </p:nvSpPr>
        <p:spPr>
          <a:xfrm>
            <a:off x="891540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900" dirty="0"/>
          </a:p>
        </p:txBody>
      </p:sp>
      <p:sp>
        <p:nvSpPr>
          <p:cNvPr id="120" name="Text 46">
            <a:extLst>
              <a:ext uri="{FF2B5EF4-FFF2-40B4-BE49-F238E27FC236}">
                <a16:creationId xmlns:a16="http://schemas.microsoft.com/office/drawing/2014/main" id="{A24C210B-2939-F094-C4B2-29A2E7B17515}"/>
              </a:ext>
            </a:extLst>
          </p:cNvPr>
          <p:cNvSpPr txBox="1"/>
          <p:nvPr/>
        </p:nvSpPr>
        <p:spPr>
          <a:xfrm>
            <a:off x="457200" y="610819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 large datasets live — SQL is usually nearby</a:t>
            </a:r>
            <a:endParaRPr lang="en-US" sz="1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A6A0B464-4366-2BD4-C384-5A6293501F22}"/>
              </a:ext>
            </a:extLst>
          </p:cNvPr>
          <p:cNvSpPr txBox="1"/>
          <p:nvPr/>
        </p:nvSpPr>
        <p:spPr>
          <a:xfrm>
            <a:off x="457200" y="3429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where you'll likely use this: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vs. Tools You Already Know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56032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66928" y="13533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0" y="1280160"/>
            <a:ext cx="384048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3218688" y="13533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40880" y="1280160"/>
            <a:ext cx="457200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7150608" y="13533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66928" y="18105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3218688" y="18105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data, quick charts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7373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7150608" y="18105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above ~100k rows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945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66928" y="22677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08960" y="21945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3218688" y="22677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40880" y="21945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7150608" y="22677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raw messy data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26517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 txBox="1"/>
          <p:nvPr/>
        </p:nvSpPr>
        <p:spPr>
          <a:xfrm>
            <a:off x="566928" y="27249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/ Python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08960" y="26517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3218688" y="27249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&amp; visualization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40880" y="26517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7150608" y="27249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still need the data first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108960"/>
            <a:ext cx="11247120" cy="438912"/>
          </a:xfrm>
          <a:prstGeom prst="rect">
            <a:avLst/>
          </a:prstGeom>
          <a:solidFill>
            <a:srgbClr val="0F2A3F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566928" y="31821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218688" y="3182112"/>
            <a:ext cx="37124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clean at any scale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150608" y="3182112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modeling, visualization, or app logic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950208"/>
            <a:ext cx="1737360" cy="5486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457200" y="4087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194560" y="4224528"/>
            <a:ext cx="411480" cy="91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2331720" y="3950208"/>
            <a:ext cx="1737360" cy="5486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2331720" y="4087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SPSS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069080" y="4224528"/>
            <a:ext cx="411480" cy="91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206240" y="3950208"/>
            <a:ext cx="1737360" cy="5486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8"/>
          <p:cNvSpPr txBox="1"/>
          <p:nvPr/>
        </p:nvSpPr>
        <p:spPr>
          <a:xfrm>
            <a:off x="4206240" y="4087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R/Python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943600" y="4224528"/>
            <a:ext cx="411480" cy="91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2" name="Shape 40"/>
          <p:cNvSpPr/>
          <p:nvPr/>
        </p:nvSpPr>
        <p:spPr>
          <a:xfrm>
            <a:off x="6345936" y="3858768"/>
            <a:ext cx="2011680" cy="731520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3" name="Text 41"/>
          <p:cNvSpPr txBox="1"/>
          <p:nvPr/>
        </p:nvSpPr>
        <p:spPr>
          <a:xfrm>
            <a:off x="6345936" y="400507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357616" y="4224528"/>
            <a:ext cx="4114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8796528" y="3950208"/>
            <a:ext cx="1737360" cy="5486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Text 44"/>
          <p:cNvSpPr txBox="1"/>
          <p:nvPr/>
        </p:nvSpPr>
        <p:spPr>
          <a:xfrm>
            <a:off x="8796528" y="4087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0561320" y="3950208"/>
            <a:ext cx="1097280" cy="548640"/>
          </a:xfrm>
          <a:prstGeom prst="rect">
            <a:avLst/>
          </a:prstGeom>
          <a:solidFill>
            <a:srgbClr val="0F2235"/>
          </a:solidFill>
          <a:ln w="508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Text 46"/>
          <p:cNvSpPr txBox="1"/>
          <p:nvPr/>
        </p:nvSpPr>
        <p:spPr>
          <a:xfrm>
            <a:off x="10561320" y="395935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0561320" y="413308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🔬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10561320" y="430682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" y="4864608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Text 50"/>
          <p:cNvSpPr txBox="1"/>
          <p:nvPr/>
        </p:nvSpPr>
        <p:spPr>
          <a:xfrm>
            <a:off x="640080" y="4974336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doesn't replace these tools.  It feeds them.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58191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0020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visualization tool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2556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40080" y="32901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30844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for IT people or software developers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012528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41771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4195408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difficult to start — the basics read like English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4899496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40080" y="50640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5082376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something you have to memorize — even pros Google syntax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2440" y="5748528"/>
            <a:ext cx="11247120" cy="548640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55320" y="5867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It's closer to writing a sentence than writing a program.</a:t>
            </a:r>
            <a:endParaRPr lang="en-US" sz="1400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14C95B8A-4E5D-D836-41A5-DC0B882AB132}"/>
              </a:ext>
            </a:extLst>
          </p:cNvPr>
          <p:cNvSpPr/>
          <p:nvPr/>
        </p:nvSpPr>
        <p:spPr>
          <a:xfrm>
            <a:off x="457200" y="2254843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1411304-6412-4E9E-CB06-3146AE0ABFF2}"/>
              </a:ext>
            </a:extLst>
          </p:cNvPr>
          <p:cNvSpPr txBox="1"/>
          <p:nvPr/>
        </p:nvSpPr>
        <p:spPr>
          <a:xfrm>
            <a:off x="640080" y="2419435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F6B697CA-AC01-A275-9715-99162FD78B2D}"/>
              </a:ext>
            </a:extLst>
          </p:cNvPr>
          <p:cNvSpPr txBox="1"/>
          <p:nvPr/>
        </p:nvSpPr>
        <p:spPr>
          <a:xfrm>
            <a:off x="1261872" y="2437723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the tools you already know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Use at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work, we use Snowflake — a cloud-based SQL platform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Daily: querying millions of claims records, building metrics pipelines, QA checks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7004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core SQL you'll learn today — just running on a much bigger dataset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340156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change.  SQL syntax doesn't — learn it once, use it everywhere.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595360" y="1234440"/>
            <a:ext cx="3291840" cy="475488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8595360" y="13167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 Snowflake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06840" y="2242109"/>
            <a:ext cx="2468880" cy="3308299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9006840" y="1847088"/>
            <a:ext cx="2468880" cy="790042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9006840" y="5155387"/>
            <a:ext cx="2468880" cy="790042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9043416" y="2990673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9043416" y="3784665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9043416" y="4578657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8595360" y="54223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SQL Platform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59936"/>
            <a:ext cx="777240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58368" y="4206240"/>
            <a:ext cx="737006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The same SQL you learn today...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patient_id, claim_date, diagnosis_code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claims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claim_year = 2024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status = 'approved';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History + Common Tools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60704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11887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6400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develops SQL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38404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standard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786384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years, still #1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06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SQL tools: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111556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local — great for learning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111556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powerful, widely used in analytics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6227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475488" cy="365760"/>
          </a:xfrm>
          <a:prstGeom prst="rect">
            <a:avLst/>
          </a:prstGeom>
          <a:solidFill>
            <a:srgbClr val="4479A1"/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1115568" y="453542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45537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web &amp; research databases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5508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6446520" y="3108960"/>
            <a:ext cx="475488" cy="365760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701344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Snowflake / BigQuery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— large organizations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6446520" y="3840480"/>
            <a:ext cx="475488" cy="365760"/>
          </a:xfrm>
          <a:prstGeom prst="rect">
            <a:avLst/>
          </a:prstGeom>
          <a:solidFill>
            <a:srgbClr val="CC2927"/>
          </a:solidFill>
          <a:ln w="12700">
            <a:solidFill>
              <a:srgbClr val="CC292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701344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 SQL Server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government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596128"/>
            <a:ext cx="2560320" cy="347472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566928" y="566928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 SQLite today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Databases &amp; Data Structure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Tables, rows, columns, keys, and how data is structured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lang="en-US" sz="9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212080" cy="3474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</a:t>
            </a:r>
            <a:endParaRPr lang="en-US" sz="1500" dirty="0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9" name="Rectangle 8"/>
          <p:cNvSpPr/>
          <p:nvPr/>
        </p:nvSpPr>
        <p:spPr>
          <a:xfrm>
            <a:off x="224028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Box 9"/>
          <p:cNvSpPr txBox="1"/>
          <p:nvPr/>
        </p:nvSpPr>
        <p:spPr>
          <a:xfrm>
            <a:off x="228600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1" name="Rectangle 10"/>
          <p:cNvSpPr/>
          <p:nvPr/>
        </p:nvSpPr>
        <p:spPr>
          <a:xfrm>
            <a:off x="379476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Box 11"/>
          <p:cNvSpPr txBox="1"/>
          <p:nvPr/>
        </p:nvSpPr>
        <p:spPr>
          <a:xfrm>
            <a:off x="384048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3" name="Rectangle 12"/>
          <p:cNvSpPr/>
          <p:nvPr/>
        </p:nvSpPr>
        <p:spPr>
          <a:xfrm>
            <a:off x="68580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Rectangle 13"/>
          <p:cNvSpPr/>
          <p:nvPr/>
        </p:nvSpPr>
        <p:spPr>
          <a:xfrm>
            <a:off x="224028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Rectangle 14"/>
          <p:cNvSpPr/>
          <p:nvPr/>
        </p:nvSpPr>
        <p:spPr>
          <a:xfrm>
            <a:off x="379476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Rectangle 15"/>
          <p:cNvSpPr/>
          <p:nvPr/>
        </p:nvSpPr>
        <p:spPr>
          <a:xfrm>
            <a:off x="68580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Rectangle 16"/>
          <p:cNvSpPr/>
          <p:nvPr/>
        </p:nvSpPr>
        <p:spPr>
          <a:xfrm>
            <a:off x="224028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Rectangle 17"/>
          <p:cNvSpPr/>
          <p:nvPr/>
        </p:nvSpPr>
        <p:spPr>
          <a:xfrm>
            <a:off x="379476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Rectangle 18"/>
          <p:cNvSpPr/>
          <p:nvPr/>
        </p:nvSpPr>
        <p:spPr>
          <a:xfrm>
            <a:off x="68580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Rectangle 19"/>
          <p:cNvSpPr/>
          <p:nvPr/>
        </p:nvSpPr>
        <p:spPr>
          <a:xfrm>
            <a:off x="224028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Rectangle 20"/>
          <p:cNvSpPr/>
          <p:nvPr/>
        </p:nvSpPr>
        <p:spPr>
          <a:xfrm>
            <a:off x="379476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Box 21"/>
          <p:cNvSpPr txBox="1"/>
          <p:nvPr/>
        </p:nvSpPr>
        <p:spPr>
          <a:xfrm>
            <a:off x="685800" y="3886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Great for smaller data you can see and work with directly</a:t>
            </a:r>
            <a:endParaRPr 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0" y="421538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Struggles past ~1 million rows</a:t>
            </a:r>
            <a:endParaRPr 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685800" y="45445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Formulas break as data grows</a:t>
            </a:r>
            <a:endParaRPr lang="en-US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5623560" y="2834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394960" cy="3474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Box 26"/>
          <p:cNvSpPr txBox="1"/>
          <p:nvPr/>
        </p:nvSpPr>
        <p:spPr>
          <a:xfrm>
            <a:off x="6537960" y="15087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</p:txBody>
      </p:sp>
      <p:sp>
        <p:nvSpPr>
          <p:cNvPr id="28" name="Rectangle 27"/>
          <p:cNvSpPr/>
          <p:nvPr/>
        </p:nvSpPr>
        <p:spPr>
          <a:xfrm>
            <a:off x="653796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Box 28"/>
          <p:cNvSpPr txBox="1"/>
          <p:nvPr/>
        </p:nvSpPr>
        <p:spPr>
          <a:xfrm>
            <a:off x="662940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30" name="Rectangle 29"/>
          <p:cNvSpPr/>
          <p:nvPr/>
        </p:nvSpPr>
        <p:spPr>
          <a:xfrm>
            <a:off x="653796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Box 30"/>
          <p:cNvSpPr txBox="1"/>
          <p:nvPr/>
        </p:nvSpPr>
        <p:spPr>
          <a:xfrm>
            <a:off x="662940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653796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Box 32"/>
          <p:cNvSpPr txBox="1"/>
          <p:nvPr/>
        </p:nvSpPr>
        <p:spPr>
          <a:xfrm>
            <a:off x="662940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34" name="Rectangle 33"/>
          <p:cNvSpPr/>
          <p:nvPr/>
        </p:nvSpPr>
        <p:spPr>
          <a:xfrm>
            <a:off x="653796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Box 34"/>
          <p:cNvSpPr txBox="1"/>
          <p:nvPr/>
        </p:nvSpPr>
        <p:spPr>
          <a:xfrm>
            <a:off x="662940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36" name="Rectangle 35"/>
          <p:cNvSpPr/>
          <p:nvPr/>
        </p:nvSpPr>
        <p:spPr>
          <a:xfrm>
            <a:off x="653796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Rectangle 36"/>
          <p:cNvSpPr/>
          <p:nvPr/>
        </p:nvSpPr>
        <p:spPr>
          <a:xfrm>
            <a:off x="923544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TextBox 37"/>
          <p:cNvSpPr txBox="1"/>
          <p:nvPr/>
        </p:nvSpPr>
        <p:spPr>
          <a:xfrm>
            <a:off x="932688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923544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Box 39"/>
          <p:cNvSpPr txBox="1"/>
          <p:nvPr/>
        </p:nvSpPr>
        <p:spPr>
          <a:xfrm>
            <a:off x="932688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</a:t>
            </a:r>
            <a:endParaRPr lang="en-US" sz="1000" dirty="0"/>
          </a:p>
        </p:txBody>
      </p:sp>
      <p:sp>
        <p:nvSpPr>
          <p:cNvPr id="41" name="Rectangle 40"/>
          <p:cNvSpPr/>
          <p:nvPr/>
        </p:nvSpPr>
        <p:spPr>
          <a:xfrm>
            <a:off x="923544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Box 41"/>
          <p:cNvSpPr txBox="1"/>
          <p:nvPr/>
        </p:nvSpPr>
        <p:spPr>
          <a:xfrm>
            <a:off x="932688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43" name="Rectangle 42"/>
          <p:cNvSpPr/>
          <p:nvPr/>
        </p:nvSpPr>
        <p:spPr>
          <a:xfrm>
            <a:off x="923544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Box 43"/>
          <p:cNvSpPr txBox="1"/>
          <p:nvPr/>
        </p:nvSpPr>
        <p:spPr>
          <a:xfrm>
            <a:off x="932688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45" name="Rectangle 44"/>
          <p:cNvSpPr/>
          <p:nvPr/>
        </p:nvSpPr>
        <p:spPr>
          <a:xfrm>
            <a:off x="923544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traight Connector 45"/>
          <p:cNvSpPr/>
          <p:nvPr/>
        </p:nvSpPr>
        <p:spPr>
          <a:xfrm>
            <a:off x="8823960" y="2487168"/>
            <a:ext cx="411480" cy="9144"/>
          </a:xfrm>
          <a:prstGeom prst="line">
            <a:avLst/>
          </a:prstGeom>
          <a:noFill/>
          <a:ln w="1524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Box 46"/>
          <p:cNvSpPr txBox="1"/>
          <p:nvPr/>
        </p:nvSpPr>
        <p:spPr>
          <a:xfrm>
            <a:off x="6537960" y="3886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Multiple connected tables</a:t>
            </a:r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6537960" y="421538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Many users at once</a:t>
            </a:r>
            <a:endParaRPr lang="en-US" sz="1200" dirty="0"/>
          </a:p>
        </p:txBody>
      </p:sp>
      <p:sp>
        <p:nvSpPr>
          <p:cNvPr id="49" name="TextBox 48"/>
          <p:cNvSpPr txBox="1"/>
          <p:nvPr/>
        </p:nvSpPr>
        <p:spPr>
          <a:xfrm>
            <a:off x="6537960" y="45445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Billions of rows — no sweat</a:t>
            </a:r>
            <a:endParaRPr lang="en-US" sz="1200" dirty="0"/>
          </a:p>
        </p:txBody>
      </p:sp>
      <p:sp>
        <p:nvSpPr>
          <p:cNvPr id="50" name="Rectangle 49"/>
          <p:cNvSpPr/>
          <p:nvPr/>
        </p:nvSpPr>
        <p:spPr>
          <a:xfrm>
            <a:off x="457200" y="5047488"/>
            <a:ext cx="11704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Box 50"/>
          <p:cNvSpPr txBox="1"/>
          <p:nvPr/>
        </p:nvSpPr>
        <p:spPr>
          <a:xfrm>
            <a:off x="640080" y="515721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is a notebook.  A database is the filing room of an entire organization.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Tables, Rows, Columns, and Keys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49961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633472" y="151790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 of related data (like one sheet in Excel)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" y="236829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633472" y="238658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— one tourist, one visit, one destination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" y="323697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2633472" y="325526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attribute — tourist_id, nationality, age_group, sex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0080" y="410565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633472" y="412394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for each row  (e.g. tourist_id) 🔑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86460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40080" y="49743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2633472" y="499262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Column that links to another table's primary key  🔗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75120" y="3950208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711696" y="4014216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772400" y="3950208"/>
            <a:ext cx="11887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7808976" y="4014216"/>
            <a:ext cx="11155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961120" y="3950208"/>
            <a:ext cx="16459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8997696" y="4014216"/>
            <a:ext cx="1572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675120" y="4297680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711696" y="4352544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772400" y="4297680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808976" y="435254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961120" y="4297680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997696" y="4352544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675120" y="4645152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6711696" y="4700016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772400" y="4645152"/>
            <a:ext cx="11887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7808976" y="4700016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961120" y="4645152"/>
            <a:ext cx="16459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997696" y="4700016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675120" y="499262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711696" y="5047488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772400" y="4992624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7808976" y="504748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961120" y="4992624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8997696" y="504748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54"/>
          <p:cNvSpPr/>
          <p:nvPr/>
        </p:nvSpPr>
        <p:spPr>
          <a:xfrm>
            <a:off x="7658100" y="3346704"/>
            <a:ext cx="14173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55"/>
          <p:cNvSpPr txBox="1"/>
          <p:nvPr/>
        </p:nvSpPr>
        <p:spPr>
          <a:xfrm>
            <a:off x="7749540" y="3383280"/>
            <a:ext cx="123444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COLUMN</a:t>
            </a:r>
          </a:p>
        </p:txBody>
      </p:sp>
      <p:sp>
        <p:nvSpPr>
          <p:cNvPr id="56" name="t56"/>
          <p:cNvSpPr txBox="1"/>
          <p:nvPr/>
        </p:nvSpPr>
        <p:spPr>
          <a:xfrm>
            <a:off x="7749540" y="3566160"/>
            <a:ext cx="1234440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attribute</a:t>
            </a:r>
          </a:p>
        </p:txBody>
      </p:sp>
      <p:sp>
        <p:nvSpPr>
          <p:cNvPr id="57" name="arr57"/>
          <p:cNvSpPr/>
          <p:nvPr/>
        </p:nvSpPr>
        <p:spPr>
          <a:xfrm>
            <a:off x="8366760" y="3749040"/>
            <a:ext cx="9144" cy="201168"/>
          </a:xfrm>
          <a:prstGeom prst="line">
            <a:avLst/>
          </a:prstGeom>
          <a:noFill/>
          <a:ln w="11430">
            <a:solidFill>
              <a:srgbClr val="A78BFA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58"/>
          <p:cNvSpPr/>
          <p:nvPr/>
        </p:nvSpPr>
        <p:spPr>
          <a:xfrm>
            <a:off x="10698480" y="4617720"/>
            <a:ext cx="11887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t59"/>
          <p:cNvSpPr txBox="1"/>
          <p:nvPr/>
        </p:nvSpPr>
        <p:spPr>
          <a:xfrm>
            <a:off x="10789919" y="4654296"/>
            <a:ext cx="1078992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ROW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10789919" y="4837176"/>
            <a:ext cx="1078992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record</a:t>
            </a:r>
          </a:p>
        </p:txBody>
      </p:sp>
      <p:sp>
        <p:nvSpPr>
          <p:cNvPr id="61" name="arr61"/>
          <p:cNvSpPr/>
          <p:nvPr/>
        </p:nvSpPr>
        <p:spPr>
          <a:xfrm>
            <a:off x="10607040" y="4818888"/>
            <a:ext cx="91439" cy="9144"/>
          </a:xfrm>
          <a:prstGeom prst="line">
            <a:avLst/>
          </a:prstGeom>
          <a:noFill/>
          <a:ln w="11430">
            <a:solidFill>
              <a:srgbClr val="4FC3F7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62"/>
          <p:cNvSpPr txBox="1"/>
          <p:nvPr/>
        </p:nvSpPr>
        <p:spPr>
          <a:xfrm>
            <a:off x="6675120" y="5449824"/>
            <a:ext cx="3931920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  (table)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DD7B7D-C694-80C2-4EBE-A2A665ECFF09}"/>
              </a:ext>
            </a:extLst>
          </p:cNvPr>
          <p:cNvSpPr txBox="1"/>
          <p:nvPr/>
        </p:nvSpPr>
        <p:spPr>
          <a:xfrm>
            <a:off x="7472362" y="3993249"/>
            <a:ext cx="3714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kumimoji="0" lang="en-PH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51">
            <a:extLst>
              <a:ext uri="{FF2B5EF4-FFF2-40B4-BE49-F238E27FC236}">
                <a16:creationId xmlns:a16="http://schemas.microsoft.com/office/drawing/2014/main" id="{E8F04037-771D-C5D2-EC3A-9DBDA249153D}"/>
              </a:ext>
            </a:extLst>
          </p:cNvPr>
          <p:cNvSpPr/>
          <p:nvPr/>
        </p:nvSpPr>
        <p:spPr>
          <a:xfrm>
            <a:off x="6675120" y="3950208"/>
            <a:ext cx="3931920" cy="1389888"/>
          </a:xfrm>
          <a:prstGeom prst="rect">
            <a:avLst/>
          </a:prstGeom>
          <a:noFill/>
          <a:ln w="12700">
            <a:solidFill>
              <a:srgbClr val="00C9A7"/>
            </a:solidFill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3 · DATABASES &amp; DATA STRUCTURE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11247120" cy="6217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Why Not Just One Big Table?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347472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❌  One flat table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45720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If the same accommodation appears in many visits — it is repeated every time.</a:t>
            </a:r>
          </a:p>
        </p:txBody>
      </p:sp>
      <p:sp>
        <p:nvSpPr>
          <p:cNvPr id="106" name="r106"/>
          <p:cNvSpPr/>
          <p:nvPr/>
        </p:nvSpPr>
        <p:spPr>
          <a:xfrm>
            <a:off x="45720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107"/>
          <p:cNvSpPr txBox="1"/>
          <p:nvPr/>
        </p:nvSpPr>
        <p:spPr>
          <a:xfrm>
            <a:off x="53035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08" name="r108"/>
          <p:cNvSpPr/>
          <p:nvPr/>
        </p:nvSpPr>
        <p:spPr>
          <a:xfrm>
            <a:off x="146304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153619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10" name="r110"/>
          <p:cNvSpPr/>
          <p:nvPr/>
        </p:nvSpPr>
        <p:spPr>
          <a:xfrm>
            <a:off x="2468880" y="1627632"/>
            <a:ext cx="13716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42032" y="1719072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112" name="r112"/>
          <p:cNvSpPr/>
          <p:nvPr/>
        </p:nvSpPr>
        <p:spPr>
          <a:xfrm>
            <a:off x="3840480" y="1627632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3913632" y="1719072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destination</a:t>
            </a:r>
          </a:p>
        </p:txBody>
      </p:sp>
      <p:sp>
        <p:nvSpPr>
          <p:cNvPr id="114" name="r114"/>
          <p:cNvSpPr/>
          <p:nvPr/>
        </p:nvSpPr>
        <p:spPr>
          <a:xfrm>
            <a:off x="4937760" y="1627632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010912" y="1719072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116" name="r116"/>
          <p:cNvSpPr/>
          <p:nvPr/>
        </p:nvSpPr>
        <p:spPr>
          <a:xfrm>
            <a:off x="45720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117"/>
          <p:cNvSpPr txBox="1"/>
          <p:nvPr/>
        </p:nvSpPr>
        <p:spPr>
          <a:xfrm>
            <a:off x="53035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18" name="r118"/>
          <p:cNvSpPr/>
          <p:nvPr/>
        </p:nvSpPr>
        <p:spPr>
          <a:xfrm>
            <a:off x="146304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t119"/>
          <p:cNvSpPr txBox="1"/>
          <p:nvPr/>
        </p:nvSpPr>
        <p:spPr>
          <a:xfrm>
            <a:off x="153619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20" name="r120"/>
          <p:cNvSpPr/>
          <p:nvPr/>
        </p:nvSpPr>
        <p:spPr>
          <a:xfrm>
            <a:off x="2468880" y="197510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2542032" y="2066544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22" name="r122"/>
          <p:cNvSpPr/>
          <p:nvPr/>
        </p:nvSpPr>
        <p:spPr>
          <a:xfrm>
            <a:off x="3840480" y="197510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3913632" y="2066544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Boracay</a:t>
            </a:r>
          </a:p>
        </p:txBody>
      </p:sp>
      <p:sp>
        <p:nvSpPr>
          <p:cNvPr id="124" name="r124"/>
          <p:cNvSpPr/>
          <p:nvPr/>
        </p:nvSpPr>
        <p:spPr>
          <a:xfrm>
            <a:off x="4937760" y="1975104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5010912" y="2066544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126" name="r126"/>
          <p:cNvSpPr/>
          <p:nvPr/>
        </p:nvSpPr>
        <p:spPr>
          <a:xfrm>
            <a:off x="45720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3035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28" name="r128"/>
          <p:cNvSpPr/>
          <p:nvPr/>
        </p:nvSpPr>
        <p:spPr>
          <a:xfrm>
            <a:off x="146304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9" name="t129"/>
          <p:cNvSpPr txBox="1"/>
          <p:nvPr/>
        </p:nvSpPr>
        <p:spPr>
          <a:xfrm>
            <a:off x="153619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30" name="r130"/>
          <p:cNvSpPr/>
          <p:nvPr/>
        </p:nvSpPr>
        <p:spPr>
          <a:xfrm>
            <a:off x="2468880" y="232257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t131"/>
          <p:cNvSpPr txBox="1"/>
          <p:nvPr/>
        </p:nvSpPr>
        <p:spPr>
          <a:xfrm>
            <a:off x="2542032" y="2414016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32" name="r132"/>
          <p:cNvSpPr/>
          <p:nvPr/>
        </p:nvSpPr>
        <p:spPr>
          <a:xfrm>
            <a:off x="3840480" y="2322576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t133"/>
          <p:cNvSpPr txBox="1"/>
          <p:nvPr/>
        </p:nvSpPr>
        <p:spPr>
          <a:xfrm>
            <a:off x="3913632" y="2414016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El Nido</a:t>
            </a:r>
          </a:p>
        </p:txBody>
      </p:sp>
      <p:sp>
        <p:nvSpPr>
          <p:cNvPr id="134" name="r134"/>
          <p:cNvSpPr/>
          <p:nvPr/>
        </p:nvSpPr>
        <p:spPr>
          <a:xfrm>
            <a:off x="4937760" y="2322576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5" name="t135"/>
          <p:cNvSpPr txBox="1"/>
          <p:nvPr/>
        </p:nvSpPr>
        <p:spPr>
          <a:xfrm>
            <a:off x="5010912" y="2414016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136" name="r136"/>
          <p:cNvSpPr/>
          <p:nvPr/>
        </p:nvSpPr>
        <p:spPr>
          <a:xfrm>
            <a:off x="45720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7" name="t137"/>
          <p:cNvSpPr txBox="1"/>
          <p:nvPr/>
        </p:nvSpPr>
        <p:spPr>
          <a:xfrm>
            <a:off x="53035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38" name="r138"/>
          <p:cNvSpPr/>
          <p:nvPr/>
        </p:nvSpPr>
        <p:spPr>
          <a:xfrm>
            <a:off x="146304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9" name="t139"/>
          <p:cNvSpPr txBox="1"/>
          <p:nvPr/>
        </p:nvSpPr>
        <p:spPr>
          <a:xfrm>
            <a:off x="153619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40" name="r140"/>
          <p:cNvSpPr/>
          <p:nvPr/>
        </p:nvSpPr>
        <p:spPr>
          <a:xfrm>
            <a:off x="2468880" y="267004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1" name="t141"/>
          <p:cNvSpPr txBox="1"/>
          <p:nvPr/>
        </p:nvSpPr>
        <p:spPr>
          <a:xfrm>
            <a:off x="2542032" y="2761488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42" name="r142"/>
          <p:cNvSpPr/>
          <p:nvPr/>
        </p:nvSpPr>
        <p:spPr>
          <a:xfrm>
            <a:off x="3840480" y="2670048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3" name="t143"/>
          <p:cNvSpPr txBox="1"/>
          <p:nvPr/>
        </p:nvSpPr>
        <p:spPr>
          <a:xfrm>
            <a:off x="3913632" y="2761488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Siargao</a:t>
            </a:r>
          </a:p>
        </p:txBody>
      </p:sp>
      <p:sp>
        <p:nvSpPr>
          <p:cNvPr id="144" name="r144"/>
          <p:cNvSpPr/>
          <p:nvPr/>
        </p:nvSpPr>
        <p:spPr>
          <a:xfrm>
            <a:off x="4937760" y="2670048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t145"/>
          <p:cNvSpPr txBox="1"/>
          <p:nvPr/>
        </p:nvSpPr>
        <p:spPr>
          <a:xfrm>
            <a:off x="5010912" y="2761488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146" name="r146"/>
          <p:cNvSpPr/>
          <p:nvPr/>
        </p:nvSpPr>
        <p:spPr>
          <a:xfrm>
            <a:off x="45720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t147"/>
          <p:cNvSpPr txBox="1"/>
          <p:nvPr/>
        </p:nvSpPr>
        <p:spPr>
          <a:xfrm>
            <a:off x="53035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48" name="r148"/>
          <p:cNvSpPr/>
          <p:nvPr/>
        </p:nvSpPr>
        <p:spPr>
          <a:xfrm>
            <a:off x="146304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t149"/>
          <p:cNvSpPr txBox="1"/>
          <p:nvPr/>
        </p:nvSpPr>
        <p:spPr>
          <a:xfrm>
            <a:off x="153619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50" name="r150"/>
          <p:cNvSpPr/>
          <p:nvPr/>
        </p:nvSpPr>
        <p:spPr>
          <a:xfrm>
            <a:off x="2468880" y="3017520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t151"/>
          <p:cNvSpPr txBox="1"/>
          <p:nvPr/>
        </p:nvSpPr>
        <p:spPr>
          <a:xfrm>
            <a:off x="2542032" y="3108960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52" name="r152"/>
          <p:cNvSpPr/>
          <p:nvPr/>
        </p:nvSpPr>
        <p:spPr>
          <a:xfrm>
            <a:off x="3840480" y="3017520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t153"/>
          <p:cNvSpPr txBox="1"/>
          <p:nvPr/>
        </p:nvSpPr>
        <p:spPr>
          <a:xfrm>
            <a:off x="3913632" y="3108960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Coron</a:t>
            </a:r>
          </a:p>
        </p:txBody>
      </p:sp>
      <p:sp>
        <p:nvSpPr>
          <p:cNvPr id="154" name="r154"/>
          <p:cNvSpPr/>
          <p:nvPr/>
        </p:nvSpPr>
        <p:spPr>
          <a:xfrm>
            <a:off x="4937760" y="3017520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t155"/>
          <p:cNvSpPr txBox="1"/>
          <p:nvPr/>
        </p:nvSpPr>
        <p:spPr>
          <a:xfrm>
            <a:off x="5010912" y="3108960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20,000</a:t>
            </a:r>
          </a:p>
        </p:txBody>
      </p:sp>
      <p:sp>
        <p:nvSpPr>
          <p:cNvPr id="156" name="r156"/>
          <p:cNvSpPr/>
          <p:nvPr/>
        </p:nvSpPr>
        <p:spPr>
          <a:xfrm>
            <a:off x="457200" y="1627632"/>
            <a:ext cx="5120640" cy="1737360"/>
          </a:xfrm>
          <a:prstGeom prst="rect">
            <a:avLst/>
          </a:prstGeom>
          <a:noFill/>
          <a:ln w="1016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r157"/>
          <p:cNvSpPr/>
          <p:nvPr/>
        </p:nvSpPr>
        <p:spPr>
          <a:xfrm>
            <a:off x="109728" y="1975104"/>
            <a:ext cx="256032" cy="1389888"/>
          </a:xfrm>
          <a:prstGeom prst="rect">
            <a:avLst/>
          </a:prstGeom>
          <a:solidFill>
            <a:srgbClr val="EF4444"/>
          </a:solidFill>
          <a:ln w="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t158"/>
          <p:cNvSpPr txBox="1"/>
          <p:nvPr/>
        </p:nvSpPr>
        <p:spPr>
          <a:xfrm>
            <a:off x="128016" y="2392070"/>
            <a:ext cx="219456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</a:t>
            </a:r>
          </a:p>
        </p:txBody>
      </p:sp>
      <p:sp>
        <p:nvSpPr>
          <p:cNvPr id="159" name="r159"/>
          <p:cNvSpPr/>
          <p:nvPr/>
        </p:nvSpPr>
        <p:spPr>
          <a:xfrm>
            <a:off x="457200" y="3493008"/>
            <a:ext cx="5120640" cy="475488"/>
          </a:xfrm>
          <a:prstGeom prst="rect">
            <a:avLst/>
          </a:prstGeom>
          <a:solidFill>
            <a:srgbClr val="2A0A0A"/>
          </a:solidFill>
          <a:ln w="762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t160"/>
          <p:cNvSpPr txBox="1"/>
          <p:nvPr/>
        </p:nvSpPr>
        <p:spPr>
          <a:xfrm>
            <a:off x="640080" y="3547872"/>
            <a:ext cx="48463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  Update anomaly: if this property reclassifies</a:t>
            </a:r>
          </a:p>
        </p:txBody>
      </p:sp>
      <p:sp>
        <p:nvSpPr>
          <p:cNvPr id="161" name="t161"/>
          <p:cNvSpPr txBox="1"/>
          <p:nvPr/>
        </p:nvSpPr>
        <p:spPr>
          <a:xfrm>
            <a:off x="640080" y="3749039"/>
            <a:ext cx="48463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from Hostel to Guesthouse — update 4 rows or data is wrong.</a:t>
            </a:r>
          </a:p>
        </p:txBody>
      </p:sp>
      <p:sp>
        <p:nvSpPr>
          <p:cNvPr id="162" name="r162"/>
          <p:cNvSpPr/>
          <p:nvPr/>
        </p:nvSpPr>
        <p:spPr>
          <a:xfrm>
            <a:off x="457200" y="4096511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3" name="t163"/>
          <p:cNvSpPr txBox="1"/>
          <p:nvPr/>
        </p:nvSpPr>
        <p:spPr>
          <a:xfrm>
            <a:off x="594360" y="4187951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🔁</a:t>
            </a:r>
          </a:p>
        </p:txBody>
      </p:sp>
      <p:sp>
        <p:nvSpPr>
          <p:cNvPr id="164" name="t164"/>
          <p:cNvSpPr txBox="1"/>
          <p:nvPr/>
        </p:nvSpPr>
        <p:spPr>
          <a:xfrm>
            <a:off x="1005840" y="4151375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Redundancy</a:t>
            </a:r>
          </a:p>
        </p:txBody>
      </p:sp>
      <p:sp>
        <p:nvSpPr>
          <p:cNvPr id="165" name="t165"/>
          <p:cNvSpPr txBox="1"/>
          <p:nvPr/>
        </p:nvSpPr>
        <p:spPr>
          <a:xfrm>
            <a:off x="1005840" y="4334255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Same data repeated across many rows</a:t>
            </a:r>
          </a:p>
        </p:txBody>
      </p:sp>
      <p:sp>
        <p:nvSpPr>
          <p:cNvPr id="166" name="r166"/>
          <p:cNvSpPr/>
          <p:nvPr/>
        </p:nvSpPr>
        <p:spPr>
          <a:xfrm>
            <a:off x="457200" y="4608575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t167"/>
          <p:cNvSpPr txBox="1"/>
          <p:nvPr/>
        </p:nvSpPr>
        <p:spPr>
          <a:xfrm>
            <a:off x="594360" y="4700015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✏️</a:t>
            </a:r>
          </a:p>
        </p:txBody>
      </p:sp>
      <p:sp>
        <p:nvSpPr>
          <p:cNvPr id="168" name="t168"/>
          <p:cNvSpPr txBox="1"/>
          <p:nvPr/>
        </p:nvSpPr>
        <p:spPr>
          <a:xfrm>
            <a:off x="1005840" y="4663439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Update Anomaly</a:t>
            </a:r>
          </a:p>
        </p:txBody>
      </p:sp>
      <p:sp>
        <p:nvSpPr>
          <p:cNvPr id="169" name="t169"/>
          <p:cNvSpPr txBox="1"/>
          <p:nvPr/>
        </p:nvSpPr>
        <p:spPr>
          <a:xfrm>
            <a:off x="1005840" y="4846319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Change one row, forget another — data becomes inconsistent</a:t>
            </a:r>
          </a:p>
        </p:txBody>
      </p:sp>
      <p:sp>
        <p:nvSpPr>
          <p:cNvPr id="170" name="r170"/>
          <p:cNvSpPr/>
          <p:nvPr/>
        </p:nvSpPr>
        <p:spPr>
          <a:xfrm>
            <a:off x="457200" y="5120640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1" name="t171"/>
          <p:cNvSpPr txBox="1"/>
          <p:nvPr/>
        </p:nvSpPr>
        <p:spPr>
          <a:xfrm>
            <a:off x="594360" y="5212079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🗑️</a:t>
            </a:r>
          </a:p>
        </p:txBody>
      </p:sp>
      <p:sp>
        <p:nvSpPr>
          <p:cNvPr id="172" name="t172"/>
          <p:cNvSpPr txBox="1"/>
          <p:nvPr/>
        </p:nvSpPr>
        <p:spPr>
          <a:xfrm>
            <a:off x="1005840" y="5175503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Deletion Anomaly</a:t>
            </a:r>
          </a:p>
        </p:txBody>
      </p:sp>
      <p:sp>
        <p:nvSpPr>
          <p:cNvPr id="173" name="t173"/>
          <p:cNvSpPr txBox="1"/>
          <p:nvPr/>
        </p:nvSpPr>
        <p:spPr>
          <a:xfrm>
            <a:off x="1005840" y="5358383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Delete a tourist and you lose all their visit records</a:t>
            </a:r>
          </a:p>
        </p:txBody>
      </p:sp>
      <p:sp>
        <p:nvSpPr>
          <p:cNvPr id="174" name="r174"/>
          <p:cNvSpPr/>
          <p:nvPr/>
        </p:nvSpPr>
        <p:spPr>
          <a:xfrm>
            <a:off x="6144768" y="1078992"/>
            <a:ext cx="36576" cy="5577840"/>
          </a:xfrm>
          <a:prstGeom prst="rect">
            <a:avLst/>
          </a:prstGeom>
          <a:solidFill>
            <a:srgbClr val="1A3040"/>
          </a:solidFill>
          <a:ln w="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t175"/>
          <p:cNvSpPr txBox="1"/>
          <p:nvPr/>
        </p:nvSpPr>
        <p:spPr>
          <a:xfrm>
            <a:off x="635508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 Separate tables</a:t>
            </a:r>
          </a:p>
        </p:txBody>
      </p:sp>
      <p:sp>
        <p:nvSpPr>
          <p:cNvPr id="176" name="t176"/>
          <p:cNvSpPr txBox="1"/>
          <p:nvPr/>
        </p:nvSpPr>
        <p:spPr>
          <a:xfrm>
            <a:off x="635508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Each piece of information stored exactly once.</a:t>
            </a:r>
          </a:p>
        </p:txBody>
      </p:sp>
      <p:sp>
        <p:nvSpPr>
          <p:cNvPr id="177" name="r177"/>
          <p:cNvSpPr/>
          <p:nvPr/>
        </p:nvSpPr>
        <p:spPr>
          <a:xfrm>
            <a:off x="635508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t178"/>
          <p:cNvSpPr txBox="1"/>
          <p:nvPr/>
        </p:nvSpPr>
        <p:spPr>
          <a:xfrm>
            <a:off x="642823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79" name="r179"/>
          <p:cNvSpPr/>
          <p:nvPr/>
        </p:nvSpPr>
        <p:spPr>
          <a:xfrm>
            <a:off x="736092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t180"/>
          <p:cNvSpPr txBox="1"/>
          <p:nvPr/>
        </p:nvSpPr>
        <p:spPr>
          <a:xfrm>
            <a:off x="743407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81" name="r181"/>
          <p:cNvSpPr/>
          <p:nvPr/>
        </p:nvSpPr>
        <p:spPr>
          <a:xfrm>
            <a:off x="8366760" y="1627632"/>
            <a:ext cx="13716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t182"/>
          <p:cNvSpPr txBox="1"/>
          <p:nvPr/>
        </p:nvSpPr>
        <p:spPr>
          <a:xfrm>
            <a:off x="8439912" y="1719072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183" name="r183"/>
          <p:cNvSpPr/>
          <p:nvPr/>
        </p:nvSpPr>
        <p:spPr>
          <a:xfrm>
            <a:off x="635508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184"/>
          <p:cNvSpPr txBox="1"/>
          <p:nvPr/>
        </p:nvSpPr>
        <p:spPr>
          <a:xfrm>
            <a:off x="642823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85" name="r185"/>
          <p:cNvSpPr/>
          <p:nvPr/>
        </p:nvSpPr>
        <p:spPr>
          <a:xfrm>
            <a:off x="736092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186"/>
          <p:cNvSpPr txBox="1"/>
          <p:nvPr/>
        </p:nvSpPr>
        <p:spPr>
          <a:xfrm>
            <a:off x="743407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87" name="r187"/>
          <p:cNvSpPr/>
          <p:nvPr/>
        </p:nvSpPr>
        <p:spPr>
          <a:xfrm>
            <a:off x="8366760" y="197510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8" name="t188"/>
          <p:cNvSpPr txBox="1"/>
          <p:nvPr/>
        </p:nvSpPr>
        <p:spPr>
          <a:xfrm>
            <a:off x="8439912" y="2066544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89" name="r189"/>
          <p:cNvSpPr/>
          <p:nvPr/>
        </p:nvSpPr>
        <p:spPr>
          <a:xfrm>
            <a:off x="635508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0" name="t190"/>
          <p:cNvSpPr txBox="1"/>
          <p:nvPr/>
        </p:nvSpPr>
        <p:spPr>
          <a:xfrm>
            <a:off x="642823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191" name="r191"/>
          <p:cNvSpPr/>
          <p:nvPr/>
        </p:nvSpPr>
        <p:spPr>
          <a:xfrm>
            <a:off x="736092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t192"/>
          <p:cNvSpPr txBox="1"/>
          <p:nvPr/>
        </p:nvSpPr>
        <p:spPr>
          <a:xfrm>
            <a:off x="743407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Smith</a:t>
            </a:r>
          </a:p>
        </p:txBody>
      </p:sp>
      <p:sp>
        <p:nvSpPr>
          <p:cNvPr id="193" name="r193"/>
          <p:cNvSpPr/>
          <p:nvPr/>
        </p:nvSpPr>
        <p:spPr>
          <a:xfrm>
            <a:off x="8366760" y="232257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4" name="t194"/>
          <p:cNvSpPr txBox="1"/>
          <p:nvPr/>
        </p:nvSpPr>
        <p:spPr>
          <a:xfrm>
            <a:off x="8439912" y="2414016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Guesthouse</a:t>
            </a:r>
          </a:p>
        </p:txBody>
      </p:sp>
      <p:sp>
        <p:nvSpPr>
          <p:cNvPr id="195" name="r195"/>
          <p:cNvSpPr/>
          <p:nvPr/>
        </p:nvSpPr>
        <p:spPr>
          <a:xfrm>
            <a:off x="6355080" y="1627632"/>
            <a:ext cx="3383280" cy="1042416"/>
          </a:xfrm>
          <a:prstGeom prst="rect">
            <a:avLst/>
          </a:prstGeom>
          <a:noFill/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6" name="t196"/>
          <p:cNvSpPr txBox="1"/>
          <p:nvPr/>
        </p:nvSpPr>
        <p:spPr>
          <a:xfrm>
            <a:off x="6355080" y="2743200"/>
            <a:ext cx="33832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</a:t>
            </a:r>
          </a:p>
        </p:txBody>
      </p:sp>
      <p:sp>
        <p:nvSpPr>
          <p:cNvPr id="197" name="r197"/>
          <p:cNvSpPr/>
          <p:nvPr/>
        </p:nvSpPr>
        <p:spPr>
          <a:xfrm>
            <a:off x="6862572" y="3054096"/>
            <a:ext cx="36576" cy="347472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r198"/>
          <p:cNvSpPr/>
          <p:nvPr/>
        </p:nvSpPr>
        <p:spPr>
          <a:xfrm>
            <a:off x="6862572" y="3401568"/>
            <a:ext cx="2368296" cy="36576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r199"/>
          <p:cNvSpPr/>
          <p:nvPr/>
        </p:nvSpPr>
        <p:spPr>
          <a:xfrm>
            <a:off x="9194292" y="3401568"/>
            <a:ext cx="36576" cy="38404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0" name="t200"/>
          <p:cNvSpPr txBox="1"/>
          <p:nvPr/>
        </p:nvSpPr>
        <p:spPr>
          <a:xfrm>
            <a:off x="7200900" y="3108960"/>
            <a:ext cx="2286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  (FK)</a:t>
            </a:r>
          </a:p>
        </p:txBody>
      </p:sp>
      <p:sp>
        <p:nvSpPr>
          <p:cNvPr id="201" name="r201"/>
          <p:cNvSpPr/>
          <p:nvPr/>
        </p:nvSpPr>
        <p:spPr>
          <a:xfrm>
            <a:off x="6355080" y="3858768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2" name="t202"/>
          <p:cNvSpPr txBox="1"/>
          <p:nvPr/>
        </p:nvSpPr>
        <p:spPr>
          <a:xfrm>
            <a:off x="6428232" y="3950207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visit_id</a:t>
            </a:r>
          </a:p>
        </p:txBody>
      </p:sp>
      <p:sp>
        <p:nvSpPr>
          <p:cNvPr id="203" name="r203"/>
          <p:cNvSpPr/>
          <p:nvPr/>
        </p:nvSpPr>
        <p:spPr>
          <a:xfrm>
            <a:off x="73609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4" name="t204"/>
          <p:cNvSpPr txBox="1"/>
          <p:nvPr/>
        </p:nvSpPr>
        <p:spPr>
          <a:xfrm>
            <a:off x="7434072" y="3950207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205" name="r205"/>
          <p:cNvSpPr/>
          <p:nvPr/>
        </p:nvSpPr>
        <p:spPr>
          <a:xfrm>
            <a:off x="82753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6" name="t206"/>
          <p:cNvSpPr txBox="1"/>
          <p:nvPr/>
        </p:nvSpPr>
        <p:spPr>
          <a:xfrm>
            <a:off x="8348472" y="3950207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destination_id</a:t>
            </a:r>
          </a:p>
        </p:txBody>
      </p:sp>
      <p:sp>
        <p:nvSpPr>
          <p:cNvPr id="207" name="r207"/>
          <p:cNvSpPr/>
          <p:nvPr/>
        </p:nvSpPr>
        <p:spPr>
          <a:xfrm>
            <a:off x="9189720" y="3858768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8" name="t208"/>
          <p:cNvSpPr txBox="1"/>
          <p:nvPr/>
        </p:nvSpPr>
        <p:spPr>
          <a:xfrm>
            <a:off x="9262872" y="3950207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209" name="r209"/>
          <p:cNvSpPr/>
          <p:nvPr/>
        </p:nvSpPr>
        <p:spPr>
          <a:xfrm>
            <a:off x="6355080" y="4206240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0" name="t210"/>
          <p:cNvSpPr txBox="1"/>
          <p:nvPr/>
        </p:nvSpPr>
        <p:spPr>
          <a:xfrm>
            <a:off x="6428232" y="4297679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V001</a:t>
            </a:r>
          </a:p>
        </p:txBody>
      </p:sp>
      <p:sp>
        <p:nvSpPr>
          <p:cNvPr id="211" name="r211"/>
          <p:cNvSpPr/>
          <p:nvPr/>
        </p:nvSpPr>
        <p:spPr>
          <a:xfrm>
            <a:off x="73609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2" name="t212"/>
          <p:cNvSpPr txBox="1"/>
          <p:nvPr/>
        </p:nvSpPr>
        <p:spPr>
          <a:xfrm>
            <a:off x="74340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13" name="r213"/>
          <p:cNvSpPr/>
          <p:nvPr/>
        </p:nvSpPr>
        <p:spPr>
          <a:xfrm>
            <a:off x="82753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4" name="t214"/>
          <p:cNvSpPr txBox="1"/>
          <p:nvPr/>
        </p:nvSpPr>
        <p:spPr>
          <a:xfrm>
            <a:off x="83484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D01</a:t>
            </a:r>
          </a:p>
        </p:txBody>
      </p:sp>
      <p:sp>
        <p:nvSpPr>
          <p:cNvPr id="215" name="r215"/>
          <p:cNvSpPr/>
          <p:nvPr/>
        </p:nvSpPr>
        <p:spPr>
          <a:xfrm>
            <a:off x="9189720" y="4206240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6" name="t216"/>
          <p:cNvSpPr txBox="1"/>
          <p:nvPr/>
        </p:nvSpPr>
        <p:spPr>
          <a:xfrm>
            <a:off x="9262872" y="4297679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217" name="r217"/>
          <p:cNvSpPr/>
          <p:nvPr/>
        </p:nvSpPr>
        <p:spPr>
          <a:xfrm>
            <a:off x="6355080" y="4553712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8" name="t218"/>
          <p:cNvSpPr txBox="1"/>
          <p:nvPr/>
        </p:nvSpPr>
        <p:spPr>
          <a:xfrm>
            <a:off x="6428232" y="4645151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V002</a:t>
            </a:r>
          </a:p>
        </p:txBody>
      </p:sp>
      <p:sp>
        <p:nvSpPr>
          <p:cNvPr id="219" name="r219"/>
          <p:cNvSpPr/>
          <p:nvPr/>
        </p:nvSpPr>
        <p:spPr>
          <a:xfrm>
            <a:off x="73609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0" name="t220"/>
          <p:cNvSpPr txBox="1"/>
          <p:nvPr/>
        </p:nvSpPr>
        <p:spPr>
          <a:xfrm>
            <a:off x="74340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21" name="r221"/>
          <p:cNvSpPr/>
          <p:nvPr/>
        </p:nvSpPr>
        <p:spPr>
          <a:xfrm>
            <a:off x="82753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2" name="t222"/>
          <p:cNvSpPr txBox="1"/>
          <p:nvPr/>
        </p:nvSpPr>
        <p:spPr>
          <a:xfrm>
            <a:off x="83484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D02</a:t>
            </a:r>
          </a:p>
        </p:txBody>
      </p:sp>
      <p:sp>
        <p:nvSpPr>
          <p:cNvPr id="223" name="r223"/>
          <p:cNvSpPr/>
          <p:nvPr/>
        </p:nvSpPr>
        <p:spPr>
          <a:xfrm>
            <a:off x="9189720" y="4553712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4" name="t224"/>
          <p:cNvSpPr txBox="1"/>
          <p:nvPr/>
        </p:nvSpPr>
        <p:spPr>
          <a:xfrm>
            <a:off x="9262872" y="4645151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225" name="r225"/>
          <p:cNvSpPr/>
          <p:nvPr/>
        </p:nvSpPr>
        <p:spPr>
          <a:xfrm>
            <a:off x="6355080" y="4901183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6" name="t226"/>
          <p:cNvSpPr txBox="1"/>
          <p:nvPr/>
        </p:nvSpPr>
        <p:spPr>
          <a:xfrm>
            <a:off x="6428232" y="4992623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V003</a:t>
            </a:r>
          </a:p>
        </p:txBody>
      </p:sp>
      <p:sp>
        <p:nvSpPr>
          <p:cNvPr id="227" name="r227"/>
          <p:cNvSpPr/>
          <p:nvPr/>
        </p:nvSpPr>
        <p:spPr>
          <a:xfrm>
            <a:off x="73609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t228"/>
          <p:cNvSpPr txBox="1"/>
          <p:nvPr/>
        </p:nvSpPr>
        <p:spPr>
          <a:xfrm>
            <a:off x="74340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229" name="r229"/>
          <p:cNvSpPr/>
          <p:nvPr/>
        </p:nvSpPr>
        <p:spPr>
          <a:xfrm>
            <a:off x="82753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t230"/>
          <p:cNvSpPr txBox="1"/>
          <p:nvPr/>
        </p:nvSpPr>
        <p:spPr>
          <a:xfrm>
            <a:off x="83484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D01</a:t>
            </a:r>
          </a:p>
        </p:txBody>
      </p:sp>
      <p:sp>
        <p:nvSpPr>
          <p:cNvPr id="231" name="r231"/>
          <p:cNvSpPr/>
          <p:nvPr/>
        </p:nvSpPr>
        <p:spPr>
          <a:xfrm>
            <a:off x="9189720" y="4901183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t232"/>
          <p:cNvSpPr txBox="1"/>
          <p:nvPr/>
        </p:nvSpPr>
        <p:spPr>
          <a:xfrm>
            <a:off x="9262872" y="4992623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233" name="r233"/>
          <p:cNvSpPr/>
          <p:nvPr/>
        </p:nvSpPr>
        <p:spPr>
          <a:xfrm>
            <a:off x="6355080" y="3858768"/>
            <a:ext cx="3474720" cy="1389888"/>
          </a:xfrm>
          <a:prstGeom prst="rect">
            <a:avLst/>
          </a:prstGeom>
          <a:noFill/>
          <a:ln w="1016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t234"/>
          <p:cNvSpPr txBox="1"/>
          <p:nvPr/>
        </p:nvSpPr>
        <p:spPr>
          <a:xfrm>
            <a:off x="6355080" y="5321808"/>
            <a:ext cx="34747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visits</a:t>
            </a:r>
          </a:p>
        </p:txBody>
      </p:sp>
      <p:sp>
        <p:nvSpPr>
          <p:cNvPr id="235" name="r235"/>
          <p:cNvSpPr/>
          <p:nvPr/>
        </p:nvSpPr>
        <p:spPr>
          <a:xfrm>
            <a:off x="6355080" y="5596128"/>
            <a:ext cx="5577840" cy="475488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t236"/>
          <p:cNvSpPr txBox="1"/>
          <p:nvPr/>
        </p:nvSpPr>
        <p:spPr>
          <a:xfrm>
            <a:off x="6537960" y="5650992"/>
            <a:ext cx="53035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Accommodation stored once.</a:t>
            </a:r>
          </a:p>
        </p:txBody>
      </p:sp>
      <p:sp>
        <p:nvSpPr>
          <p:cNvPr id="237" name="t237"/>
          <p:cNvSpPr txBox="1"/>
          <p:nvPr/>
        </p:nvSpPr>
        <p:spPr>
          <a:xfrm>
            <a:off x="6537960" y="5843016"/>
            <a:ext cx="53035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Reclassify it? Update 1 row. Done.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Real Data is Organized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38988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PSA-style household survey database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548640" y="19293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548640" y="23042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household_id  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694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48640" y="26151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548640" y="292608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barangay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191256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548640" y="323697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income_bracket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874520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206240" y="1874520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4297680" y="19293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06240" y="22585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4297680" y="23042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member_id  🔑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06240" y="25694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4297680" y="26151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household_id  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06240" y="2880360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 txBox="1"/>
          <p:nvPr/>
        </p:nvSpPr>
        <p:spPr>
          <a:xfrm>
            <a:off x="4297680" y="292608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06240" y="3191256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4297680" y="323697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education_level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06240" y="1874520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7955280" y="1874520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046720" y="19293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employment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955280" y="22585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046720" y="23042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member_id  🔗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55280" y="25694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8046720" y="26151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employment_status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955280" y="2880360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046720" y="292608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occupation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955280" y="3191256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8046720" y="323697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955280" y="1874520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041648" y="2807208"/>
            <a:ext cx="164592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7790688" y="2807208"/>
            <a:ext cx="164592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640080" y="4690872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flat file — data is split across tables by design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212080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 42"/>
          <p:cNvSpPr txBox="1"/>
          <p:nvPr/>
        </p:nvSpPr>
        <p:spPr>
          <a:xfrm>
            <a:off x="640080" y="5285232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how you pull it back together into what you need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57200" y="5806440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Text 44"/>
          <p:cNvSpPr txBox="1"/>
          <p:nvPr/>
        </p:nvSpPr>
        <p:spPr>
          <a:xfrm>
            <a:off x="640080" y="5879592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 asking "average wage by education per region" needs all three — that's a SQL JOIN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 Fundamentals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SELECT  ·  WHERE  ·  ORDER BY  ·  GROUP BY  ·  Aggregate functions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Look at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I explain anything: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6217920" cy="2331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destination_name, region, category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77440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destinations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52928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category = 'Beach'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28416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destination_name ASC;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48272" y="2852928"/>
            <a:ext cx="502920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601968" y="259689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135331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1719072"/>
            <a:ext cx="137160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7452360" y="178308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778240" y="1719072"/>
            <a:ext cx="128016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823960" y="178308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0" y="1719072"/>
            <a:ext cx="201168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10104120" y="178308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06640" y="206654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7452360" y="213055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Boracay Island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78240" y="2066544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823960" y="2130552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Western Visayas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0" y="2066544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10104120" y="2130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06640" y="241401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7452360" y="24780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Panglao Island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778240" y="2414016"/>
            <a:ext cx="128016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823960" y="247802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Central Visayas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2414016"/>
            <a:ext cx="20116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10104120" y="247802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276148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7452360" y="282549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Siargao Island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761488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823960" y="282549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Caraga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0" y="2761488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10104120" y="28254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06640" y="1719072"/>
            <a:ext cx="4663440" cy="1389888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57200" y="4315968"/>
            <a:ext cx="11704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8"/>
          <p:cNvSpPr txBox="1"/>
          <p:nvPr/>
        </p:nvSpPr>
        <p:spPr>
          <a:xfrm>
            <a:off x="640080" y="442569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you've never seen SQL before — you can probably guess what this does just by reading it.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9961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👁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4996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51790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columns do you want to see?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0" y="15179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94360" y="221284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🗃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212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23113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 are you getting data from?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0" y="2231136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94360" y="29260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9260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94436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conditions must the data meet?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294436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9584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363931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39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36576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want to aggregate?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0" y="36576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42816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594360" y="435254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↕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15568" y="435254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43708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results be sorted?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0" y="43708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956048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594360" y="506577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✂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5065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50840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do you want back?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0" y="508406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FROM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destination_name, region FROM destinations;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destinations;   -- * means all columns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9077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594360" y="2999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0175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columns to return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5935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94360" y="36850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7033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table to look 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2793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94360" y="43708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semicolon  ;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43891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ends the query, like a period ends a sentence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983480"/>
            <a:ext cx="11247120" cy="566928"/>
          </a:xfrm>
          <a:prstGeom prst="rect">
            <a:avLst/>
          </a:prstGeom>
          <a:solidFill>
            <a:srgbClr val="0A1E30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594360" y="510235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5102352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SELECT * in real work — name your columns. Faster and clearer.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— Filtering Your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8412480" y="12801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WHERE: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0" y="1554480"/>
            <a:ext cx="3566160" cy="292608"/>
          </a:xfrm>
          <a:prstGeom prst="rect">
            <a:avLst/>
          </a:prstGeom>
          <a:solidFill>
            <a:srgbClr val="0F2A3F"/>
          </a:solidFill>
          <a:ln w="508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850392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24128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0" y="184708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8503920" y="188366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188366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412480" y="212140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8503920" y="21579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006840" y="215798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Heritage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412480" y="239572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8503920" y="2432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43230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412480" y="267004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8503920" y="270662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270662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412480" y="294436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8503920" y="298094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298094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829800" y="3584448"/>
            <a:ext cx="9144" cy="256032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8686800" y="3858768"/>
            <a:ext cx="3017520" cy="256032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778240" y="3913632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category = 'Beach'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829800" y="4133088"/>
            <a:ext cx="9144" cy="201168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412480" y="4370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WHERE: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412480" y="4645152"/>
            <a:ext cx="3566160" cy="292608"/>
          </a:xfrm>
          <a:prstGeom prst="rect">
            <a:avLst/>
          </a:prstGeom>
          <a:solidFill>
            <a:srgbClr val="0F2A3F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850392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412480" y="493776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Text 34"/>
          <p:cNvSpPr txBox="1"/>
          <p:nvPr/>
        </p:nvSpPr>
        <p:spPr>
          <a:xfrm>
            <a:off x="8503920" y="497433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006840" y="497433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412480" y="5212080"/>
            <a:ext cx="3566160" cy="246888"/>
          </a:xfrm>
          <a:prstGeom prst="rect">
            <a:avLst/>
          </a:prstGeom>
          <a:solidFill>
            <a:srgbClr val="0F2235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Text 37"/>
          <p:cNvSpPr txBox="1"/>
          <p:nvPr/>
        </p:nvSpPr>
        <p:spPr>
          <a:xfrm>
            <a:off x="8503920" y="524865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9006840" y="524865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412480" y="548640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8503920" y="552297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006840" y="55229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1280160"/>
            <a:ext cx="790956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Text 43"/>
          <p:cNvSpPr txBox="1"/>
          <p:nvPr/>
        </p:nvSpPr>
        <p:spPr>
          <a:xfrm>
            <a:off x="658368" y="1426464"/>
            <a:ext cx="764438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destinations WHERE category = 'Beach';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destinations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category = 'Beach'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region = ‘NCR';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34564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operators: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5720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Text 46"/>
          <p:cNvSpPr txBox="1"/>
          <p:nvPr/>
        </p:nvSpPr>
        <p:spPr>
          <a:xfrm>
            <a:off x="56692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!=  &gt;  &lt;  &gt;=  &lt;=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320040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61772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9"/>
          <p:cNvSpPr txBox="1"/>
          <p:nvPr/>
        </p:nvSpPr>
        <p:spPr>
          <a:xfrm>
            <a:off x="472744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 OR  NOT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36092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Text 52"/>
          <p:cNvSpPr txBox="1"/>
          <p:nvPr/>
        </p:nvSpPr>
        <p:spPr>
          <a:xfrm>
            <a:off x="56692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'%stat%'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20040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61772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Text 55"/>
          <p:cNvSpPr txBox="1"/>
          <p:nvPr/>
        </p:nvSpPr>
        <p:spPr>
          <a:xfrm>
            <a:off x="472744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('A','B')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36092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1000" dirty="0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0D246D71-96DD-42D1-D4A0-7821D0BBDE6B}"/>
              </a:ext>
            </a:extLst>
          </p:cNvPr>
          <p:cNvSpPr/>
          <p:nvPr/>
        </p:nvSpPr>
        <p:spPr>
          <a:xfrm>
            <a:off x="8412480" y="3211731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Text 11">
            <a:extLst>
              <a:ext uri="{FF2B5EF4-FFF2-40B4-BE49-F238E27FC236}">
                <a16:creationId xmlns:a16="http://schemas.microsoft.com/office/drawing/2014/main" id="{0497BD2E-252E-1C6D-F885-DC188301CD3C}"/>
              </a:ext>
            </a:extLst>
          </p:cNvPr>
          <p:cNvSpPr txBox="1"/>
          <p:nvPr/>
        </p:nvSpPr>
        <p:spPr>
          <a:xfrm>
            <a:off x="8513859" y="3245457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64" name="Text 12">
            <a:extLst>
              <a:ext uri="{FF2B5EF4-FFF2-40B4-BE49-F238E27FC236}">
                <a16:creationId xmlns:a16="http://schemas.microsoft.com/office/drawing/2014/main" id="{C355A00C-A878-E4CE-1DE5-EE25F39473B2}"/>
              </a:ext>
            </a:extLst>
          </p:cNvPr>
          <p:cNvSpPr txBox="1"/>
          <p:nvPr/>
        </p:nvSpPr>
        <p:spPr>
          <a:xfrm>
            <a:off x="9006840" y="3245325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and LIMIT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498080" cy="251460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737006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destination_name, spending_php FROM visits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spending_php DESC;   -- highest first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destination_name, spending_php FROM visits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spending_php DESC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LIMIT 10;            -- top 10 only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141732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🏆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8503920" y="2395728"/>
            <a:ext cx="3383280" cy="420624"/>
          </a:xfrm>
          <a:prstGeom prst="rect">
            <a:avLst/>
          </a:prstGeom>
          <a:solidFill>
            <a:srgbClr val="0F2A3F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8613648" y="2468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00684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Nido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442448" y="246888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24,999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89864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8613648" y="2971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006840" y="2971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Boracay Island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442448" y="297180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22,800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0" y="340156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613648" y="3474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3474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Siargao Island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442448" y="347472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21,500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400507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ASC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4014216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ascending (lowest → highest, the default)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 txBox="1"/>
          <p:nvPr/>
        </p:nvSpPr>
        <p:spPr>
          <a:xfrm>
            <a:off x="594360" y="466344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4672584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descending (highest → lowest)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5230368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594360" y="532180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783080" y="5330952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controls how many rows come back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5980176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640080" y="6089904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what would you change to get the BOTTOM 10 instead?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tourists;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How many tourists total?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AVG(spending_php) FROM visits;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Average spending per visit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MIN(spending_php), MAX(spending_php) FROM visits;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Lowest and highest spending
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SUM(length_of_stay) FROM visits WHERE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1;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-- Total nights stayed at D01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57200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Frequency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4408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264408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3264408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264408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Mean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71616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071616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071616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/ MAX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071616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Range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878824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878824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878824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8878824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Total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6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120160"/>
            <a:ext cx="7132320" cy="3246120"/>
          </a:xfrm>
          <a:prstGeom prst="rect">
            <a:avLst/>
          </a:prstGeom>
          <a:solidFill>
            <a:srgbClr val="0F2214"/>
          </a:solidFill>
          <a:ln w="61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186464"/>
            <a:ext cx="67299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nationality, COUNT(*) AS tourist_count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tourists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nationality;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category, ROUND(AVG(spending_php),2) AS avg_spending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tourists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visits v JOIN destinations d ON v.destination_id=d.destination_id GROUP BY category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avg_spending DESC;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3898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0" y="1719072"/>
            <a:ext cx="41148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7863840" y="178308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184159" y="1783080"/>
            <a:ext cx="1211427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 err="1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tourist_count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066544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7863840" y="2130552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184160" y="2130552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2450592"/>
            <a:ext cx="4114800" cy="347472"/>
          </a:xfrm>
          <a:prstGeom prst="rect">
            <a:avLst/>
          </a:prstGeom>
          <a:solidFill>
            <a:srgbClr val="0A1612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7863840" y="251460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184160" y="2514600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0" y="1234640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7863840" y="1298648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Filipino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184160" y="1298648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0" y="1719072"/>
            <a:ext cx="4114800" cy="1499616"/>
          </a:xfrm>
          <a:prstGeom prst="rect">
            <a:avLst/>
          </a:prstGeom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640080" y="396849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output row per group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 txBox="1"/>
          <p:nvPr/>
        </p:nvSpPr>
        <p:spPr>
          <a:xfrm>
            <a:off x="640080" y="456125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any aggregate: COUNT, AVG, SUM, MIN, MAX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074920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640080" y="515721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 renames the column to something readable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669120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40080" y="575157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nationality grouped and counted — your frequency table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destination_id, COUNT(*) AS visit_count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visits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destination_id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COUNT(*) &gt; 50;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Only destinations with more than 50 visits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5212080" cy="20116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36576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67588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879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raw rows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526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aggregation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520440"/>
            <a:ext cx="5212080" cy="20116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6400800" y="36576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367588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1879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aggregated results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4526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GROUP BY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50992" y="4251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 Beginners Make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21792" y="1527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527048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semicolon at the end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21792" y="22311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231136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nationality = American   (no quotes — wrong)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825496"/>
            <a:ext cx="11247120" cy="566928"/>
          </a:xfrm>
          <a:prstGeom prst="rect">
            <a:avLst/>
          </a:prstGeom>
          <a:solidFill>
            <a:srgbClr val="0A2218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21792" y="293522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2935224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nationality = 'American'   (quoted — correct)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29584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21792" y="363931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639312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= NULL instead of IS NULL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23367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21792" y="43434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4343400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a column in GROUP BY that's not in SELECT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621792" y="504748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5047488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to do everything in one query — break it into steps</a:t>
            </a:r>
            <a:endParaRPr lang="en-US" sz="1250" dirty="0"/>
          </a:p>
        </p:txBody>
      </p:sp>
    </p:spTree>
  </p:cSld>
  <p:clrMapOvr>
    <a:masterClrMapping/>
  </p:clrMapOvr>
  <p:transition spd="med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Handling NULLs  ·  Duplicates  ·  Data type considerations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NULLs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288036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visits WHERE spending_php IS NULL;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Find visits with no spending recorded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visits WHERE spending_php IS NOT NULL;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COALESCE(spending_php, 0) FROM visits;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Replace NULL with a default value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3520440" cy="109728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457200" y="4645152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04748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32180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never recorded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24528" y="4572000"/>
            <a:ext cx="3520440" cy="109728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4224528" y="4645152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504748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(zero)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34256" y="532180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value of zero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91856" y="4572000"/>
            <a:ext cx="3520440" cy="109728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7991856" y="4645152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504748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 string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01584" y="532180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text field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Duplicates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288036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nationality FROM tourists;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Each unique nationality, once only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destination_id, purpose FROM visits;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COUNT(DISTINCT nationality) FROM tourists;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Count of unique nationalities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371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DISTINCT: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046720" y="169164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8156448" y="174650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8156448" y="206654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233172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8156448" y="238658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46720" y="265176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8156448" y="270662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97180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156448" y="30266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3383280"/>
            <a:ext cx="3840480" cy="320040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8046720" y="345643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DISTINCT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3767328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8156448" y="382219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4114800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156448" y="416966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7132320" cy="49377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" y="4251960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removes duplicate rows from your result set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4782312"/>
            <a:ext cx="7132320" cy="49377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640080" y="487375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Overusing it can hide data quality issues worth investigating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5087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 / BIGINT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950208" y="15087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numbers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527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length_of_stay, count, ID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66928" y="2432304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24048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 / DECIMAL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950208" y="24048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with decimals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24231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spending_php, percentage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82112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66928" y="3328416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" y="33009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VARCHAR / TEXT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330098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strings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31927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names, codes, categories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078224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66928" y="4224528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33856" y="4197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 / TIMESTAMP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950208" y="41970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and times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421538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visit_date, created_at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solidFill>
            <a:srgbClr val="1A0A0A"/>
          </a:solidFill>
          <a:ln w="10160">
            <a:solidFill>
              <a:srgbClr val="C0505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640080" y="519379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You cannot run AVG() on a text column. Type mismatches cause silent errors — always check.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Statistical Summaries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Descriptive stats  ·  Frequency counts  ·  Percentages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STATISTICAL SUMMARIES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in SQL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             AS total_visits,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AVG(spending_php)    AS mean_spending,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MIN(spending_php)    AS min_spending,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MAX(spending_php)    AS max_spending,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MAX(spending_php) - MIN(spending_php) AS spending_range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visits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spending_php IS NOT NULL;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955280" y="1417320"/>
            <a:ext cx="1920240" cy="1536192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955280" y="150876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955280" y="20756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955280" y="2386584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 = 786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0058400" y="1417320"/>
            <a:ext cx="1920240" cy="1536192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0058400" y="150876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058400" y="20756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0058400" y="2386584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13,240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136392"/>
            <a:ext cx="1920240" cy="1536192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955280" y="322783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7955280" y="37947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955280" y="410565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2,059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058400" y="3136392"/>
            <a:ext cx="1920240" cy="1536192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10058400" y="322783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10058400" y="37947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0058400" y="410565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24,999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4617720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40080" y="4690872"/>
            <a:ext cx="6766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query — count, mean, min, max, and range in one shot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5212080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0080" y="5285232"/>
            <a:ext cx="6766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Pulling directly from source data, in seconds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5806440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40080" y="5879592"/>
            <a:ext cx="6766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you profile a dataset before analysis begins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r4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2" name="r40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3" name="t403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6 · STATISTICAL SUMMARIES</a:t>
            </a:r>
          </a:p>
        </p:txBody>
      </p:sp>
      <p:sp>
        <p:nvSpPr>
          <p:cNvPr id="404" name="t404"/>
          <p:cNvSpPr txBox="1"/>
          <p:nvPr/>
        </p:nvSpPr>
        <p:spPr>
          <a:xfrm>
            <a:off x="457200" y="438912"/>
            <a:ext cx="9144000" cy="5943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Frequency Counts and Distributions</a:t>
            </a:r>
          </a:p>
        </p:txBody>
      </p:sp>
      <p:sp>
        <p:nvSpPr>
          <p:cNvPr id="405" name="r405"/>
          <p:cNvSpPr/>
          <p:nvPr/>
        </p:nvSpPr>
        <p:spPr>
          <a:xfrm>
            <a:off x="3200400" y="969264"/>
            <a:ext cx="2286000" cy="36576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6" name="r406"/>
          <p:cNvSpPr/>
          <p:nvPr/>
        </p:nvSpPr>
        <p:spPr>
          <a:xfrm>
            <a:off x="365760" y="1078992"/>
            <a:ext cx="5943600" cy="4572000"/>
          </a:xfrm>
          <a:prstGeom prst="rect">
            <a:avLst/>
          </a:prstGeom>
          <a:solidFill>
            <a:srgbClr val="060E18"/>
          </a:solidFill>
          <a:ln w="635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7" name="t407"/>
          <p:cNvSpPr txBox="1"/>
          <p:nvPr/>
        </p:nvSpPr>
        <p:spPr>
          <a:xfrm>
            <a:off x="530352" y="1170432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A6A7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-- Frequency count by nationality</a:t>
            </a:r>
          </a:p>
        </p:txBody>
      </p:sp>
      <p:sp>
        <p:nvSpPr>
          <p:cNvPr id="408" name="t408"/>
          <p:cNvSpPr txBox="1"/>
          <p:nvPr/>
        </p:nvSpPr>
        <p:spPr>
          <a:xfrm>
            <a:off x="530352" y="1435608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nationality, COUNT(*) AS count</a:t>
            </a:r>
          </a:p>
        </p:txBody>
      </p:sp>
      <p:sp>
        <p:nvSpPr>
          <p:cNvPr id="409" name="t409"/>
          <p:cNvSpPr txBox="1"/>
          <p:nvPr/>
        </p:nvSpPr>
        <p:spPr>
          <a:xfrm>
            <a:off x="530352" y="1700784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FROM tourists</a:t>
            </a:r>
          </a:p>
        </p:txBody>
      </p:sp>
      <p:sp>
        <p:nvSpPr>
          <p:cNvPr id="410" name="t410"/>
          <p:cNvSpPr txBox="1"/>
          <p:nvPr/>
        </p:nvSpPr>
        <p:spPr>
          <a:xfrm>
            <a:off x="530352" y="1965960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GROUP BY nationality</a:t>
            </a:r>
          </a:p>
        </p:txBody>
      </p:sp>
      <p:sp>
        <p:nvSpPr>
          <p:cNvPr id="411" name="t411"/>
          <p:cNvSpPr txBox="1"/>
          <p:nvPr/>
        </p:nvSpPr>
        <p:spPr>
          <a:xfrm>
            <a:off x="530352" y="2231136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ORDER BY count DESC;</a:t>
            </a:r>
          </a:p>
        </p:txBody>
      </p:sp>
      <p:sp>
        <p:nvSpPr>
          <p:cNvPr id="412" name="t412"/>
          <p:cNvSpPr txBox="1"/>
          <p:nvPr/>
        </p:nvSpPr>
        <p:spPr>
          <a:xfrm>
            <a:off x="530352" y="2496312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t413"/>
          <p:cNvSpPr txBox="1"/>
          <p:nvPr/>
        </p:nvSpPr>
        <p:spPr>
          <a:xfrm>
            <a:off x="530352" y="2761487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A6A7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-- Percentage by nationality</a:t>
            </a:r>
          </a:p>
        </p:txBody>
      </p:sp>
      <p:sp>
        <p:nvSpPr>
          <p:cNvPr id="414" name="t414"/>
          <p:cNvSpPr txBox="1"/>
          <p:nvPr/>
        </p:nvSpPr>
        <p:spPr>
          <a:xfrm>
            <a:off x="530352" y="3026663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nationality,</a:t>
            </a:r>
          </a:p>
        </p:txBody>
      </p:sp>
      <p:sp>
        <p:nvSpPr>
          <p:cNvPr id="415" name="t415"/>
          <p:cNvSpPr txBox="1"/>
          <p:nvPr/>
        </p:nvSpPr>
        <p:spPr>
          <a:xfrm>
            <a:off x="530352" y="3291839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COUNT(*) AS count,</a:t>
            </a:r>
          </a:p>
        </p:txBody>
      </p:sp>
      <p:sp>
        <p:nvSpPr>
          <p:cNvPr id="416" name="t416"/>
          <p:cNvSpPr txBox="1"/>
          <p:nvPr/>
        </p:nvSpPr>
        <p:spPr>
          <a:xfrm>
            <a:off x="530352" y="3557015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ROUND(</a:t>
            </a:r>
          </a:p>
        </p:txBody>
      </p:sp>
      <p:sp>
        <p:nvSpPr>
          <p:cNvPr id="417" name="t417"/>
          <p:cNvSpPr txBox="1"/>
          <p:nvPr/>
        </p:nvSpPr>
        <p:spPr>
          <a:xfrm>
            <a:off x="530352" y="3822191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  COUNT(*) * 100.0 /</a:t>
            </a:r>
          </a:p>
        </p:txBody>
      </p:sp>
      <p:sp>
        <p:nvSpPr>
          <p:cNvPr id="418" name="t418"/>
          <p:cNvSpPr txBox="1"/>
          <p:nvPr/>
        </p:nvSpPr>
        <p:spPr>
          <a:xfrm>
            <a:off x="530352" y="4087368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  (SELECT COUNT(*) FROM tourists),</a:t>
            </a:r>
          </a:p>
        </p:txBody>
      </p:sp>
      <p:sp>
        <p:nvSpPr>
          <p:cNvPr id="419" name="t419"/>
          <p:cNvSpPr txBox="1"/>
          <p:nvPr/>
        </p:nvSpPr>
        <p:spPr>
          <a:xfrm>
            <a:off x="530352" y="4352544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2) AS pct</a:t>
            </a:r>
          </a:p>
        </p:txBody>
      </p:sp>
      <p:sp>
        <p:nvSpPr>
          <p:cNvPr id="420" name="t420"/>
          <p:cNvSpPr txBox="1"/>
          <p:nvPr/>
        </p:nvSpPr>
        <p:spPr>
          <a:xfrm>
            <a:off x="530352" y="4617720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FROM tourists</a:t>
            </a:r>
          </a:p>
        </p:txBody>
      </p:sp>
      <p:sp>
        <p:nvSpPr>
          <p:cNvPr id="421" name="t421"/>
          <p:cNvSpPr txBox="1"/>
          <p:nvPr/>
        </p:nvSpPr>
        <p:spPr>
          <a:xfrm>
            <a:off x="530352" y="4882896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GROUP BY nationality</a:t>
            </a:r>
          </a:p>
        </p:txBody>
      </p:sp>
      <p:sp>
        <p:nvSpPr>
          <p:cNvPr id="422" name="t422"/>
          <p:cNvSpPr txBox="1"/>
          <p:nvPr/>
        </p:nvSpPr>
        <p:spPr>
          <a:xfrm>
            <a:off x="530352" y="5148072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ORDER BY count DESC;</a:t>
            </a:r>
          </a:p>
        </p:txBody>
      </p:sp>
      <p:sp>
        <p:nvSpPr>
          <p:cNvPr id="423" name="r423"/>
          <p:cNvSpPr/>
          <p:nvPr/>
        </p:nvSpPr>
        <p:spPr>
          <a:xfrm>
            <a:off x="6675120" y="1645919"/>
            <a:ext cx="640080" cy="3474720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4" name="t424"/>
          <p:cNvSpPr txBox="1"/>
          <p:nvPr/>
        </p:nvSpPr>
        <p:spPr>
          <a:xfrm>
            <a:off x="6675120" y="1389887"/>
            <a:ext cx="64008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18</a:t>
            </a:r>
          </a:p>
        </p:txBody>
      </p:sp>
      <p:sp>
        <p:nvSpPr>
          <p:cNvPr id="425" name="t425"/>
          <p:cNvSpPr txBox="1"/>
          <p:nvPr/>
        </p:nvSpPr>
        <p:spPr>
          <a:xfrm>
            <a:off x="6629400" y="5212079"/>
            <a:ext cx="731519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Korean</a:t>
            </a:r>
          </a:p>
        </p:txBody>
      </p:sp>
      <p:sp>
        <p:nvSpPr>
          <p:cNvPr id="426" name="r426"/>
          <p:cNvSpPr/>
          <p:nvPr/>
        </p:nvSpPr>
        <p:spPr>
          <a:xfrm>
            <a:off x="7680960" y="2418080"/>
            <a:ext cx="640080" cy="2702559"/>
          </a:xfrm>
          <a:prstGeom prst="rect">
            <a:avLst/>
          </a:prstGeom>
          <a:solidFill>
            <a:srgbClr val="4FC3F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7" name="t427"/>
          <p:cNvSpPr txBox="1"/>
          <p:nvPr/>
        </p:nvSpPr>
        <p:spPr>
          <a:xfrm>
            <a:off x="7680960" y="2162048"/>
            <a:ext cx="64008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14</a:t>
            </a:r>
          </a:p>
        </p:txBody>
      </p:sp>
      <p:sp>
        <p:nvSpPr>
          <p:cNvPr id="428" name="t428"/>
          <p:cNvSpPr txBox="1"/>
          <p:nvPr/>
        </p:nvSpPr>
        <p:spPr>
          <a:xfrm>
            <a:off x="7635240" y="5212079"/>
            <a:ext cx="731519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American</a:t>
            </a:r>
          </a:p>
        </p:txBody>
      </p:sp>
      <p:sp>
        <p:nvSpPr>
          <p:cNvPr id="429" name="r429"/>
          <p:cNvSpPr/>
          <p:nvPr/>
        </p:nvSpPr>
        <p:spPr>
          <a:xfrm>
            <a:off x="8686800" y="2804160"/>
            <a:ext cx="640080" cy="2316480"/>
          </a:xfrm>
          <a:prstGeom prst="rect">
            <a:avLst/>
          </a:prstGeom>
          <a:solidFill>
            <a:srgbClr val="9B59B6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0" name="t430"/>
          <p:cNvSpPr txBox="1"/>
          <p:nvPr/>
        </p:nvSpPr>
        <p:spPr>
          <a:xfrm>
            <a:off x="8686800" y="2548127"/>
            <a:ext cx="64008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12</a:t>
            </a:r>
          </a:p>
        </p:txBody>
      </p:sp>
      <p:sp>
        <p:nvSpPr>
          <p:cNvPr id="431" name="t431"/>
          <p:cNvSpPr txBox="1"/>
          <p:nvPr/>
        </p:nvSpPr>
        <p:spPr>
          <a:xfrm>
            <a:off x="8641080" y="5212079"/>
            <a:ext cx="731519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Filipino</a:t>
            </a:r>
          </a:p>
        </p:txBody>
      </p:sp>
      <p:sp>
        <p:nvSpPr>
          <p:cNvPr id="432" name="r432"/>
          <p:cNvSpPr/>
          <p:nvPr/>
        </p:nvSpPr>
        <p:spPr>
          <a:xfrm>
            <a:off x="9692640" y="3383279"/>
            <a:ext cx="640080" cy="1737360"/>
          </a:xfrm>
          <a:prstGeom prst="rect">
            <a:avLst/>
          </a:prstGeom>
          <a:solidFill>
            <a:srgbClr val="F59E0B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3" name="t433"/>
          <p:cNvSpPr txBox="1"/>
          <p:nvPr/>
        </p:nvSpPr>
        <p:spPr>
          <a:xfrm>
            <a:off x="9692640" y="3127248"/>
            <a:ext cx="64008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9</a:t>
            </a:r>
          </a:p>
        </p:txBody>
      </p:sp>
      <p:sp>
        <p:nvSpPr>
          <p:cNvPr id="434" name="t434"/>
          <p:cNvSpPr txBox="1"/>
          <p:nvPr/>
        </p:nvSpPr>
        <p:spPr>
          <a:xfrm>
            <a:off x="9646919" y="5212079"/>
            <a:ext cx="731519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Australian</a:t>
            </a:r>
          </a:p>
        </p:txBody>
      </p:sp>
      <p:sp>
        <p:nvSpPr>
          <p:cNvPr id="435" name="r435"/>
          <p:cNvSpPr/>
          <p:nvPr/>
        </p:nvSpPr>
        <p:spPr>
          <a:xfrm>
            <a:off x="6583680" y="5120640"/>
            <a:ext cx="4114800" cy="27432"/>
          </a:xfrm>
          <a:prstGeom prst="rect">
            <a:avLst/>
          </a:prstGeom>
          <a:solidFill>
            <a:srgbClr val="94A3B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6" name="t436"/>
          <p:cNvSpPr txBox="1"/>
          <p:nvPr/>
        </p:nvSpPr>
        <p:spPr>
          <a:xfrm>
            <a:off x="6675120" y="1097280"/>
            <a:ext cx="41148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Count by nationality:</a:t>
            </a:r>
          </a:p>
        </p:txBody>
      </p:sp>
      <p:sp>
        <p:nvSpPr>
          <p:cNvPr id="437" name="t437"/>
          <p:cNvSpPr txBox="1"/>
          <p:nvPr/>
        </p:nvSpPr>
        <p:spPr>
          <a:xfrm>
            <a:off x="365760" y="5414625"/>
            <a:ext cx="114300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 Subquery in the denominator gets the total count — then each group is divided by it.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STATISTICAL SUMMARIES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and Proportions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d.category,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AS count,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ROUND(COUNT(*) * 100.0 / (SELECT COUNT(*) FROM visits WHERE spending_php IS NOT NULL), 2)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pct_of_total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visits v JOIN destinations d ON v.destination_id=d.destination_id WHERE v.spending_php IS NOT NULL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d.category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count DESC;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46720" y="1719072"/>
            <a:ext cx="1536192" cy="47548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9582912" y="1719072"/>
            <a:ext cx="1280160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10863072" y="1719072"/>
            <a:ext cx="102412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8046720" y="1719072"/>
            <a:ext cx="3840480" cy="475488"/>
          </a:xfrm>
          <a:prstGeom prst="rect">
            <a:avLst/>
          </a:prstGeom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8046720" y="2359152"/>
            <a:ext cx="201168" cy="2011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8302752" y="235915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 —  44%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2926080"/>
            <a:ext cx="201168" cy="20116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8302752" y="292608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 —  36%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3493008"/>
            <a:ext cx="201168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8302752" y="34930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 —  20%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Combining Tables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All four JOIN types  ·  INNER  ·  LEFT  ·  RIGHT  ·  FULL OUTER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COMBINING TABLES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JOIN and Why Does It Exist?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databases split data across tables by design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combine them back together when you need the full picture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438912"/>
          </a:xfrm>
          <a:prstGeom prst="rect">
            <a:avLst/>
          </a:prstGeom>
          <a:solidFill>
            <a:srgbClr val="0A2218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Think: VLOOKUP in Excel — matching two datasets on a shared column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486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486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486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5486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age_group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2296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3210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83210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  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296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83210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🔗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3210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3210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2296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4114800" y="3822192"/>
            <a:ext cx="3931920" cy="658368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4114800" y="396849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 on  tourist_id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931920" y="415137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8046720" y="415137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</p:spTree>
  </p:cSld>
  <p:clrMapOvr>
    <a:masterClrMapping/>
  </p:clrMapOvr>
  <p:transition spd="med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7 · COMBINING TABLES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9144000" cy="5943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Types of JOIN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228600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60704"/>
            <a:ext cx="20116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JOIN Type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2560320" y="1060704"/>
            <a:ext cx="448056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gets returned</a:t>
            </a:r>
          </a:p>
        </p:txBody>
      </p:sp>
      <p:sp>
        <p:nvSpPr>
          <p:cNvPr id="106" name="t106"/>
          <p:cNvSpPr txBox="1"/>
          <p:nvPr/>
        </p:nvSpPr>
        <p:spPr>
          <a:xfrm>
            <a:off x="7178040" y="106070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Definition &amp; Use Case</a:t>
            </a:r>
          </a:p>
        </p:txBody>
      </p:sp>
      <p:sp>
        <p:nvSpPr>
          <p:cNvPr id="107" name="r107"/>
          <p:cNvSpPr/>
          <p:nvPr/>
        </p:nvSpPr>
        <p:spPr>
          <a:xfrm>
            <a:off x="457200" y="1280160"/>
            <a:ext cx="11247120" cy="27432"/>
          </a:xfrm>
          <a:prstGeom prst="rect">
            <a:avLst/>
          </a:prstGeom>
          <a:solidFill>
            <a:srgbClr val="0A1E30"/>
          </a:solidFill>
          <a:ln w="6350">
            <a:solidFill>
              <a:srgbClr val="0A1E3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108"/>
          <p:cNvSpPr/>
          <p:nvPr/>
        </p:nvSpPr>
        <p:spPr>
          <a:xfrm>
            <a:off x="457200" y="1371600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457200" y="1773936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INNER JOIN</a:t>
            </a:r>
          </a:p>
        </p:txBody>
      </p:sp>
      <p:sp>
        <p:nvSpPr>
          <p:cNvPr id="110" name="r110"/>
          <p:cNvSpPr/>
          <p:nvPr/>
        </p:nvSpPr>
        <p:spPr>
          <a:xfrm>
            <a:off x="2560320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60320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12" name="r112"/>
          <p:cNvSpPr/>
          <p:nvPr/>
        </p:nvSpPr>
        <p:spPr>
          <a:xfrm>
            <a:off x="4059935" y="1554480"/>
            <a:ext cx="1481328" cy="438912"/>
          </a:xfrm>
          <a:prstGeom prst="rect">
            <a:avLst/>
          </a:prstGeom>
          <a:solidFill>
            <a:srgbClr val="00C9A7"/>
          </a:solidFill>
          <a:ln w="1778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4059935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14" name="r114"/>
          <p:cNvSpPr/>
          <p:nvPr/>
        </p:nvSpPr>
        <p:spPr>
          <a:xfrm>
            <a:off x="5559552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559552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7178040" y="1444752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only rows with matching values in both tables.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7178040" y="1645920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Non-matching rows are excluded entirely.</a:t>
            </a:r>
          </a:p>
        </p:txBody>
      </p:sp>
      <p:sp>
        <p:nvSpPr>
          <p:cNvPr id="118" name="t118"/>
          <p:cNvSpPr txBox="1"/>
          <p:nvPr/>
        </p:nvSpPr>
        <p:spPr>
          <a:xfrm>
            <a:off x="7178040" y="1883664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When you need complete, fully paired records from both tables.</a:t>
            </a:r>
          </a:p>
        </p:txBody>
      </p:sp>
      <p:sp>
        <p:nvSpPr>
          <p:cNvPr id="119" name="t119"/>
          <p:cNvSpPr txBox="1"/>
          <p:nvPr/>
        </p:nvSpPr>
        <p:spPr>
          <a:xfrm>
            <a:off x="7178040" y="2212848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20" name="r120"/>
          <p:cNvSpPr/>
          <p:nvPr/>
        </p:nvSpPr>
        <p:spPr>
          <a:xfrm>
            <a:off x="457200" y="2578608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457200" y="3035808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LEFT JOIN</a:t>
            </a:r>
          </a:p>
        </p:txBody>
      </p:sp>
      <p:sp>
        <p:nvSpPr>
          <p:cNvPr id="122" name="r122"/>
          <p:cNvSpPr/>
          <p:nvPr/>
        </p:nvSpPr>
        <p:spPr>
          <a:xfrm>
            <a:off x="2560320" y="2816352"/>
            <a:ext cx="1481328" cy="438912"/>
          </a:xfrm>
          <a:prstGeom prst="rect">
            <a:avLst/>
          </a:prstGeom>
          <a:solidFill>
            <a:srgbClr val="4FC3F7"/>
          </a:solidFill>
          <a:ln w="1778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2560320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24" name="r124"/>
          <p:cNvSpPr/>
          <p:nvPr/>
        </p:nvSpPr>
        <p:spPr>
          <a:xfrm>
            <a:off x="4059935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4059935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26" name="r126"/>
          <p:cNvSpPr/>
          <p:nvPr/>
        </p:nvSpPr>
        <p:spPr>
          <a:xfrm>
            <a:off x="5559552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559552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28" name="t128"/>
          <p:cNvSpPr txBox="1"/>
          <p:nvPr/>
        </p:nvSpPr>
        <p:spPr>
          <a:xfrm>
            <a:off x="7178040" y="270662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left table, plus matching rows from the right.</a:t>
            </a:r>
          </a:p>
        </p:txBody>
      </p:sp>
      <p:sp>
        <p:nvSpPr>
          <p:cNvPr id="129" name="t129"/>
          <p:cNvSpPr txBox="1"/>
          <p:nvPr/>
        </p:nvSpPr>
        <p:spPr>
          <a:xfrm>
            <a:off x="7178040" y="2907791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right = NULL.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7178040" y="3145536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Keep your primary table intact while pulling in optional data.</a:t>
            </a:r>
          </a:p>
        </p:txBody>
      </p:sp>
      <p:sp>
        <p:nvSpPr>
          <p:cNvPr id="131" name="t131"/>
          <p:cNvSpPr txBox="1"/>
          <p:nvPr/>
        </p:nvSpPr>
        <p:spPr>
          <a:xfrm>
            <a:off x="7178040" y="3474720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32" name="r132"/>
          <p:cNvSpPr/>
          <p:nvPr/>
        </p:nvSpPr>
        <p:spPr>
          <a:xfrm>
            <a:off x="457200" y="3840480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133"/>
          <p:cNvSpPr/>
          <p:nvPr/>
        </p:nvSpPr>
        <p:spPr>
          <a:xfrm>
            <a:off x="457200" y="3895344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4" name="t134"/>
          <p:cNvSpPr txBox="1"/>
          <p:nvPr/>
        </p:nvSpPr>
        <p:spPr>
          <a:xfrm>
            <a:off x="457200" y="4297680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RIGHT JOIN</a:t>
            </a:r>
          </a:p>
        </p:txBody>
      </p:sp>
      <p:sp>
        <p:nvSpPr>
          <p:cNvPr id="135" name="r135"/>
          <p:cNvSpPr/>
          <p:nvPr/>
        </p:nvSpPr>
        <p:spPr>
          <a:xfrm>
            <a:off x="2560320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6" name="t136"/>
          <p:cNvSpPr txBox="1"/>
          <p:nvPr/>
        </p:nvSpPr>
        <p:spPr>
          <a:xfrm>
            <a:off x="2560320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37" name="r137"/>
          <p:cNvSpPr/>
          <p:nvPr/>
        </p:nvSpPr>
        <p:spPr>
          <a:xfrm>
            <a:off x="4059935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t138"/>
          <p:cNvSpPr txBox="1"/>
          <p:nvPr/>
        </p:nvSpPr>
        <p:spPr>
          <a:xfrm>
            <a:off x="4059935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39" name="r139"/>
          <p:cNvSpPr/>
          <p:nvPr/>
        </p:nvSpPr>
        <p:spPr>
          <a:xfrm>
            <a:off x="5559552" y="4078224"/>
            <a:ext cx="1481328" cy="438912"/>
          </a:xfrm>
          <a:prstGeom prst="rect">
            <a:avLst/>
          </a:prstGeom>
          <a:solidFill>
            <a:srgbClr val="F59E0B"/>
          </a:solidFill>
          <a:ln w="17780">
            <a:solidFill>
              <a:srgbClr val="F59E0B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0" name="t140"/>
          <p:cNvSpPr txBox="1"/>
          <p:nvPr/>
        </p:nvSpPr>
        <p:spPr>
          <a:xfrm>
            <a:off x="5559552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41" name="t141"/>
          <p:cNvSpPr txBox="1"/>
          <p:nvPr/>
        </p:nvSpPr>
        <p:spPr>
          <a:xfrm>
            <a:off x="7178040" y="396849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right table, plus matching rows from the left.</a:t>
            </a:r>
          </a:p>
        </p:txBody>
      </p:sp>
      <p:sp>
        <p:nvSpPr>
          <p:cNvPr id="142" name="t142"/>
          <p:cNvSpPr txBox="1"/>
          <p:nvPr/>
        </p:nvSpPr>
        <p:spPr>
          <a:xfrm>
            <a:off x="7178040" y="4169663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left = NULL.</a:t>
            </a:r>
          </a:p>
        </p:txBody>
      </p:sp>
      <p:sp>
        <p:nvSpPr>
          <p:cNvPr id="143" name="t143"/>
          <p:cNvSpPr txBox="1"/>
          <p:nvPr/>
        </p:nvSpPr>
        <p:spPr>
          <a:xfrm>
            <a:off x="7178040" y="4407408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Rarely used — any RIGHT JOIN can be rewritten as a LEFT JOIN by swapping table order.</a:t>
            </a:r>
          </a:p>
        </p:txBody>
      </p:sp>
      <p:sp>
        <p:nvSpPr>
          <p:cNvPr id="144" name="t144"/>
          <p:cNvSpPr txBox="1"/>
          <p:nvPr/>
        </p:nvSpPr>
        <p:spPr>
          <a:xfrm>
            <a:off x="7178040" y="4736592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Limited SQLite support (v3.39+)</a:t>
            </a:r>
          </a:p>
        </p:txBody>
      </p:sp>
      <p:sp>
        <p:nvSpPr>
          <p:cNvPr id="145" name="r145"/>
          <p:cNvSpPr/>
          <p:nvPr/>
        </p:nvSpPr>
        <p:spPr>
          <a:xfrm>
            <a:off x="457200" y="5102352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t146"/>
          <p:cNvSpPr txBox="1"/>
          <p:nvPr/>
        </p:nvSpPr>
        <p:spPr>
          <a:xfrm>
            <a:off x="457200" y="5559552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FULL OUTER JOIN</a:t>
            </a:r>
          </a:p>
        </p:txBody>
      </p:sp>
      <p:sp>
        <p:nvSpPr>
          <p:cNvPr id="147" name="r147"/>
          <p:cNvSpPr/>
          <p:nvPr/>
        </p:nvSpPr>
        <p:spPr>
          <a:xfrm>
            <a:off x="2560320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t148"/>
          <p:cNvSpPr txBox="1"/>
          <p:nvPr/>
        </p:nvSpPr>
        <p:spPr>
          <a:xfrm>
            <a:off x="2560320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49" name="r149"/>
          <p:cNvSpPr/>
          <p:nvPr/>
        </p:nvSpPr>
        <p:spPr>
          <a:xfrm>
            <a:off x="4059935" y="5340096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0" name="t150"/>
          <p:cNvSpPr txBox="1"/>
          <p:nvPr/>
        </p:nvSpPr>
        <p:spPr>
          <a:xfrm>
            <a:off x="4059935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51" name="r151"/>
          <p:cNvSpPr/>
          <p:nvPr/>
        </p:nvSpPr>
        <p:spPr>
          <a:xfrm>
            <a:off x="5559552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152"/>
          <p:cNvSpPr txBox="1"/>
          <p:nvPr/>
        </p:nvSpPr>
        <p:spPr>
          <a:xfrm>
            <a:off x="5559552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53" name="t153"/>
          <p:cNvSpPr txBox="1"/>
          <p:nvPr/>
        </p:nvSpPr>
        <p:spPr>
          <a:xfrm>
            <a:off x="7178040" y="5230368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both tables. Matches align side-by-side;</a:t>
            </a:r>
          </a:p>
        </p:txBody>
      </p:sp>
      <p:sp>
        <p:nvSpPr>
          <p:cNvPr id="154" name="t154"/>
          <p:cNvSpPr txBox="1"/>
          <p:nvPr/>
        </p:nvSpPr>
        <p:spPr>
          <a:xfrm>
            <a:off x="7178040" y="543153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no match exists, NULLs fill the gaps.</a:t>
            </a:r>
          </a:p>
        </p:txBody>
      </p:sp>
      <p:sp>
        <p:nvSpPr>
          <p:cNvPr id="155" name="t155"/>
          <p:cNvSpPr txBox="1"/>
          <p:nvPr/>
        </p:nvSpPr>
        <p:spPr>
          <a:xfrm>
            <a:off x="7178040" y="5669279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Data reconciliation — finding mismatches between two systems.</a:t>
            </a:r>
          </a:p>
        </p:txBody>
      </p:sp>
      <p:sp>
        <p:nvSpPr>
          <p:cNvPr id="156" name="t156"/>
          <p:cNvSpPr txBox="1"/>
          <p:nvPr/>
        </p:nvSpPr>
        <p:spPr>
          <a:xfrm>
            <a:off x="7178040" y="5998464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 supported in SQLite</a:t>
            </a:r>
          </a:p>
        </p:txBody>
      </p:sp>
      <p:sp>
        <p:nvSpPr>
          <p:cNvPr id="157" name="r157"/>
          <p:cNvSpPr/>
          <p:nvPr/>
        </p:nvSpPr>
        <p:spPr>
          <a:xfrm>
            <a:off x="457200" y="6364224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158"/>
          <p:cNvSpPr/>
          <p:nvPr/>
        </p:nvSpPr>
        <p:spPr>
          <a:xfrm>
            <a:off x="457200" y="6382512"/>
            <a:ext cx="11247120" cy="384048"/>
          </a:xfrm>
          <a:prstGeom prst="rect">
            <a:avLst/>
          </a:prstGeom>
          <a:solidFill>
            <a:srgbClr val="0F2235"/>
          </a:solidFill>
          <a:ln w="762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t15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 practice: INNER JOIN and LEFT JOIN cover 95% of real-world use cases. RIGHT JOIN and FULL OUTER JOIN are rare.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Bridging to R / Python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SQL gets the data ready  ·  R and Python take it further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BRIDGING TO R / PYTHON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Gets the Data Ready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365760" y="1435608"/>
            <a:ext cx="91440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438912" y="1474013"/>
            <a:ext cx="640080" cy="857707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438912" y="1371600"/>
            <a:ext cx="640080" cy="204826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438912" y="2229307"/>
            <a:ext cx="640080" cy="204826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75488" y="16680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75488" y="187393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475488" y="20797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365760" y="204825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98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1828800" y="1408176"/>
            <a:ext cx="1737360" cy="713232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1828800" y="153619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584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114800" y="1435608"/>
            <a:ext cx="173736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4114800" y="1591056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Python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0448" y="1801368"/>
            <a:ext cx="502920" cy="9144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6400800" y="1280160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6400800" y="135331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1664208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400800" y="173736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048256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0" y="212140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58368" y="2862072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pd, sqlite3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= sqlite3.connect('tourism_ph.db')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pd.read_sql("SELECT * FROM tourists WHERE program = 'BS Statistics'", conn)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57200" y="4384597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658368" y="4530901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library(DBI)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&lt;- dbConnect(RSQLite::SQLite(), 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&lt;- dbGetQuery(conn, 'SELECT * FROM tourists')</a:t>
            </a:r>
            <a:endParaRPr lang="en-US" sz="1500" dirty="0"/>
          </a:p>
        </p:txBody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C0B270BA-9A35-9BCB-165E-F7091A54DAB3}"/>
              </a:ext>
            </a:extLst>
          </p:cNvPr>
          <p:cNvSpPr txBox="1"/>
          <p:nvPr/>
        </p:nvSpPr>
        <p:spPr>
          <a:xfrm>
            <a:off x="457200" y="4152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</a:t>
            </a:r>
            <a:endParaRPr lang="en-US" sz="1200" dirty="0"/>
          </a:p>
        </p:txBody>
      </p:sp>
    </p:spTree>
  </p:cSld>
  <p:clrMapOvr>
    <a:masterClrMapping/>
  </p:clrMapOvr>
  <p:transition spd="med">
    <p:push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tourists  ·  visits  ·  destinations  ·  SQLiteOnline.com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82880"/>
            <a:ext cx="11247120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9 · LIVE DEMO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Live Demo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87552"/>
            <a:ext cx="1371600" cy="45720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r104"/>
          <p:cNvSpPr/>
          <p:nvPr/>
        </p:nvSpPr>
        <p:spPr>
          <a:xfrm>
            <a:off x="457200" y="1078992"/>
            <a:ext cx="11247120" cy="40233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t105"/>
          <p:cNvSpPr txBox="1"/>
          <p:nvPr/>
        </p:nvSpPr>
        <p:spPr>
          <a:xfrm>
            <a:off x="640080" y="1170432"/>
            <a:ext cx="1097280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Tool:  SQLiteOnline.com — runs in the browser, nothing to install</a:t>
            </a:r>
          </a:p>
        </p:txBody>
      </p:sp>
      <p:sp>
        <p:nvSpPr>
          <p:cNvPr id="106" name="r106"/>
          <p:cNvSpPr/>
          <p:nvPr/>
        </p:nvSpPr>
        <p:spPr>
          <a:xfrm>
            <a:off x="457200" y="1554480"/>
            <a:ext cx="5532120" cy="795528"/>
          </a:xfrm>
          <a:prstGeom prst="rect">
            <a:avLst/>
          </a:prstGeom>
          <a:solidFill>
            <a:srgbClr val="0F2235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r107"/>
          <p:cNvSpPr/>
          <p:nvPr/>
        </p:nvSpPr>
        <p:spPr>
          <a:xfrm>
            <a:off x="457200" y="1554480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108"/>
          <p:cNvSpPr/>
          <p:nvPr/>
        </p:nvSpPr>
        <p:spPr>
          <a:xfrm>
            <a:off x="457200" y="1554480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475488" y="1609344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841247" y="1618488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Getting to Know the Data</a:t>
            </a:r>
          </a:p>
        </p:txBody>
      </p:sp>
      <p:sp>
        <p:nvSpPr>
          <p:cNvPr id="111" name="r111"/>
          <p:cNvSpPr/>
          <p:nvPr/>
        </p:nvSpPr>
        <p:spPr>
          <a:xfrm>
            <a:off x="502920" y="1883664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t112"/>
          <p:cNvSpPr txBox="1"/>
          <p:nvPr/>
        </p:nvSpPr>
        <p:spPr>
          <a:xfrm>
            <a:off x="685800" y="1956816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do our tourists, visits, and destinations tables look like?</a:t>
            </a:r>
          </a:p>
        </p:txBody>
      </p:sp>
      <p:sp>
        <p:nvSpPr>
          <p:cNvPr id="114" name="r114"/>
          <p:cNvSpPr/>
          <p:nvPr/>
        </p:nvSpPr>
        <p:spPr>
          <a:xfrm>
            <a:off x="6199632" y="1554480"/>
            <a:ext cx="5532120" cy="129844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r115"/>
          <p:cNvSpPr/>
          <p:nvPr/>
        </p:nvSpPr>
        <p:spPr>
          <a:xfrm>
            <a:off x="6199632" y="1554480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r116"/>
          <p:cNvSpPr/>
          <p:nvPr/>
        </p:nvSpPr>
        <p:spPr>
          <a:xfrm>
            <a:off x="6199632" y="1554480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117"/>
          <p:cNvSpPr txBox="1"/>
          <p:nvPr/>
        </p:nvSpPr>
        <p:spPr>
          <a:xfrm>
            <a:off x="6217920" y="1609344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118" name="t118"/>
          <p:cNvSpPr txBox="1"/>
          <p:nvPr/>
        </p:nvSpPr>
        <p:spPr>
          <a:xfrm>
            <a:off x="6583680" y="1618488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Who is Visiting?</a:t>
            </a:r>
          </a:p>
        </p:txBody>
      </p:sp>
      <p:sp>
        <p:nvSpPr>
          <p:cNvPr id="119" name="r119"/>
          <p:cNvSpPr/>
          <p:nvPr/>
        </p:nvSpPr>
        <p:spPr>
          <a:xfrm>
            <a:off x="6245352" y="1883664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0" name="t120"/>
          <p:cNvSpPr txBox="1"/>
          <p:nvPr/>
        </p:nvSpPr>
        <p:spPr>
          <a:xfrm>
            <a:off x="6428232" y="1956816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many tourists do we have by nationality?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6272784" y="1956816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22" name="r122"/>
          <p:cNvSpPr/>
          <p:nvPr/>
        </p:nvSpPr>
        <p:spPr>
          <a:xfrm>
            <a:off x="6245352" y="2386584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6428232" y="2459736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are visits split between domestic and foreign tourists?</a:t>
            </a:r>
          </a:p>
        </p:txBody>
      </p:sp>
      <p:sp>
        <p:nvSpPr>
          <p:cNvPr id="124" name="t124"/>
          <p:cNvSpPr txBox="1"/>
          <p:nvPr/>
        </p:nvSpPr>
        <p:spPr>
          <a:xfrm>
            <a:off x="6272784" y="2459736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25" name="r125"/>
          <p:cNvSpPr/>
          <p:nvPr/>
        </p:nvSpPr>
        <p:spPr>
          <a:xfrm>
            <a:off x="457200" y="2386584"/>
            <a:ext cx="5532120" cy="129844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6" name="r126"/>
          <p:cNvSpPr/>
          <p:nvPr/>
        </p:nvSpPr>
        <p:spPr>
          <a:xfrm>
            <a:off x="457200" y="2386584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r127"/>
          <p:cNvSpPr/>
          <p:nvPr/>
        </p:nvSpPr>
        <p:spPr>
          <a:xfrm>
            <a:off x="457200" y="2386584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8" name="t128"/>
          <p:cNvSpPr txBox="1"/>
          <p:nvPr/>
        </p:nvSpPr>
        <p:spPr>
          <a:xfrm>
            <a:off x="475488" y="2441448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</a:t>
            </a:r>
          </a:p>
        </p:txBody>
      </p:sp>
      <p:sp>
        <p:nvSpPr>
          <p:cNvPr id="129" name="t129"/>
          <p:cNvSpPr txBox="1"/>
          <p:nvPr/>
        </p:nvSpPr>
        <p:spPr>
          <a:xfrm>
            <a:off x="841247" y="2450592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Are They Going?</a:t>
            </a:r>
          </a:p>
        </p:txBody>
      </p:sp>
      <p:sp>
        <p:nvSpPr>
          <p:cNvPr id="130" name="r130"/>
          <p:cNvSpPr/>
          <p:nvPr/>
        </p:nvSpPr>
        <p:spPr>
          <a:xfrm>
            <a:off x="502920" y="2715768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t131"/>
          <p:cNvSpPr txBox="1"/>
          <p:nvPr/>
        </p:nvSpPr>
        <p:spPr>
          <a:xfrm>
            <a:off x="685800" y="2788920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many visits did each region receive?</a:t>
            </a:r>
          </a:p>
        </p:txBody>
      </p:sp>
      <p:sp>
        <p:nvSpPr>
          <p:cNvPr id="132" name="t132"/>
          <p:cNvSpPr txBox="1"/>
          <p:nvPr/>
        </p:nvSpPr>
        <p:spPr>
          <a:xfrm>
            <a:off x="530352" y="2788920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33" name="r133"/>
          <p:cNvSpPr/>
          <p:nvPr/>
        </p:nvSpPr>
        <p:spPr>
          <a:xfrm>
            <a:off x="502920" y="3218688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4" name="t134"/>
          <p:cNvSpPr txBox="1"/>
          <p:nvPr/>
        </p:nvSpPr>
        <p:spPr>
          <a:xfrm>
            <a:off x="685800" y="3291840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destinations have the fewest visits?</a:t>
            </a:r>
          </a:p>
        </p:txBody>
      </p:sp>
      <p:sp>
        <p:nvSpPr>
          <p:cNvPr id="135" name="t135"/>
          <p:cNvSpPr txBox="1"/>
          <p:nvPr/>
        </p:nvSpPr>
        <p:spPr>
          <a:xfrm>
            <a:off x="530352" y="3291840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36" name="r136"/>
          <p:cNvSpPr/>
          <p:nvPr/>
        </p:nvSpPr>
        <p:spPr>
          <a:xfrm>
            <a:off x="6199632" y="2889504"/>
            <a:ext cx="5532120" cy="129844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7" name="r137"/>
          <p:cNvSpPr/>
          <p:nvPr/>
        </p:nvSpPr>
        <p:spPr>
          <a:xfrm>
            <a:off x="6199632" y="2889504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r138"/>
          <p:cNvSpPr/>
          <p:nvPr/>
        </p:nvSpPr>
        <p:spPr>
          <a:xfrm>
            <a:off x="6199632" y="2889504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9" name="t139"/>
          <p:cNvSpPr txBox="1"/>
          <p:nvPr/>
        </p:nvSpPr>
        <p:spPr>
          <a:xfrm>
            <a:off x="6217920" y="2944368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6583680" y="2953512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Overloading or Underserved?</a:t>
            </a:r>
          </a:p>
        </p:txBody>
      </p:sp>
      <p:sp>
        <p:nvSpPr>
          <p:cNvPr id="141" name="r141"/>
          <p:cNvSpPr/>
          <p:nvPr/>
        </p:nvSpPr>
        <p:spPr>
          <a:xfrm>
            <a:off x="6245352" y="3218688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t142"/>
          <p:cNvSpPr txBox="1"/>
          <p:nvPr/>
        </p:nvSpPr>
        <p:spPr>
          <a:xfrm>
            <a:off x="6428232" y="3291840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destinations receive the most visits?</a:t>
            </a:r>
          </a:p>
        </p:txBody>
      </p:sp>
      <p:sp>
        <p:nvSpPr>
          <p:cNvPr id="143" name="t143"/>
          <p:cNvSpPr txBox="1"/>
          <p:nvPr/>
        </p:nvSpPr>
        <p:spPr>
          <a:xfrm>
            <a:off x="6272784" y="3291840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44" name="r144"/>
          <p:cNvSpPr/>
          <p:nvPr/>
        </p:nvSpPr>
        <p:spPr>
          <a:xfrm>
            <a:off x="6245352" y="3721608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t145"/>
          <p:cNvSpPr txBox="1"/>
          <p:nvPr/>
        </p:nvSpPr>
        <p:spPr>
          <a:xfrm>
            <a:off x="6428232" y="3794760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destinations have more than 50 visits? (HAVING)</a:t>
            </a:r>
          </a:p>
        </p:txBody>
      </p:sp>
      <p:sp>
        <p:nvSpPr>
          <p:cNvPr id="146" name="t146"/>
          <p:cNvSpPr txBox="1"/>
          <p:nvPr/>
        </p:nvSpPr>
        <p:spPr>
          <a:xfrm>
            <a:off x="6272784" y="3794760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47" name="r147"/>
          <p:cNvSpPr/>
          <p:nvPr/>
        </p:nvSpPr>
        <p:spPr>
          <a:xfrm>
            <a:off x="457200" y="3721608"/>
            <a:ext cx="5532120" cy="180136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r148"/>
          <p:cNvSpPr/>
          <p:nvPr/>
        </p:nvSpPr>
        <p:spPr>
          <a:xfrm>
            <a:off x="457200" y="3721608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r149"/>
          <p:cNvSpPr/>
          <p:nvPr/>
        </p:nvSpPr>
        <p:spPr>
          <a:xfrm>
            <a:off x="457200" y="3721608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0" name="t150"/>
          <p:cNvSpPr txBox="1"/>
          <p:nvPr/>
        </p:nvSpPr>
        <p:spPr>
          <a:xfrm>
            <a:off x="475488" y="3776472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</p:txBody>
      </p:sp>
      <p:sp>
        <p:nvSpPr>
          <p:cNvPr id="151" name="t151"/>
          <p:cNvSpPr txBox="1"/>
          <p:nvPr/>
        </p:nvSpPr>
        <p:spPr>
          <a:xfrm>
            <a:off x="841247" y="3785616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Clean Is Our Data?</a:t>
            </a:r>
          </a:p>
        </p:txBody>
      </p:sp>
      <p:sp>
        <p:nvSpPr>
          <p:cNvPr id="152" name="r152"/>
          <p:cNvSpPr/>
          <p:nvPr/>
        </p:nvSpPr>
        <p:spPr>
          <a:xfrm>
            <a:off x="502920" y="405079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t153"/>
          <p:cNvSpPr txBox="1"/>
          <p:nvPr/>
        </p:nvSpPr>
        <p:spPr>
          <a:xfrm>
            <a:off x="685800" y="412394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Are there visits with missing spending data?</a:t>
            </a:r>
          </a:p>
        </p:txBody>
      </p:sp>
      <p:sp>
        <p:nvSpPr>
          <p:cNvPr id="154" name="t154"/>
          <p:cNvSpPr txBox="1"/>
          <p:nvPr/>
        </p:nvSpPr>
        <p:spPr>
          <a:xfrm>
            <a:off x="530352" y="412394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55" name="r155"/>
          <p:cNvSpPr/>
          <p:nvPr/>
        </p:nvSpPr>
        <p:spPr>
          <a:xfrm>
            <a:off x="502920" y="455371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6" name="t156"/>
          <p:cNvSpPr txBox="1"/>
          <p:nvPr/>
        </p:nvSpPr>
        <p:spPr>
          <a:xfrm>
            <a:off x="685800" y="462686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many destinations have incomplete records?</a:t>
            </a:r>
          </a:p>
        </p:txBody>
      </p:sp>
      <p:sp>
        <p:nvSpPr>
          <p:cNvPr id="157" name="t157"/>
          <p:cNvSpPr txBox="1"/>
          <p:nvPr/>
        </p:nvSpPr>
        <p:spPr>
          <a:xfrm>
            <a:off x="530352" y="462686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58" name="r158"/>
          <p:cNvSpPr/>
          <p:nvPr/>
        </p:nvSpPr>
        <p:spPr>
          <a:xfrm>
            <a:off x="502920" y="505663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t159"/>
          <p:cNvSpPr txBox="1"/>
          <p:nvPr/>
        </p:nvSpPr>
        <p:spPr>
          <a:xfrm>
            <a:off x="685800" y="512978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destinations are missing spending entirely?</a:t>
            </a:r>
          </a:p>
        </p:txBody>
      </p:sp>
      <p:sp>
        <p:nvSpPr>
          <p:cNvPr id="160" name="t160"/>
          <p:cNvSpPr txBox="1"/>
          <p:nvPr/>
        </p:nvSpPr>
        <p:spPr>
          <a:xfrm>
            <a:off x="530352" y="512978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61" name="r161"/>
          <p:cNvSpPr/>
          <p:nvPr/>
        </p:nvSpPr>
        <p:spPr>
          <a:xfrm>
            <a:off x="6199632" y="4224528"/>
            <a:ext cx="5532120" cy="129844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r162"/>
          <p:cNvSpPr/>
          <p:nvPr/>
        </p:nvSpPr>
        <p:spPr>
          <a:xfrm>
            <a:off x="6199632" y="4224528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3" name="r163"/>
          <p:cNvSpPr/>
          <p:nvPr/>
        </p:nvSpPr>
        <p:spPr>
          <a:xfrm>
            <a:off x="6199632" y="4224528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4" name="t164"/>
          <p:cNvSpPr txBox="1"/>
          <p:nvPr/>
        </p:nvSpPr>
        <p:spPr>
          <a:xfrm>
            <a:off x="6217920" y="4279392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</a:t>
            </a:r>
          </a:p>
        </p:txBody>
      </p:sp>
      <p:sp>
        <p:nvSpPr>
          <p:cNvPr id="165" name="t165"/>
          <p:cNvSpPr txBox="1"/>
          <p:nvPr/>
        </p:nvSpPr>
        <p:spPr>
          <a:xfrm>
            <a:off x="6583680" y="4288536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Does a Visit Look Like?</a:t>
            </a:r>
          </a:p>
        </p:txBody>
      </p:sp>
      <p:sp>
        <p:nvSpPr>
          <p:cNvPr id="166" name="r166"/>
          <p:cNvSpPr/>
          <p:nvPr/>
        </p:nvSpPr>
        <p:spPr>
          <a:xfrm>
            <a:off x="6245352" y="455371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t167"/>
          <p:cNvSpPr txBox="1"/>
          <p:nvPr/>
        </p:nvSpPr>
        <p:spPr>
          <a:xfrm>
            <a:off x="6428232" y="462686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is the avg, min, and max spending per destination category?</a:t>
            </a:r>
          </a:p>
        </p:txBody>
      </p:sp>
      <p:sp>
        <p:nvSpPr>
          <p:cNvPr id="168" name="t168"/>
          <p:cNvSpPr txBox="1"/>
          <p:nvPr/>
        </p:nvSpPr>
        <p:spPr>
          <a:xfrm>
            <a:off x="6272784" y="462686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69" name="r169"/>
          <p:cNvSpPr/>
          <p:nvPr/>
        </p:nvSpPr>
        <p:spPr>
          <a:xfrm>
            <a:off x="6245352" y="505663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0" name="t170"/>
          <p:cNvSpPr txBox="1"/>
          <p:nvPr/>
        </p:nvSpPr>
        <p:spPr>
          <a:xfrm>
            <a:off x="6428232" y="512978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purpose of visit generates the highest average spending?</a:t>
            </a:r>
          </a:p>
        </p:txBody>
      </p:sp>
      <p:sp>
        <p:nvSpPr>
          <p:cNvPr id="171" name="t171"/>
          <p:cNvSpPr txBox="1"/>
          <p:nvPr/>
        </p:nvSpPr>
        <p:spPr>
          <a:xfrm>
            <a:off x="6272784" y="512978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72" name="r172"/>
          <p:cNvSpPr/>
          <p:nvPr/>
        </p:nvSpPr>
        <p:spPr>
          <a:xfrm>
            <a:off x="457200" y="5577840"/>
            <a:ext cx="11247120" cy="585216"/>
          </a:xfrm>
          <a:prstGeom prst="rect">
            <a:avLst/>
          </a:prstGeom>
          <a:solidFill>
            <a:srgbClr val="0F2235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173"/>
          <p:cNvSpPr/>
          <p:nvPr/>
        </p:nvSpPr>
        <p:spPr>
          <a:xfrm>
            <a:off x="457200" y="5577840"/>
            <a:ext cx="11247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4" name="r174"/>
          <p:cNvSpPr/>
          <p:nvPr/>
        </p:nvSpPr>
        <p:spPr>
          <a:xfrm>
            <a:off x="457200" y="5577840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t175"/>
          <p:cNvSpPr txBox="1"/>
          <p:nvPr/>
        </p:nvSpPr>
        <p:spPr>
          <a:xfrm>
            <a:off x="475488" y="5632703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</a:t>
            </a:r>
          </a:p>
        </p:txBody>
      </p:sp>
      <p:sp>
        <p:nvSpPr>
          <p:cNvPr id="176" name="t176"/>
          <p:cNvSpPr txBox="1"/>
          <p:nvPr/>
        </p:nvSpPr>
        <p:spPr>
          <a:xfrm>
            <a:off x="841248" y="5641848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Full Picture: A 3-Table JOIN</a:t>
            </a:r>
          </a:p>
        </p:txBody>
      </p:sp>
      <p:sp>
        <p:nvSpPr>
          <p:cNvPr id="177" name="r177"/>
          <p:cNvSpPr/>
          <p:nvPr/>
        </p:nvSpPr>
        <p:spPr>
          <a:xfrm>
            <a:off x="502920" y="5907024"/>
            <a:ext cx="11155680" cy="219456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t178"/>
          <p:cNvSpPr txBox="1"/>
          <p:nvPr/>
        </p:nvSpPr>
        <p:spPr>
          <a:xfrm>
            <a:off x="676656" y="5952744"/>
            <a:ext cx="109728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Give me a complete visitor profile — tourist, destination, spending.</a:t>
            </a:r>
          </a:p>
        </p:txBody>
      </p:sp>
      <p:sp>
        <p:nvSpPr>
          <p:cNvPr id="179" name="t179"/>
          <p:cNvSpPr txBox="1"/>
          <p:nvPr/>
        </p:nvSpPr>
        <p:spPr>
          <a:xfrm>
            <a:off x="521207" y="5952744"/>
            <a:ext cx="15544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80" name="r180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t181"/>
          <p:cNvSpPr txBox="1"/>
          <p:nvPr/>
        </p:nvSpPr>
        <p:spPr>
          <a:xfrm>
            <a:off x="640080" y="6309359"/>
            <a:ext cx="109728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dataset. Three pillars. Every concept from today — applied to Philippine tourism.</a:t>
            </a:r>
          </a:p>
        </p:txBody>
      </p:sp>
      <p:sp>
        <p:nvSpPr>
          <p:cNvPr id="3" name="t121">
            <a:extLst>
              <a:ext uri="{FF2B5EF4-FFF2-40B4-BE49-F238E27FC236}">
                <a16:creationId xmlns:a16="http://schemas.microsoft.com/office/drawing/2014/main" id="{601416EB-4C22-385E-E43B-C9CFEE829FD4}"/>
              </a:ext>
            </a:extLst>
          </p:cNvPr>
          <p:cNvSpPr txBox="1"/>
          <p:nvPr/>
        </p:nvSpPr>
        <p:spPr>
          <a:xfrm>
            <a:off x="522798" y="1951846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</p:spTree>
  </p:cSld>
  <p:clrMapOvr>
    <a:masterClrMapping/>
  </p:clrMapOvr>
  <p:transition spd="med">
    <p:push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· OPEN FORUM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From 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5270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SQLZoo.net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54533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exercises, free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35508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270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SQL Tutorial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0" y="154533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Beginner to intermediate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9436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225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syntax reference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35508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SQL Courses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3225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with real datasets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1272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locally: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456432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40080" y="352958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Browser for SQLite — free, Windows and Mac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050792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" y="412394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data: PSA open data portal · Kaggle · WHO health data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6817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level when ready: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010912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40080" y="509320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functions  ·  Subqueries  ·  CTEs  ·  Indexes</a:t>
            </a:r>
            <a:endParaRPr lang="en-US" sz="1300" dirty="0"/>
          </a:p>
        </p:txBody>
      </p:sp>
      <p:sp>
        <p:nvSpPr>
          <p:cNvPr id="30" name="r901">
            <a:extLst>
              <a:ext uri="{FF2B5EF4-FFF2-40B4-BE49-F238E27FC236}">
                <a16:creationId xmlns:a16="http://schemas.microsoft.com/office/drawing/2014/main" id="{A9F0E67C-956C-F188-1107-2C8B791A193F}"/>
              </a:ext>
            </a:extLst>
          </p:cNvPr>
          <p:cNvSpPr/>
          <p:nvPr/>
        </p:nvSpPr>
        <p:spPr>
          <a:xfrm>
            <a:off x="472440" y="5819503"/>
            <a:ext cx="11247120" cy="548640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t903">
            <a:extLst>
              <a:ext uri="{FF2B5EF4-FFF2-40B4-BE49-F238E27FC236}">
                <a16:creationId xmlns:a16="http://schemas.microsoft.com/office/drawing/2014/main" id="{EF8A01CF-9D44-C3F0-6D9C-CB94E6F07AA1}"/>
              </a:ext>
            </a:extLst>
          </p:cNvPr>
          <p:cNvSpPr txBox="1"/>
          <p:nvPr/>
        </p:nvSpPr>
        <p:spPr>
          <a:xfrm>
            <a:off x="465906" y="5865223"/>
            <a:ext cx="32004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00C9A7"/>
                </a:solidFill>
                <a:latin typeface="Calibri"/>
              </a:rPr>
              <a:t>📦  </a:t>
            </a:r>
            <a:r>
              <a:rPr lang="en-US" sz="1300" b="1" i="0" dirty="0">
                <a:solidFill>
                  <a:srgbClr val="00C9A7"/>
                </a:solidFill>
                <a:latin typeface="Calibri"/>
              </a:rPr>
              <a:t>Today's materials:</a:t>
            </a:r>
          </a:p>
        </p:txBody>
      </p:sp>
      <p:sp>
        <p:nvSpPr>
          <p:cNvPr id="34" name="t904">
            <a:extLst>
              <a:ext uri="{FF2B5EF4-FFF2-40B4-BE49-F238E27FC236}">
                <a16:creationId xmlns:a16="http://schemas.microsoft.com/office/drawing/2014/main" id="{9EF1D3A2-A5DD-69CB-E7E1-F8694ADB9D30}"/>
              </a:ext>
            </a:extLst>
          </p:cNvPr>
          <p:cNvSpPr txBox="1"/>
          <p:nvPr/>
        </p:nvSpPr>
        <p:spPr>
          <a:xfrm>
            <a:off x="465906" y="6139543"/>
            <a:ext cx="105156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100" b="0" i="0" dirty="0">
                <a:solidFill>
                  <a:srgbClr val="FFFFFF"/>
                </a:solidFill>
                <a:latin typeface="Courier New"/>
              </a:rPr>
              <a:t>github.com/rachellvinculado/sql-seminar-nsm2026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11216</TotalTime>
  <Words>3477</Words>
  <Application>Microsoft Office PowerPoint</Application>
  <PresentationFormat>Widescreen</PresentationFormat>
  <Paragraphs>890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Rachell Batucan</cp:lastModifiedBy>
  <cp:revision>56</cp:revision>
  <dcterms:created xsi:type="dcterms:W3CDTF">2026-09-28T19:30:56Z</dcterms:created>
  <dcterms:modified xsi:type="dcterms:W3CDTF">2026-10-06T19:49:04Z</dcterms:modified>
</cp:coreProperties>
</file>