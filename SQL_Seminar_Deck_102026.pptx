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3" r:id="rId9"/>
    <p:sldId id="264" r:id="rId10"/>
    <p:sldId id="266" r:id="rId11"/>
    <p:sldId id="267" r:id="rId12"/>
    <p:sldId id="268" r:id="rId13"/>
    <p:sldId id="269" r:id="rId14"/>
    <p:sldId id="284" r:id="rId15"/>
    <p:sldId id="301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1" r:id="rId25"/>
    <p:sldId id="282" r:id="rId26"/>
    <p:sldId id="283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7" autoAdjust="0"/>
    <p:restoredTop sz="69221" autoAdjust="0"/>
  </p:normalViewPr>
  <p:slideViewPr>
    <p:cSldViewPr snapToGrid="0" snapToObjects="1">
      <p:cViewPr>
        <p:scale>
          <a:sx n="100" d="100"/>
          <a:sy n="100" d="100"/>
        </p:scale>
        <p:origin x="48" y="-71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273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8052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52283-EDDD-F7B1-974E-62A86B9FD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614A0-DE0A-D29B-7C6A-270CE95A6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7548D-5A78-FA3E-5DAD-CAE5EC0D3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0DC1A-230B-870E-10BC-A54206BE6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95786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65836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122529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179222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235915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92608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349300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05993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62686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519379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576072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2764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689457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Shape 13"/>
          <p:cNvSpPr/>
          <p:nvPr/>
        </p:nvSpPr>
        <p:spPr>
          <a:xfrm>
            <a:off x="746150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802843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859536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16228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72921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029614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086307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1143000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1199692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9144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65836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22529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79222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235915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292608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349300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405993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462686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519379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576072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33"/>
          <p:cNvSpPr/>
          <p:nvPr/>
        </p:nvSpPr>
        <p:spPr>
          <a:xfrm>
            <a:off x="632764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689457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746150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02843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859536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16228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72921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1029614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Shape 41"/>
          <p:cNvSpPr/>
          <p:nvPr/>
        </p:nvSpPr>
        <p:spPr>
          <a:xfrm>
            <a:off x="1086307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1143000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1199692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144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65836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122529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7"/>
          <p:cNvSpPr/>
          <p:nvPr/>
        </p:nvSpPr>
        <p:spPr>
          <a:xfrm>
            <a:off x="179222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48"/>
          <p:cNvSpPr/>
          <p:nvPr/>
        </p:nvSpPr>
        <p:spPr>
          <a:xfrm>
            <a:off x="235915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Shape 49"/>
          <p:cNvSpPr/>
          <p:nvPr/>
        </p:nvSpPr>
        <p:spPr>
          <a:xfrm>
            <a:off x="292608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50"/>
          <p:cNvSpPr/>
          <p:nvPr/>
        </p:nvSpPr>
        <p:spPr>
          <a:xfrm>
            <a:off x="349300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Shape 51"/>
          <p:cNvSpPr/>
          <p:nvPr/>
        </p:nvSpPr>
        <p:spPr>
          <a:xfrm>
            <a:off x="405993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462686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Shape 53"/>
          <p:cNvSpPr/>
          <p:nvPr/>
        </p:nvSpPr>
        <p:spPr>
          <a:xfrm>
            <a:off x="519379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54"/>
          <p:cNvSpPr/>
          <p:nvPr/>
        </p:nvSpPr>
        <p:spPr>
          <a:xfrm>
            <a:off x="576072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5"/>
          <p:cNvSpPr/>
          <p:nvPr/>
        </p:nvSpPr>
        <p:spPr>
          <a:xfrm>
            <a:off x="632764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689457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Shape 57"/>
          <p:cNvSpPr/>
          <p:nvPr/>
        </p:nvSpPr>
        <p:spPr>
          <a:xfrm>
            <a:off x="746150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8"/>
          <p:cNvSpPr/>
          <p:nvPr/>
        </p:nvSpPr>
        <p:spPr>
          <a:xfrm>
            <a:off x="802843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Shape 59"/>
          <p:cNvSpPr/>
          <p:nvPr/>
        </p:nvSpPr>
        <p:spPr>
          <a:xfrm>
            <a:off x="859536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Shape 60"/>
          <p:cNvSpPr/>
          <p:nvPr/>
        </p:nvSpPr>
        <p:spPr>
          <a:xfrm>
            <a:off x="916228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61"/>
          <p:cNvSpPr/>
          <p:nvPr/>
        </p:nvSpPr>
        <p:spPr>
          <a:xfrm>
            <a:off x="972921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Shape 62"/>
          <p:cNvSpPr/>
          <p:nvPr/>
        </p:nvSpPr>
        <p:spPr>
          <a:xfrm>
            <a:off x="1029614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Shape 63"/>
          <p:cNvSpPr/>
          <p:nvPr/>
        </p:nvSpPr>
        <p:spPr>
          <a:xfrm>
            <a:off x="1086307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64"/>
          <p:cNvSpPr/>
          <p:nvPr/>
        </p:nvSpPr>
        <p:spPr>
          <a:xfrm>
            <a:off x="1143000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Shape 65"/>
          <p:cNvSpPr/>
          <p:nvPr/>
        </p:nvSpPr>
        <p:spPr>
          <a:xfrm>
            <a:off x="1199692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66"/>
          <p:cNvSpPr/>
          <p:nvPr/>
        </p:nvSpPr>
        <p:spPr>
          <a:xfrm>
            <a:off x="9144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Shape 67"/>
          <p:cNvSpPr/>
          <p:nvPr/>
        </p:nvSpPr>
        <p:spPr>
          <a:xfrm>
            <a:off x="65836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68"/>
          <p:cNvSpPr/>
          <p:nvPr/>
        </p:nvSpPr>
        <p:spPr>
          <a:xfrm>
            <a:off x="122529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9"/>
          <p:cNvSpPr/>
          <p:nvPr/>
        </p:nvSpPr>
        <p:spPr>
          <a:xfrm>
            <a:off x="179222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70"/>
          <p:cNvSpPr/>
          <p:nvPr/>
        </p:nvSpPr>
        <p:spPr>
          <a:xfrm>
            <a:off x="235915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Shape 71"/>
          <p:cNvSpPr/>
          <p:nvPr/>
        </p:nvSpPr>
        <p:spPr>
          <a:xfrm>
            <a:off x="292608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72"/>
          <p:cNvSpPr/>
          <p:nvPr/>
        </p:nvSpPr>
        <p:spPr>
          <a:xfrm>
            <a:off x="349300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Shape 73"/>
          <p:cNvSpPr/>
          <p:nvPr/>
        </p:nvSpPr>
        <p:spPr>
          <a:xfrm>
            <a:off x="405993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74"/>
          <p:cNvSpPr/>
          <p:nvPr/>
        </p:nvSpPr>
        <p:spPr>
          <a:xfrm>
            <a:off x="462686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5"/>
          <p:cNvSpPr/>
          <p:nvPr/>
        </p:nvSpPr>
        <p:spPr>
          <a:xfrm>
            <a:off x="519379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76"/>
          <p:cNvSpPr/>
          <p:nvPr/>
        </p:nvSpPr>
        <p:spPr>
          <a:xfrm>
            <a:off x="576072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Shape 77"/>
          <p:cNvSpPr/>
          <p:nvPr/>
        </p:nvSpPr>
        <p:spPr>
          <a:xfrm>
            <a:off x="632764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Shape 78"/>
          <p:cNvSpPr/>
          <p:nvPr/>
        </p:nvSpPr>
        <p:spPr>
          <a:xfrm>
            <a:off x="689457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Shape 79"/>
          <p:cNvSpPr/>
          <p:nvPr/>
        </p:nvSpPr>
        <p:spPr>
          <a:xfrm>
            <a:off x="746150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2" name="Shape 80"/>
          <p:cNvSpPr/>
          <p:nvPr/>
        </p:nvSpPr>
        <p:spPr>
          <a:xfrm>
            <a:off x="802843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Shape 81"/>
          <p:cNvSpPr/>
          <p:nvPr/>
        </p:nvSpPr>
        <p:spPr>
          <a:xfrm>
            <a:off x="859536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4" name="Shape 82"/>
          <p:cNvSpPr/>
          <p:nvPr/>
        </p:nvSpPr>
        <p:spPr>
          <a:xfrm>
            <a:off x="916228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972921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84"/>
          <p:cNvSpPr/>
          <p:nvPr/>
        </p:nvSpPr>
        <p:spPr>
          <a:xfrm>
            <a:off x="1029614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7" name="Shape 85"/>
          <p:cNvSpPr/>
          <p:nvPr/>
        </p:nvSpPr>
        <p:spPr>
          <a:xfrm>
            <a:off x="1086307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86"/>
          <p:cNvSpPr/>
          <p:nvPr/>
        </p:nvSpPr>
        <p:spPr>
          <a:xfrm>
            <a:off x="1143000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1199692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88"/>
          <p:cNvSpPr/>
          <p:nvPr/>
        </p:nvSpPr>
        <p:spPr>
          <a:xfrm>
            <a:off x="9144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1" name="Shape 89"/>
          <p:cNvSpPr/>
          <p:nvPr/>
        </p:nvSpPr>
        <p:spPr>
          <a:xfrm>
            <a:off x="65836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90"/>
          <p:cNvSpPr/>
          <p:nvPr/>
        </p:nvSpPr>
        <p:spPr>
          <a:xfrm>
            <a:off x="122529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3" name="Shape 91"/>
          <p:cNvSpPr/>
          <p:nvPr/>
        </p:nvSpPr>
        <p:spPr>
          <a:xfrm>
            <a:off x="179222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92"/>
          <p:cNvSpPr/>
          <p:nvPr/>
        </p:nvSpPr>
        <p:spPr>
          <a:xfrm>
            <a:off x="235915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5" name="Shape 93"/>
          <p:cNvSpPr/>
          <p:nvPr/>
        </p:nvSpPr>
        <p:spPr>
          <a:xfrm>
            <a:off x="292608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94"/>
          <p:cNvSpPr/>
          <p:nvPr/>
        </p:nvSpPr>
        <p:spPr>
          <a:xfrm>
            <a:off x="349300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7" name="Shape 95"/>
          <p:cNvSpPr/>
          <p:nvPr/>
        </p:nvSpPr>
        <p:spPr>
          <a:xfrm>
            <a:off x="405993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Shape 96"/>
          <p:cNvSpPr/>
          <p:nvPr/>
        </p:nvSpPr>
        <p:spPr>
          <a:xfrm>
            <a:off x="462686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9" name="Shape 97"/>
          <p:cNvSpPr/>
          <p:nvPr/>
        </p:nvSpPr>
        <p:spPr>
          <a:xfrm>
            <a:off x="519379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0" name="Shape 98"/>
          <p:cNvSpPr/>
          <p:nvPr/>
        </p:nvSpPr>
        <p:spPr>
          <a:xfrm>
            <a:off x="576072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1" name="Shape 99"/>
          <p:cNvSpPr/>
          <p:nvPr/>
        </p:nvSpPr>
        <p:spPr>
          <a:xfrm>
            <a:off x="632764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2" name="Shape 100"/>
          <p:cNvSpPr/>
          <p:nvPr/>
        </p:nvSpPr>
        <p:spPr>
          <a:xfrm>
            <a:off x="689457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3" name="Shape 101"/>
          <p:cNvSpPr/>
          <p:nvPr/>
        </p:nvSpPr>
        <p:spPr>
          <a:xfrm>
            <a:off x="746150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102"/>
          <p:cNvSpPr/>
          <p:nvPr/>
        </p:nvSpPr>
        <p:spPr>
          <a:xfrm>
            <a:off x="802843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5" name="Shape 103"/>
          <p:cNvSpPr/>
          <p:nvPr/>
        </p:nvSpPr>
        <p:spPr>
          <a:xfrm>
            <a:off x="859536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104"/>
          <p:cNvSpPr/>
          <p:nvPr/>
        </p:nvSpPr>
        <p:spPr>
          <a:xfrm>
            <a:off x="916228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7" name="Shape 105"/>
          <p:cNvSpPr/>
          <p:nvPr/>
        </p:nvSpPr>
        <p:spPr>
          <a:xfrm>
            <a:off x="972921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106"/>
          <p:cNvSpPr/>
          <p:nvPr/>
        </p:nvSpPr>
        <p:spPr>
          <a:xfrm>
            <a:off x="1029614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9" name="Shape 107"/>
          <p:cNvSpPr/>
          <p:nvPr/>
        </p:nvSpPr>
        <p:spPr>
          <a:xfrm>
            <a:off x="1086307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108"/>
          <p:cNvSpPr/>
          <p:nvPr/>
        </p:nvSpPr>
        <p:spPr>
          <a:xfrm>
            <a:off x="1143000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1" name="Shape 109"/>
          <p:cNvSpPr/>
          <p:nvPr/>
        </p:nvSpPr>
        <p:spPr>
          <a:xfrm>
            <a:off x="1199692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110"/>
          <p:cNvSpPr/>
          <p:nvPr/>
        </p:nvSpPr>
        <p:spPr>
          <a:xfrm>
            <a:off x="9144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3" name="Shape 111"/>
          <p:cNvSpPr/>
          <p:nvPr/>
        </p:nvSpPr>
        <p:spPr>
          <a:xfrm>
            <a:off x="65836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112"/>
          <p:cNvSpPr/>
          <p:nvPr/>
        </p:nvSpPr>
        <p:spPr>
          <a:xfrm>
            <a:off x="122529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5" name="Shape 113"/>
          <p:cNvSpPr/>
          <p:nvPr/>
        </p:nvSpPr>
        <p:spPr>
          <a:xfrm>
            <a:off x="179222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Shape 114"/>
          <p:cNvSpPr/>
          <p:nvPr/>
        </p:nvSpPr>
        <p:spPr>
          <a:xfrm>
            <a:off x="235915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7" name="Shape 115"/>
          <p:cNvSpPr/>
          <p:nvPr/>
        </p:nvSpPr>
        <p:spPr>
          <a:xfrm>
            <a:off x="292608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8" name="Shape 116"/>
          <p:cNvSpPr/>
          <p:nvPr/>
        </p:nvSpPr>
        <p:spPr>
          <a:xfrm>
            <a:off x="349300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17"/>
          <p:cNvSpPr/>
          <p:nvPr/>
        </p:nvSpPr>
        <p:spPr>
          <a:xfrm>
            <a:off x="405993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Shape 118"/>
          <p:cNvSpPr/>
          <p:nvPr/>
        </p:nvSpPr>
        <p:spPr>
          <a:xfrm>
            <a:off x="462686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1" name="Shape 119"/>
          <p:cNvSpPr/>
          <p:nvPr/>
        </p:nvSpPr>
        <p:spPr>
          <a:xfrm>
            <a:off x="519379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2" name="Shape 120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3" name="Shape 121"/>
          <p:cNvSpPr/>
          <p:nvPr/>
        </p:nvSpPr>
        <p:spPr>
          <a:xfrm>
            <a:off x="632764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122"/>
          <p:cNvSpPr/>
          <p:nvPr/>
        </p:nvSpPr>
        <p:spPr>
          <a:xfrm>
            <a:off x="689457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Shape 123"/>
          <p:cNvSpPr/>
          <p:nvPr/>
        </p:nvSpPr>
        <p:spPr>
          <a:xfrm>
            <a:off x="746150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6" name="Shape 124"/>
          <p:cNvSpPr/>
          <p:nvPr/>
        </p:nvSpPr>
        <p:spPr>
          <a:xfrm>
            <a:off x="802843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125"/>
          <p:cNvSpPr/>
          <p:nvPr/>
        </p:nvSpPr>
        <p:spPr>
          <a:xfrm>
            <a:off x="859536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Shape 126"/>
          <p:cNvSpPr/>
          <p:nvPr/>
        </p:nvSpPr>
        <p:spPr>
          <a:xfrm>
            <a:off x="916228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9" name="Shape 127"/>
          <p:cNvSpPr/>
          <p:nvPr/>
        </p:nvSpPr>
        <p:spPr>
          <a:xfrm>
            <a:off x="972921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128"/>
          <p:cNvSpPr/>
          <p:nvPr/>
        </p:nvSpPr>
        <p:spPr>
          <a:xfrm>
            <a:off x="1029614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Shape 129"/>
          <p:cNvSpPr/>
          <p:nvPr/>
        </p:nvSpPr>
        <p:spPr>
          <a:xfrm>
            <a:off x="1086307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2" name="Shape 130"/>
          <p:cNvSpPr/>
          <p:nvPr/>
        </p:nvSpPr>
        <p:spPr>
          <a:xfrm>
            <a:off x="1143000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3" name="Shape 131"/>
          <p:cNvSpPr/>
          <p:nvPr/>
        </p:nvSpPr>
        <p:spPr>
          <a:xfrm>
            <a:off x="1199692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4" name="Shape 132"/>
          <p:cNvSpPr/>
          <p:nvPr/>
        </p:nvSpPr>
        <p:spPr>
          <a:xfrm>
            <a:off x="9144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133"/>
          <p:cNvSpPr/>
          <p:nvPr/>
        </p:nvSpPr>
        <p:spPr>
          <a:xfrm>
            <a:off x="65836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Shape 134"/>
          <p:cNvSpPr/>
          <p:nvPr/>
        </p:nvSpPr>
        <p:spPr>
          <a:xfrm>
            <a:off x="122529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7" name="Shape 135"/>
          <p:cNvSpPr/>
          <p:nvPr/>
        </p:nvSpPr>
        <p:spPr>
          <a:xfrm>
            <a:off x="179222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136"/>
          <p:cNvSpPr/>
          <p:nvPr/>
        </p:nvSpPr>
        <p:spPr>
          <a:xfrm>
            <a:off x="235915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Shape 137"/>
          <p:cNvSpPr/>
          <p:nvPr/>
        </p:nvSpPr>
        <p:spPr>
          <a:xfrm>
            <a:off x="292608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0" name="Shape 138"/>
          <p:cNvSpPr/>
          <p:nvPr/>
        </p:nvSpPr>
        <p:spPr>
          <a:xfrm>
            <a:off x="349300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139"/>
          <p:cNvSpPr/>
          <p:nvPr/>
        </p:nvSpPr>
        <p:spPr>
          <a:xfrm>
            <a:off x="405993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Shape 140"/>
          <p:cNvSpPr/>
          <p:nvPr/>
        </p:nvSpPr>
        <p:spPr>
          <a:xfrm>
            <a:off x="462686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3" name="Shape 141"/>
          <p:cNvSpPr/>
          <p:nvPr/>
        </p:nvSpPr>
        <p:spPr>
          <a:xfrm>
            <a:off x="519379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142"/>
          <p:cNvSpPr/>
          <p:nvPr/>
        </p:nvSpPr>
        <p:spPr>
          <a:xfrm>
            <a:off x="576072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Shape 143"/>
          <p:cNvSpPr/>
          <p:nvPr/>
        </p:nvSpPr>
        <p:spPr>
          <a:xfrm>
            <a:off x="632764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6" name="Shape 144"/>
          <p:cNvSpPr/>
          <p:nvPr/>
        </p:nvSpPr>
        <p:spPr>
          <a:xfrm>
            <a:off x="689457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145"/>
          <p:cNvSpPr/>
          <p:nvPr/>
        </p:nvSpPr>
        <p:spPr>
          <a:xfrm>
            <a:off x="746150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Shape 146"/>
          <p:cNvSpPr/>
          <p:nvPr/>
        </p:nvSpPr>
        <p:spPr>
          <a:xfrm>
            <a:off x="802843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9" name="Shape 147"/>
          <p:cNvSpPr/>
          <p:nvPr/>
        </p:nvSpPr>
        <p:spPr>
          <a:xfrm>
            <a:off x="859536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0" name="Shape 148"/>
          <p:cNvSpPr/>
          <p:nvPr/>
        </p:nvSpPr>
        <p:spPr>
          <a:xfrm>
            <a:off x="916228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1" name="Shape 149"/>
          <p:cNvSpPr/>
          <p:nvPr/>
        </p:nvSpPr>
        <p:spPr>
          <a:xfrm>
            <a:off x="972921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150"/>
          <p:cNvSpPr/>
          <p:nvPr/>
        </p:nvSpPr>
        <p:spPr>
          <a:xfrm>
            <a:off x="1029614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Shape 151"/>
          <p:cNvSpPr/>
          <p:nvPr/>
        </p:nvSpPr>
        <p:spPr>
          <a:xfrm>
            <a:off x="1086307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4" name="Shape 152"/>
          <p:cNvSpPr/>
          <p:nvPr/>
        </p:nvSpPr>
        <p:spPr>
          <a:xfrm>
            <a:off x="1143000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153"/>
          <p:cNvSpPr/>
          <p:nvPr/>
        </p:nvSpPr>
        <p:spPr>
          <a:xfrm>
            <a:off x="1199692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Shape 154"/>
          <p:cNvSpPr/>
          <p:nvPr/>
        </p:nvSpPr>
        <p:spPr>
          <a:xfrm>
            <a:off x="9144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7" name="Shape 155"/>
          <p:cNvSpPr/>
          <p:nvPr/>
        </p:nvSpPr>
        <p:spPr>
          <a:xfrm>
            <a:off x="65836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156"/>
          <p:cNvSpPr/>
          <p:nvPr/>
        </p:nvSpPr>
        <p:spPr>
          <a:xfrm>
            <a:off x="122529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Shape 157"/>
          <p:cNvSpPr/>
          <p:nvPr/>
        </p:nvSpPr>
        <p:spPr>
          <a:xfrm>
            <a:off x="179222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0" name="Shape 158"/>
          <p:cNvSpPr/>
          <p:nvPr/>
        </p:nvSpPr>
        <p:spPr>
          <a:xfrm>
            <a:off x="235915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1" name="Shape 159"/>
          <p:cNvSpPr/>
          <p:nvPr/>
        </p:nvSpPr>
        <p:spPr>
          <a:xfrm>
            <a:off x="292608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2" name="Shape 160"/>
          <p:cNvSpPr/>
          <p:nvPr/>
        </p:nvSpPr>
        <p:spPr>
          <a:xfrm>
            <a:off x="349300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161"/>
          <p:cNvSpPr/>
          <p:nvPr/>
        </p:nvSpPr>
        <p:spPr>
          <a:xfrm>
            <a:off x="405993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Shape 162"/>
          <p:cNvSpPr/>
          <p:nvPr/>
        </p:nvSpPr>
        <p:spPr>
          <a:xfrm>
            <a:off x="462686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5" name="Shape 163"/>
          <p:cNvSpPr/>
          <p:nvPr/>
        </p:nvSpPr>
        <p:spPr>
          <a:xfrm>
            <a:off x="519379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164"/>
          <p:cNvSpPr/>
          <p:nvPr/>
        </p:nvSpPr>
        <p:spPr>
          <a:xfrm>
            <a:off x="576072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Shape 165"/>
          <p:cNvSpPr/>
          <p:nvPr/>
        </p:nvSpPr>
        <p:spPr>
          <a:xfrm>
            <a:off x="632764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8" name="Shape 166"/>
          <p:cNvSpPr/>
          <p:nvPr/>
        </p:nvSpPr>
        <p:spPr>
          <a:xfrm>
            <a:off x="689457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167"/>
          <p:cNvSpPr/>
          <p:nvPr/>
        </p:nvSpPr>
        <p:spPr>
          <a:xfrm>
            <a:off x="746150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Shape 168"/>
          <p:cNvSpPr/>
          <p:nvPr/>
        </p:nvSpPr>
        <p:spPr>
          <a:xfrm>
            <a:off x="802843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1" name="Shape 169"/>
          <p:cNvSpPr/>
          <p:nvPr/>
        </p:nvSpPr>
        <p:spPr>
          <a:xfrm>
            <a:off x="859536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170"/>
          <p:cNvSpPr/>
          <p:nvPr/>
        </p:nvSpPr>
        <p:spPr>
          <a:xfrm>
            <a:off x="916228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Shape 171"/>
          <p:cNvSpPr/>
          <p:nvPr/>
        </p:nvSpPr>
        <p:spPr>
          <a:xfrm>
            <a:off x="972921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4" name="Shape 172"/>
          <p:cNvSpPr/>
          <p:nvPr/>
        </p:nvSpPr>
        <p:spPr>
          <a:xfrm>
            <a:off x="1029614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173"/>
          <p:cNvSpPr/>
          <p:nvPr/>
        </p:nvSpPr>
        <p:spPr>
          <a:xfrm>
            <a:off x="1086307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Shape 174"/>
          <p:cNvSpPr/>
          <p:nvPr/>
        </p:nvSpPr>
        <p:spPr>
          <a:xfrm>
            <a:off x="1143000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7" name="Shape 175"/>
          <p:cNvSpPr/>
          <p:nvPr/>
        </p:nvSpPr>
        <p:spPr>
          <a:xfrm>
            <a:off x="1199692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176"/>
          <p:cNvSpPr/>
          <p:nvPr/>
        </p:nvSpPr>
        <p:spPr>
          <a:xfrm>
            <a:off x="9144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Shape 177"/>
          <p:cNvSpPr/>
          <p:nvPr/>
        </p:nvSpPr>
        <p:spPr>
          <a:xfrm>
            <a:off x="65836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0" name="Shape 178"/>
          <p:cNvSpPr/>
          <p:nvPr/>
        </p:nvSpPr>
        <p:spPr>
          <a:xfrm>
            <a:off x="122529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179"/>
          <p:cNvSpPr/>
          <p:nvPr/>
        </p:nvSpPr>
        <p:spPr>
          <a:xfrm>
            <a:off x="179222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Shape 180"/>
          <p:cNvSpPr/>
          <p:nvPr/>
        </p:nvSpPr>
        <p:spPr>
          <a:xfrm>
            <a:off x="235915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3" name="Shape 181"/>
          <p:cNvSpPr/>
          <p:nvPr/>
        </p:nvSpPr>
        <p:spPr>
          <a:xfrm>
            <a:off x="292608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4" name="Shape 182"/>
          <p:cNvSpPr/>
          <p:nvPr/>
        </p:nvSpPr>
        <p:spPr>
          <a:xfrm>
            <a:off x="349300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5" name="Shape 183"/>
          <p:cNvSpPr/>
          <p:nvPr/>
        </p:nvSpPr>
        <p:spPr>
          <a:xfrm>
            <a:off x="405993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184"/>
          <p:cNvSpPr/>
          <p:nvPr/>
        </p:nvSpPr>
        <p:spPr>
          <a:xfrm>
            <a:off x="462686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Shape 185"/>
          <p:cNvSpPr/>
          <p:nvPr/>
        </p:nvSpPr>
        <p:spPr>
          <a:xfrm>
            <a:off x="519379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8" name="Shape 186"/>
          <p:cNvSpPr/>
          <p:nvPr/>
        </p:nvSpPr>
        <p:spPr>
          <a:xfrm>
            <a:off x="576072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9" name="Shape 187"/>
          <p:cNvSpPr/>
          <p:nvPr/>
        </p:nvSpPr>
        <p:spPr>
          <a:xfrm>
            <a:off x="632764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0" name="Shape 188"/>
          <p:cNvSpPr/>
          <p:nvPr/>
        </p:nvSpPr>
        <p:spPr>
          <a:xfrm>
            <a:off x="689457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Shape 189"/>
          <p:cNvSpPr/>
          <p:nvPr/>
        </p:nvSpPr>
        <p:spPr>
          <a:xfrm>
            <a:off x="746150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2" name="Shape 190"/>
          <p:cNvSpPr/>
          <p:nvPr/>
        </p:nvSpPr>
        <p:spPr>
          <a:xfrm>
            <a:off x="802843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3" name="Shape 191"/>
          <p:cNvSpPr/>
          <p:nvPr/>
        </p:nvSpPr>
        <p:spPr>
          <a:xfrm>
            <a:off x="859536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4" name="Shape 192"/>
          <p:cNvSpPr/>
          <p:nvPr/>
        </p:nvSpPr>
        <p:spPr>
          <a:xfrm>
            <a:off x="916228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5" name="Shape 193"/>
          <p:cNvSpPr/>
          <p:nvPr/>
        </p:nvSpPr>
        <p:spPr>
          <a:xfrm>
            <a:off x="972921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6" name="Shape 194"/>
          <p:cNvSpPr/>
          <p:nvPr/>
        </p:nvSpPr>
        <p:spPr>
          <a:xfrm>
            <a:off x="1029614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7" name="Shape 195"/>
          <p:cNvSpPr/>
          <p:nvPr/>
        </p:nvSpPr>
        <p:spPr>
          <a:xfrm>
            <a:off x="1086307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8" name="Shape 196"/>
          <p:cNvSpPr/>
          <p:nvPr/>
        </p:nvSpPr>
        <p:spPr>
          <a:xfrm>
            <a:off x="1143000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9" name="Shape 197"/>
          <p:cNvSpPr/>
          <p:nvPr/>
        </p:nvSpPr>
        <p:spPr>
          <a:xfrm>
            <a:off x="1199692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0" name="Shape 198"/>
          <p:cNvSpPr/>
          <p:nvPr/>
        </p:nvSpPr>
        <p:spPr>
          <a:xfrm>
            <a:off x="9144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1" name="Shape 199"/>
          <p:cNvSpPr/>
          <p:nvPr/>
        </p:nvSpPr>
        <p:spPr>
          <a:xfrm>
            <a:off x="65836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2" name="Shape 200"/>
          <p:cNvSpPr/>
          <p:nvPr/>
        </p:nvSpPr>
        <p:spPr>
          <a:xfrm>
            <a:off x="122529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3" name="Shape 201"/>
          <p:cNvSpPr/>
          <p:nvPr/>
        </p:nvSpPr>
        <p:spPr>
          <a:xfrm>
            <a:off x="179222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4" name="Shape 202"/>
          <p:cNvSpPr/>
          <p:nvPr/>
        </p:nvSpPr>
        <p:spPr>
          <a:xfrm>
            <a:off x="235915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5" name="Shape 203"/>
          <p:cNvSpPr/>
          <p:nvPr/>
        </p:nvSpPr>
        <p:spPr>
          <a:xfrm>
            <a:off x="292608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6" name="Shape 204"/>
          <p:cNvSpPr/>
          <p:nvPr/>
        </p:nvSpPr>
        <p:spPr>
          <a:xfrm>
            <a:off x="349300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7" name="Shape 205"/>
          <p:cNvSpPr/>
          <p:nvPr/>
        </p:nvSpPr>
        <p:spPr>
          <a:xfrm>
            <a:off x="405993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8" name="Shape 206"/>
          <p:cNvSpPr/>
          <p:nvPr/>
        </p:nvSpPr>
        <p:spPr>
          <a:xfrm>
            <a:off x="462686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9" name="Shape 207"/>
          <p:cNvSpPr/>
          <p:nvPr/>
        </p:nvSpPr>
        <p:spPr>
          <a:xfrm>
            <a:off x="519379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0" name="Shape 208"/>
          <p:cNvSpPr/>
          <p:nvPr/>
        </p:nvSpPr>
        <p:spPr>
          <a:xfrm>
            <a:off x="576072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1" name="Shape 209"/>
          <p:cNvSpPr/>
          <p:nvPr/>
        </p:nvSpPr>
        <p:spPr>
          <a:xfrm>
            <a:off x="632764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2" name="Shape 210"/>
          <p:cNvSpPr/>
          <p:nvPr/>
        </p:nvSpPr>
        <p:spPr>
          <a:xfrm>
            <a:off x="689457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3" name="Shape 211"/>
          <p:cNvSpPr/>
          <p:nvPr/>
        </p:nvSpPr>
        <p:spPr>
          <a:xfrm>
            <a:off x="746150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4" name="Shape 212"/>
          <p:cNvSpPr/>
          <p:nvPr/>
        </p:nvSpPr>
        <p:spPr>
          <a:xfrm>
            <a:off x="802843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5" name="Shape 213"/>
          <p:cNvSpPr/>
          <p:nvPr/>
        </p:nvSpPr>
        <p:spPr>
          <a:xfrm>
            <a:off x="859536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6" name="Shape 214"/>
          <p:cNvSpPr/>
          <p:nvPr/>
        </p:nvSpPr>
        <p:spPr>
          <a:xfrm>
            <a:off x="916228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7" name="Shape 215"/>
          <p:cNvSpPr/>
          <p:nvPr/>
        </p:nvSpPr>
        <p:spPr>
          <a:xfrm>
            <a:off x="972921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8" name="Shape 216"/>
          <p:cNvSpPr/>
          <p:nvPr/>
        </p:nvSpPr>
        <p:spPr>
          <a:xfrm>
            <a:off x="1029614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9" name="Shape 217"/>
          <p:cNvSpPr/>
          <p:nvPr/>
        </p:nvSpPr>
        <p:spPr>
          <a:xfrm>
            <a:off x="1086307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0" name="Shape 218"/>
          <p:cNvSpPr/>
          <p:nvPr/>
        </p:nvSpPr>
        <p:spPr>
          <a:xfrm>
            <a:off x="1143000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1" name="Shape 219"/>
          <p:cNvSpPr/>
          <p:nvPr/>
        </p:nvSpPr>
        <p:spPr>
          <a:xfrm>
            <a:off x="1199692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2" name="Shape 220"/>
          <p:cNvSpPr/>
          <p:nvPr/>
        </p:nvSpPr>
        <p:spPr>
          <a:xfrm>
            <a:off x="9144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3" name="Shape 221"/>
          <p:cNvSpPr/>
          <p:nvPr/>
        </p:nvSpPr>
        <p:spPr>
          <a:xfrm>
            <a:off x="65836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4" name="Shape 222"/>
          <p:cNvSpPr/>
          <p:nvPr/>
        </p:nvSpPr>
        <p:spPr>
          <a:xfrm>
            <a:off x="122529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5" name="Shape 223"/>
          <p:cNvSpPr/>
          <p:nvPr/>
        </p:nvSpPr>
        <p:spPr>
          <a:xfrm>
            <a:off x="179222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6" name="Shape 224"/>
          <p:cNvSpPr/>
          <p:nvPr/>
        </p:nvSpPr>
        <p:spPr>
          <a:xfrm>
            <a:off x="235915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7" name="Shape 225"/>
          <p:cNvSpPr/>
          <p:nvPr/>
        </p:nvSpPr>
        <p:spPr>
          <a:xfrm>
            <a:off x="292608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8" name="Shape 226"/>
          <p:cNvSpPr/>
          <p:nvPr/>
        </p:nvSpPr>
        <p:spPr>
          <a:xfrm>
            <a:off x="349300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9" name="Shape 227"/>
          <p:cNvSpPr/>
          <p:nvPr/>
        </p:nvSpPr>
        <p:spPr>
          <a:xfrm>
            <a:off x="405993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0" name="Shape 228"/>
          <p:cNvSpPr/>
          <p:nvPr/>
        </p:nvSpPr>
        <p:spPr>
          <a:xfrm>
            <a:off x="462686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1" name="Shape 229"/>
          <p:cNvSpPr/>
          <p:nvPr/>
        </p:nvSpPr>
        <p:spPr>
          <a:xfrm>
            <a:off x="519379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2" name="Shape 230"/>
          <p:cNvSpPr/>
          <p:nvPr/>
        </p:nvSpPr>
        <p:spPr>
          <a:xfrm>
            <a:off x="576072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3" name="Shape 231"/>
          <p:cNvSpPr/>
          <p:nvPr/>
        </p:nvSpPr>
        <p:spPr>
          <a:xfrm>
            <a:off x="632764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4" name="Shape 232"/>
          <p:cNvSpPr/>
          <p:nvPr/>
        </p:nvSpPr>
        <p:spPr>
          <a:xfrm>
            <a:off x="689457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5" name="Shape 233"/>
          <p:cNvSpPr/>
          <p:nvPr/>
        </p:nvSpPr>
        <p:spPr>
          <a:xfrm>
            <a:off x="746150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6" name="Shape 234"/>
          <p:cNvSpPr/>
          <p:nvPr/>
        </p:nvSpPr>
        <p:spPr>
          <a:xfrm>
            <a:off x="802843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7" name="Shape 235"/>
          <p:cNvSpPr/>
          <p:nvPr/>
        </p:nvSpPr>
        <p:spPr>
          <a:xfrm>
            <a:off x="859536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8" name="Shape 236"/>
          <p:cNvSpPr/>
          <p:nvPr/>
        </p:nvSpPr>
        <p:spPr>
          <a:xfrm>
            <a:off x="916228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9" name="Shape 237"/>
          <p:cNvSpPr/>
          <p:nvPr/>
        </p:nvSpPr>
        <p:spPr>
          <a:xfrm>
            <a:off x="972921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0" name="Shape 238"/>
          <p:cNvSpPr/>
          <p:nvPr/>
        </p:nvSpPr>
        <p:spPr>
          <a:xfrm>
            <a:off x="1029614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1" name="Shape 239"/>
          <p:cNvSpPr/>
          <p:nvPr/>
        </p:nvSpPr>
        <p:spPr>
          <a:xfrm>
            <a:off x="1086307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2" name="Shape 240"/>
          <p:cNvSpPr/>
          <p:nvPr/>
        </p:nvSpPr>
        <p:spPr>
          <a:xfrm>
            <a:off x="1143000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3" name="Shape 241"/>
          <p:cNvSpPr/>
          <p:nvPr/>
        </p:nvSpPr>
        <p:spPr>
          <a:xfrm>
            <a:off x="1199692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4" name="Shape 242"/>
          <p:cNvSpPr/>
          <p:nvPr/>
        </p:nvSpPr>
        <p:spPr>
          <a:xfrm>
            <a:off x="9144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5" name="Shape 243"/>
          <p:cNvSpPr/>
          <p:nvPr/>
        </p:nvSpPr>
        <p:spPr>
          <a:xfrm>
            <a:off x="65836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6" name="Shape 244"/>
          <p:cNvSpPr/>
          <p:nvPr/>
        </p:nvSpPr>
        <p:spPr>
          <a:xfrm>
            <a:off x="122529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7" name="Shape 245"/>
          <p:cNvSpPr/>
          <p:nvPr/>
        </p:nvSpPr>
        <p:spPr>
          <a:xfrm>
            <a:off x="179222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8" name="Shape 246"/>
          <p:cNvSpPr/>
          <p:nvPr/>
        </p:nvSpPr>
        <p:spPr>
          <a:xfrm>
            <a:off x="235915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9" name="Shape 247"/>
          <p:cNvSpPr/>
          <p:nvPr/>
        </p:nvSpPr>
        <p:spPr>
          <a:xfrm>
            <a:off x="292608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0" name="Shape 248"/>
          <p:cNvSpPr/>
          <p:nvPr/>
        </p:nvSpPr>
        <p:spPr>
          <a:xfrm>
            <a:off x="349300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1" name="Shape 249"/>
          <p:cNvSpPr/>
          <p:nvPr/>
        </p:nvSpPr>
        <p:spPr>
          <a:xfrm>
            <a:off x="405993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2" name="Shape 250"/>
          <p:cNvSpPr/>
          <p:nvPr/>
        </p:nvSpPr>
        <p:spPr>
          <a:xfrm>
            <a:off x="462686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3" name="Shape 251"/>
          <p:cNvSpPr/>
          <p:nvPr/>
        </p:nvSpPr>
        <p:spPr>
          <a:xfrm>
            <a:off x="519379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4" name="Shape 252"/>
          <p:cNvSpPr/>
          <p:nvPr/>
        </p:nvSpPr>
        <p:spPr>
          <a:xfrm>
            <a:off x="576072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5" name="Shape 253"/>
          <p:cNvSpPr/>
          <p:nvPr/>
        </p:nvSpPr>
        <p:spPr>
          <a:xfrm>
            <a:off x="632764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6" name="Shape 254"/>
          <p:cNvSpPr/>
          <p:nvPr/>
        </p:nvSpPr>
        <p:spPr>
          <a:xfrm>
            <a:off x="689457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7" name="Shape 255"/>
          <p:cNvSpPr/>
          <p:nvPr/>
        </p:nvSpPr>
        <p:spPr>
          <a:xfrm>
            <a:off x="746150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8" name="Shape 256"/>
          <p:cNvSpPr/>
          <p:nvPr/>
        </p:nvSpPr>
        <p:spPr>
          <a:xfrm>
            <a:off x="802843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9" name="Shape 257"/>
          <p:cNvSpPr/>
          <p:nvPr/>
        </p:nvSpPr>
        <p:spPr>
          <a:xfrm>
            <a:off x="859536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0" name="Shape 258"/>
          <p:cNvSpPr/>
          <p:nvPr/>
        </p:nvSpPr>
        <p:spPr>
          <a:xfrm>
            <a:off x="916228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1" name="Shape 259"/>
          <p:cNvSpPr/>
          <p:nvPr/>
        </p:nvSpPr>
        <p:spPr>
          <a:xfrm>
            <a:off x="972921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2" name="Shape 260"/>
          <p:cNvSpPr/>
          <p:nvPr/>
        </p:nvSpPr>
        <p:spPr>
          <a:xfrm>
            <a:off x="1029614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3" name="Shape 261"/>
          <p:cNvSpPr/>
          <p:nvPr/>
        </p:nvSpPr>
        <p:spPr>
          <a:xfrm>
            <a:off x="1086307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4" name="Shape 262"/>
          <p:cNvSpPr/>
          <p:nvPr/>
        </p:nvSpPr>
        <p:spPr>
          <a:xfrm>
            <a:off x="1143000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5" name="Shape 263"/>
          <p:cNvSpPr/>
          <p:nvPr/>
        </p:nvSpPr>
        <p:spPr>
          <a:xfrm>
            <a:off x="1199692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6" name="Shape 26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7" name="Shape 26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8" name="Shape 266"/>
          <p:cNvSpPr/>
          <p:nvPr/>
        </p:nvSpPr>
        <p:spPr>
          <a:xfrm>
            <a:off x="0" y="73152"/>
            <a:ext cx="91440" cy="67116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9" name="Shape 267"/>
          <p:cNvSpPr/>
          <p:nvPr/>
        </p:nvSpPr>
        <p:spPr>
          <a:xfrm>
            <a:off x="91440" y="73152"/>
            <a:ext cx="7680960" cy="6711696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0" name="Text 268"/>
          <p:cNvSpPr txBox="1"/>
          <p:nvPr/>
        </p:nvSpPr>
        <p:spPr>
          <a:xfrm>
            <a:off x="457200" y="5029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*  FROM</a:t>
            </a:r>
            <a:endParaRPr lang="en-US" sz="4800" dirty="0"/>
          </a:p>
        </p:txBody>
      </p:sp>
      <p:sp>
        <p:nvSpPr>
          <p:cNvPr id="271" name="Text 269"/>
          <p:cNvSpPr txBox="1"/>
          <p:nvPr/>
        </p:nvSpPr>
        <p:spPr>
          <a:xfrm>
            <a:off x="457200" y="5650992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databases;</a:t>
            </a:r>
            <a:endParaRPr lang="en-US" sz="4800" dirty="0"/>
          </a:p>
        </p:txBody>
      </p:sp>
      <p:sp>
        <p:nvSpPr>
          <p:cNvPr id="272" name="Shape 270"/>
          <p:cNvSpPr/>
          <p:nvPr/>
        </p:nvSpPr>
        <p:spPr>
          <a:xfrm>
            <a:off x="7955280" y="746150"/>
            <a:ext cx="2377440" cy="3185770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3" name="Shape 271"/>
          <p:cNvSpPr/>
          <p:nvPr/>
        </p:nvSpPr>
        <p:spPr>
          <a:xfrm>
            <a:off x="7955280" y="365760"/>
            <a:ext cx="2377440" cy="760781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4" name="Shape 272"/>
          <p:cNvSpPr/>
          <p:nvPr/>
        </p:nvSpPr>
        <p:spPr>
          <a:xfrm>
            <a:off x="7955280" y="3551530"/>
            <a:ext cx="2377440" cy="760781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5" name="Shape 273"/>
          <p:cNvSpPr/>
          <p:nvPr/>
        </p:nvSpPr>
        <p:spPr>
          <a:xfrm>
            <a:off x="7991856" y="146699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6" name="Shape 274"/>
          <p:cNvSpPr/>
          <p:nvPr/>
        </p:nvSpPr>
        <p:spPr>
          <a:xfrm>
            <a:off x="7991856" y="2231575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7" name="Shape 275"/>
          <p:cNvSpPr/>
          <p:nvPr/>
        </p:nvSpPr>
        <p:spPr>
          <a:xfrm>
            <a:off x="7991856" y="299616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8" name="Shape 276"/>
          <p:cNvSpPr/>
          <p:nvPr/>
        </p:nvSpPr>
        <p:spPr>
          <a:xfrm>
            <a:off x="10378440" y="1192378"/>
            <a:ext cx="1737360" cy="2328062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9" name="Shape 277"/>
          <p:cNvSpPr/>
          <p:nvPr/>
        </p:nvSpPr>
        <p:spPr>
          <a:xfrm>
            <a:off x="10378440" y="914400"/>
            <a:ext cx="1737360" cy="555955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0" name="Shape 278"/>
          <p:cNvSpPr/>
          <p:nvPr/>
        </p:nvSpPr>
        <p:spPr>
          <a:xfrm>
            <a:off x="10378440" y="3242462"/>
            <a:ext cx="1737360" cy="555955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1" name="Shape 279"/>
          <p:cNvSpPr/>
          <p:nvPr/>
        </p:nvSpPr>
        <p:spPr>
          <a:xfrm>
            <a:off x="10415016" y="171914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2" name="Shape 280"/>
          <p:cNvSpPr/>
          <p:nvPr/>
        </p:nvSpPr>
        <p:spPr>
          <a:xfrm>
            <a:off x="10415016" y="2277880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3" name="Shape 281"/>
          <p:cNvSpPr/>
          <p:nvPr/>
        </p:nvSpPr>
        <p:spPr>
          <a:xfrm>
            <a:off x="10415016" y="283661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4" name="Shape 282"/>
          <p:cNvSpPr/>
          <p:nvPr/>
        </p:nvSpPr>
        <p:spPr>
          <a:xfrm>
            <a:off x="8961120" y="3160166"/>
            <a:ext cx="1463040" cy="1960474"/>
          </a:xfrm>
          <a:prstGeom prst="rect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5" name="Shape 283"/>
          <p:cNvSpPr/>
          <p:nvPr/>
        </p:nvSpPr>
        <p:spPr>
          <a:xfrm>
            <a:off x="8961120" y="2926080"/>
            <a:ext cx="1463040" cy="468173"/>
          </a:xfrm>
          <a:prstGeom prst="ellipse">
            <a:avLst/>
          </a:prstGeom>
          <a:solidFill>
            <a:srgbClr val="0A1E30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6" name="Shape 284"/>
          <p:cNvSpPr/>
          <p:nvPr/>
        </p:nvSpPr>
        <p:spPr>
          <a:xfrm>
            <a:off x="8961120" y="4886554"/>
            <a:ext cx="1463040" cy="468173"/>
          </a:xfrm>
          <a:prstGeom prst="ellipse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7" name="Shape 285"/>
          <p:cNvSpPr/>
          <p:nvPr/>
        </p:nvSpPr>
        <p:spPr>
          <a:xfrm>
            <a:off x="8997696" y="3603760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8" name="Shape 286"/>
          <p:cNvSpPr/>
          <p:nvPr/>
        </p:nvSpPr>
        <p:spPr>
          <a:xfrm>
            <a:off x="8997696" y="4074274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9" name="Shape 287"/>
          <p:cNvSpPr/>
          <p:nvPr/>
        </p:nvSpPr>
        <p:spPr>
          <a:xfrm>
            <a:off x="8997696" y="4544787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0" name="Shape 288"/>
          <p:cNvSpPr/>
          <p:nvPr/>
        </p:nvSpPr>
        <p:spPr>
          <a:xfrm>
            <a:off x="10515600" y="3727094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1" name="Shape 289"/>
          <p:cNvSpPr/>
          <p:nvPr/>
        </p:nvSpPr>
        <p:spPr>
          <a:xfrm>
            <a:off x="10515600" y="3566160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2" name="Shape 290"/>
          <p:cNvSpPr/>
          <p:nvPr/>
        </p:nvSpPr>
        <p:spPr>
          <a:xfrm>
            <a:off x="10515600" y="4913986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3" name="Shape 291"/>
          <p:cNvSpPr/>
          <p:nvPr/>
        </p:nvSpPr>
        <p:spPr>
          <a:xfrm>
            <a:off x="10552176" y="4032065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4" name="Shape 292"/>
          <p:cNvSpPr/>
          <p:nvPr/>
        </p:nvSpPr>
        <p:spPr>
          <a:xfrm>
            <a:off x="10552176" y="435554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5" name="Shape 293"/>
          <p:cNvSpPr/>
          <p:nvPr/>
        </p:nvSpPr>
        <p:spPr>
          <a:xfrm>
            <a:off x="10552176" y="467902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6" name="Text 294"/>
          <p:cNvSpPr txBox="1"/>
          <p:nvPr/>
        </p:nvSpPr>
        <p:spPr>
          <a:xfrm>
            <a:off x="457200" y="1417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</a:t>
            </a:r>
            <a:endParaRPr lang="en-US" sz="1800" dirty="0"/>
          </a:p>
        </p:txBody>
      </p:sp>
      <p:sp>
        <p:nvSpPr>
          <p:cNvPr id="297" name="Text 295"/>
          <p:cNvSpPr txBox="1"/>
          <p:nvPr/>
        </p:nvSpPr>
        <p:spPr>
          <a:xfrm>
            <a:off x="365760" y="175564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0" dirty="0"/>
          </a:p>
        </p:txBody>
      </p:sp>
      <p:sp>
        <p:nvSpPr>
          <p:cNvPr id="298" name="Shape 296"/>
          <p:cNvSpPr/>
          <p:nvPr/>
        </p:nvSpPr>
        <p:spPr>
          <a:xfrm>
            <a:off x="457200" y="3529584"/>
            <a:ext cx="47548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9" name="Text 297"/>
          <p:cNvSpPr txBox="1"/>
          <p:nvPr/>
        </p:nvSpPr>
        <p:spPr>
          <a:xfrm>
            <a:off x="457200" y="367588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Data Analytics/Science</a:t>
            </a:r>
            <a:endParaRPr lang="en-US" sz="2400" dirty="0"/>
          </a:p>
        </p:txBody>
      </p:sp>
      <p:sp>
        <p:nvSpPr>
          <p:cNvPr id="300" name="Shape 298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solidFill>
            <a:srgbClr val="0F2235"/>
          </a:solidFill>
          <a:ln w="762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1" name="Text 299"/>
          <p:cNvSpPr txBox="1"/>
          <p:nvPr/>
        </p:nvSpPr>
        <p:spPr>
          <a:xfrm>
            <a:off x="594360" y="4352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Seminar for Statistics Students</a:t>
            </a:r>
            <a:endParaRPr lang="en-US" sz="1200" dirty="0"/>
          </a:p>
        </p:txBody>
      </p:sp>
      <p:sp>
        <p:nvSpPr>
          <p:cNvPr id="404" name="t404"/>
          <p:cNvSpPr txBox="1"/>
          <p:nvPr/>
        </p:nvSpPr>
        <p:spPr>
          <a:xfrm rot="-900000">
            <a:off x="822960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5" name="t405"/>
          <p:cNvSpPr txBox="1"/>
          <p:nvPr/>
        </p:nvSpPr>
        <p:spPr>
          <a:xfrm rot="-900000">
            <a:off x="905256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6" name="t406"/>
          <p:cNvSpPr txBox="1"/>
          <p:nvPr/>
        </p:nvSpPr>
        <p:spPr>
          <a:xfrm rot="-900000">
            <a:off x="987552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7" name="t407"/>
          <p:cNvSpPr txBox="1"/>
          <p:nvPr/>
        </p:nvSpPr>
        <p:spPr>
          <a:xfrm rot="-900000">
            <a:off x="1069848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8" name="t408"/>
          <p:cNvSpPr txBox="1"/>
          <p:nvPr/>
        </p:nvSpPr>
        <p:spPr>
          <a:xfrm rot="-900000">
            <a:off x="1152144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9" name="t409"/>
          <p:cNvSpPr txBox="1"/>
          <p:nvPr/>
        </p:nvSpPr>
        <p:spPr>
          <a:xfrm rot="-900000">
            <a:off x="864108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0" name="t410"/>
          <p:cNvSpPr txBox="1"/>
          <p:nvPr/>
        </p:nvSpPr>
        <p:spPr>
          <a:xfrm rot="-900000">
            <a:off x="946404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1" name="t411"/>
          <p:cNvSpPr txBox="1"/>
          <p:nvPr/>
        </p:nvSpPr>
        <p:spPr>
          <a:xfrm rot="-900000">
            <a:off x="1028700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2" name="t412"/>
          <p:cNvSpPr txBox="1"/>
          <p:nvPr/>
        </p:nvSpPr>
        <p:spPr>
          <a:xfrm rot="-900000">
            <a:off x="1110996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3" name="t413"/>
          <p:cNvSpPr txBox="1"/>
          <p:nvPr/>
        </p:nvSpPr>
        <p:spPr>
          <a:xfrm rot="-900000">
            <a:off x="1193292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4" name="t414"/>
          <p:cNvSpPr txBox="1"/>
          <p:nvPr/>
        </p:nvSpPr>
        <p:spPr>
          <a:xfrm rot="-900000">
            <a:off x="822960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5" name="t415"/>
          <p:cNvSpPr txBox="1"/>
          <p:nvPr/>
        </p:nvSpPr>
        <p:spPr>
          <a:xfrm rot="-900000">
            <a:off x="905256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6" name="t416"/>
          <p:cNvSpPr txBox="1"/>
          <p:nvPr/>
        </p:nvSpPr>
        <p:spPr>
          <a:xfrm rot="-900000">
            <a:off x="987552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7" name="t417"/>
          <p:cNvSpPr txBox="1"/>
          <p:nvPr/>
        </p:nvSpPr>
        <p:spPr>
          <a:xfrm rot="-900000">
            <a:off x="1069848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8" name="t418"/>
          <p:cNvSpPr txBox="1"/>
          <p:nvPr/>
        </p:nvSpPr>
        <p:spPr>
          <a:xfrm rot="-900000">
            <a:off x="1152144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9" name="t419"/>
          <p:cNvSpPr txBox="1"/>
          <p:nvPr/>
        </p:nvSpPr>
        <p:spPr>
          <a:xfrm rot="-900000">
            <a:off x="864108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0" name="t420"/>
          <p:cNvSpPr txBox="1"/>
          <p:nvPr/>
        </p:nvSpPr>
        <p:spPr>
          <a:xfrm rot="-900000">
            <a:off x="946404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1" name="t421"/>
          <p:cNvSpPr txBox="1"/>
          <p:nvPr/>
        </p:nvSpPr>
        <p:spPr>
          <a:xfrm rot="-900000">
            <a:off x="1028700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2" name="t422"/>
          <p:cNvSpPr txBox="1"/>
          <p:nvPr/>
        </p:nvSpPr>
        <p:spPr>
          <a:xfrm rot="-900000">
            <a:off x="1110996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3" name="t423"/>
          <p:cNvSpPr txBox="1"/>
          <p:nvPr/>
        </p:nvSpPr>
        <p:spPr>
          <a:xfrm rot="-900000">
            <a:off x="1193292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4" name="t424"/>
          <p:cNvSpPr txBox="1"/>
          <p:nvPr/>
        </p:nvSpPr>
        <p:spPr>
          <a:xfrm rot="-900000">
            <a:off x="822960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5" name="t425"/>
          <p:cNvSpPr txBox="1"/>
          <p:nvPr/>
        </p:nvSpPr>
        <p:spPr>
          <a:xfrm rot="-900000">
            <a:off x="905256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6" name="t426"/>
          <p:cNvSpPr txBox="1"/>
          <p:nvPr/>
        </p:nvSpPr>
        <p:spPr>
          <a:xfrm rot="-900000">
            <a:off x="987552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7" name="t427"/>
          <p:cNvSpPr txBox="1"/>
          <p:nvPr/>
        </p:nvSpPr>
        <p:spPr>
          <a:xfrm rot="-900000">
            <a:off x="1069848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8" name="t428"/>
          <p:cNvSpPr txBox="1"/>
          <p:nvPr/>
        </p:nvSpPr>
        <p:spPr>
          <a:xfrm rot="-900000">
            <a:off x="1152144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9" name="t429"/>
          <p:cNvSpPr txBox="1"/>
          <p:nvPr/>
        </p:nvSpPr>
        <p:spPr>
          <a:xfrm rot="-900000">
            <a:off x="864108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0" name="t430"/>
          <p:cNvSpPr txBox="1"/>
          <p:nvPr/>
        </p:nvSpPr>
        <p:spPr>
          <a:xfrm rot="-900000">
            <a:off x="946404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1" name="t431"/>
          <p:cNvSpPr txBox="1"/>
          <p:nvPr/>
        </p:nvSpPr>
        <p:spPr>
          <a:xfrm rot="-900000">
            <a:off x="1028700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2" name="t432"/>
          <p:cNvSpPr txBox="1"/>
          <p:nvPr/>
        </p:nvSpPr>
        <p:spPr>
          <a:xfrm rot="-900000">
            <a:off x="1110996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3" name="t433"/>
          <p:cNvSpPr txBox="1"/>
          <p:nvPr/>
        </p:nvSpPr>
        <p:spPr>
          <a:xfrm rot="-900000">
            <a:off x="1193292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4" name="t434"/>
          <p:cNvSpPr txBox="1"/>
          <p:nvPr/>
        </p:nvSpPr>
        <p:spPr>
          <a:xfrm rot="-900000">
            <a:off x="822960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5" name="t435"/>
          <p:cNvSpPr txBox="1"/>
          <p:nvPr/>
        </p:nvSpPr>
        <p:spPr>
          <a:xfrm rot="-900000">
            <a:off x="905256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6" name="t436"/>
          <p:cNvSpPr txBox="1"/>
          <p:nvPr/>
        </p:nvSpPr>
        <p:spPr>
          <a:xfrm rot="-900000">
            <a:off x="987552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7" name="t437"/>
          <p:cNvSpPr txBox="1"/>
          <p:nvPr/>
        </p:nvSpPr>
        <p:spPr>
          <a:xfrm rot="-900000">
            <a:off x="1069848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8" name="t438"/>
          <p:cNvSpPr txBox="1"/>
          <p:nvPr/>
        </p:nvSpPr>
        <p:spPr>
          <a:xfrm rot="-900000">
            <a:off x="1152144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9" name="t439"/>
          <p:cNvSpPr txBox="1"/>
          <p:nvPr/>
        </p:nvSpPr>
        <p:spPr>
          <a:xfrm rot="-900000">
            <a:off x="864108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0" name="t440"/>
          <p:cNvSpPr txBox="1"/>
          <p:nvPr/>
        </p:nvSpPr>
        <p:spPr>
          <a:xfrm rot="-900000">
            <a:off x="946404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1" name="t441"/>
          <p:cNvSpPr txBox="1"/>
          <p:nvPr/>
        </p:nvSpPr>
        <p:spPr>
          <a:xfrm rot="-900000">
            <a:off x="1028700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2" name="t442"/>
          <p:cNvSpPr txBox="1"/>
          <p:nvPr/>
        </p:nvSpPr>
        <p:spPr>
          <a:xfrm rot="-900000">
            <a:off x="1110996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3" name="t443"/>
          <p:cNvSpPr txBox="1"/>
          <p:nvPr/>
        </p:nvSpPr>
        <p:spPr>
          <a:xfrm rot="-900000">
            <a:off x="1193292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4" name="t444"/>
          <p:cNvSpPr txBox="1"/>
          <p:nvPr/>
        </p:nvSpPr>
        <p:spPr>
          <a:xfrm rot="-900000">
            <a:off x="822960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5" name="t445"/>
          <p:cNvSpPr txBox="1"/>
          <p:nvPr/>
        </p:nvSpPr>
        <p:spPr>
          <a:xfrm rot="-900000">
            <a:off x="905256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6" name="t446"/>
          <p:cNvSpPr txBox="1"/>
          <p:nvPr/>
        </p:nvSpPr>
        <p:spPr>
          <a:xfrm rot="-900000">
            <a:off x="987552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7" name="t447"/>
          <p:cNvSpPr txBox="1"/>
          <p:nvPr/>
        </p:nvSpPr>
        <p:spPr>
          <a:xfrm rot="-900000">
            <a:off x="1069848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8" name="t448"/>
          <p:cNvSpPr txBox="1"/>
          <p:nvPr/>
        </p:nvSpPr>
        <p:spPr>
          <a:xfrm rot="-900000">
            <a:off x="1152144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9" name="t449"/>
          <p:cNvSpPr txBox="1"/>
          <p:nvPr/>
        </p:nvSpPr>
        <p:spPr>
          <a:xfrm rot="-900000">
            <a:off x="864108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0" name="t450"/>
          <p:cNvSpPr txBox="1"/>
          <p:nvPr/>
        </p:nvSpPr>
        <p:spPr>
          <a:xfrm rot="-900000">
            <a:off x="946404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1" name="t451"/>
          <p:cNvSpPr txBox="1"/>
          <p:nvPr/>
        </p:nvSpPr>
        <p:spPr>
          <a:xfrm rot="-900000">
            <a:off x="1028700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2" name="t452"/>
          <p:cNvSpPr txBox="1"/>
          <p:nvPr/>
        </p:nvSpPr>
        <p:spPr>
          <a:xfrm rot="-900000">
            <a:off x="1110996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3" name="t453"/>
          <p:cNvSpPr txBox="1"/>
          <p:nvPr/>
        </p:nvSpPr>
        <p:spPr>
          <a:xfrm rot="-900000">
            <a:off x="1193292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4" name="r454"/>
          <p:cNvSpPr/>
          <p:nvPr/>
        </p:nvSpPr>
        <p:spPr>
          <a:xfrm>
            <a:off x="502920" y="5577840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5" name="t455"/>
          <p:cNvSpPr txBox="1"/>
          <p:nvPr/>
        </p:nvSpPr>
        <p:spPr>
          <a:xfrm>
            <a:off x="576072" y="5614416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SELECT</a:t>
            </a:r>
          </a:p>
        </p:txBody>
      </p:sp>
      <p:sp>
        <p:nvSpPr>
          <p:cNvPr id="456" name="r456"/>
          <p:cNvSpPr/>
          <p:nvPr/>
        </p:nvSpPr>
        <p:spPr>
          <a:xfrm>
            <a:off x="1481328" y="5577840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7" name="t457"/>
          <p:cNvSpPr txBox="1"/>
          <p:nvPr/>
        </p:nvSpPr>
        <p:spPr>
          <a:xfrm>
            <a:off x="1554480" y="5614416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WHERE</a:t>
            </a:r>
          </a:p>
        </p:txBody>
      </p:sp>
      <p:sp>
        <p:nvSpPr>
          <p:cNvPr id="458" name="r458"/>
          <p:cNvSpPr/>
          <p:nvPr/>
        </p:nvSpPr>
        <p:spPr>
          <a:xfrm>
            <a:off x="2340864" y="5577840"/>
            <a:ext cx="537667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9" name="t459"/>
          <p:cNvSpPr txBox="1"/>
          <p:nvPr/>
        </p:nvSpPr>
        <p:spPr>
          <a:xfrm>
            <a:off x="2414016" y="5614416"/>
            <a:ext cx="446227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JOIN</a:t>
            </a:r>
          </a:p>
        </p:txBody>
      </p:sp>
      <p:sp>
        <p:nvSpPr>
          <p:cNvPr id="460" name="r460"/>
          <p:cNvSpPr/>
          <p:nvPr/>
        </p:nvSpPr>
        <p:spPr>
          <a:xfrm>
            <a:off x="3054096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1" name="t461"/>
          <p:cNvSpPr txBox="1"/>
          <p:nvPr/>
        </p:nvSpPr>
        <p:spPr>
          <a:xfrm>
            <a:off x="3127248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GROUP BY</a:t>
            </a:r>
          </a:p>
        </p:txBody>
      </p:sp>
      <p:sp>
        <p:nvSpPr>
          <p:cNvPr id="462" name="r462"/>
          <p:cNvSpPr/>
          <p:nvPr/>
        </p:nvSpPr>
        <p:spPr>
          <a:xfrm>
            <a:off x="4187952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3" name="t463"/>
          <p:cNvSpPr txBox="1"/>
          <p:nvPr/>
        </p:nvSpPr>
        <p:spPr>
          <a:xfrm>
            <a:off x="4261104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ORDER BY</a:t>
            </a:r>
          </a:p>
        </p:txBody>
      </p:sp>
      <p:sp>
        <p:nvSpPr>
          <p:cNvPr id="464" name="r464"/>
          <p:cNvSpPr/>
          <p:nvPr/>
        </p:nvSpPr>
        <p:spPr>
          <a:xfrm>
            <a:off x="502920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5" name="t465"/>
          <p:cNvSpPr txBox="1"/>
          <p:nvPr/>
        </p:nvSpPr>
        <p:spPr>
          <a:xfrm>
            <a:off x="576072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AVG()</a:t>
            </a:r>
          </a:p>
        </p:txBody>
      </p:sp>
      <p:sp>
        <p:nvSpPr>
          <p:cNvPr id="466" name="r466"/>
          <p:cNvSpPr/>
          <p:nvPr/>
        </p:nvSpPr>
        <p:spPr>
          <a:xfrm>
            <a:off x="1463040" y="5870448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7" name="t467"/>
          <p:cNvSpPr txBox="1"/>
          <p:nvPr/>
        </p:nvSpPr>
        <p:spPr>
          <a:xfrm>
            <a:off x="1536192" y="5907024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HAVING</a:t>
            </a:r>
          </a:p>
        </p:txBody>
      </p:sp>
      <p:sp>
        <p:nvSpPr>
          <p:cNvPr id="468" name="r468"/>
          <p:cNvSpPr/>
          <p:nvPr/>
        </p:nvSpPr>
        <p:spPr>
          <a:xfrm>
            <a:off x="2505456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9" name="t469"/>
          <p:cNvSpPr txBox="1"/>
          <p:nvPr/>
        </p:nvSpPr>
        <p:spPr>
          <a:xfrm>
            <a:off x="2578608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LIMIT</a:t>
            </a:r>
          </a:p>
        </p:txBody>
      </p:sp>
      <p:sp>
        <p:nvSpPr>
          <p:cNvPr id="470" name="r470"/>
          <p:cNvSpPr/>
          <p:nvPr/>
        </p:nvSpPr>
        <p:spPr>
          <a:xfrm>
            <a:off x="3310128" y="5870448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1" name="t471"/>
          <p:cNvSpPr txBox="1"/>
          <p:nvPr/>
        </p:nvSpPr>
        <p:spPr>
          <a:xfrm>
            <a:off x="3383280" y="5907024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DISTINCT</a:t>
            </a:r>
          </a:p>
        </p:txBody>
      </p:sp>
      <p:sp>
        <p:nvSpPr>
          <p:cNvPr id="472" name="r472"/>
          <p:cNvSpPr/>
          <p:nvPr/>
        </p:nvSpPr>
        <p:spPr>
          <a:xfrm>
            <a:off x="502920" y="6144768"/>
            <a:ext cx="5303520" cy="658368"/>
          </a:xfrm>
          <a:prstGeom prst="rect">
            <a:avLst/>
          </a:prstGeom>
          <a:solidFill>
            <a:srgbClr val="060E18"/>
          </a:solidFill>
          <a:ln w="7620">
            <a:solidFill>
              <a:srgbClr val="1A3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3" name="t473"/>
          <p:cNvSpPr txBox="1"/>
          <p:nvPr/>
        </p:nvSpPr>
        <p:spPr>
          <a:xfrm>
            <a:off x="594360" y="6217920"/>
            <a:ext cx="164592" cy="49377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1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2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3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804672" y="6217920"/>
            <a:ext cx="64008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SELECT</a:t>
            </a:r>
          </a:p>
        </p:txBody>
      </p:sp>
      <p:sp>
        <p:nvSpPr>
          <p:cNvPr id="475" name="t475"/>
          <p:cNvSpPr txBox="1"/>
          <p:nvPr/>
        </p:nvSpPr>
        <p:spPr>
          <a:xfrm>
            <a:off x="1463040" y="6217920"/>
            <a:ext cx="25603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destination_name, category</a:t>
            </a:r>
          </a:p>
        </p:txBody>
      </p:sp>
      <p:sp>
        <p:nvSpPr>
          <p:cNvPr id="476" name="t476"/>
          <p:cNvSpPr txBox="1"/>
          <p:nvPr/>
        </p:nvSpPr>
        <p:spPr>
          <a:xfrm>
            <a:off x="804672" y="6382512"/>
            <a:ext cx="475488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FROM</a:t>
            </a:r>
          </a:p>
        </p:txBody>
      </p:sp>
      <p:sp>
        <p:nvSpPr>
          <p:cNvPr id="477" name="t477"/>
          <p:cNvSpPr txBox="1"/>
          <p:nvPr/>
        </p:nvSpPr>
        <p:spPr>
          <a:xfrm>
            <a:off x="1298448" y="6382512"/>
            <a:ext cx="14630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4FC3F7"/>
                </a:solidFill>
                <a:latin typeface="Courier New"/>
              </a:rPr>
              <a:t>destinations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04672" y="6547104"/>
            <a:ext cx="5486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WHERE</a:t>
            </a:r>
          </a:p>
        </p:txBody>
      </p:sp>
      <p:sp>
        <p:nvSpPr>
          <p:cNvPr id="479" name="t479"/>
          <p:cNvSpPr txBox="1"/>
          <p:nvPr/>
        </p:nvSpPr>
        <p:spPr>
          <a:xfrm>
            <a:off x="1371600" y="6547104"/>
            <a:ext cx="32918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category = 'Beach';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813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and why it matters in real data 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93976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94360" y="21854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12848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actually structured in databases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94360" y="28895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⌨️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1693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SQL commands — the ones you'll use 80% of the time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50215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94360" y="3593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statistical summaries in SQL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94360" y="42976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25112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connects to R and Python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1032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5001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02920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tying it all together</a:t>
            </a:r>
            <a:endParaRPr lang="en-US" sz="15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C2277376-1D87-B390-9487-B9B530C962C5}"/>
              </a:ext>
            </a:extLst>
          </p:cNvPr>
          <p:cNvSpPr/>
          <p:nvPr/>
        </p:nvSpPr>
        <p:spPr>
          <a:xfrm>
            <a:off x="462915" y="5630037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6" name="Picture 25" descr="Question Mark l What is a Question Mark? - Teaching Wiki">
            <a:extLst>
              <a:ext uri="{FF2B5EF4-FFF2-40B4-BE49-F238E27FC236}">
                <a16:creationId xmlns:a16="http://schemas.microsoft.com/office/drawing/2014/main" id="{3C135F6B-A639-1DA2-792C-60FD482E74C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736016" y="5757510"/>
            <a:ext cx="219607" cy="311981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32EB217B-008C-F59C-7B4D-B50C2A866E6C}"/>
              </a:ext>
            </a:extLst>
          </p:cNvPr>
          <p:cNvSpPr txBox="1"/>
          <p:nvPr/>
        </p:nvSpPr>
        <p:spPr>
          <a:xfrm>
            <a:off x="1188720" y="573611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5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— Feel free to ask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Start: A Quick Poll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Excel before?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 or Python?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 of SQL?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0936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53796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 SQL query?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— just helping me read the room.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SQL's Role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What SQL is and where it fits in real data work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Structured Query Language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Pronounced: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"sequel"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"S-Q-L"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both are correct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21284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used to communicate with databases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88336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summarize, and combine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55264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346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build apps, run models, or make charts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22192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640080" y="3913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you the data you need to do all of that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132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640080" y="4818888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"SQL is closer to writing a sentence than writing a program."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4123944"/>
            <a:ext cx="3291840" cy="9144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8748979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8595360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1291011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1137392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577072" y="886968"/>
            <a:ext cx="3291840" cy="201168"/>
          </a:xfrm>
          <a:prstGeom prst="rect">
            <a:avLst/>
          </a:prstGeom>
          <a:solidFill>
            <a:srgbClr val="162840"/>
          </a:solidFill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832104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11612880" y="1051560"/>
            <a:ext cx="256032" cy="3017520"/>
          </a:xfrm>
          <a:prstGeom prst="rect">
            <a:avLst/>
          </a:prstGeom>
          <a:solidFill>
            <a:srgbClr val="0A1E30"/>
          </a:solidFill>
          <a:ln w="1016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1612880" y="4069080"/>
            <a:ext cx="256032" cy="0"/>
          </a:xfrm>
          <a:prstGeom prst="line">
            <a:avLst/>
          </a:prstGeom>
          <a:noFill/>
          <a:ln w="762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321040" y="1051560"/>
            <a:ext cx="329184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421624" y="11430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8458200" y="11795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8458200" y="11795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9491472" y="15160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464040" y="14794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9573768" y="15069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494776" y="17465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21624" y="20574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8458200" y="20939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458200" y="20939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9491472" y="24304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464040" y="23938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573768" y="24213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494776" y="26609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tourists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21624" y="29718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8458200" y="30083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458200" y="30083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491472" y="33448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9464040" y="33082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9573768" y="33357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 txBox="1"/>
          <p:nvPr/>
        </p:nvSpPr>
        <p:spPr>
          <a:xfrm>
            <a:off x="8494776" y="35753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46520" y="1078992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6537960" y="111556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1298448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cabinet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1272" y="1280160"/>
            <a:ext cx="429768" cy="1129284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6446520" y="2148840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 txBox="1"/>
          <p:nvPr/>
        </p:nvSpPr>
        <p:spPr>
          <a:xfrm>
            <a:off x="6537960" y="2185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537960" y="2368296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 = one table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891272" y="2350008"/>
            <a:ext cx="566928" cy="128016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9966960" y="4325112"/>
            <a:ext cx="9144" cy="256032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 txBox="1"/>
          <p:nvPr/>
        </p:nvSpPr>
        <p:spPr>
          <a:xfrm>
            <a:off x="8229600" y="459943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drawer: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26680" y="3950208"/>
            <a:ext cx="100584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9"/>
          <p:cNvSpPr txBox="1"/>
          <p:nvPr/>
        </p:nvSpPr>
        <p:spPr>
          <a:xfrm>
            <a:off x="7763256" y="400507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32520" y="3950208"/>
            <a:ext cx="105156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Text 61"/>
          <p:cNvSpPr txBox="1"/>
          <p:nvPr/>
        </p:nvSpPr>
        <p:spPr>
          <a:xfrm>
            <a:off x="8769096" y="400507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784080" y="3950208"/>
            <a:ext cx="114300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Text 63"/>
          <p:cNvSpPr txBox="1"/>
          <p:nvPr/>
        </p:nvSpPr>
        <p:spPr>
          <a:xfrm>
            <a:off x="9820656" y="400507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26680" y="4261104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5"/>
          <p:cNvSpPr txBox="1"/>
          <p:nvPr/>
        </p:nvSpPr>
        <p:spPr>
          <a:xfrm>
            <a:off x="7763256" y="4306824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732520" y="4261104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Text 67"/>
          <p:cNvSpPr txBox="1"/>
          <p:nvPr/>
        </p:nvSpPr>
        <p:spPr>
          <a:xfrm>
            <a:off x="8769096" y="4306824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84080" y="4261104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Text 69"/>
          <p:cNvSpPr txBox="1"/>
          <p:nvPr/>
        </p:nvSpPr>
        <p:spPr>
          <a:xfrm>
            <a:off x="9820656" y="4306824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726680" y="4553712"/>
            <a:ext cx="100584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Text 71"/>
          <p:cNvSpPr txBox="1"/>
          <p:nvPr/>
        </p:nvSpPr>
        <p:spPr>
          <a:xfrm>
            <a:off x="7763256" y="459943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732520" y="4553712"/>
            <a:ext cx="105156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73"/>
          <p:cNvSpPr txBox="1"/>
          <p:nvPr/>
        </p:nvSpPr>
        <p:spPr>
          <a:xfrm>
            <a:off x="8769096" y="459943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784080" y="4553712"/>
            <a:ext cx="114300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Text 75"/>
          <p:cNvSpPr txBox="1"/>
          <p:nvPr/>
        </p:nvSpPr>
        <p:spPr>
          <a:xfrm>
            <a:off x="9820656" y="459943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726680" y="4846320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Text 77"/>
          <p:cNvSpPr txBox="1"/>
          <p:nvPr/>
        </p:nvSpPr>
        <p:spPr>
          <a:xfrm>
            <a:off x="7763256" y="4892040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732520" y="4846320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Text 79"/>
          <p:cNvSpPr txBox="1"/>
          <p:nvPr/>
        </p:nvSpPr>
        <p:spPr>
          <a:xfrm>
            <a:off x="8769096" y="4892040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9784080" y="4846320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Text 81"/>
          <p:cNvSpPr txBox="1"/>
          <p:nvPr/>
        </p:nvSpPr>
        <p:spPr>
          <a:xfrm>
            <a:off x="9820656" y="4892040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726680" y="3950208"/>
            <a:ext cx="3200400" cy="1188720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7726680" y="5248656"/>
            <a:ext cx="1389888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Text 84"/>
          <p:cNvSpPr txBox="1"/>
          <p:nvPr/>
        </p:nvSpPr>
        <p:spPr>
          <a:xfrm>
            <a:off x="7818120" y="5285232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818120" y="5468112"/>
            <a:ext cx="12070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tourist record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421624" y="5248656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7955280" y="3493008"/>
            <a:ext cx="1426464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Text 88"/>
          <p:cNvSpPr txBox="1"/>
          <p:nvPr/>
        </p:nvSpPr>
        <p:spPr>
          <a:xfrm>
            <a:off x="8046720" y="3529584"/>
            <a:ext cx="1243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8046720" y="3712464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/ attribute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258300" y="3950208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SQL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data lives in databases — not Excel files or CSVs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3969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analyze anything, you need the data in the right shape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tool that gets you there</a:t>
            </a:r>
            <a:endParaRPr lang="en-US" sz="150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1C5B1380-E0C9-726B-F57C-38CDBBCE03F0}"/>
              </a:ext>
            </a:extLst>
          </p:cNvPr>
          <p:cNvSpPr/>
          <p:nvPr/>
        </p:nvSpPr>
        <p:spPr>
          <a:xfrm>
            <a:off x="45720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BDBE2624-ADB2-5D01-9015-E9142E4AD98F}"/>
              </a:ext>
            </a:extLst>
          </p:cNvPr>
          <p:cNvSpPr/>
          <p:nvPr/>
        </p:nvSpPr>
        <p:spPr>
          <a:xfrm>
            <a:off x="86868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E8B35F60-6DE4-E19B-4F44-A9ED4B142BB3}"/>
              </a:ext>
            </a:extLst>
          </p:cNvPr>
          <p:cNvSpPr/>
          <p:nvPr/>
        </p:nvSpPr>
        <p:spPr>
          <a:xfrm>
            <a:off x="86868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CD67227-339E-913A-5B98-0C9EEFBA36A9}"/>
              </a:ext>
            </a:extLst>
          </p:cNvPr>
          <p:cNvSpPr/>
          <p:nvPr/>
        </p:nvSpPr>
        <p:spPr>
          <a:xfrm>
            <a:off x="86868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64C2CFDB-1E5C-1CE4-0225-6867BCCC874E}"/>
              </a:ext>
            </a:extLst>
          </p:cNvPr>
          <p:cNvSpPr/>
          <p:nvPr/>
        </p:nvSpPr>
        <p:spPr>
          <a:xfrm>
            <a:off x="90525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942469B3-7FC6-3942-682B-C3C37F11E10E}"/>
              </a:ext>
            </a:extLst>
          </p:cNvPr>
          <p:cNvSpPr/>
          <p:nvPr/>
        </p:nvSpPr>
        <p:spPr>
          <a:xfrm>
            <a:off x="90525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30B0BC1-550B-B481-6B1B-4237B00779D8}"/>
              </a:ext>
            </a:extLst>
          </p:cNvPr>
          <p:cNvSpPr/>
          <p:nvPr/>
        </p:nvSpPr>
        <p:spPr>
          <a:xfrm>
            <a:off x="90525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C2B28B3E-E7C5-20AD-F885-6E9AA1DC6AF2}"/>
              </a:ext>
            </a:extLst>
          </p:cNvPr>
          <p:cNvSpPr txBox="1"/>
          <p:nvPr/>
        </p:nvSpPr>
        <p:spPr>
          <a:xfrm>
            <a:off x="45720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0BCE507-6528-3E4F-1670-36790535B7AA}"/>
              </a:ext>
            </a:extLst>
          </p:cNvPr>
          <p:cNvSpPr txBox="1"/>
          <p:nvPr/>
        </p:nvSpPr>
        <p:spPr>
          <a:xfrm>
            <a:off x="54864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surveys,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data</a:t>
            </a:r>
            <a:endParaRPr lang="en-US" sz="900" dirty="0"/>
          </a:p>
        </p:txBody>
      </p:sp>
      <p:sp>
        <p:nvSpPr>
          <p:cNvPr id="66" name="Shape 19">
            <a:extLst>
              <a:ext uri="{FF2B5EF4-FFF2-40B4-BE49-F238E27FC236}">
                <a16:creationId xmlns:a16="http://schemas.microsoft.com/office/drawing/2014/main" id="{87CFDD24-C4DA-3E3F-FAFD-0AEB932A041C}"/>
              </a:ext>
            </a:extLst>
          </p:cNvPr>
          <p:cNvSpPr/>
          <p:nvPr/>
        </p:nvSpPr>
        <p:spPr>
          <a:xfrm>
            <a:off x="324612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2CFE43A-9D40-D286-BA6A-1248DD6924D9}"/>
              </a:ext>
            </a:extLst>
          </p:cNvPr>
          <p:cNvSpPr/>
          <p:nvPr/>
        </p:nvSpPr>
        <p:spPr>
          <a:xfrm>
            <a:off x="365760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177088BE-F5D1-AD09-4AEF-021EEF62700E}"/>
              </a:ext>
            </a:extLst>
          </p:cNvPr>
          <p:cNvSpPr/>
          <p:nvPr/>
        </p:nvSpPr>
        <p:spPr>
          <a:xfrm>
            <a:off x="365760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F2B60E4C-B80F-B96C-F12D-0716746450B1}"/>
              </a:ext>
            </a:extLst>
          </p:cNvPr>
          <p:cNvSpPr/>
          <p:nvPr/>
        </p:nvSpPr>
        <p:spPr>
          <a:xfrm>
            <a:off x="365760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B1B69822-2D13-6CFE-9833-4F527D665F46}"/>
              </a:ext>
            </a:extLst>
          </p:cNvPr>
          <p:cNvSpPr/>
          <p:nvPr/>
        </p:nvSpPr>
        <p:spPr>
          <a:xfrm>
            <a:off x="369417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24">
            <a:extLst>
              <a:ext uri="{FF2B5EF4-FFF2-40B4-BE49-F238E27FC236}">
                <a16:creationId xmlns:a16="http://schemas.microsoft.com/office/drawing/2014/main" id="{1F2CF6C1-CE4D-E317-2E99-CB723145CF5D}"/>
              </a:ext>
            </a:extLst>
          </p:cNvPr>
          <p:cNvSpPr/>
          <p:nvPr/>
        </p:nvSpPr>
        <p:spPr>
          <a:xfrm>
            <a:off x="369417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A53A6CE2-5163-656A-E750-AF8D0F73E82E}"/>
              </a:ext>
            </a:extLst>
          </p:cNvPr>
          <p:cNvSpPr/>
          <p:nvPr/>
        </p:nvSpPr>
        <p:spPr>
          <a:xfrm>
            <a:off x="369417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B0C157C-F941-37FD-0BA1-F41036E6FE80}"/>
              </a:ext>
            </a:extLst>
          </p:cNvPr>
          <p:cNvSpPr txBox="1"/>
          <p:nvPr/>
        </p:nvSpPr>
        <p:spPr>
          <a:xfrm>
            <a:off x="324612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82" name="Text 27">
            <a:extLst>
              <a:ext uri="{FF2B5EF4-FFF2-40B4-BE49-F238E27FC236}">
                <a16:creationId xmlns:a16="http://schemas.microsoft.com/office/drawing/2014/main" id="{A3584CA4-EFD1-3069-9DD6-1D28392E9806}"/>
              </a:ext>
            </a:extLst>
          </p:cNvPr>
          <p:cNvSpPr txBox="1"/>
          <p:nvPr/>
        </p:nvSpPr>
        <p:spPr>
          <a:xfrm>
            <a:off x="333756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outcomes</a:t>
            </a:r>
            <a:endParaRPr lang="en-US" sz="900" dirty="0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7F1C0F7C-3843-8730-AAB4-B1472CB81128}"/>
              </a:ext>
            </a:extLst>
          </p:cNvPr>
          <p:cNvSpPr/>
          <p:nvPr/>
        </p:nvSpPr>
        <p:spPr>
          <a:xfrm>
            <a:off x="603504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BE2D2256-B66D-2C47-9299-9090958D7DC8}"/>
              </a:ext>
            </a:extLst>
          </p:cNvPr>
          <p:cNvSpPr/>
          <p:nvPr/>
        </p:nvSpPr>
        <p:spPr>
          <a:xfrm>
            <a:off x="644652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694F7F8B-123D-CA5B-7BFD-A83839F5E290}"/>
              </a:ext>
            </a:extLst>
          </p:cNvPr>
          <p:cNvSpPr/>
          <p:nvPr/>
        </p:nvSpPr>
        <p:spPr>
          <a:xfrm>
            <a:off x="644652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31">
            <a:extLst>
              <a:ext uri="{FF2B5EF4-FFF2-40B4-BE49-F238E27FC236}">
                <a16:creationId xmlns:a16="http://schemas.microsoft.com/office/drawing/2014/main" id="{093CF788-FA3A-BE52-D795-4360C1B2D67A}"/>
              </a:ext>
            </a:extLst>
          </p:cNvPr>
          <p:cNvSpPr/>
          <p:nvPr/>
        </p:nvSpPr>
        <p:spPr>
          <a:xfrm>
            <a:off x="644652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105B0D9A-CFDB-BA3F-13CB-AEAD94B74B6B}"/>
              </a:ext>
            </a:extLst>
          </p:cNvPr>
          <p:cNvSpPr/>
          <p:nvPr/>
        </p:nvSpPr>
        <p:spPr>
          <a:xfrm>
            <a:off x="648309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454AD403-724F-0AE4-D024-067A1E88AA5D}"/>
              </a:ext>
            </a:extLst>
          </p:cNvPr>
          <p:cNvSpPr/>
          <p:nvPr/>
        </p:nvSpPr>
        <p:spPr>
          <a:xfrm>
            <a:off x="648309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34">
            <a:extLst>
              <a:ext uri="{FF2B5EF4-FFF2-40B4-BE49-F238E27FC236}">
                <a16:creationId xmlns:a16="http://schemas.microsoft.com/office/drawing/2014/main" id="{7920957F-2209-8B5A-B5CF-D27E295BD1AD}"/>
              </a:ext>
            </a:extLst>
          </p:cNvPr>
          <p:cNvSpPr/>
          <p:nvPr/>
        </p:nvSpPr>
        <p:spPr>
          <a:xfrm>
            <a:off x="648309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Text 35">
            <a:extLst>
              <a:ext uri="{FF2B5EF4-FFF2-40B4-BE49-F238E27FC236}">
                <a16:creationId xmlns:a16="http://schemas.microsoft.com/office/drawing/2014/main" id="{AFA73D8B-8478-5B0F-E79C-30B3724ED257}"/>
              </a:ext>
            </a:extLst>
          </p:cNvPr>
          <p:cNvSpPr txBox="1"/>
          <p:nvPr/>
        </p:nvSpPr>
        <p:spPr>
          <a:xfrm>
            <a:off x="603504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0" name="Text 36">
            <a:extLst>
              <a:ext uri="{FF2B5EF4-FFF2-40B4-BE49-F238E27FC236}">
                <a16:creationId xmlns:a16="http://schemas.microsoft.com/office/drawing/2014/main" id="{A820F315-3C69-9645-8796-76C171164226}"/>
              </a:ext>
            </a:extLst>
          </p:cNvPr>
          <p:cNvSpPr txBox="1"/>
          <p:nvPr/>
        </p:nvSpPr>
        <p:spPr>
          <a:xfrm>
            <a:off x="612648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studies,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</a:t>
            </a:r>
            <a:endParaRPr lang="en-US" sz="900" dirty="0"/>
          </a:p>
        </p:txBody>
      </p:sp>
      <p:sp>
        <p:nvSpPr>
          <p:cNvPr id="102" name="Shape 37">
            <a:extLst>
              <a:ext uri="{FF2B5EF4-FFF2-40B4-BE49-F238E27FC236}">
                <a16:creationId xmlns:a16="http://schemas.microsoft.com/office/drawing/2014/main" id="{917480FF-FDDD-757D-8777-3880FB7C03FB}"/>
              </a:ext>
            </a:extLst>
          </p:cNvPr>
          <p:cNvSpPr/>
          <p:nvPr/>
        </p:nvSpPr>
        <p:spPr>
          <a:xfrm>
            <a:off x="882396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38">
            <a:extLst>
              <a:ext uri="{FF2B5EF4-FFF2-40B4-BE49-F238E27FC236}">
                <a16:creationId xmlns:a16="http://schemas.microsoft.com/office/drawing/2014/main" id="{57570BEA-9A9C-2EDA-7EC5-3386E8A27D4E}"/>
              </a:ext>
            </a:extLst>
          </p:cNvPr>
          <p:cNvSpPr/>
          <p:nvPr/>
        </p:nvSpPr>
        <p:spPr>
          <a:xfrm>
            <a:off x="923544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39">
            <a:extLst>
              <a:ext uri="{FF2B5EF4-FFF2-40B4-BE49-F238E27FC236}">
                <a16:creationId xmlns:a16="http://schemas.microsoft.com/office/drawing/2014/main" id="{81A4C429-7020-8582-DD15-3F966FF51BB9}"/>
              </a:ext>
            </a:extLst>
          </p:cNvPr>
          <p:cNvSpPr/>
          <p:nvPr/>
        </p:nvSpPr>
        <p:spPr>
          <a:xfrm>
            <a:off x="923544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40">
            <a:extLst>
              <a:ext uri="{FF2B5EF4-FFF2-40B4-BE49-F238E27FC236}">
                <a16:creationId xmlns:a16="http://schemas.microsoft.com/office/drawing/2014/main" id="{A80F27BE-48E4-EE5C-3B17-B46A835AAFC5}"/>
              </a:ext>
            </a:extLst>
          </p:cNvPr>
          <p:cNvSpPr/>
          <p:nvPr/>
        </p:nvSpPr>
        <p:spPr>
          <a:xfrm>
            <a:off x="923544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41">
            <a:extLst>
              <a:ext uri="{FF2B5EF4-FFF2-40B4-BE49-F238E27FC236}">
                <a16:creationId xmlns:a16="http://schemas.microsoft.com/office/drawing/2014/main" id="{A1EE988B-1186-F966-A084-3002EA998EF4}"/>
              </a:ext>
            </a:extLst>
          </p:cNvPr>
          <p:cNvSpPr/>
          <p:nvPr/>
        </p:nvSpPr>
        <p:spPr>
          <a:xfrm>
            <a:off x="927201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42">
            <a:extLst>
              <a:ext uri="{FF2B5EF4-FFF2-40B4-BE49-F238E27FC236}">
                <a16:creationId xmlns:a16="http://schemas.microsoft.com/office/drawing/2014/main" id="{A72E8D8B-1DD5-13C9-F595-8017B7ACC68D}"/>
              </a:ext>
            </a:extLst>
          </p:cNvPr>
          <p:cNvSpPr/>
          <p:nvPr/>
        </p:nvSpPr>
        <p:spPr>
          <a:xfrm>
            <a:off x="927201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43">
            <a:extLst>
              <a:ext uri="{FF2B5EF4-FFF2-40B4-BE49-F238E27FC236}">
                <a16:creationId xmlns:a16="http://schemas.microsoft.com/office/drawing/2014/main" id="{93C2F36A-F8CE-D401-5A3B-7F866EAA951F}"/>
              </a:ext>
            </a:extLst>
          </p:cNvPr>
          <p:cNvSpPr/>
          <p:nvPr/>
        </p:nvSpPr>
        <p:spPr>
          <a:xfrm>
            <a:off x="927201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A3D068F-3043-7B7A-F777-74F7B02C5ED9}"/>
              </a:ext>
            </a:extLst>
          </p:cNvPr>
          <p:cNvSpPr txBox="1"/>
          <p:nvPr/>
        </p:nvSpPr>
        <p:spPr>
          <a:xfrm>
            <a:off x="882396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400" dirty="0"/>
          </a:p>
        </p:txBody>
      </p:sp>
      <p:sp>
        <p:nvSpPr>
          <p:cNvPr id="118" name="Text 45">
            <a:extLst>
              <a:ext uri="{FF2B5EF4-FFF2-40B4-BE49-F238E27FC236}">
                <a16:creationId xmlns:a16="http://schemas.microsoft.com/office/drawing/2014/main" id="{59EDF214-D910-DC8D-1671-EB8FC364F099}"/>
              </a:ext>
            </a:extLst>
          </p:cNvPr>
          <p:cNvSpPr txBox="1"/>
          <p:nvPr/>
        </p:nvSpPr>
        <p:spPr>
          <a:xfrm>
            <a:off x="891540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900" dirty="0"/>
          </a:p>
        </p:txBody>
      </p:sp>
      <p:sp>
        <p:nvSpPr>
          <p:cNvPr id="120" name="Text 46">
            <a:extLst>
              <a:ext uri="{FF2B5EF4-FFF2-40B4-BE49-F238E27FC236}">
                <a16:creationId xmlns:a16="http://schemas.microsoft.com/office/drawing/2014/main" id="{A24C210B-2939-F094-C4B2-29A2E7B17515}"/>
              </a:ext>
            </a:extLst>
          </p:cNvPr>
          <p:cNvSpPr txBox="1"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large datasets live — SQL is usually nearby</a:t>
            </a:r>
            <a:endParaRPr lang="en-US" sz="1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A6A0B464-4366-2BD4-C384-5A6293501F22}"/>
              </a:ext>
            </a:extLst>
          </p:cNvPr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where you'll likely use this: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at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 work, we use Snowflake — a cloud-based SQL 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Daily: querying millions of claims records, building metrics pipelines, QA checks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Same core SQL you'll learn today — just running on a much bigger dataset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40156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change.  SQL syntax doesn't — learn it once, use it everywhere.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595360" y="1234440"/>
            <a:ext cx="3291840" cy="475488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595360" y="13167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❄  Snowflake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2242109"/>
            <a:ext cx="2468880" cy="3308299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06840" y="1847088"/>
            <a:ext cx="2468880" cy="790042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006840" y="5155387"/>
            <a:ext cx="2468880" cy="790042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043416" y="2990673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043416" y="3784665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43416" y="4578657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595360" y="54223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 SQL Platform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059936"/>
            <a:ext cx="777240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58368" y="4206240"/>
            <a:ext cx="737006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 same SQL you learn today...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patient_id, claim_date, diagnosis_code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claims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claim_year = 2024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status = 'approved';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4844450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vs. Tools You Already Know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66928" y="13533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108960" y="1280160"/>
            <a:ext cx="384048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218688" y="13533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Strong At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40880" y="1280160"/>
            <a:ext cx="457200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150608" y="13533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66928" y="18105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18688" y="18105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Small data, quick charts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040880" y="17373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150608" y="18105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above ~100k rows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1945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66928" y="22677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SPSS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08960" y="21945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3218688" y="22677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40880" y="21945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50608" y="22677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raw messy data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66928" y="27249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/ Python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08960" y="26517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18688" y="27249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Modeling &amp; visualization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40880" y="26517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7150608" y="27249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still need the data first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1247120" cy="438912"/>
          </a:xfrm>
          <a:prstGeom prst="rect">
            <a:avLst/>
          </a:prstGeom>
          <a:solidFill>
            <a:srgbClr val="0F2A3F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566928" y="31821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218688" y="3182112"/>
            <a:ext cx="3712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clean at any scale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7150608" y="318211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Not for modeling, visualization, or app logic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208598" y="4398264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39B686-BC12-DD4A-5D0A-5251007AE8DE}"/>
              </a:ext>
            </a:extLst>
          </p:cNvPr>
          <p:cNvGrpSpPr/>
          <p:nvPr/>
        </p:nvGrpSpPr>
        <p:grpSpPr>
          <a:xfrm>
            <a:off x="6639732" y="4104827"/>
            <a:ext cx="2862072" cy="548640"/>
            <a:chOff x="8796528" y="3950208"/>
            <a:chExt cx="2862072" cy="548640"/>
          </a:xfrm>
        </p:grpSpPr>
        <p:sp>
          <p:nvSpPr>
            <p:cNvPr id="45" name="Shape 43"/>
            <p:cNvSpPr/>
            <p:nvPr/>
          </p:nvSpPr>
          <p:spPr>
            <a:xfrm>
              <a:off x="8796528" y="3950208"/>
              <a:ext cx="1737360" cy="548640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 44"/>
            <p:cNvSpPr txBox="1"/>
            <p:nvPr/>
          </p:nvSpPr>
          <p:spPr>
            <a:xfrm>
              <a:off x="8796528" y="4087368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Analysis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35E831AE-CAD3-EA0F-57A4-DDEA1BEDFF72}"/>
                </a:ext>
              </a:extLst>
            </p:cNvPr>
            <p:cNvGrpSpPr/>
            <p:nvPr/>
          </p:nvGrpSpPr>
          <p:grpSpPr>
            <a:xfrm>
              <a:off x="10561320" y="3950208"/>
              <a:ext cx="1097280" cy="548640"/>
              <a:chOff x="10561320" y="3950208"/>
              <a:chExt cx="1097280" cy="548640"/>
            </a:xfrm>
          </p:grpSpPr>
          <p:sp>
            <p:nvSpPr>
              <p:cNvPr id="47" name="Shape 45"/>
              <p:cNvSpPr/>
              <p:nvPr/>
            </p:nvSpPr>
            <p:spPr>
              <a:xfrm>
                <a:off x="10561320" y="3950208"/>
                <a:ext cx="1097280" cy="548640"/>
              </a:xfrm>
              <a:prstGeom prst="rect">
                <a:avLst/>
              </a:prstGeom>
              <a:solidFill>
                <a:srgbClr val="0F2235"/>
              </a:solidFill>
              <a:ln w="5080">
                <a:solidFill>
                  <a:srgbClr val="1E3A5F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PH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 46"/>
              <p:cNvSpPr txBox="1"/>
              <p:nvPr/>
            </p:nvSpPr>
            <p:spPr>
              <a:xfrm>
                <a:off x="10561320" y="3959352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📊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" name="Text 47"/>
              <p:cNvSpPr txBox="1"/>
              <p:nvPr/>
            </p:nvSpPr>
            <p:spPr>
              <a:xfrm>
                <a:off x="10561320" y="4133088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🔬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 48"/>
              <p:cNvSpPr txBox="1"/>
              <p:nvPr/>
            </p:nvSpPr>
            <p:spPr>
              <a:xfrm>
                <a:off x="10632570" y="4325112"/>
                <a:ext cx="975360" cy="1645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📋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hape 49"/>
          <p:cNvSpPr/>
          <p:nvPr/>
        </p:nvSpPr>
        <p:spPr>
          <a:xfrm>
            <a:off x="419793" y="5462194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655320" y="5595299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doesn't replace these tools.  It feeds them.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74001BA-FB4F-4F2D-058A-5AB47E34E8E3}"/>
              </a:ext>
            </a:extLst>
          </p:cNvPr>
          <p:cNvGrpSpPr/>
          <p:nvPr/>
        </p:nvGrpSpPr>
        <p:grpSpPr>
          <a:xfrm>
            <a:off x="1996895" y="4101853"/>
            <a:ext cx="2011680" cy="566928"/>
            <a:chOff x="457200" y="5614416"/>
            <a:chExt cx="2011680" cy="731520"/>
          </a:xfrm>
        </p:grpSpPr>
        <p:sp>
          <p:nvSpPr>
            <p:cNvPr id="56" name="Shape 40">
              <a:extLst>
                <a:ext uri="{FF2B5EF4-FFF2-40B4-BE49-F238E27FC236}">
                  <a16:creationId xmlns:a16="http://schemas.microsoft.com/office/drawing/2014/main" id="{63F80358-8687-4EE6-987E-E681C9C6B002}"/>
                </a:ext>
              </a:extLst>
            </p:cNvPr>
            <p:cNvSpPr/>
            <p:nvPr/>
          </p:nvSpPr>
          <p:spPr>
            <a:xfrm>
              <a:off x="457200" y="5614416"/>
              <a:ext cx="2011680" cy="731520"/>
            </a:xfrm>
            <a:prstGeom prst="rect">
              <a:avLst/>
            </a:prstGeom>
            <a:solidFill>
              <a:srgbClr val="0A1E30"/>
            </a:solidFill>
            <a:ln w="15240">
              <a:solidFill>
                <a:srgbClr val="00C9A7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 41">
              <a:extLst>
                <a:ext uri="{FF2B5EF4-FFF2-40B4-BE49-F238E27FC236}">
                  <a16:creationId xmlns:a16="http://schemas.microsoft.com/office/drawing/2014/main" id="{C77D8359-6DC8-557E-C518-85FF0E85E2FE}"/>
                </a:ext>
              </a:extLst>
            </p:cNvPr>
            <p:cNvSpPr txBox="1"/>
            <p:nvPr/>
          </p:nvSpPr>
          <p:spPr>
            <a:xfrm>
              <a:off x="457200" y="5760720"/>
              <a:ext cx="2011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C9A7"/>
                  </a:solidFill>
                  <a:effectLst/>
                  <a:uLnTx/>
                  <a:uFillTx/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SQL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1" name="Shape 42">
            <a:extLst>
              <a:ext uri="{FF2B5EF4-FFF2-40B4-BE49-F238E27FC236}">
                <a16:creationId xmlns:a16="http://schemas.microsoft.com/office/drawing/2014/main" id="{9CDAEBF1-303E-4091-17ED-CEC9683B5CD3}"/>
              </a:ext>
            </a:extLst>
          </p:cNvPr>
          <p:cNvSpPr/>
          <p:nvPr/>
        </p:nvSpPr>
        <p:spPr>
          <a:xfrm>
            <a:off x="4016353" y="4384488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49A6C72-673B-553E-0434-E3589115459D}"/>
              </a:ext>
            </a:extLst>
          </p:cNvPr>
          <p:cNvGrpSpPr/>
          <p:nvPr/>
        </p:nvGrpSpPr>
        <p:grpSpPr>
          <a:xfrm>
            <a:off x="4451584" y="3885371"/>
            <a:ext cx="1737360" cy="1133856"/>
            <a:chOff x="3146486" y="5614416"/>
            <a:chExt cx="1737360" cy="1133856"/>
          </a:xfrm>
        </p:grpSpPr>
        <p:sp>
          <p:nvSpPr>
            <p:cNvPr id="63" name="Shape 31">
              <a:extLst>
                <a:ext uri="{FF2B5EF4-FFF2-40B4-BE49-F238E27FC236}">
                  <a16:creationId xmlns:a16="http://schemas.microsoft.com/office/drawing/2014/main" id="{779F38D7-C832-768C-045A-69A834C40AE4}"/>
                </a:ext>
              </a:extLst>
            </p:cNvPr>
            <p:cNvSpPr/>
            <p:nvPr/>
          </p:nvSpPr>
          <p:spPr>
            <a:xfrm>
              <a:off x="3146486" y="5614416"/>
              <a:ext cx="1737360" cy="1133856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" name="Shape 43">
              <a:extLst>
                <a:ext uri="{FF2B5EF4-FFF2-40B4-BE49-F238E27FC236}">
                  <a16:creationId xmlns:a16="http://schemas.microsoft.com/office/drawing/2014/main" id="{5566CE4D-912A-03BA-8A5F-07D3ACC0793D}"/>
                </a:ext>
              </a:extLst>
            </p:cNvPr>
            <p:cNvSpPr/>
            <p:nvPr/>
          </p:nvSpPr>
          <p:spPr>
            <a:xfrm>
              <a:off x="3291840" y="571500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" name="Text 32">
              <a:extLst>
                <a:ext uri="{FF2B5EF4-FFF2-40B4-BE49-F238E27FC236}">
                  <a16:creationId xmlns:a16="http://schemas.microsoft.com/office/drawing/2014/main" id="{041D4852-C154-C264-9449-F4A5E57611C9}"/>
                </a:ext>
              </a:extLst>
            </p:cNvPr>
            <p:cNvSpPr txBox="1"/>
            <p:nvPr/>
          </p:nvSpPr>
          <p:spPr>
            <a:xfrm>
              <a:off x="3379123" y="572780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Excel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43">
              <a:extLst>
                <a:ext uri="{FF2B5EF4-FFF2-40B4-BE49-F238E27FC236}">
                  <a16:creationId xmlns:a16="http://schemas.microsoft.com/office/drawing/2014/main" id="{9E791EDA-0A0E-026F-AD58-E11B98AB237E}"/>
                </a:ext>
              </a:extLst>
            </p:cNvPr>
            <p:cNvSpPr/>
            <p:nvPr/>
          </p:nvSpPr>
          <p:spPr>
            <a:xfrm>
              <a:off x="3297658" y="607253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32">
              <a:extLst>
                <a:ext uri="{FF2B5EF4-FFF2-40B4-BE49-F238E27FC236}">
                  <a16:creationId xmlns:a16="http://schemas.microsoft.com/office/drawing/2014/main" id="{090F5F48-C6EB-88FF-6D83-BF6A7AD3C8F3}"/>
                </a:ext>
              </a:extLst>
            </p:cNvPr>
            <p:cNvSpPr txBox="1"/>
            <p:nvPr/>
          </p:nvSpPr>
          <p:spPr>
            <a:xfrm>
              <a:off x="3384941" y="608533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SPSS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Shape 43">
              <a:extLst>
                <a:ext uri="{FF2B5EF4-FFF2-40B4-BE49-F238E27FC236}">
                  <a16:creationId xmlns:a16="http://schemas.microsoft.com/office/drawing/2014/main" id="{00CA290A-039D-9F65-3EB8-2CFE2053822D}"/>
                </a:ext>
              </a:extLst>
            </p:cNvPr>
            <p:cNvSpPr/>
            <p:nvPr/>
          </p:nvSpPr>
          <p:spPr>
            <a:xfrm>
              <a:off x="3297658" y="6395181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Text 32">
              <a:extLst>
                <a:ext uri="{FF2B5EF4-FFF2-40B4-BE49-F238E27FC236}">
                  <a16:creationId xmlns:a16="http://schemas.microsoft.com/office/drawing/2014/main" id="{4B3CDA0D-5EE8-347F-1450-9BFC62CECCE8}"/>
                </a:ext>
              </a:extLst>
            </p:cNvPr>
            <p:cNvSpPr txBox="1"/>
            <p:nvPr/>
          </p:nvSpPr>
          <p:spPr>
            <a:xfrm>
              <a:off x="3384941" y="6407983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R/Python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58191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020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visualization tool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2556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40080" y="32901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30844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for IT people or software developers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12528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41771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95408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difficult to start — the basics read like 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899496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40080" y="50640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5082376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something you have to memorize — even pros Google syntax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2440" y="5748528"/>
            <a:ext cx="11247120" cy="548640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55320" y="5867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It's closer to writing a sentence than writing a program.</a:t>
            </a:r>
            <a:endParaRPr lang="en-US" sz="140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14C95B8A-4E5D-D836-41A5-DC0B882AB132}"/>
              </a:ext>
            </a:extLst>
          </p:cNvPr>
          <p:cNvSpPr/>
          <p:nvPr/>
        </p:nvSpPr>
        <p:spPr>
          <a:xfrm>
            <a:off x="457200" y="2254843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1411304-6412-4E9E-CB06-3146AE0ABFF2}"/>
              </a:ext>
            </a:extLst>
          </p:cNvPr>
          <p:cNvSpPr txBox="1"/>
          <p:nvPr/>
        </p:nvSpPr>
        <p:spPr>
          <a:xfrm>
            <a:off x="640080" y="2419435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F6B697CA-AC01-A275-9715-99162FD78B2D}"/>
              </a:ext>
            </a:extLst>
          </p:cNvPr>
          <p:cNvSpPr txBox="1"/>
          <p:nvPr/>
        </p:nvSpPr>
        <p:spPr>
          <a:xfrm>
            <a:off x="1261872" y="2437723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the tools you already know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 + Common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60704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11887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6400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develops SQL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38404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standard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786384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years, still #1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SQL tools: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111556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local — great for learning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111556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powerful, widely used in analytics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475488" cy="365760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1115568" y="4535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553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web &amp; research databases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6446520" y="3108960"/>
            <a:ext cx="475488" cy="365760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701344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Snowflake / BigQuery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— large organizations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6446520" y="3840480"/>
            <a:ext cx="475488" cy="365760"/>
          </a:xfrm>
          <a:prstGeom prst="rect">
            <a:avLst/>
          </a:prstGeom>
          <a:solidFill>
            <a:srgbClr val="CC2927"/>
          </a:solidFill>
          <a:ln w="12700">
            <a:solidFill>
              <a:srgbClr val="CC292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701344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 SQL Server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government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96128"/>
            <a:ext cx="2560320" cy="347472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566928" y="56692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SQLite today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Databases &amp; Data Structure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Tables, rows, columns, keys, and how data is structured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212080" cy="3474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9" name="Rectangle 8"/>
          <p:cNvSpPr/>
          <p:nvPr/>
        </p:nvSpPr>
        <p:spPr>
          <a:xfrm>
            <a:off x="224028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Box 9"/>
          <p:cNvSpPr txBox="1"/>
          <p:nvPr/>
        </p:nvSpPr>
        <p:spPr>
          <a:xfrm>
            <a:off x="228600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1" name="Rectangle 10"/>
          <p:cNvSpPr/>
          <p:nvPr/>
        </p:nvSpPr>
        <p:spPr>
          <a:xfrm>
            <a:off x="379476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Box 11"/>
          <p:cNvSpPr txBox="1"/>
          <p:nvPr/>
        </p:nvSpPr>
        <p:spPr>
          <a:xfrm>
            <a:off x="384048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Rectangle 13"/>
          <p:cNvSpPr/>
          <p:nvPr/>
        </p:nvSpPr>
        <p:spPr>
          <a:xfrm>
            <a:off x="224028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Rectangle 14"/>
          <p:cNvSpPr/>
          <p:nvPr/>
        </p:nvSpPr>
        <p:spPr>
          <a:xfrm>
            <a:off x="379476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Rectangle 15"/>
          <p:cNvSpPr/>
          <p:nvPr/>
        </p:nvSpPr>
        <p:spPr>
          <a:xfrm>
            <a:off x="68580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Rectangle 16"/>
          <p:cNvSpPr/>
          <p:nvPr/>
        </p:nvSpPr>
        <p:spPr>
          <a:xfrm>
            <a:off x="224028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Rectangle 17"/>
          <p:cNvSpPr/>
          <p:nvPr/>
        </p:nvSpPr>
        <p:spPr>
          <a:xfrm>
            <a:off x="379476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Rectangle 19"/>
          <p:cNvSpPr/>
          <p:nvPr/>
        </p:nvSpPr>
        <p:spPr>
          <a:xfrm>
            <a:off x="224028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Rectangle 20"/>
          <p:cNvSpPr/>
          <p:nvPr/>
        </p:nvSpPr>
        <p:spPr>
          <a:xfrm>
            <a:off x="379476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for smaller data you can see and work with directly</a:t>
            </a:r>
            <a:endParaRPr 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215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Struggles past ~1 million rows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Formulas break as data grows</a:t>
            </a:r>
            <a:endParaRPr 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56235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394960" cy="3474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Box 26"/>
          <p:cNvSpPr txBox="1"/>
          <p:nvPr/>
        </p:nvSpPr>
        <p:spPr>
          <a:xfrm>
            <a:off x="653796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8" name="Rectangle 27"/>
          <p:cNvSpPr/>
          <p:nvPr/>
        </p:nvSpPr>
        <p:spPr>
          <a:xfrm>
            <a:off x="653796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Box 28"/>
          <p:cNvSpPr txBox="1"/>
          <p:nvPr/>
        </p:nvSpPr>
        <p:spPr>
          <a:xfrm>
            <a:off x="662940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30" name="Rectangle 29"/>
          <p:cNvSpPr/>
          <p:nvPr/>
        </p:nvSpPr>
        <p:spPr>
          <a:xfrm>
            <a:off x="653796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Box 30"/>
          <p:cNvSpPr txBox="1"/>
          <p:nvPr/>
        </p:nvSpPr>
        <p:spPr>
          <a:xfrm>
            <a:off x="662940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653796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Box 32"/>
          <p:cNvSpPr txBox="1"/>
          <p:nvPr/>
        </p:nvSpPr>
        <p:spPr>
          <a:xfrm>
            <a:off x="662940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653796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Box 34"/>
          <p:cNvSpPr txBox="1"/>
          <p:nvPr/>
        </p:nvSpPr>
        <p:spPr>
          <a:xfrm>
            <a:off x="662940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36" name="Rectangle 35"/>
          <p:cNvSpPr/>
          <p:nvPr/>
        </p:nvSpPr>
        <p:spPr>
          <a:xfrm>
            <a:off x="653796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Rectangle 36"/>
          <p:cNvSpPr/>
          <p:nvPr/>
        </p:nvSpPr>
        <p:spPr>
          <a:xfrm>
            <a:off x="923544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Box 37"/>
          <p:cNvSpPr txBox="1"/>
          <p:nvPr/>
        </p:nvSpPr>
        <p:spPr>
          <a:xfrm>
            <a:off x="932688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Box 39"/>
          <p:cNvSpPr txBox="1"/>
          <p:nvPr/>
        </p:nvSpPr>
        <p:spPr>
          <a:xfrm>
            <a:off x="932688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</a:t>
            </a:r>
            <a:endParaRPr lang="en-US" sz="1000" dirty="0"/>
          </a:p>
        </p:txBody>
      </p:sp>
      <p:sp>
        <p:nvSpPr>
          <p:cNvPr id="41" name="Rectangle 40"/>
          <p:cNvSpPr/>
          <p:nvPr/>
        </p:nvSpPr>
        <p:spPr>
          <a:xfrm>
            <a:off x="923544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Box 41"/>
          <p:cNvSpPr txBox="1"/>
          <p:nvPr/>
        </p:nvSpPr>
        <p:spPr>
          <a:xfrm>
            <a:off x="932688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923544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Box 43"/>
          <p:cNvSpPr txBox="1"/>
          <p:nvPr/>
        </p:nvSpPr>
        <p:spPr>
          <a:xfrm>
            <a:off x="932688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45" name="Rectangle 44"/>
          <p:cNvSpPr/>
          <p:nvPr/>
        </p:nvSpPr>
        <p:spPr>
          <a:xfrm>
            <a:off x="923544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Box 46"/>
          <p:cNvSpPr txBox="1"/>
          <p:nvPr/>
        </p:nvSpPr>
        <p:spPr>
          <a:xfrm>
            <a:off x="6537960" y="3886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Multiple connected tables</a:t>
            </a:r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6537960" y="42153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Many users at once</a:t>
            </a:r>
            <a:endParaRPr 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6537960" y="45445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Billions of rows — no sweat</a:t>
            </a:r>
            <a:endParaRPr 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FB8FEFC6-07F8-8FDB-85BD-41495A1A34B0}"/>
              </a:ext>
            </a:extLst>
          </p:cNvPr>
          <p:cNvCxnSpPr>
            <a:cxnSpLocks/>
          </p:cNvCxnSpPr>
          <p:nvPr/>
        </p:nvCxnSpPr>
        <p:spPr>
          <a:xfrm>
            <a:off x="8823960" y="2497873"/>
            <a:ext cx="411480" cy="2910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Columns, and Keys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633472" y="151790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related data (like one sheet in Excel)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633472" y="238658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one tourist, one visit, one destination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23697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633472" y="325526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 — tourist_id, nationality, age_group, sex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" y="41056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33472" y="412394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row  (e.g. tourist_id) 🔑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6460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0080" y="4974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33472" y="499262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Column that links to another table's primary key  🔗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75120" y="3950208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711696" y="4014216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0" y="3950208"/>
            <a:ext cx="11887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808976" y="4014216"/>
            <a:ext cx="11155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961120" y="3950208"/>
            <a:ext cx="16459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997696" y="4014216"/>
            <a:ext cx="1572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75120" y="4297680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711696" y="435254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08976" y="435254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961120" y="4297680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997696" y="435254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675120" y="4645152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6711696" y="47000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2400" y="4645152"/>
            <a:ext cx="11887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7808976" y="470001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961120" y="4645152"/>
            <a:ext cx="16459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997696" y="470001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675120" y="499262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711696" y="504748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772400" y="4992624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7808976" y="504748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961120" y="4992624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997696" y="504748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54"/>
          <p:cNvSpPr/>
          <p:nvPr/>
        </p:nvSpPr>
        <p:spPr>
          <a:xfrm>
            <a:off x="7658100" y="3346704"/>
            <a:ext cx="14173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55"/>
          <p:cNvSpPr txBox="1"/>
          <p:nvPr/>
        </p:nvSpPr>
        <p:spPr>
          <a:xfrm>
            <a:off x="7749540" y="3383280"/>
            <a:ext cx="123444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COLUMN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7749540" y="3566160"/>
            <a:ext cx="123444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attribute</a:t>
            </a:r>
          </a:p>
        </p:txBody>
      </p:sp>
      <p:sp>
        <p:nvSpPr>
          <p:cNvPr id="57" name="arr57"/>
          <p:cNvSpPr/>
          <p:nvPr/>
        </p:nvSpPr>
        <p:spPr>
          <a:xfrm>
            <a:off x="8366760" y="3749040"/>
            <a:ext cx="9144" cy="201168"/>
          </a:xfrm>
          <a:prstGeom prst="line">
            <a:avLst/>
          </a:prstGeom>
          <a:noFill/>
          <a:ln w="11430">
            <a:solidFill>
              <a:srgbClr val="A78BFA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58"/>
          <p:cNvSpPr/>
          <p:nvPr/>
        </p:nvSpPr>
        <p:spPr>
          <a:xfrm>
            <a:off x="10698480" y="4617720"/>
            <a:ext cx="11887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t59"/>
          <p:cNvSpPr txBox="1"/>
          <p:nvPr/>
        </p:nvSpPr>
        <p:spPr>
          <a:xfrm>
            <a:off x="10789919" y="4654296"/>
            <a:ext cx="1078992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ROW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10789919" y="4837176"/>
            <a:ext cx="107899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record</a:t>
            </a:r>
          </a:p>
        </p:txBody>
      </p:sp>
      <p:sp>
        <p:nvSpPr>
          <p:cNvPr id="61" name="arr61"/>
          <p:cNvSpPr/>
          <p:nvPr/>
        </p:nvSpPr>
        <p:spPr>
          <a:xfrm>
            <a:off x="10607040" y="4818888"/>
            <a:ext cx="91439" cy="9144"/>
          </a:xfrm>
          <a:prstGeom prst="line">
            <a:avLst/>
          </a:prstGeom>
          <a:noFill/>
          <a:ln w="11430">
            <a:solidFill>
              <a:srgbClr val="4FC3F7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62"/>
          <p:cNvSpPr txBox="1"/>
          <p:nvPr/>
        </p:nvSpPr>
        <p:spPr>
          <a:xfrm>
            <a:off x="6675120" y="5449824"/>
            <a:ext cx="39319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  (table)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DD7B7D-C694-80C2-4EBE-A2A665ECFF09}"/>
              </a:ext>
            </a:extLst>
          </p:cNvPr>
          <p:cNvSpPr txBox="1"/>
          <p:nvPr/>
        </p:nvSpPr>
        <p:spPr>
          <a:xfrm>
            <a:off x="7472362" y="3993249"/>
            <a:ext cx="371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kumimoji="0" lang="en-PH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51">
            <a:extLst>
              <a:ext uri="{FF2B5EF4-FFF2-40B4-BE49-F238E27FC236}">
                <a16:creationId xmlns:a16="http://schemas.microsoft.com/office/drawing/2014/main" id="{E8F04037-771D-C5D2-EC3A-9DBDA249153D}"/>
              </a:ext>
            </a:extLst>
          </p:cNvPr>
          <p:cNvSpPr/>
          <p:nvPr/>
        </p:nvSpPr>
        <p:spPr>
          <a:xfrm>
            <a:off x="6675120" y="3950208"/>
            <a:ext cx="3931920" cy="1389888"/>
          </a:xfrm>
          <a:prstGeom prst="rect">
            <a:avLst/>
          </a:prstGeom>
          <a:noFill/>
          <a:ln w="1270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5A74C-C86B-E8E3-2E50-E6FF22621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95F2C95-910F-126B-2771-D4E809BBF81F}"/>
              </a:ext>
            </a:extLst>
          </p:cNvPr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BA4CEC-56A9-8CE9-2EC7-16D2180633E9}"/>
              </a:ext>
            </a:extLst>
          </p:cNvPr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728C76A-D53B-B994-0C65-C1A83A57A655}"/>
              </a:ext>
            </a:extLst>
          </p:cNvPr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2C5410B-0119-E474-7858-A182A62EFE41}"/>
              </a:ext>
            </a:extLst>
          </p:cNvPr>
          <p:cNvSpPr/>
          <p:nvPr/>
        </p:nvSpPr>
        <p:spPr>
          <a:xfrm>
            <a:off x="457200" y="1389888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3DA643-C1AB-E691-1BB6-9A35D0F0612D}"/>
              </a:ext>
            </a:extLst>
          </p:cNvPr>
          <p:cNvSpPr txBox="1"/>
          <p:nvPr/>
        </p:nvSpPr>
        <p:spPr>
          <a:xfrm>
            <a:off x="566928" y="153619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1C10F5-33FB-9B81-2766-68454E9DC28B}"/>
              </a:ext>
            </a:extLst>
          </p:cNvPr>
          <p:cNvSpPr txBox="1"/>
          <p:nvPr/>
        </p:nvSpPr>
        <p:spPr>
          <a:xfrm>
            <a:off x="1133856" y="15087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/ BIGINT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79673A-7067-B292-1169-64A616B71766}"/>
              </a:ext>
            </a:extLst>
          </p:cNvPr>
          <p:cNvSpPr txBox="1"/>
          <p:nvPr/>
        </p:nvSpPr>
        <p:spPr>
          <a:xfrm>
            <a:off x="3950208" y="1508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C8A194-A145-4AE2-CF46-DBB735E41F47}"/>
              </a:ext>
            </a:extLst>
          </p:cNvPr>
          <p:cNvSpPr txBox="1"/>
          <p:nvPr/>
        </p:nvSpPr>
        <p:spPr>
          <a:xfrm>
            <a:off x="7498080" y="1527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length_of_stay, count, ID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FA6667B-3728-151A-CDAB-9AC198385BCE}"/>
              </a:ext>
            </a:extLst>
          </p:cNvPr>
          <p:cNvSpPr/>
          <p:nvPr/>
        </p:nvSpPr>
        <p:spPr>
          <a:xfrm>
            <a:off x="457200" y="2286000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C4F5D98-9C47-5102-5FB9-6D003F556CC7}"/>
              </a:ext>
            </a:extLst>
          </p:cNvPr>
          <p:cNvSpPr txBox="1"/>
          <p:nvPr/>
        </p:nvSpPr>
        <p:spPr>
          <a:xfrm>
            <a:off x="566928" y="243230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899E8-76BF-0491-861A-82B14B30A6CF}"/>
              </a:ext>
            </a:extLst>
          </p:cNvPr>
          <p:cNvSpPr txBox="1"/>
          <p:nvPr/>
        </p:nvSpPr>
        <p:spPr>
          <a:xfrm>
            <a:off x="1133856" y="24048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/ DECIMAL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600272C-4FE5-EF34-A360-6E2D9B5C7EF7}"/>
              </a:ext>
            </a:extLst>
          </p:cNvPr>
          <p:cNvSpPr txBox="1"/>
          <p:nvPr/>
        </p:nvSpPr>
        <p:spPr>
          <a:xfrm>
            <a:off x="3950208" y="24048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 decimals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263A190-1FEB-C97B-8D88-E4FBC42FDED7}"/>
              </a:ext>
            </a:extLst>
          </p:cNvPr>
          <p:cNvSpPr txBox="1"/>
          <p:nvPr/>
        </p:nvSpPr>
        <p:spPr>
          <a:xfrm>
            <a:off x="7498080" y="24231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spending_php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34926B4-9344-6C36-47A0-5FBB02F1DC15}"/>
              </a:ext>
            </a:extLst>
          </p:cNvPr>
          <p:cNvSpPr/>
          <p:nvPr/>
        </p:nvSpPr>
        <p:spPr>
          <a:xfrm>
            <a:off x="457200" y="3182112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567DC07-B032-2CF1-551B-FDE667F68D44}"/>
              </a:ext>
            </a:extLst>
          </p:cNvPr>
          <p:cNvSpPr txBox="1"/>
          <p:nvPr/>
        </p:nvSpPr>
        <p:spPr>
          <a:xfrm>
            <a:off x="566928" y="332841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3693F69-14A7-26B1-B680-513EE574F82C}"/>
              </a:ext>
            </a:extLst>
          </p:cNvPr>
          <p:cNvSpPr txBox="1"/>
          <p:nvPr/>
        </p:nvSpPr>
        <p:spPr>
          <a:xfrm>
            <a:off x="1133856" y="33009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 / TEXT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BF57DA8-CDCE-6839-DFD0-ACA877CDEFC8}"/>
              </a:ext>
            </a:extLst>
          </p:cNvPr>
          <p:cNvSpPr txBox="1"/>
          <p:nvPr/>
        </p:nvSpPr>
        <p:spPr>
          <a:xfrm>
            <a:off x="3950208" y="33009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Text strings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2F53FAD-3C40-DB84-69C8-223E3A1CBECD}"/>
              </a:ext>
            </a:extLst>
          </p:cNvPr>
          <p:cNvSpPr txBox="1"/>
          <p:nvPr/>
        </p:nvSpPr>
        <p:spPr>
          <a:xfrm>
            <a:off x="7498080" y="33192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names, codes, categories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AE1EB3E-9208-1889-9E75-CE5757779437}"/>
              </a:ext>
            </a:extLst>
          </p:cNvPr>
          <p:cNvSpPr/>
          <p:nvPr/>
        </p:nvSpPr>
        <p:spPr>
          <a:xfrm>
            <a:off x="457200" y="4078224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381806A-6404-5F47-E4A9-22F9CF979900}"/>
              </a:ext>
            </a:extLst>
          </p:cNvPr>
          <p:cNvSpPr txBox="1"/>
          <p:nvPr/>
        </p:nvSpPr>
        <p:spPr>
          <a:xfrm>
            <a:off x="566928" y="422452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01DF9BC-0AF2-715B-311D-5302C0E1D6B9}"/>
              </a:ext>
            </a:extLst>
          </p:cNvPr>
          <p:cNvSpPr txBox="1"/>
          <p:nvPr/>
        </p:nvSpPr>
        <p:spPr>
          <a:xfrm>
            <a:off x="1133856" y="4197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 / TIMESTAMP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72FA9D5-BC4B-60D6-9E4D-F904DE0639C6}"/>
              </a:ext>
            </a:extLst>
          </p:cNvPr>
          <p:cNvSpPr txBox="1"/>
          <p:nvPr/>
        </p:nvSpPr>
        <p:spPr>
          <a:xfrm>
            <a:off x="3950208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17DD2D3-2E6F-564A-8294-B256973D4E59}"/>
              </a:ext>
            </a:extLst>
          </p:cNvPr>
          <p:cNvSpPr txBox="1"/>
          <p:nvPr/>
        </p:nvSpPr>
        <p:spPr>
          <a:xfrm>
            <a:off x="7498080" y="421538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visit_date, created_at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3839327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3 · DATABASES &amp; DATA STRUCTURE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11247120" cy="6217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Not Just One Big Table?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347472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One flat table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45720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the same accommodation appears in many visits — it is repeated every time.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3035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08" name="r108"/>
          <p:cNvSpPr/>
          <p:nvPr/>
        </p:nvSpPr>
        <p:spPr>
          <a:xfrm>
            <a:off x="146304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153619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10" name="r110"/>
          <p:cNvSpPr/>
          <p:nvPr/>
        </p:nvSpPr>
        <p:spPr>
          <a:xfrm>
            <a:off x="246888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4203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12" name="r112"/>
          <p:cNvSpPr/>
          <p:nvPr/>
        </p:nvSpPr>
        <p:spPr>
          <a:xfrm>
            <a:off x="3840480" y="1627632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3913632" y="1719072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114" name="r114"/>
          <p:cNvSpPr/>
          <p:nvPr/>
        </p:nvSpPr>
        <p:spPr>
          <a:xfrm>
            <a:off x="4937760" y="1627632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010912" y="1719072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116" name="r116"/>
          <p:cNvSpPr/>
          <p:nvPr/>
        </p:nvSpPr>
        <p:spPr>
          <a:xfrm>
            <a:off x="45720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53035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18" name="r118"/>
          <p:cNvSpPr/>
          <p:nvPr/>
        </p:nvSpPr>
        <p:spPr>
          <a:xfrm>
            <a:off x="146304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53619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20" name="r120"/>
          <p:cNvSpPr/>
          <p:nvPr/>
        </p:nvSpPr>
        <p:spPr>
          <a:xfrm>
            <a:off x="246888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254203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22" name="r122"/>
          <p:cNvSpPr/>
          <p:nvPr/>
        </p:nvSpPr>
        <p:spPr>
          <a:xfrm>
            <a:off x="3840480" y="197510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3913632" y="2066544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124" name="r124"/>
          <p:cNvSpPr/>
          <p:nvPr/>
        </p:nvSpPr>
        <p:spPr>
          <a:xfrm>
            <a:off x="4937760" y="1975104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5010912" y="2066544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126" name="r126"/>
          <p:cNvSpPr/>
          <p:nvPr/>
        </p:nvSpPr>
        <p:spPr>
          <a:xfrm>
            <a:off x="45720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3035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28" name="r128"/>
          <p:cNvSpPr/>
          <p:nvPr/>
        </p:nvSpPr>
        <p:spPr>
          <a:xfrm>
            <a:off x="146304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3619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30" name="r130"/>
          <p:cNvSpPr/>
          <p:nvPr/>
        </p:nvSpPr>
        <p:spPr>
          <a:xfrm>
            <a:off x="246888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254203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32" name="r132"/>
          <p:cNvSpPr/>
          <p:nvPr/>
        </p:nvSpPr>
        <p:spPr>
          <a:xfrm>
            <a:off x="3840480" y="2322576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t133"/>
          <p:cNvSpPr txBox="1"/>
          <p:nvPr/>
        </p:nvSpPr>
        <p:spPr>
          <a:xfrm>
            <a:off x="3913632" y="2414016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134" name="r134"/>
          <p:cNvSpPr/>
          <p:nvPr/>
        </p:nvSpPr>
        <p:spPr>
          <a:xfrm>
            <a:off x="4937760" y="2322576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5010912" y="2414016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136" name="r136"/>
          <p:cNvSpPr/>
          <p:nvPr/>
        </p:nvSpPr>
        <p:spPr>
          <a:xfrm>
            <a:off x="45720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t137"/>
          <p:cNvSpPr txBox="1"/>
          <p:nvPr/>
        </p:nvSpPr>
        <p:spPr>
          <a:xfrm>
            <a:off x="53035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38" name="r138"/>
          <p:cNvSpPr/>
          <p:nvPr/>
        </p:nvSpPr>
        <p:spPr>
          <a:xfrm>
            <a:off x="146304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153619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40" name="r140"/>
          <p:cNvSpPr/>
          <p:nvPr/>
        </p:nvSpPr>
        <p:spPr>
          <a:xfrm>
            <a:off x="2468880" y="267004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141"/>
          <p:cNvSpPr txBox="1"/>
          <p:nvPr/>
        </p:nvSpPr>
        <p:spPr>
          <a:xfrm>
            <a:off x="2542032" y="2761488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42" name="r142"/>
          <p:cNvSpPr/>
          <p:nvPr/>
        </p:nvSpPr>
        <p:spPr>
          <a:xfrm>
            <a:off x="3840480" y="2670048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3" name="t143"/>
          <p:cNvSpPr txBox="1"/>
          <p:nvPr/>
        </p:nvSpPr>
        <p:spPr>
          <a:xfrm>
            <a:off x="3913632" y="2761488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144" name="r144"/>
          <p:cNvSpPr/>
          <p:nvPr/>
        </p:nvSpPr>
        <p:spPr>
          <a:xfrm>
            <a:off x="4937760" y="2670048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5010912" y="2761488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146" name="r146"/>
          <p:cNvSpPr/>
          <p:nvPr/>
        </p:nvSpPr>
        <p:spPr>
          <a:xfrm>
            <a:off x="45720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t147"/>
          <p:cNvSpPr txBox="1"/>
          <p:nvPr/>
        </p:nvSpPr>
        <p:spPr>
          <a:xfrm>
            <a:off x="53035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48" name="r148"/>
          <p:cNvSpPr/>
          <p:nvPr/>
        </p:nvSpPr>
        <p:spPr>
          <a:xfrm>
            <a:off x="146304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t149"/>
          <p:cNvSpPr txBox="1"/>
          <p:nvPr/>
        </p:nvSpPr>
        <p:spPr>
          <a:xfrm>
            <a:off x="153619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50" name="r150"/>
          <p:cNvSpPr/>
          <p:nvPr/>
        </p:nvSpPr>
        <p:spPr>
          <a:xfrm>
            <a:off x="2468880" y="3017520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542032" y="3108960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52" name="r152"/>
          <p:cNvSpPr/>
          <p:nvPr/>
        </p:nvSpPr>
        <p:spPr>
          <a:xfrm>
            <a:off x="3840480" y="3017520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3913632" y="3108960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Coron</a:t>
            </a:r>
          </a:p>
        </p:txBody>
      </p:sp>
      <p:sp>
        <p:nvSpPr>
          <p:cNvPr id="154" name="r154"/>
          <p:cNvSpPr/>
          <p:nvPr/>
        </p:nvSpPr>
        <p:spPr>
          <a:xfrm>
            <a:off x="4937760" y="3017520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155"/>
          <p:cNvSpPr txBox="1"/>
          <p:nvPr/>
        </p:nvSpPr>
        <p:spPr>
          <a:xfrm>
            <a:off x="5010912" y="3108960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20,000</a:t>
            </a:r>
          </a:p>
        </p:txBody>
      </p:sp>
      <p:sp>
        <p:nvSpPr>
          <p:cNvPr id="156" name="r156"/>
          <p:cNvSpPr/>
          <p:nvPr/>
        </p:nvSpPr>
        <p:spPr>
          <a:xfrm>
            <a:off x="457200" y="1627632"/>
            <a:ext cx="5120640" cy="1737360"/>
          </a:xfrm>
          <a:prstGeom prst="rect">
            <a:avLst/>
          </a:prstGeom>
          <a:noFill/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r157"/>
          <p:cNvSpPr/>
          <p:nvPr/>
        </p:nvSpPr>
        <p:spPr>
          <a:xfrm>
            <a:off x="109728" y="1975104"/>
            <a:ext cx="256032" cy="1389888"/>
          </a:xfrm>
          <a:prstGeom prst="rect">
            <a:avLst/>
          </a:prstGeom>
          <a:solidFill>
            <a:srgbClr val="EF4444"/>
          </a:solidFill>
          <a:ln w="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t158"/>
          <p:cNvSpPr txBox="1"/>
          <p:nvPr/>
        </p:nvSpPr>
        <p:spPr>
          <a:xfrm>
            <a:off x="128016" y="2392070"/>
            <a:ext cx="219456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</a:t>
            </a:r>
          </a:p>
        </p:txBody>
      </p:sp>
      <p:sp>
        <p:nvSpPr>
          <p:cNvPr id="159" name="r159"/>
          <p:cNvSpPr/>
          <p:nvPr/>
        </p:nvSpPr>
        <p:spPr>
          <a:xfrm>
            <a:off x="457200" y="3493008"/>
            <a:ext cx="5120640" cy="475488"/>
          </a:xfrm>
          <a:prstGeom prst="rect">
            <a:avLst/>
          </a:prstGeom>
          <a:solidFill>
            <a:srgbClr val="2A0A0A"/>
          </a:solidFill>
          <a:ln w="762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t160"/>
          <p:cNvSpPr txBox="1"/>
          <p:nvPr/>
        </p:nvSpPr>
        <p:spPr>
          <a:xfrm>
            <a:off x="640080" y="3547872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  Update anomaly: if this property reclassifies</a:t>
            </a:r>
          </a:p>
        </p:txBody>
      </p:sp>
      <p:sp>
        <p:nvSpPr>
          <p:cNvPr id="161" name="t161"/>
          <p:cNvSpPr txBox="1"/>
          <p:nvPr/>
        </p:nvSpPr>
        <p:spPr>
          <a:xfrm>
            <a:off x="640080" y="3749039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from Hostel to Guesthouse — update 4 rows or data is wrong.</a:t>
            </a:r>
          </a:p>
        </p:txBody>
      </p:sp>
      <p:sp>
        <p:nvSpPr>
          <p:cNvPr id="162" name="r162"/>
          <p:cNvSpPr/>
          <p:nvPr/>
        </p:nvSpPr>
        <p:spPr>
          <a:xfrm>
            <a:off x="457200" y="4096511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t163"/>
          <p:cNvSpPr txBox="1"/>
          <p:nvPr/>
        </p:nvSpPr>
        <p:spPr>
          <a:xfrm>
            <a:off x="594360" y="4187951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🔁</a:t>
            </a:r>
          </a:p>
        </p:txBody>
      </p:sp>
      <p:sp>
        <p:nvSpPr>
          <p:cNvPr id="164" name="t164"/>
          <p:cNvSpPr txBox="1"/>
          <p:nvPr/>
        </p:nvSpPr>
        <p:spPr>
          <a:xfrm>
            <a:off x="1005840" y="4151375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Redundancy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1005840" y="4334255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Same data repeated across many rows</a:t>
            </a:r>
          </a:p>
        </p:txBody>
      </p:sp>
      <p:sp>
        <p:nvSpPr>
          <p:cNvPr id="166" name="r166"/>
          <p:cNvSpPr/>
          <p:nvPr/>
        </p:nvSpPr>
        <p:spPr>
          <a:xfrm>
            <a:off x="457200" y="4608575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t167"/>
          <p:cNvSpPr txBox="1"/>
          <p:nvPr/>
        </p:nvSpPr>
        <p:spPr>
          <a:xfrm>
            <a:off x="594360" y="4700015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✏️</a:t>
            </a:r>
          </a:p>
        </p:txBody>
      </p:sp>
      <p:sp>
        <p:nvSpPr>
          <p:cNvPr id="168" name="t168"/>
          <p:cNvSpPr txBox="1"/>
          <p:nvPr/>
        </p:nvSpPr>
        <p:spPr>
          <a:xfrm>
            <a:off x="1005840" y="4663439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Update Anomaly</a:t>
            </a:r>
          </a:p>
        </p:txBody>
      </p:sp>
      <p:sp>
        <p:nvSpPr>
          <p:cNvPr id="169" name="t169"/>
          <p:cNvSpPr txBox="1"/>
          <p:nvPr/>
        </p:nvSpPr>
        <p:spPr>
          <a:xfrm>
            <a:off x="1005840" y="4846319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Change one row, forget another — data becomes inconsistent</a:t>
            </a:r>
          </a:p>
        </p:txBody>
      </p:sp>
      <p:sp>
        <p:nvSpPr>
          <p:cNvPr id="170" name="r170"/>
          <p:cNvSpPr/>
          <p:nvPr/>
        </p:nvSpPr>
        <p:spPr>
          <a:xfrm>
            <a:off x="457200" y="5120640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t171"/>
          <p:cNvSpPr txBox="1"/>
          <p:nvPr/>
        </p:nvSpPr>
        <p:spPr>
          <a:xfrm>
            <a:off x="594360" y="5212079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🗑️</a:t>
            </a:r>
          </a:p>
        </p:txBody>
      </p:sp>
      <p:sp>
        <p:nvSpPr>
          <p:cNvPr id="172" name="t172"/>
          <p:cNvSpPr txBox="1"/>
          <p:nvPr/>
        </p:nvSpPr>
        <p:spPr>
          <a:xfrm>
            <a:off x="1005840" y="5175503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Deletion Anomaly</a:t>
            </a:r>
          </a:p>
        </p:txBody>
      </p:sp>
      <p:sp>
        <p:nvSpPr>
          <p:cNvPr id="173" name="t173"/>
          <p:cNvSpPr txBox="1"/>
          <p:nvPr/>
        </p:nvSpPr>
        <p:spPr>
          <a:xfrm>
            <a:off x="1005840" y="5358383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Delete a tourist and you lose all their visit records</a:t>
            </a:r>
          </a:p>
        </p:txBody>
      </p:sp>
      <p:sp>
        <p:nvSpPr>
          <p:cNvPr id="174" name="r174"/>
          <p:cNvSpPr/>
          <p:nvPr/>
        </p:nvSpPr>
        <p:spPr>
          <a:xfrm>
            <a:off x="6144768" y="1078992"/>
            <a:ext cx="36576" cy="5577840"/>
          </a:xfrm>
          <a:prstGeom prst="rect">
            <a:avLst/>
          </a:prstGeom>
          <a:solidFill>
            <a:srgbClr val="1A3040"/>
          </a:solidFill>
          <a:ln w="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635508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Separate tables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635508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piece of information stored exactly once.</a:t>
            </a:r>
          </a:p>
        </p:txBody>
      </p:sp>
      <p:sp>
        <p:nvSpPr>
          <p:cNvPr id="177" name="r177"/>
          <p:cNvSpPr/>
          <p:nvPr/>
        </p:nvSpPr>
        <p:spPr>
          <a:xfrm>
            <a:off x="635508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42823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79" name="r179"/>
          <p:cNvSpPr/>
          <p:nvPr/>
        </p:nvSpPr>
        <p:spPr>
          <a:xfrm>
            <a:off x="736092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743407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81" name="r181"/>
          <p:cNvSpPr/>
          <p:nvPr/>
        </p:nvSpPr>
        <p:spPr>
          <a:xfrm>
            <a:off x="836676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t182"/>
          <p:cNvSpPr txBox="1"/>
          <p:nvPr/>
        </p:nvSpPr>
        <p:spPr>
          <a:xfrm>
            <a:off x="843991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83" name="r183"/>
          <p:cNvSpPr/>
          <p:nvPr/>
        </p:nvSpPr>
        <p:spPr>
          <a:xfrm>
            <a:off x="635508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184"/>
          <p:cNvSpPr txBox="1"/>
          <p:nvPr/>
        </p:nvSpPr>
        <p:spPr>
          <a:xfrm>
            <a:off x="642823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85" name="r185"/>
          <p:cNvSpPr/>
          <p:nvPr/>
        </p:nvSpPr>
        <p:spPr>
          <a:xfrm>
            <a:off x="736092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186"/>
          <p:cNvSpPr txBox="1"/>
          <p:nvPr/>
        </p:nvSpPr>
        <p:spPr>
          <a:xfrm>
            <a:off x="743407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87" name="r187"/>
          <p:cNvSpPr/>
          <p:nvPr/>
        </p:nvSpPr>
        <p:spPr>
          <a:xfrm>
            <a:off x="836676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t188"/>
          <p:cNvSpPr txBox="1"/>
          <p:nvPr/>
        </p:nvSpPr>
        <p:spPr>
          <a:xfrm>
            <a:off x="843991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89" name="r189"/>
          <p:cNvSpPr/>
          <p:nvPr/>
        </p:nvSpPr>
        <p:spPr>
          <a:xfrm>
            <a:off x="635508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642823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191" name="r191"/>
          <p:cNvSpPr/>
          <p:nvPr/>
        </p:nvSpPr>
        <p:spPr>
          <a:xfrm>
            <a:off x="736092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192"/>
          <p:cNvSpPr txBox="1"/>
          <p:nvPr/>
        </p:nvSpPr>
        <p:spPr>
          <a:xfrm>
            <a:off x="743407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Smith</a:t>
            </a:r>
          </a:p>
        </p:txBody>
      </p:sp>
      <p:sp>
        <p:nvSpPr>
          <p:cNvPr id="193" name="r193"/>
          <p:cNvSpPr/>
          <p:nvPr/>
        </p:nvSpPr>
        <p:spPr>
          <a:xfrm>
            <a:off x="836676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4" name="t194"/>
          <p:cNvSpPr txBox="1"/>
          <p:nvPr/>
        </p:nvSpPr>
        <p:spPr>
          <a:xfrm>
            <a:off x="843991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195" name="r195"/>
          <p:cNvSpPr/>
          <p:nvPr/>
        </p:nvSpPr>
        <p:spPr>
          <a:xfrm>
            <a:off x="6355080" y="1627632"/>
            <a:ext cx="3383280" cy="1042416"/>
          </a:xfrm>
          <a:prstGeom prst="rect">
            <a:avLst/>
          </a:prstGeom>
          <a:noFill/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6355080" y="2743200"/>
            <a:ext cx="33832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</a:t>
            </a:r>
          </a:p>
        </p:txBody>
      </p:sp>
      <p:sp>
        <p:nvSpPr>
          <p:cNvPr id="197" name="r197"/>
          <p:cNvSpPr/>
          <p:nvPr/>
        </p:nvSpPr>
        <p:spPr>
          <a:xfrm>
            <a:off x="6862572" y="3054096"/>
            <a:ext cx="36576" cy="347472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r198"/>
          <p:cNvSpPr/>
          <p:nvPr/>
        </p:nvSpPr>
        <p:spPr>
          <a:xfrm>
            <a:off x="6862572" y="3401568"/>
            <a:ext cx="2368296" cy="36576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r199"/>
          <p:cNvSpPr/>
          <p:nvPr/>
        </p:nvSpPr>
        <p:spPr>
          <a:xfrm>
            <a:off x="9194292" y="3401568"/>
            <a:ext cx="36576" cy="38404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0" name="t200"/>
          <p:cNvSpPr txBox="1"/>
          <p:nvPr/>
        </p:nvSpPr>
        <p:spPr>
          <a:xfrm>
            <a:off x="7200900" y="3108960"/>
            <a:ext cx="2286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  (FK)</a:t>
            </a:r>
          </a:p>
        </p:txBody>
      </p:sp>
      <p:sp>
        <p:nvSpPr>
          <p:cNvPr id="201" name="r201"/>
          <p:cNvSpPr/>
          <p:nvPr/>
        </p:nvSpPr>
        <p:spPr>
          <a:xfrm>
            <a:off x="6355080" y="3858768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2" name="t202"/>
          <p:cNvSpPr txBox="1"/>
          <p:nvPr/>
        </p:nvSpPr>
        <p:spPr>
          <a:xfrm>
            <a:off x="6428232" y="3950207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visit_id</a:t>
            </a:r>
          </a:p>
        </p:txBody>
      </p:sp>
      <p:sp>
        <p:nvSpPr>
          <p:cNvPr id="203" name="r203"/>
          <p:cNvSpPr/>
          <p:nvPr/>
        </p:nvSpPr>
        <p:spPr>
          <a:xfrm>
            <a:off x="73609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74340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205" name="r205"/>
          <p:cNvSpPr/>
          <p:nvPr/>
        </p:nvSpPr>
        <p:spPr>
          <a:xfrm>
            <a:off x="82753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" name="t206"/>
          <p:cNvSpPr txBox="1"/>
          <p:nvPr/>
        </p:nvSpPr>
        <p:spPr>
          <a:xfrm>
            <a:off x="8348472" y="3950207"/>
            <a:ext cx="91440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207" name="r207"/>
          <p:cNvSpPr/>
          <p:nvPr/>
        </p:nvSpPr>
        <p:spPr>
          <a:xfrm>
            <a:off x="9189720" y="3858768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t208"/>
          <p:cNvSpPr txBox="1"/>
          <p:nvPr/>
        </p:nvSpPr>
        <p:spPr>
          <a:xfrm>
            <a:off x="9262872" y="3950207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209" name="r209"/>
          <p:cNvSpPr/>
          <p:nvPr/>
        </p:nvSpPr>
        <p:spPr>
          <a:xfrm>
            <a:off x="6355080" y="4206240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210"/>
          <p:cNvSpPr txBox="1"/>
          <p:nvPr/>
        </p:nvSpPr>
        <p:spPr>
          <a:xfrm>
            <a:off x="6428232" y="4297679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V001</a:t>
            </a:r>
          </a:p>
        </p:txBody>
      </p:sp>
      <p:sp>
        <p:nvSpPr>
          <p:cNvPr id="211" name="r211"/>
          <p:cNvSpPr/>
          <p:nvPr/>
        </p:nvSpPr>
        <p:spPr>
          <a:xfrm>
            <a:off x="73609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t212"/>
          <p:cNvSpPr txBox="1"/>
          <p:nvPr/>
        </p:nvSpPr>
        <p:spPr>
          <a:xfrm>
            <a:off x="74340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13" name="r213"/>
          <p:cNvSpPr/>
          <p:nvPr/>
        </p:nvSpPr>
        <p:spPr>
          <a:xfrm>
            <a:off x="82753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4" name="t214"/>
          <p:cNvSpPr txBox="1"/>
          <p:nvPr/>
        </p:nvSpPr>
        <p:spPr>
          <a:xfrm>
            <a:off x="83484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215" name="r215"/>
          <p:cNvSpPr/>
          <p:nvPr/>
        </p:nvSpPr>
        <p:spPr>
          <a:xfrm>
            <a:off x="9189720" y="4206240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216"/>
          <p:cNvSpPr txBox="1"/>
          <p:nvPr/>
        </p:nvSpPr>
        <p:spPr>
          <a:xfrm>
            <a:off x="9262872" y="4297679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217" name="r217"/>
          <p:cNvSpPr/>
          <p:nvPr/>
        </p:nvSpPr>
        <p:spPr>
          <a:xfrm>
            <a:off x="6355080" y="4553712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8" name="t218"/>
          <p:cNvSpPr txBox="1"/>
          <p:nvPr/>
        </p:nvSpPr>
        <p:spPr>
          <a:xfrm>
            <a:off x="6428232" y="4645151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V002</a:t>
            </a:r>
          </a:p>
        </p:txBody>
      </p:sp>
      <p:sp>
        <p:nvSpPr>
          <p:cNvPr id="219" name="r219"/>
          <p:cNvSpPr/>
          <p:nvPr/>
        </p:nvSpPr>
        <p:spPr>
          <a:xfrm>
            <a:off x="73609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74340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21" name="r221"/>
          <p:cNvSpPr/>
          <p:nvPr/>
        </p:nvSpPr>
        <p:spPr>
          <a:xfrm>
            <a:off x="82753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222"/>
          <p:cNvSpPr txBox="1"/>
          <p:nvPr/>
        </p:nvSpPr>
        <p:spPr>
          <a:xfrm>
            <a:off x="83484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223" name="r223"/>
          <p:cNvSpPr/>
          <p:nvPr/>
        </p:nvSpPr>
        <p:spPr>
          <a:xfrm>
            <a:off x="9189720" y="4553712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t224"/>
          <p:cNvSpPr txBox="1"/>
          <p:nvPr/>
        </p:nvSpPr>
        <p:spPr>
          <a:xfrm>
            <a:off x="9262872" y="4645151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225" name="r225"/>
          <p:cNvSpPr/>
          <p:nvPr/>
        </p:nvSpPr>
        <p:spPr>
          <a:xfrm>
            <a:off x="6355080" y="4901183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6428232" y="4992623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V003</a:t>
            </a:r>
          </a:p>
        </p:txBody>
      </p:sp>
      <p:sp>
        <p:nvSpPr>
          <p:cNvPr id="227" name="r227"/>
          <p:cNvSpPr/>
          <p:nvPr/>
        </p:nvSpPr>
        <p:spPr>
          <a:xfrm>
            <a:off x="73609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74340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229" name="r229"/>
          <p:cNvSpPr/>
          <p:nvPr/>
        </p:nvSpPr>
        <p:spPr>
          <a:xfrm>
            <a:off x="82753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t230"/>
          <p:cNvSpPr txBox="1"/>
          <p:nvPr/>
        </p:nvSpPr>
        <p:spPr>
          <a:xfrm>
            <a:off x="83484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231" name="r231"/>
          <p:cNvSpPr/>
          <p:nvPr/>
        </p:nvSpPr>
        <p:spPr>
          <a:xfrm>
            <a:off x="9189720" y="4901183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9262872" y="4992623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233" name="r233"/>
          <p:cNvSpPr/>
          <p:nvPr/>
        </p:nvSpPr>
        <p:spPr>
          <a:xfrm>
            <a:off x="6355080" y="3858768"/>
            <a:ext cx="3474720" cy="1389888"/>
          </a:xfrm>
          <a:prstGeom prst="rect">
            <a:avLst/>
          </a:prstGeom>
          <a:noFill/>
          <a:ln w="1016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6355080" y="5321808"/>
            <a:ext cx="34747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visits</a:t>
            </a:r>
          </a:p>
        </p:txBody>
      </p:sp>
      <p:sp>
        <p:nvSpPr>
          <p:cNvPr id="235" name="r235"/>
          <p:cNvSpPr/>
          <p:nvPr/>
        </p:nvSpPr>
        <p:spPr>
          <a:xfrm>
            <a:off x="6355080" y="5596128"/>
            <a:ext cx="5577840" cy="475488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236"/>
          <p:cNvSpPr txBox="1"/>
          <p:nvPr/>
        </p:nvSpPr>
        <p:spPr>
          <a:xfrm>
            <a:off x="6537960" y="5650992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Accommodation stored once.</a:t>
            </a:r>
          </a:p>
        </p:txBody>
      </p:sp>
      <p:sp>
        <p:nvSpPr>
          <p:cNvPr id="237" name="t237"/>
          <p:cNvSpPr txBox="1"/>
          <p:nvPr/>
        </p:nvSpPr>
        <p:spPr>
          <a:xfrm>
            <a:off x="6537960" y="5843016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Reclassify it? Update 1 row. Done.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 Fundamentals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SELECT  ·  WHERE  ·  ORDER BY  ·  GROUP BY  ·  Aggregate functions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Look at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I explain anything: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217920" cy="2331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destination_name, region, category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destinations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category = 'Beach'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28416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destination_name ASC;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48272" y="2852928"/>
            <a:ext cx="502920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601968" y="259689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3533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719072"/>
            <a:ext cx="137160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452360" y="178308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78240" y="1719072"/>
            <a:ext cx="128016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823960" y="178308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0" y="1719072"/>
            <a:ext cx="201168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10104120" y="17830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206654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7452360" y="213055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Boracay Island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2066544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823960" y="213055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Western Visayas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0" y="2066544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10104120" y="2130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41401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7452360" y="24780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Panglao Island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2414016"/>
            <a:ext cx="128016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823960" y="24780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 Visayas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414016"/>
            <a:ext cx="20116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10104120" y="2478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276148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7452360" y="28254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Siargao Island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761488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823960" y="282549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Caraga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2761488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10104120" y="28254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4663440" cy="1389888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640080" y="442569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you've never seen SQL before — you can probably guess what this does just by reading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996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👁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996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5179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columns do you want to see?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22128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212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23113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 are you getting data from?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0" y="22311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94360" y="2926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926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94436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must the data meet?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294436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9584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36393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39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6576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want to aggregate?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36576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42816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594360" y="43525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↕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35254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3708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results be sorted?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0" y="43708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594360" y="5065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5065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50840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you want back?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0840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FROM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1400" dirty="0" err="1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region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500" dirty="0"/>
          </a:p>
          <a:p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* means all columns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077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94360" y="2999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926080" y="30175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columns to return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94360" y="3685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92608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table to look in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42793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94360" y="43708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semicolon  ;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926080" y="43891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ends the query, like a period ends a sentence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566928"/>
          </a:xfrm>
          <a:prstGeom prst="rect">
            <a:avLst/>
          </a:prstGeom>
          <a:solidFill>
            <a:srgbClr val="0A1E30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94360" y="510235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💡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078992" y="5102352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Avoid SELECT * in real work — name your columns. Faster and clearer.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WHERE — Filtering Your Data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412480" y="1280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412480" y="1554480"/>
            <a:ext cx="3566160" cy="292608"/>
          </a:xfrm>
          <a:prstGeom prst="rect">
            <a:avLst/>
          </a:prstGeom>
          <a:solidFill>
            <a:srgbClr val="0F2A3F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50392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024128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412480" y="184708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618649" y="18836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412480" y="212140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618649" y="215798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Heritage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412480" y="239572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8649" y="243230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12480" y="267004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618649" y="270662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12480" y="294436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618649" y="298094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829800" y="3584448"/>
            <a:ext cx="9144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86800" y="3858768"/>
            <a:ext cx="3017520" cy="256032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778240" y="3913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category = 'Beach'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829800" y="4133088"/>
            <a:ext cx="9144" cy="201168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412480" y="4370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412480" y="4645152"/>
            <a:ext cx="3566160" cy="292608"/>
          </a:xfrm>
          <a:prstGeom prst="rect">
            <a:avLst/>
          </a:prstGeom>
          <a:solidFill>
            <a:srgbClr val="0F2A3F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50392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1024128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412480" y="493776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618656" y="497433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412480" y="5212080"/>
            <a:ext cx="3566160" cy="246888"/>
          </a:xfrm>
          <a:prstGeom prst="rect">
            <a:avLst/>
          </a:prstGeom>
          <a:solidFill>
            <a:srgbClr val="0F2235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618656" y="524865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12480" y="548640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618656" y="55229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57200" y="1280160"/>
            <a:ext cx="790956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58368" y="1426464"/>
            <a:ext cx="76443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 = 'Beach’;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category = 'Beach’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region = ‘NCR';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457200" y="3456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operators: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45720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56692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!=  &gt;  &lt;  &gt;=  &lt;=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320040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61772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472744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OR  NOT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736092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56692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'%stat%'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 txBox="1"/>
          <p:nvPr/>
        </p:nvSpPr>
        <p:spPr>
          <a:xfrm>
            <a:off x="320040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61772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472744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('A','B')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736092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D246D71-96DD-42D1-D4A0-7821D0BBDE6B}"/>
              </a:ext>
            </a:extLst>
          </p:cNvPr>
          <p:cNvSpPr/>
          <p:nvPr/>
        </p:nvSpPr>
        <p:spPr>
          <a:xfrm>
            <a:off x="8412480" y="3211731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12">
            <a:extLst>
              <a:ext uri="{FF2B5EF4-FFF2-40B4-BE49-F238E27FC236}">
                <a16:creationId xmlns:a16="http://schemas.microsoft.com/office/drawing/2014/main" id="{C355A00C-A878-E4CE-1DE5-EE25F39473B2}"/>
              </a:ext>
            </a:extLst>
          </p:cNvPr>
          <p:cNvSpPr txBox="1"/>
          <p:nvPr/>
        </p:nvSpPr>
        <p:spPr>
          <a:xfrm>
            <a:off x="8618649" y="3245325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498080" cy="251460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737006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highest first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            -- top 10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686800" y="141732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🏆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503920" y="2395728"/>
            <a:ext cx="3383280" cy="420624"/>
          </a:xfrm>
          <a:prstGeom prst="rect">
            <a:avLst/>
          </a:prstGeom>
          <a:solidFill>
            <a:srgbClr val="0F2A3F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613648" y="2468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9006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Nido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442448" y="246888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24,999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503920" y="289864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613648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9006840" y="2971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Boracay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0442448" y="297180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503920" y="340156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3648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06840" y="3474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Siargao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442448" y="347472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21,500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94360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783080" y="4014216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ascending (lowest → highest, the default)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94360" y="46634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783080" y="4672584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descending (highest → lowest)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5230368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594360" y="5321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783080" y="5330952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controls how many rows come back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5980176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what would you change to get the 10 lowest-spending visits instead?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How many tourists total?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Average spending per visit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Lowest and highest spending
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length_of_stay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-- Total nights stayed at D01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Frequency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264408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264408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64408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Mean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71616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071616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071616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/ MAX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071616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Range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878824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878824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878824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878824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Total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19072"/>
            <a:ext cx="7132320" cy="1686158"/>
          </a:xfrm>
          <a:prstGeom prst="rect">
            <a:avLst/>
          </a:prstGeom>
          <a:solidFill>
            <a:srgbClr val="0F2214"/>
          </a:solidFill>
          <a:ln w="614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785376"/>
            <a:ext cx="6729984" cy="94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*) AS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0" y="1389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0" y="1719072"/>
            <a:ext cx="41148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863840" y="1783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184159" y="1783080"/>
            <a:ext cx="121142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0" y="2066544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863840" y="21305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184160" y="2130552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0" y="2450592"/>
            <a:ext cx="4114800" cy="347472"/>
          </a:xfrm>
          <a:prstGeom prst="rect">
            <a:avLst/>
          </a:prstGeom>
          <a:solidFill>
            <a:srgbClr val="0A1612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863840" y="251460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184160" y="2514600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0" y="2847466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863840" y="291147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Filipino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184160" y="2911474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772400" y="1719072"/>
            <a:ext cx="4114800" cy="1499616"/>
          </a:xfrm>
          <a:prstGeom prst="rect">
            <a:avLst/>
          </a:prstGeom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2648751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0080" y="2731047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row per group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64861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0080" y="372931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any aggregate: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AVG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SUM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MIN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MAX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42429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432527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renames the column to something readable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48371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4919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Each nationality grouped and counted — your frequency 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Handling NULLs  ·  Duplicates 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37160"/>
            <a:ext cx="109728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5 · DATA CLEANING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Handling NULLs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22960"/>
            <a:ext cx="20116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t806"/>
          <p:cNvSpPr txBox="1"/>
          <p:nvPr/>
        </p:nvSpPr>
        <p:spPr>
          <a:xfrm>
            <a:off x="457200" y="960120"/>
            <a:ext cx="112471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 ≠  zero        NULL  ≠  empty string        NULL  =  value was never recorded</a:t>
            </a:r>
          </a:p>
        </p:txBody>
      </p:sp>
      <p:sp>
        <p:nvSpPr>
          <p:cNvPr id="807" name="r807"/>
          <p:cNvSpPr/>
          <p:nvPr/>
        </p:nvSpPr>
        <p:spPr>
          <a:xfrm>
            <a:off x="457200" y="1353312"/>
            <a:ext cx="3474720" cy="1005840"/>
          </a:xfrm>
          <a:prstGeom prst="rect">
            <a:avLst/>
          </a:prstGeom>
          <a:solidFill>
            <a:srgbClr val="1A3050"/>
          </a:solidFill>
          <a:ln w="1524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8" name="t808"/>
          <p:cNvSpPr txBox="1"/>
          <p:nvPr/>
        </p:nvSpPr>
        <p:spPr>
          <a:xfrm>
            <a:off x="457200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09" name="t809"/>
          <p:cNvSpPr txBox="1"/>
          <p:nvPr/>
        </p:nvSpPr>
        <p:spPr>
          <a:xfrm>
            <a:off x="457200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NULL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457200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Value was never recorded</a:t>
            </a:r>
          </a:p>
        </p:txBody>
      </p:sp>
      <p:sp>
        <p:nvSpPr>
          <p:cNvPr id="811" name="r811"/>
          <p:cNvSpPr/>
          <p:nvPr/>
        </p:nvSpPr>
        <p:spPr>
          <a:xfrm>
            <a:off x="4133087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4133087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</a:t>
            </a:r>
          </a:p>
        </p:txBody>
      </p:sp>
      <p:sp>
        <p:nvSpPr>
          <p:cNvPr id="813" name="t813"/>
          <p:cNvSpPr txBox="1"/>
          <p:nvPr/>
        </p:nvSpPr>
        <p:spPr>
          <a:xfrm>
            <a:off x="4133087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0  (zero)</a:t>
            </a:r>
          </a:p>
        </p:txBody>
      </p:sp>
      <p:sp>
        <p:nvSpPr>
          <p:cNvPr id="814" name="t814"/>
          <p:cNvSpPr txBox="1"/>
          <p:nvPr/>
        </p:nvSpPr>
        <p:spPr>
          <a:xfrm>
            <a:off x="4133087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recorded value of zero</a:t>
            </a:r>
          </a:p>
        </p:txBody>
      </p:sp>
      <p:sp>
        <p:nvSpPr>
          <p:cNvPr id="815" name="r815"/>
          <p:cNvSpPr/>
          <p:nvPr/>
        </p:nvSpPr>
        <p:spPr>
          <a:xfrm>
            <a:off x="7808975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6" name="t816"/>
          <p:cNvSpPr txBox="1"/>
          <p:nvPr/>
        </p:nvSpPr>
        <p:spPr>
          <a:xfrm>
            <a:off x="7808975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""</a:t>
            </a:r>
          </a:p>
        </p:txBody>
      </p:sp>
      <p:sp>
        <p:nvSpPr>
          <p:cNvPr id="817" name="t817"/>
          <p:cNvSpPr txBox="1"/>
          <p:nvPr/>
        </p:nvSpPr>
        <p:spPr>
          <a:xfrm>
            <a:off x="7808975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Empty string</a:t>
            </a:r>
          </a:p>
        </p:txBody>
      </p:sp>
      <p:sp>
        <p:nvSpPr>
          <p:cNvPr id="818" name="t818"/>
          <p:cNvSpPr txBox="1"/>
          <p:nvPr/>
        </p:nvSpPr>
        <p:spPr>
          <a:xfrm>
            <a:off x="7808975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blank text field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2542032"/>
            <a:ext cx="11247120" cy="1115568"/>
          </a:xfrm>
          <a:prstGeom prst="rect">
            <a:avLst/>
          </a:prstGeom>
          <a:solidFill>
            <a:srgbClr val="060E18"/>
          </a:solidFill>
          <a:ln w="635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640080" y="2577476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Check for NULLs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40080" y="2822949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NULL;</a:t>
            </a:r>
          </a:p>
        </p:txBody>
      </p:sp>
      <p:sp>
        <p:nvSpPr>
          <p:cNvPr id="822" name="t822"/>
          <p:cNvSpPr txBox="1"/>
          <p:nvPr/>
        </p:nvSpPr>
        <p:spPr>
          <a:xfrm>
            <a:off x="640080" y="3068422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NOT NULL;</a:t>
            </a:r>
          </a:p>
        </p:txBody>
      </p:sp>
      <p:sp>
        <p:nvSpPr>
          <p:cNvPr id="823" name="t823"/>
          <p:cNvSpPr txBox="1"/>
          <p:nvPr/>
        </p:nvSpPr>
        <p:spPr>
          <a:xfrm>
            <a:off x="640080" y="3332750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AVG(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)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;  -- NULLs are skipped automatically</a:t>
            </a:r>
          </a:p>
        </p:txBody>
      </p:sp>
      <p:sp>
        <p:nvSpPr>
          <p:cNvPr id="824" name="r824"/>
          <p:cNvSpPr/>
          <p:nvPr/>
        </p:nvSpPr>
        <p:spPr>
          <a:xfrm>
            <a:off x="457200" y="3840480"/>
            <a:ext cx="11247120" cy="658368"/>
          </a:xfrm>
          <a:prstGeom prst="rect">
            <a:avLst/>
          </a:prstGeom>
          <a:solidFill>
            <a:srgbClr val="1A0A0A"/>
          </a:solidFill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5" name="t825"/>
          <p:cNvSpPr txBox="1"/>
          <p:nvPr/>
        </p:nvSpPr>
        <p:spPr>
          <a:xfrm>
            <a:off x="640080" y="3895344"/>
            <a:ext cx="10972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Never write: WHERE spending_php = NULL</a:t>
            </a:r>
          </a:p>
        </p:txBody>
      </p:sp>
      <p:sp>
        <p:nvSpPr>
          <p:cNvPr id="826" name="t826"/>
          <p:cNvSpPr txBox="1"/>
          <p:nvPr/>
        </p:nvSpPr>
        <p:spPr>
          <a:xfrm>
            <a:off x="640080" y="4187952"/>
            <a:ext cx="10972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is not equal to anything — not even itself. This will always return zero rows.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0"/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Each unique nationality, once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purpose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Count of unique nationalities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DISTINCT: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46720" y="169164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156448" y="17465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156448" y="206654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156448" y="238658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156448" y="270662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46720" y="297180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156448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046720" y="34564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DISTINCT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46720" y="3767328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156448" y="382219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46720" y="4114800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156448" y="416966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40080" y="425196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removes duplicate rows from your result set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Combining Tables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All four JOIN types  ·  INNER  ·  LEFT  ·  RIGHT  ·  FULL OUTER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COMBINING TABLES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JOIN and Why Does It Exist?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split data across tables by design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them back together when you need the full picture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Think: VLOOKUP in Excel — matching two datasets on a shared column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486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5486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2296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3210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83210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  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83210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🔗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3210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3210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4114800" y="3822192"/>
            <a:ext cx="3931920" cy="658368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114800" y="39684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on  tourist_id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31920" y="390085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80467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81540516-3EE1-A6C5-F695-D53DA307E976}"/>
              </a:ext>
            </a:extLst>
          </p:cNvPr>
          <p:cNvSpPr/>
          <p:nvPr/>
        </p:nvSpPr>
        <p:spPr>
          <a:xfrm>
            <a:off x="457200" y="5340096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FDE9BA0C-E252-D272-DF4A-8DCE0E76E3F2}"/>
              </a:ext>
            </a:extLst>
          </p:cNvPr>
          <p:cNvSpPr txBox="1"/>
          <p:nvPr/>
        </p:nvSpPr>
        <p:spPr>
          <a:xfrm>
            <a:off x="457200" y="541269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JOIN, you can’t answer: </a:t>
            </a:r>
            <a:r>
              <a:rPr lang="en-US" sz="1300" b="1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nationality visits Boracay the most?” </a:t>
            </a: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nationality is in tourists. The destination is in visits. YOU NEED BOTH.  </a:t>
            </a:r>
            <a:endParaRPr lang="en-US" sz="1300" dirty="0"/>
          </a:p>
        </p:txBody>
      </p:sp>
    </p:spTree>
  </p:cSld>
  <p:clrMapOvr>
    <a:masterClrMapping/>
  </p:clrMapOvr>
  <p:transition spd="med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7 · COMBINING TABLES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Types of JOIN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228600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60704"/>
            <a:ext cx="20116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 Type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560320" y="1060704"/>
            <a:ext cx="448056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gets returned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7178040" y="106070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&amp; Use Case</a:t>
            </a:r>
          </a:p>
        </p:txBody>
      </p:sp>
      <p:sp>
        <p:nvSpPr>
          <p:cNvPr id="107" name="r107"/>
          <p:cNvSpPr/>
          <p:nvPr/>
        </p:nvSpPr>
        <p:spPr>
          <a:xfrm>
            <a:off x="457200" y="1280160"/>
            <a:ext cx="11247120" cy="27432"/>
          </a:xfrm>
          <a:prstGeom prst="rect">
            <a:avLst/>
          </a:prstGeom>
          <a:solidFill>
            <a:srgbClr val="0A1E30"/>
          </a:solidFill>
          <a:ln w="6350">
            <a:solidFill>
              <a:srgbClr val="0A1E3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371600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57200" y="1773936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INNER JOIN</a:t>
            </a:r>
          </a:p>
        </p:txBody>
      </p:sp>
      <p:sp>
        <p:nvSpPr>
          <p:cNvPr id="110" name="r110"/>
          <p:cNvSpPr/>
          <p:nvPr/>
        </p:nvSpPr>
        <p:spPr>
          <a:xfrm>
            <a:off x="2560320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60320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12" name="r112"/>
          <p:cNvSpPr/>
          <p:nvPr/>
        </p:nvSpPr>
        <p:spPr>
          <a:xfrm>
            <a:off x="4059935" y="1554480"/>
            <a:ext cx="1481328" cy="438912"/>
          </a:xfrm>
          <a:prstGeom prst="rect">
            <a:avLst/>
          </a:prstGeom>
          <a:solidFill>
            <a:srgbClr val="00C9A7"/>
          </a:solidFill>
          <a:ln w="1778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4059935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14" name="r114"/>
          <p:cNvSpPr/>
          <p:nvPr/>
        </p:nvSpPr>
        <p:spPr>
          <a:xfrm>
            <a:off x="5559552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559552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7178040" y="1444752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only rows with matching values in both tables.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7178040" y="1645920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Non-matching rows are excluded entirely.</a:t>
            </a:r>
          </a:p>
        </p:txBody>
      </p:sp>
      <p:sp>
        <p:nvSpPr>
          <p:cNvPr id="119" name="t119"/>
          <p:cNvSpPr txBox="1"/>
          <p:nvPr/>
        </p:nvSpPr>
        <p:spPr>
          <a:xfrm>
            <a:off x="7178040" y="2212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20" name="r120"/>
          <p:cNvSpPr/>
          <p:nvPr/>
        </p:nvSpPr>
        <p:spPr>
          <a:xfrm>
            <a:off x="457200" y="2578608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457200" y="3035808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LEFT JOIN</a:t>
            </a:r>
          </a:p>
        </p:txBody>
      </p:sp>
      <p:sp>
        <p:nvSpPr>
          <p:cNvPr id="122" name="r122"/>
          <p:cNvSpPr/>
          <p:nvPr/>
        </p:nvSpPr>
        <p:spPr>
          <a:xfrm>
            <a:off x="2560320" y="2816352"/>
            <a:ext cx="1481328" cy="438912"/>
          </a:xfrm>
          <a:prstGeom prst="rect">
            <a:avLst/>
          </a:prstGeom>
          <a:solidFill>
            <a:srgbClr val="4FC3F7"/>
          </a:solidFill>
          <a:ln w="1778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2560320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24" name="r124"/>
          <p:cNvSpPr/>
          <p:nvPr/>
        </p:nvSpPr>
        <p:spPr>
          <a:xfrm>
            <a:off x="4059935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4059935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26" name="r126"/>
          <p:cNvSpPr/>
          <p:nvPr/>
        </p:nvSpPr>
        <p:spPr>
          <a:xfrm>
            <a:off x="5559552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559552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28" name="t128"/>
          <p:cNvSpPr txBox="1"/>
          <p:nvPr/>
        </p:nvSpPr>
        <p:spPr>
          <a:xfrm>
            <a:off x="7178040" y="270662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left table, plus matching rows from the right.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7178040" y="2907791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right = NULL.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7178040" y="3145536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Keep your primary table intact while pulling in optional data.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7178040" y="3474720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32" name="r132"/>
          <p:cNvSpPr/>
          <p:nvPr/>
        </p:nvSpPr>
        <p:spPr>
          <a:xfrm>
            <a:off x="457200" y="3840480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133"/>
          <p:cNvSpPr/>
          <p:nvPr/>
        </p:nvSpPr>
        <p:spPr>
          <a:xfrm>
            <a:off x="457200" y="3895344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457200" y="4297680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RIGHT JOIN</a:t>
            </a:r>
          </a:p>
        </p:txBody>
      </p:sp>
      <p:sp>
        <p:nvSpPr>
          <p:cNvPr id="135" name="r135"/>
          <p:cNvSpPr/>
          <p:nvPr/>
        </p:nvSpPr>
        <p:spPr>
          <a:xfrm>
            <a:off x="2560320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6" name="t136"/>
          <p:cNvSpPr txBox="1"/>
          <p:nvPr/>
        </p:nvSpPr>
        <p:spPr>
          <a:xfrm>
            <a:off x="2560320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37" name="r137"/>
          <p:cNvSpPr/>
          <p:nvPr/>
        </p:nvSpPr>
        <p:spPr>
          <a:xfrm>
            <a:off x="4059935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t138"/>
          <p:cNvSpPr txBox="1"/>
          <p:nvPr/>
        </p:nvSpPr>
        <p:spPr>
          <a:xfrm>
            <a:off x="4059935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39" name="r139"/>
          <p:cNvSpPr/>
          <p:nvPr/>
        </p:nvSpPr>
        <p:spPr>
          <a:xfrm>
            <a:off x="5559552" y="4078224"/>
            <a:ext cx="1481328" cy="438912"/>
          </a:xfrm>
          <a:prstGeom prst="rect">
            <a:avLst/>
          </a:prstGeom>
          <a:solidFill>
            <a:srgbClr val="F59E0B"/>
          </a:solidFill>
          <a:ln w="17780">
            <a:solidFill>
              <a:srgbClr val="F59E0B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5559552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7178040" y="396849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right table, plus matching rows from the left.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7178040" y="4169663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left = NULL.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7178040" y="4407408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Rarely used — any RIGHT JOIN can be rewritten as a LEFT JOIN by swapping table order.</a:t>
            </a:r>
          </a:p>
        </p:txBody>
      </p:sp>
      <p:sp>
        <p:nvSpPr>
          <p:cNvPr id="144" name="t144"/>
          <p:cNvSpPr txBox="1"/>
          <p:nvPr/>
        </p:nvSpPr>
        <p:spPr>
          <a:xfrm>
            <a:off x="7178040" y="4736592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Limited SQLite support (v3.39+)</a:t>
            </a:r>
          </a:p>
        </p:txBody>
      </p:sp>
      <p:sp>
        <p:nvSpPr>
          <p:cNvPr id="145" name="r145"/>
          <p:cNvSpPr/>
          <p:nvPr/>
        </p:nvSpPr>
        <p:spPr>
          <a:xfrm>
            <a:off x="457200" y="5102352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t146"/>
          <p:cNvSpPr txBox="1"/>
          <p:nvPr/>
        </p:nvSpPr>
        <p:spPr>
          <a:xfrm>
            <a:off x="457200" y="5559552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FULL OUTER JOIN</a:t>
            </a:r>
          </a:p>
        </p:txBody>
      </p:sp>
      <p:sp>
        <p:nvSpPr>
          <p:cNvPr id="147" name="r147"/>
          <p:cNvSpPr/>
          <p:nvPr/>
        </p:nvSpPr>
        <p:spPr>
          <a:xfrm>
            <a:off x="2560320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2560320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49" name="r149"/>
          <p:cNvSpPr/>
          <p:nvPr/>
        </p:nvSpPr>
        <p:spPr>
          <a:xfrm>
            <a:off x="4059935" y="5340096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059935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51" name="r151"/>
          <p:cNvSpPr/>
          <p:nvPr/>
        </p:nvSpPr>
        <p:spPr>
          <a:xfrm>
            <a:off x="5559552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152"/>
          <p:cNvSpPr txBox="1"/>
          <p:nvPr/>
        </p:nvSpPr>
        <p:spPr>
          <a:xfrm>
            <a:off x="5559552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7178040" y="5230368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both tables. Matches align side-by-side;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7178040" y="543153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no match exists, NULLs fill the gaps.</a:t>
            </a:r>
          </a:p>
        </p:txBody>
      </p:sp>
      <p:sp>
        <p:nvSpPr>
          <p:cNvPr id="155" name="t155"/>
          <p:cNvSpPr txBox="1"/>
          <p:nvPr/>
        </p:nvSpPr>
        <p:spPr>
          <a:xfrm>
            <a:off x="7178040" y="5669279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Data reconciliation — finding mismatches between two systems.</a:t>
            </a:r>
          </a:p>
        </p:txBody>
      </p:sp>
      <p:sp>
        <p:nvSpPr>
          <p:cNvPr id="156" name="t156"/>
          <p:cNvSpPr txBox="1"/>
          <p:nvPr/>
        </p:nvSpPr>
        <p:spPr>
          <a:xfrm>
            <a:off x="7178040" y="5998464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 supported in SQLite</a:t>
            </a:r>
          </a:p>
        </p:txBody>
      </p:sp>
      <p:sp>
        <p:nvSpPr>
          <p:cNvPr id="157" name="r157"/>
          <p:cNvSpPr/>
          <p:nvPr/>
        </p:nvSpPr>
        <p:spPr>
          <a:xfrm>
            <a:off x="457200" y="6364224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158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0F2235"/>
          </a:solidFill>
          <a:ln w="762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 practice: INNER JOIN and LEFT JOIN cover 95% of real-world use cases. RIGHT JOIN and FULL OUTER JOIN are rare.</a:t>
            </a:r>
          </a:p>
        </p:txBody>
      </p:sp>
      <p:sp>
        <p:nvSpPr>
          <p:cNvPr id="3" name="t118">
            <a:extLst>
              <a:ext uri="{FF2B5EF4-FFF2-40B4-BE49-F238E27FC236}">
                <a16:creationId xmlns:a16="http://schemas.microsoft.com/office/drawing/2014/main" id="{BB48AC78-87AD-738A-4F78-B65C22CD9AFF}"/>
              </a:ext>
            </a:extLst>
          </p:cNvPr>
          <p:cNvSpPr txBox="1"/>
          <p:nvPr/>
        </p:nvSpPr>
        <p:spPr>
          <a:xfrm>
            <a:off x="7178040" y="1826514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When you need complete, fully paired records from both tables.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i="1" dirty="0">
                <a:solidFill>
                  <a:srgbClr val="CBD5E1"/>
                </a:solidFill>
                <a:latin typeface="Calibri"/>
              </a:rPr>
              <a:t>Ex: If a tourist has no visit record, they don’t appear. If a visit has no matching tourist, it doesn’t appear either. </a:t>
            </a:r>
            <a:endParaRPr kumimoji="0" lang="en-US" sz="850" b="0" i="1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Bridging to R / Python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SQL gets the data ready  ·  R and Python take it further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BRIDGING TO R / PYTHON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Gets the Data Ready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91440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38912" y="1474013"/>
            <a:ext cx="640080" cy="857707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38912" y="1371600"/>
            <a:ext cx="640080" cy="204826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438912" y="2229307"/>
            <a:ext cx="640080" cy="204826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75488" y="16680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75488" y="187393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475488" y="20797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365760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1828800" y="1408176"/>
            <a:ext cx="1737360" cy="713232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1828800" y="15361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114800" y="1435608"/>
            <a:ext cx="173736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114800" y="1591056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1801368"/>
            <a:ext cx="502920" cy="9144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400800" y="135331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664208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0" y="17373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048256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0" y="2121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58368" y="2862072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sqlite3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sqlite3.connect('tourism_ph.db')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pd.read_sql("SELECT * FROM tourists”, conn)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84597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658368" y="4530901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&lt;- dbConnect(RSQLite::SQLite(), 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dbGetQuery(conn, 'SELECT * FROM tourists')</a:t>
            </a:r>
            <a:endParaRPr lang="en-US" sz="15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0B270BA-9A35-9BCB-165E-F7091A54DAB3}"/>
              </a:ext>
            </a:extLst>
          </p:cNvPr>
          <p:cNvSpPr txBox="1"/>
          <p:nvPr/>
        </p:nvSpPr>
        <p:spPr>
          <a:xfrm>
            <a:off x="457200" y="4152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tourists  ·  visits  ·  destinations  ·  SQLiteOnline.com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57912" y="-460736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64592"/>
            <a:ext cx="7315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9 · LIVE DEMO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45720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Live Demo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41248"/>
            <a:ext cx="10972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r806"/>
          <p:cNvSpPr/>
          <p:nvPr/>
        </p:nvSpPr>
        <p:spPr>
          <a:xfrm>
            <a:off x="457200" y="987552"/>
            <a:ext cx="11247120" cy="292608"/>
          </a:xfrm>
          <a:prstGeom prst="rect">
            <a:avLst/>
          </a:prstGeom>
          <a:solidFill>
            <a:srgbClr val="0F2235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7" name="t807"/>
          <p:cNvSpPr txBox="1"/>
          <p:nvPr/>
        </p:nvSpPr>
        <p:spPr>
          <a:xfrm>
            <a:off x="640080" y="987552"/>
            <a:ext cx="10058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Tool:  SQLiteOnline.com  —  runs in the browser, nothing to install</a:t>
            </a:r>
          </a:p>
        </p:txBody>
      </p:sp>
      <p:sp>
        <p:nvSpPr>
          <p:cNvPr id="808" name="r808"/>
          <p:cNvSpPr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9" name="t809"/>
          <p:cNvSpPr txBox="1"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777240" y="141732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Getting to Know the Data</a:t>
            </a:r>
          </a:p>
        </p:txBody>
      </p:sp>
      <p:sp>
        <p:nvSpPr>
          <p:cNvPr id="811" name="r811"/>
          <p:cNvSpPr/>
          <p:nvPr/>
        </p:nvSpPr>
        <p:spPr>
          <a:xfrm>
            <a:off x="457200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777240" y="176479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do our tourists, visits, and destinations tables look like?</a:t>
            </a:r>
          </a:p>
        </p:txBody>
      </p:sp>
      <p:sp>
        <p:nvSpPr>
          <p:cNvPr id="813" name="r813"/>
          <p:cNvSpPr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4" name="t814"/>
          <p:cNvSpPr txBox="1"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sp>
        <p:nvSpPr>
          <p:cNvPr id="815" name="t815"/>
          <p:cNvSpPr txBox="1"/>
          <p:nvPr/>
        </p:nvSpPr>
        <p:spPr>
          <a:xfrm>
            <a:off x="809244" y="3390065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Are They Going?</a:t>
            </a:r>
          </a:p>
        </p:txBody>
      </p:sp>
      <p:sp>
        <p:nvSpPr>
          <p:cNvPr id="816" name="r816"/>
          <p:cNvSpPr/>
          <p:nvPr/>
        </p:nvSpPr>
        <p:spPr>
          <a:xfrm>
            <a:off x="457200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7" name="t817"/>
          <p:cNvSpPr txBox="1"/>
          <p:nvPr/>
        </p:nvSpPr>
        <p:spPr>
          <a:xfrm>
            <a:off x="777240" y="374880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visits did each region receive?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659880" y="1389887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Clean Is Our Data?</a:t>
            </a:r>
          </a:p>
        </p:txBody>
      </p:sp>
      <p:sp>
        <p:nvSpPr>
          <p:cNvPr id="822" name="r822"/>
          <p:cNvSpPr/>
          <p:nvPr/>
        </p:nvSpPr>
        <p:spPr>
          <a:xfrm>
            <a:off x="457200" y="370332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3" name="t823"/>
          <p:cNvSpPr txBox="1"/>
          <p:nvPr/>
        </p:nvSpPr>
        <p:spPr>
          <a:xfrm>
            <a:off x="6641592" y="172692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Are there visits with missing spending data?</a:t>
            </a:r>
          </a:p>
        </p:txBody>
      </p:sp>
      <p:sp>
        <p:nvSpPr>
          <p:cNvPr id="826" name="r826"/>
          <p:cNvSpPr/>
          <p:nvPr/>
        </p:nvSpPr>
        <p:spPr>
          <a:xfrm>
            <a:off x="457200" y="4426213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7" name="t827"/>
          <p:cNvSpPr txBox="1"/>
          <p:nvPr/>
        </p:nvSpPr>
        <p:spPr>
          <a:xfrm>
            <a:off x="457200" y="4434322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</a:t>
            </a:r>
          </a:p>
        </p:txBody>
      </p:sp>
      <p:sp>
        <p:nvSpPr>
          <p:cNvPr id="828" name="t828"/>
          <p:cNvSpPr txBox="1"/>
          <p:nvPr/>
        </p:nvSpPr>
        <p:spPr>
          <a:xfrm>
            <a:off x="777240" y="4425178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Full Picture: A 3-Table JOIN</a:t>
            </a:r>
          </a:p>
        </p:txBody>
      </p:sp>
      <p:sp>
        <p:nvSpPr>
          <p:cNvPr id="829" name="r829"/>
          <p:cNvSpPr/>
          <p:nvPr/>
        </p:nvSpPr>
        <p:spPr>
          <a:xfrm>
            <a:off x="457200" y="4699497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0" name="t830"/>
          <p:cNvSpPr txBox="1"/>
          <p:nvPr/>
        </p:nvSpPr>
        <p:spPr>
          <a:xfrm>
            <a:off x="777240" y="477265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Give me a complete visitor profile — tourist, destination, spending.</a:t>
            </a:r>
          </a:p>
        </p:txBody>
      </p:sp>
      <p:sp>
        <p:nvSpPr>
          <p:cNvPr id="831" name="r831"/>
          <p:cNvSpPr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2" name="t832"/>
          <p:cNvSpPr txBox="1"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833" name="t833"/>
          <p:cNvSpPr txBox="1"/>
          <p:nvPr/>
        </p:nvSpPr>
        <p:spPr>
          <a:xfrm>
            <a:off x="809244" y="2425393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is Visiting?</a:t>
            </a:r>
          </a:p>
        </p:txBody>
      </p:sp>
      <p:sp>
        <p:nvSpPr>
          <p:cNvPr id="834" name="r834"/>
          <p:cNvSpPr/>
          <p:nvPr/>
        </p:nvSpPr>
        <p:spPr>
          <a:xfrm>
            <a:off x="6327648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5" name="t835"/>
          <p:cNvSpPr txBox="1"/>
          <p:nvPr/>
        </p:nvSpPr>
        <p:spPr>
          <a:xfrm>
            <a:off x="777240" y="2712891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nationality?</a:t>
            </a:r>
          </a:p>
        </p:txBody>
      </p:sp>
      <p:sp>
        <p:nvSpPr>
          <p:cNvPr id="836" name="t836"/>
          <p:cNvSpPr txBox="1"/>
          <p:nvPr/>
        </p:nvSpPr>
        <p:spPr>
          <a:xfrm>
            <a:off x="757428" y="2934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tourist type?</a:t>
            </a:r>
          </a:p>
        </p:txBody>
      </p:sp>
      <p:sp>
        <p:nvSpPr>
          <p:cNvPr id="837" name="r837"/>
          <p:cNvSpPr/>
          <p:nvPr/>
        </p:nvSpPr>
        <p:spPr>
          <a:xfrm>
            <a:off x="6327648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8" name="t838"/>
          <p:cNvSpPr txBox="1"/>
          <p:nvPr/>
        </p:nvSpPr>
        <p:spPr>
          <a:xfrm>
            <a:off x="6327648" y="2450592"/>
            <a:ext cx="228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sp>
        <p:nvSpPr>
          <p:cNvPr id="839" name="t839"/>
          <p:cNvSpPr txBox="1"/>
          <p:nvPr/>
        </p:nvSpPr>
        <p:spPr>
          <a:xfrm>
            <a:off x="6647688" y="242316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Overloading or Underserved?</a:t>
            </a:r>
          </a:p>
        </p:txBody>
      </p:sp>
      <p:sp>
        <p:nvSpPr>
          <p:cNvPr id="840" name="r840"/>
          <p:cNvSpPr/>
          <p:nvPr/>
        </p:nvSpPr>
        <p:spPr>
          <a:xfrm>
            <a:off x="6327648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1" name="t841"/>
          <p:cNvSpPr txBox="1"/>
          <p:nvPr/>
        </p:nvSpPr>
        <p:spPr>
          <a:xfrm>
            <a:off x="6647688" y="27706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most visits?</a:t>
            </a:r>
          </a:p>
        </p:txBody>
      </p:sp>
      <p:sp>
        <p:nvSpPr>
          <p:cNvPr id="842" name="t842"/>
          <p:cNvSpPr txBox="1"/>
          <p:nvPr/>
        </p:nvSpPr>
        <p:spPr>
          <a:xfrm>
            <a:off x="6647688" y="300837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3" name="r843"/>
          <p:cNvSpPr/>
          <p:nvPr/>
        </p:nvSpPr>
        <p:spPr>
          <a:xfrm>
            <a:off x="6385560" y="3442716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4" name="t844"/>
          <p:cNvSpPr txBox="1"/>
          <p:nvPr/>
        </p:nvSpPr>
        <p:spPr>
          <a:xfrm>
            <a:off x="6385560" y="3470146"/>
            <a:ext cx="228600" cy="22860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</a:t>
            </a:r>
          </a:p>
        </p:txBody>
      </p:sp>
      <p:sp>
        <p:nvSpPr>
          <p:cNvPr id="845" name="t845"/>
          <p:cNvSpPr txBox="1"/>
          <p:nvPr/>
        </p:nvSpPr>
        <p:spPr>
          <a:xfrm>
            <a:off x="6705600" y="3442716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Does a Visit Look Like?</a:t>
            </a:r>
          </a:p>
        </p:txBody>
      </p:sp>
      <p:sp>
        <p:nvSpPr>
          <p:cNvPr id="846" name="r846"/>
          <p:cNvSpPr/>
          <p:nvPr/>
        </p:nvSpPr>
        <p:spPr>
          <a:xfrm>
            <a:off x="6385560" y="3717036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7" name="t847"/>
          <p:cNvSpPr txBox="1"/>
          <p:nvPr/>
        </p:nvSpPr>
        <p:spPr>
          <a:xfrm>
            <a:off x="6705600" y="3790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is the avg, min, and max spending per destination category?</a:t>
            </a:r>
          </a:p>
        </p:txBody>
      </p:sp>
      <p:sp>
        <p:nvSpPr>
          <p:cNvPr id="848" name="t848"/>
          <p:cNvSpPr txBox="1"/>
          <p:nvPr/>
        </p:nvSpPr>
        <p:spPr>
          <a:xfrm>
            <a:off x="6705600" y="40279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purpose of visit generates the highest average spending?</a:t>
            </a:r>
          </a:p>
        </p:txBody>
      </p:sp>
      <p:sp>
        <p:nvSpPr>
          <p:cNvPr id="849" name="t849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dataset.  Three pillars.  Every concept from today — applied to Philippine tourism.</a:t>
            </a:r>
          </a:p>
        </p:txBody>
      </p:sp>
      <p:sp>
        <p:nvSpPr>
          <p:cNvPr id="3" name="t841">
            <a:extLst>
              <a:ext uri="{FF2B5EF4-FFF2-40B4-BE49-F238E27FC236}">
                <a16:creationId xmlns:a16="http://schemas.microsoft.com/office/drawing/2014/main" id="{3AB65F8A-60A0-9510-6687-14245D67BEC6}"/>
              </a:ext>
            </a:extLst>
          </p:cNvPr>
          <p:cNvSpPr txBox="1"/>
          <p:nvPr/>
        </p:nvSpPr>
        <p:spPr>
          <a:xfrm>
            <a:off x="6647688" y="301752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least visits?</a:t>
            </a:r>
          </a:p>
        </p:txBody>
      </p:sp>
    </p:spTree>
  </p:cSld>
  <p:clrMapOvr>
    <a:masterClrMapping/>
  </p:clrMapOvr>
  <p:transition spd="med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OPEN FORUM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SQLZoo.net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exercises, free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35508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syntax reference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35508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321085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when ready: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3540034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548640" y="3622330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 ·  Subqueries  ·  CTEs  ·  Indexes</a:t>
            </a:r>
            <a:endParaRPr lang="en-US" sz="1300" dirty="0"/>
          </a:p>
        </p:txBody>
      </p:sp>
      <p:sp>
        <p:nvSpPr>
          <p:cNvPr id="30" name="r901">
            <a:extLst>
              <a:ext uri="{FF2B5EF4-FFF2-40B4-BE49-F238E27FC236}">
                <a16:creationId xmlns:a16="http://schemas.microsoft.com/office/drawing/2014/main" id="{A9F0E67C-956C-F188-1107-2C8B791A193F}"/>
              </a:ext>
            </a:extLst>
          </p:cNvPr>
          <p:cNvSpPr/>
          <p:nvPr/>
        </p:nvSpPr>
        <p:spPr>
          <a:xfrm>
            <a:off x="372294" y="4426051"/>
            <a:ext cx="11247120" cy="54864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903">
            <a:extLst>
              <a:ext uri="{FF2B5EF4-FFF2-40B4-BE49-F238E27FC236}">
                <a16:creationId xmlns:a16="http://schemas.microsoft.com/office/drawing/2014/main" id="{EF8A01CF-9D44-C3F0-6D9C-CB94E6F07AA1}"/>
              </a:ext>
            </a:extLst>
          </p:cNvPr>
          <p:cNvSpPr txBox="1"/>
          <p:nvPr/>
        </p:nvSpPr>
        <p:spPr>
          <a:xfrm>
            <a:off x="365760" y="4471771"/>
            <a:ext cx="32004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00C9A7"/>
                </a:solidFill>
                <a:latin typeface="Calibri"/>
              </a:rPr>
              <a:t>📦  </a:t>
            </a:r>
            <a:r>
              <a:rPr lang="en-US" sz="1300" b="1" i="0" dirty="0">
                <a:solidFill>
                  <a:srgbClr val="00C9A7"/>
                </a:solidFill>
                <a:latin typeface="Calibri"/>
              </a:rPr>
              <a:t>Today's materials:</a:t>
            </a:r>
          </a:p>
        </p:txBody>
      </p:sp>
      <p:sp>
        <p:nvSpPr>
          <p:cNvPr id="34" name="t904">
            <a:extLst>
              <a:ext uri="{FF2B5EF4-FFF2-40B4-BE49-F238E27FC236}">
                <a16:creationId xmlns:a16="http://schemas.microsoft.com/office/drawing/2014/main" id="{9EF1D3A2-A5DD-69CB-E7E1-F8694ADB9D30}"/>
              </a:ext>
            </a:extLst>
          </p:cNvPr>
          <p:cNvSpPr txBox="1"/>
          <p:nvPr/>
        </p:nvSpPr>
        <p:spPr>
          <a:xfrm>
            <a:off x="365760" y="4746091"/>
            <a:ext cx="105156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0" i="0" dirty="0">
                <a:solidFill>
                  <a:srgbClr val="FFFFFF"/>
                </a:solidFill>
                <a:latin typeface="Courier New"/>
              </a:rPr>
              <a:t>github.com/rachellvinculado/sql-seminar-nsm2026</a:t>
            </a: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0FD91189-9F0A-6968-2160-A6E9080E9F69}"/>
              </a:ext>
            </a:extLst>
          </p:cNvPr>
          <p:cNvSpPr txBox="1"/>
          <p:nvPr/>
        </p:nvSpPr>
        <p:spPr>
          <a:xfrm>
            <a:off x="6903720" y="160542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SQLBolt</a:t>
            </a:r>
            <a:endParaRPr lang="en-US" sz="12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A6C3897B-20D0-E63B-AA24-A1A133B3FD56}"/>
              </a:ext>
            </a:extLst>
          </p:cNvPr>
          <p:cNvSpPr txBox="1"/>
          <p:nvPr/>
        </p:nvSpPr>
        <p:spPr>
          <a:xfrm>
            <a:off x="9326880" y="162371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Interactive, no account needed</a:t>
            </a:r>
            <a:endParaRPr lang="en-US" sz="11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7470B74-E405-5F14-525C-EE5B6D07755D}"/>
              </a:ext>
            </a:extLst>
          </p:cNvPr>
          <p:cNvSpPr txBox="1"/>
          <p:nvPr/>
        </p:nvSpPr>
        <p:spPr>
          <a:xfrm>
            <a:off x="690372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 SQL</a:t>
            </a:r>
            <a:endParaRPr lang="en-US" sz="120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11C4A62-0661-E158-A7A5-154F09DFE0AE}"/>
              </a:ext>
            </a:extLst>
          </p:cNvPr>
          <p:cNvSpPr txBox="1"/>
          <p:nvPr/>
        </p:nvSpPr>
        <p:spPr>
          <a:xfrm>
            <a:off x="9326880" y="2358201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beginner-friendly, self-paced</a:t>
            </a:r>
            <a:endParaRPr lang="en-US" sz="1100" dirty="0"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17040</TotalTime>
  <Words>2842</Words>
  <Application>Microsoft Office PowerPoint</Application>
  <PresentationFormat>Widescreen</PresentationFormat>
  <Paragraphs>735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Rachell Batucan</cp:lastModifiedBy>
  <cp:revision>116</cp:revision>
  <dcterms:created xsi:type="dcterms:W3CDTF">2026-09-28T19:30:56Z</dcterms:created>
  <dcterms:modified xsi:type="dcterms:W3CDTF">2026-10-19T20:39:05Z</dcterms:modified>
</cp:coreProperties>
</file>