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84" r:id="rId15"/>
    <p:sldId id="301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69221" autoAdjust="0"/>
  </p:normalViewPr>
  <p:slideViewPr>
    <p:cSldViewPr snapToGrid="0" snapToObjects="1">
      <p:cViewPr varScale="1">
        <p:scale>
          <a:sx n="76" d="100"/>
          <a:sy n="76" d="100"/>
        </p:scale>
        <p:origin x="1722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27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052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2283-EDDD-F7B1-974E-62A86B9F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614A0-DE0A-D29B-7C6A-270CE95A6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7548D-5A78-FA3E-5DAD-CAE5EC0D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0DC1A-230B-870E-10BC-A54206BE6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578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658368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1225296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1792224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2359152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2926080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3493008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059936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4626864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5193792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760720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6327648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6894576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7461504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8028432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8595360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9162288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9729216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10296144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10863072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11430000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11996928" y="9144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91440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658368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1225296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1792224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2359152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2926080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3493008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4059936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4626864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5193792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5760720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Shape 33"/>
          <p:cNvSpPr/>
          <p:nvPr/>
        </p:nvSpPr>
        <p:spPr>
          <a:xfrm>
            <a:off x="6327648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6" name="Shape 34"/>
          <p:cNvSpPr/>
          <p:nvPr/>
        </p:nvSpPr>
        <p:spPr>
          <a:xfrm>
            <a:off x="6894576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Shape 35"/>
          <p:cNvSpPr/>
          <p:nvPr/>
        </p:nvSpPr>
        <p:spPr>
          <a:xfrm>
            <a:off x="7461504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Shape 36"/>
          <p:cNvSpPr/>
          <p:nvPr/>
        </p:nvSpPr>
        <p:spPr>
          <a:xfrm>
            <a:off x="8028432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Shape 37"/>
          <p:cNvSpPr/>
          <p:nvPr/>
        </p:nvSpPr>
        <p:spPr>
          <a:xfrm>
            <a:off x="8595360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Shape 38"/>
          <p:cNvSpPr/>
          <p:nvPr/>
        </p:nvSpPr>
        <p:spPr>
          <a:xfrm>
            <a:off x="9162288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1" name="Shape 39"/>
          <p:cNvSpPr/>
          <p:nvPr/>
        </p:nvSpPr>
        <p:spPr>
          <a:xfrm>
            <a:off x="9729216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2" name="Shape 40"/>
          <p:cNvSpPr/>
          <p:nvPr/>
        </p:nvSpPr>
        <p:spPr>
          <a:xfrm>
            <a:off x="10296144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Shape 41"/>
          <p:cNvSpPr/>
          <p:nvPr/>
        </p:nvSpPr>
        <p:spPr>
          <a:xfrm>
            <a:off x="10863072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11430000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5" name="Shape 43"/>
          <p:cNvSpPr/>
          <p:nvPr/>
        </p:nvSpPr>
        <p:spPr>
          <a:xfrm>
            <a:off x="11996928" y="66751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6" name="Shape 44"/>
          <p:cNvSpPr/>
          <p:nvPr/>
        </p:nvSpPr>
        <p:spPr>
          <a:xfrm>
            <a:off x="91440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Shape 45"/>
          <p:cNvSpPr/>
          <p:nvPr/>
        </p:nvSpPr>
        <p:spPr>
          <a:xfrm>
            <a:off x="658368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8" name="Shape 46"/>
          <p:cNvSpPr/>
          <p:nvPr/>
        </p:nvSpPr>
        <p:spPr>
          <a:xfrm>
            <a:off x="1225296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9" name="Shape 47"/>
          <p:cNvSpPr/>
          <p:nvPr/>
        </p:nvSpPr>
        <p:spPr>
          <a:xfrm>
            <a:off x="1792224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0" name="Shape 48"/>
          <p:cNvSpPr/>
          <p:nvPr/>
        </p:nvSpPr>
        <p:spPr>
          <a:xfrm>
            <a:off x="2359152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1" name="Shape 49"/>
          <p:cNvSpPr/>
          <p:nvPr/>
        </p:nvSpPr>
        <p:spPr>
          <a:xfrm>
            <a:off x="2926080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2" name="Shape 50"/>
          <p:cNvSpPr/>
          <p:nvPr/>
        </p:nvSpPr>
        <p:spPr>
          <a:xfrm>
            <a:off x="3493008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3" name="Shape 51"/>
          <p:cNvSpPr/>
          <p:nvPr/>
        </p:nvSpPr>
        <p:spPr>
          <a:xfrm>
            <a:off x="4059936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4" name="Shape 52"/>
          <p:cNvSpPr/>
          <p:nvPr/>
        </p:nvSpPr>
        <p:spPr>
          <a:xfrm>
            <a:off x="4626864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Shape 53"/>
          <p:cNvSpPr/>
          <p:nvPr/>
        </p:nvSpPr>
        <p:spPr>
          <a:xfrm>
            <a:off x="5193792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6" name="Shape 54"/>
          <p:cNvSpPr/>
          <p:nvPr/>
        </p:nvSpPr>
        <p:spPr>
          <a:xfrm>
            <a:off x="5760720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7" name="Shape 55"/>
          <p:cNvSpPr/>
          <p:nvPr/>
        </p:nvSpPr>
        <p:spPr>
          <a:xfrm>
            <a:off x="6327648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8" name="Shape 56"/>
          <p:cNvSpPr/>
          <p:nvPr/>
        </p:nvSpPr>
        <p:spPr>
          <a:xfrm>
            <a:off x="6894576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9" name="Shape 57"/>
          <p:cNvSpPr/>
          <p:nvPr/>
        </p:nvSpPr>
        <p:spPr>
          <a:xfrm>
            <a:off x="7461504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0" name="Shape 58"/>
          <p:cNvSpPr/>
          <p:nvPr/>
        </p:nvSpPr>
        <p:spPr>
          <a:xfrm>
            <a:off x="8028432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1" name="Shape 59"/>
          <p:cNvSpPr/>
          <p:nvPr/>
        </p:nvSpPr>
        <p:spPr>
          <a:xfrm>
            <a:off x="8595360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2" name="Shape 60"/>
          <p:cNvSpPr/>
          <p:nvPr/>
        </p:nvSpPr>
        <p:spPr>
          <a:xfrm>
            <a:off x="9162288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3" name="Shape 61"/>
          <p:cNvSpPr/>
          <p:nvPr/>
        </p:nvSpPr>
        <p:spPr>
          <a:xfrm>
            <a:off x="9729216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4" name="Shape 62"/>
          <p:cNvSpPr/>
          <p:nvPr/>
        </p:nvSpPr>
        <p:spPr>
          <a:xfrm>
            <a:off x="10296144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5" name="Shape 63"/>
          <p:cNvSpPr/>
          <p:nvPr/>
        </p:nvSpPr>
        <p:spPr>
          <a:xfrm>
            <a:off x="10863072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6" name="Shape 64"/>
          <p:cNvSpPr/>
          <p:nvPr/>
        </p:nvSpPr>
        <p:spPr>
          <a:xfrm>
            <a:off x="11430000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7" name="Shape 65"/>
          <p:cNvSpPr/>
          <p:nvPr/>
        </p:nvSpPr>
        <p:spPr>
          <a:xfrm>
            <a:off x="11996928" y="124358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8" name="Shape 66"/>
          <p:cNvSpPr/>
          <p:nvPr/>
        </p:nvSpPr>
        <p:spPr>
          <a:xfrm>
            <a:off x="91440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9" name="Shape 67"/>
          <p:cNvSpPr/>
          <p:nvPr/>
        </p:nvSpPr>
        <p:spPr>
          <a:xfrm>
            <a:off x="658368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0" name="Shape 68"/>
          <p:cNvSpPr/>
          <p:nvPr/>
        </p:nvSpPr>
        <p:spPr>
          <a:xfrm>
            <a:off x="1225296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1" name="Shape 69"/>
          <p:cNvSpPr/>
          <p:nvPr/>
        </p:nvSpPr>
        <p:spPr>
          <a:xfrm>
            <a:off x="1792224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2" name="Shape 70"/>
          <p:cNvSpPr/>
          <p:nvPr/>
        </p:nvSpPr>
        <p:spPr>
          <a:xfrm>
            <a:off x="2359152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3" name="Shape 71"/>
          <p:cNvSpPr/>
          <p:nvPr/>
        </p:nvSpPr>
        <p:spPr>
          <a:xfrm>
            <a:off x="2926080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4" name="Shape 72"/>
          <p:cNvSpPr/>
          <p:nvPr/>
        </p:nvSpPr>
        <p:spPr>
          <a:xfrm>
            <a:off x="3493008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5" name="Shape 73"/>
          <p:cNvSpPr/>
          <p:nvPr/>
        </p:nvSpPr>
        <p:spPr>
          <a:xfrm>
            <a:off x="4059936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6" name="Shape 74"/>
          <p:cNvSpPr/>
          <p:nvPr/>
        </p:nvSpPr>
        <p:spPr>
          <a:xfrm>
            <a:off x="4626864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7" name="Shape 75"/>
          <p:cNvSpPr/>
          <p:nvPr/>
        </p:nvSpPr>
        <p:spPr>
          <a:xfrm>
            <a:off x="5193792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8" name="Shape 76"/>
          <p:cNvSpPr/>
          <p:nvPr/>
        </p:nvSpPr>
        <p:spPr>
          <a:xfrm>
            <a:off x="5760720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9" name="Shape 77"/>
          <p:cNvSpPr/>
          <p:nvPr/>
        </p:nvSpPr>
        <p:spPr>
          <a:xfrm>
            <a:off x="6327648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0" name="Shape 78"/>
          <p:cNvSpPr/>
          <p:nvPr/>
        </p:nvSpPr>
        <p:spPr>
          <a:xfrm>
            <a:off x="6894576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1" name="Shape 79"/>
          <p:cNvSpPr/>
          <p:nvPr/>
        </p:nvSpPr>
        <p:spPr>
          <a:xfrm>
            <a:off x="7461504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2" name="Shape 80"/>
          <p:cNvSpPr/>
          <p:nvPr/>
        </p:nvSpPr>
        <p:spPr>
          <a:xfrm>
            <a:off x="8028432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3" name="Shape 81"/>
          <p:cNvSpPr/>
          <p:nvPr/>
        </p:nvSpPr>
        <p:spPr>
          <a:xfrm>
            <a:off x="8595360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4" name="Shape 82"/>
          <p:cNvSpPr/>
          <p:nvPr/>
        </p:nvSpPr>
        <p:spPr>
          <a:xfrm>
            <a:off x="9162288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5" name="Shape 83"/>
          <p:cNvSpPr/>
          <p:nvPr/>
        </p:nvSpPr>
        <p:spPr>
          <a:xfrm>
            <a:off x="9729216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6" name="Shape 84"/>
          <p:cNvSpPr/>
          <p:nvPr/>
        </p:nvSpPr>
        <p:spPr>
          <a:xfrm>
            <a:off x="10296144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7" name="Shape 85"/>
          <p:cNvSpPr/>
          <p:nvPr/>
        </p:nvSpPr>
        <p:spPr>
          <a:xfrm>
            <a:off x="10863072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8" name="Shape 86"/>
          <p:cNvSpPr/>
          <p:nvPr/>
        </p:nvSpPr>
        <p:spPr>
          <a:xfrm>
            <a:off x="11430000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9" name="Shape 87"/>
          <p:cNvSpPr/>
          <p:nvPr/>
        </p:nvSpPr>
        <p:spPr>
          <a:xfrm>
            <a:off x="11996928" y="181965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0" name="Shape 88"/>
          <p:cNvSpPr/>
          <p:nvPr/>
        </p:nvSpPr>
        <p:spPr>
          <a:xfrm>
            <a:off x="91440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1" name="Shape 89"/>
          <p:cNvSpPr/>
          <p:nvPr/>
        </p:nvSpPr>
        <p:spPr>
          <a:xfrm>
            <a:off x="658368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2" name="Shape 90"/>
          <p:cNvSpPr/>
          <p:nvPr/>
        </p:nvSpPr>
        <p:spPr>
          <a:xfrm>
            <a:off x="1225296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3" name="Shape 91"/>
          <p:cNvSpPr/>
          <p:nvPr/>
        </p:nvSpPr>
        <p:spPr>
          <a:xfrm>
            <a:off x="1792224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4" name="Shape 92"/>
          <p:cNvSpPr/>
          <p:nvPr/>
        </p:nvSpPr>
        <p:spPr>
          <a:xfrm>
            <a:off x="2359152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5" name="Shape 93"/>
          <p:cNvSpPr/>
          <p:nvPr/>
        </p:nvSpPr>
        <p:spPr>
          <a:xfrm>
            <a:off x="2926080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6" name="Shape 94"/>
          <p:cNvSpPr/>
          <p:nvPr/>
        </p:nvSpPr>
        <p:spPr>
          <a:xfrm>
            <a:off x="3493008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7" name="Shape 95"/>
          <p:cNvSpPr/>
          <p:nvPr/>
        </p:nvSpPr>
        <p:spPr>
          <a:xfrm>
            <a:off x="4059936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8" name="Shape 96"/>
          <p:cNvSpPr/>
          <p:nvPr/>
        </p:nvSpPr>
        <p:spPr>
          <a:xfrm>
            <a:off x="4626864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9" name="Shape 97"/>
          <p:cNvSpPr/>
          <p:nvPr/>
        </p:nvSpPr>
        <p:spPr>
          <a:xfrm>
            <a:off x="5193792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0" name="Shape 98"/>
          <p:cNvSpPr/>
          <p:nvPr/>
        </p:nvSpPr>
        <p:spPr>
          <a:xfrm>
            <a:off x="5760720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1" name="Shape 99"/>
          <p:cNvSpPr/>
          <p:nvPr/>
        </p:nvSpPr>
        <p:spPr>
          <a:xfrm>
            <a:off x="6327648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2" name="Shape 100"/>
          <p:cNvSpPr/>
          <p:nvPr/>
        </p:nvSpPr>
        <p:spPr>
          <a:xfrm>
            <a:off x="6894576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3" name="Shape 101"/>
          <p:cNvSpPr/>
          <p:nvPr/>
        </p:nvSpPr>
        <p:spPr>
          <a:xfrm>
            <a:off x="7461504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4" name="Shape 102"/>
          <p:cNvSpPr/>
          <p:nvPr/>
        </p:nvSpPr>
        <p:spPr>
          <a:xfrm>
            <a:off x="8028432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5" name="Shape 103"/>
          <p:cNvSpPr/>
          <p:nvPr/>
        </p:nvSpPr>
        <p:spPr>
          <a:xfrm>
            <a:off x="8595360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6" name="Shape 104"/>
          <p:cNvSpPr/>
          <p:nvPr/>
        </p:nvSpPr>
        <p:spPr>
          <a:xfrm>
            <a:off x="9162288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7" name="Shape 105"/>
          <p:cNvSpPr/>
          <p:nvPr/>
        </p:nvSpPr>
        <p:spPr>
          <a:xfrm>
            <a:off x="9729216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8" name="Shape 106"/>
          <p:cNvSpPr/>
          <p:nvPr/>
        </p:nvSpPr>
        <p:spPr>
          <a:xfrm>
            <a:off x="10296144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9" name="Shape 107"/>
          <p:cNvSpPr/>
          <p:nvPr/>
        </p:nvSpPr>
        <p:spPr>
          <a:xfrm>
            <a:off x="10863072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0" name="Shape 108"/>
          <p:cNvSpPr/>
          <p:nvPr/>
        </p:nvSpPr>
        <p:spPr>
          <a:xfrm>
            <a:off x="11430000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1" name="Shape 109"/>
          <p:cNvSpPr/>
          <p:nvPr/>
        </p:nvSpPr>
        <p:spPr>
          <a:xfrm>
            <a:off x="11996928" y="239572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2" name="Shape 110"/>
          <p:cNvSpPr/>
          <p:nvPr/>
        </p:nvSpPr>
        <p:spPr>
          <a:xfrm>
            <a:off x="91440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3" name="Shape 111"/>
          <p:cNvSpPr/>
          <p:nvPr/>
        </p:nvSpPr>
        <p:spPr>
          <a:xfrm>
            <a:off x="658368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4" name="Shape 112"/>
          <p:cNvSpPr/>
          <p:nvPr/>
        </p:nvSpPr>
        <p:spPr>
          <a:xfrm>
            <a:off x="1225296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5" name="Shape 113"/>
          <p:cNvSpPr/>
          <p:nvPr/>
        </p:nvSpPr>
        <p:spPr>
          <a:xfrm>
            <a:off x="1792224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6" name="Shape 114"/>
          <p:cNvSpPr/>
          <p:nvPr/>
        </p:nvSpPr>
        <p:spPr>
          <a:xfrm>
            <a:off x="2359152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7" name="Shape 115"/>
          <p:cNvSpPr/>
          <p:nvPr/>
        </p:nvSpPr>
        <p:spPr>
          <a:xfrm>
            <a:off x="2926080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8" name="Shape 116"/>
          <p:cNvSpPr/>
          <p:nvPr/>
        </p:nvSpPr>
        <p:spPr>
          <a:xfrm>
            <a:off x="3493008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9" name="Shape 117"/>
          <p:cNvSpPr/>
          <p:nvPr/>
        </p:nvSpPr>
        <p:spPr>
          <a:xfrm>
            <a:off x="4059936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0" name="Shape 118"/>
          <p:cNvSpPr/>
          <p:nvPr/>
        </p:nvSpPr>
        <p:spPr>
          <a:xfrm>
            <a:off x="4626864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1" name="Shape 119"/>
          <p:cNvSpPr/>
          <p:nvPr/>
        </p:nvSpPr>
        <p:spPr>
          <a:xfrm>
            <a:off x="5193792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2" name="Shape 120"/>
          <p:cNvSpPr/>
          <p:nvPr/>
        </p:nvSpPr>
        <p:spPr>
          <a:xfrm>
            <a:off x="5760720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3" name="Shape 121"/>
          <p:cNvSpPr/>
          <p:nvPr/>
        </p:nvSpPr>
        <p:spPr>
          <a:xfrm>
            <a:off x="6327648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4" name="Shape 122"/>
          <p:cNvSpPr/>
          <p:nvPr/>
        </p:nvSpPr>
        <p:spPr>
          <a:xfrm>
            <a:off x="6894576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5" name="Shape 123"/>
          <p:cNvSpPr/>
          <p:nvPr/>
        </p:nvSpPr>
        <p:spPr>
          <a:xfrm>
            <a:off x="7461504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6" name="Shape 124"/>
          <p:cNvSpPr/>
          <p:nvPr/>
        </p:nvSpPr>
        <p:spPr>
          <a:xfrm>
            <a:off x="8028432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7" name="Shape 125"/>
          <p:cNvSpPr/>
          <p:nvPr/>
        </p:nvSpPr>
        <p:spPr>
          <a:xfrm>
            <a:off x="8595360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8" name="Shape 126"/>
          <p:cNvSpPr/>
          <p:nvPr/>
        </p:nvSpPr>
        <p:spPr>
          <a:xfrm>
            <a:off x="9162288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9" name="Shape 127"/>
          <p:cNvSpPr/>
          <p:nvPr/>
        </p:nvSpPr>
        <p:spPr>
          <a:xfrm>
            <a:off x="9729216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0" name="Shape 128"/>
          <p:cNvSpPr/>
          <p:nvPr/>
        </p:nvSpPr>
        <p:spPr>
          <a:xfrm>
            <a:off x="10296144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1" name="Shape 129"/>
          <p:cNvSpPr/>
          <p:nvPr/>
        </p:nvSpPr>
        <p:spPr>
          <a:xfrm>
            <a:off x="10863072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2" name="Shape 130"/>
          <p:cNvSpPr/>
          <p:nvPr/>
        </p:nvSpPr>
        <p:spPr>
          <a:xfrm>
            <a:off x="11430000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3" name="Shape 131"/>
          <p:cNvSpPr/>
          <p:nvPr/>
        </p:nvSpPr>
        <p:spPr>
          <a:xfrm>
            <a:off x="11996928" y="297180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4" name="Shape 132"/>
          <p:cNvSpPr/>
          <p:nvPr/>
        </p:nvSpPr>
        <p:spPr>
          <a:xfrm>
            <a:off x="91440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5" name="Shape 133"/>
          <p:cNvSpPr/>
          <p:nvPr/>
        </p:nvSpPr>
        <p:spPr>
          <a:xfrm>
            <a:off x="658368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6" name="Shape 134"/>
          <p:cNvSpPr/>
          <p:nvPr/>
        </p:nvSpPr>
        <p:spPr>
          <a:xfrm>
            <a:off x="1225296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7" name="Shape 135"/>
          <p:cNvSpPr/>
          <p:nvPr/>
        </p:nvSpPr>
        <p:spPr>
          <a:xfrm>
            <a:off x="1792224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8" name="Shape 136"/>
          <p:cNvSpPr/>
          <p:nvPr/>
        </p:nvSpPr>
        <p:spPr>
          <a:xfrm>
            <a:off x="2359152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9" name="Shape 137"/>
          <p:cNvSpPr/>
          <p:nvPr/>
        </p:nvSpPr>
        <p:spPr>
          <a:xfrm>
            <a:off x="2926080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0" name="Shape 138"/>
          <p:cNvSpPr/>
          <p:nvPr/>
        </p:nvSpPr>
        <p:spPr>
          <a:xfrm>
            <a:off x="3493008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1" name="Shape 139"/>
          <p:cNvSpPr/>
          <p:nvPr/>
        </p:nvSpPr>
        <p:spPr>
          <a:xfrm>
            <a:off x="4059936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2" name="Shape 140"/>
          <p:cNvSpPr/>
          <p:nvPr/>
        </p:nvSpPr>
        <p:spPr>
          <a:xfrm>
            <a:off x="4626864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3" name="Shape 141"/>
          <p:cNvSpPr/>
          <p:nvPr/>
        </p:nvSpPr>
        <p:spPr>
          <a:xfrm>
            <a:off x="5193792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4" name="Shape 142"/>
          <p:cNvSpPr/>
          <p:nvPr/>
        </p:nvSpPr>
        <p:spPr>
          <a:xfrm>
            <a:off x="5760720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5" name="Shape 143"/>
          <p:cNvSpPr/>
          <p:nvPr/>
        </p:nvSpPr>
        <p:spPr>
          <a:xfrm>
            <a:off x="6327648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6" name="Shape 144"/>
          <p:cNvSpPr/>
          <p:nvPr/>
        </p:nvSpPr>
        <p:spPr>
          <a:xfrm>
            <a:off x="6894576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7" name="Shape 145"/>
          <p:cNvSpPr/>
          <p:nvPr/>
        </p:nvSpPr>
        <p:spPr>
          <a:xfrm>
            <a:off x="7461504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8" name="Shape 146"/>
          <p:cNvSpPr/>
          <p:nvPr/>
        </p:nvSpPr>
        <p:spPr>
          <a:xfrm>
            <a:off x="8028432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9" name="Shape 147"/>
          <p:cNvSpPr/>
          <p:nvPr/>
        </p:nvSpPr>
        <p:spPr>
          <a:xfrm>
            <a:off x="8595360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0" name="Shape 148"/>
          <p:cNvSpPr/>
          <p:nvPr/>
        </p:nvSpPr>
        <p:spPr>
          <a:xfrm>
            <a:off x="9162288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1" name="Shape 149"/>
          <p:cNvSpPr/>
          <p:nvPr/>
        </p:nvSpPr>
        <p:spPr>
          <a:xfrm>
            <a:off x="9729216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2" name="Shape 150"/>
          <p:cNvSpPr/>
          <p:nvPr/>
        </p:nvSpPr>
        <p:spPr>
          <a:xfrm>
            <a:off x="10296144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3" name="Shape 151"/>
          <p:cNvSpPr/>
          <p:nvPr/>
        </p:nvSpPr>
        <p:spPr>
          <a:xfrm>
            <a:off x="10863072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4" name="Shape 152"/>
          <p:cNvSpPr/>
          <p:nvPr/>
        </p:nvSpPr>
        <p:spPr>
          <a:xfrm>
            <a:off x="11430000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5" name="Shape 153"/>
          <p:cNvSpPr/>
          <p:nvPr/>
        </p:nvSpPr>
        <p:spPr>
          <a:xfrm>
            <a:off x="11996928" y="354787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6" name="Shape 154"/>
          <p:cNvSpPr/>
          <p:nvPr/>
        </p:nvSpPr>
        <p:spPr>
          <a:xfrm>
            <a:off x="91440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7" name="Shape 155"/>
          <p:cNvSpPr/>
          <p:nvPr/>
        </p:nvSpPr>
        <p:spPr>
          <a:xfrm>
            <a:off x="658368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8" name="Shape 156"/>
          <p:cNvSpPr/>
          <p:nvPr/>
        </p:nvSpPr>
        <p:spPr>
          <a:xfrm>
            <a:off x="1225296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9" name="Shape 157"/>
          <p:cNvSpPr/>
          <p:nvPr/>
        </p:nvSpPr>
        <p:spPr>
          <a:xfrm>
            <a:off x="1792224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0" name="Shape 158"/>
          <p:cNvSpPr/>
          <p:nvPr/>
        </p:nvSpPr>
        <p:spPr>
          <a:xfrm>
            <a:off x="2359152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1" name="Shape 159"/>
          <p:cNvSpPr/>
          <p:nvPr/>
        </p:nvSpPr>
        <p:spPr>
          <a:xfrm>
            <a:off x="2926080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2" name="Shape 160"/>
          <p:cNvSpPr/>
          <p:nvPr/>
        </p:nvSpPr>
        <p:spPr>
          <a:xfrm>
            <a:off x="3493008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3" name="Shape 161"/>
          <p:cNvSpPr/>
          <p:nvPr/>
        </p:nvSpPr>
        <p:spPr>
          <a:xfrm>
            <a:off x="4059936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4" name="Shape 162"/>
          <p:cNvSpPr/>
          <p:nvPr/>
        </p:nvSpPr>
        <p:spPr>
          <a:xfrm>
            <a:off x="4626864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5" name="Shape 163"/>
          <p:cNvSpPr/>
          <p:nvPr/>
        </p:nvSpPr>
        <p:spPr>
          <a:xfrm>
            <a:off x="5193792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6" name="Shape 164"/>
          <p:cNvSpPr/>
          <p:nvPr/>
        </p:nvSpPr>
        <p:spPr>
          <a:xfrm>
            <a:off x="5760720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7" name="Shape 165"/>
          <p:cNvSpPr/>
          <p:nvPr/>
        </p:nvSpPr>
        <p:spPr>
          <a:xfrm>
            <a:off x="6327648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8" name="Shape 166"/>
          <p:cNvSpPr/>
          <p:nvPr/>
        </p:nvSpPr>
        <p:spPr>
          <a:xfrm>
            <a:off x="6894576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9" name="Shape 167"/>
          <p:cNvSpPr/>
          <p:nvPr/>
        </p:nvSpPr>
        <p:spPr>
          <a:xfrm>
            <a:off x="7461504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0" name="Shape 168"/>
          <p:cNvSpPr/>
          <p:nvPr/>
        </p:nvSpPr>
        <p:spPr>
          <a:xfrm>
            <a:off x="8028432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1" name="Shape 169"/>
          <p:cNvSpPr/>
          <p:nvPr/>
        </p:nvSpPr>
        <p:spPr>
          <a:xfrm>
            <a:off x="8595360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2" name="Shape 170"/>
          <p:cNvSpPr/>
          <p:nvPr/>
        </p:nvSpPr>
        <p:spPr>
          <a:xfrm>
            <a:off x="9162288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3" name="Shape 171"/>
          <p:cNvSpPr/>
          <p:nvPr/>
        </p:nvSpPr>
        <p:spPr>
          <a:xfrm>
            <a:off x="9729216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4" name="Shape 172"/>
          <p:cNvSpPr/>
          <p:nvPr/>
        </p:nvSpPr>
        <p:spPr>
          <a:xfrm>
            <a:off x="10296144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5" name="Shape 173"/>
          <p:cNvSpPr/>
          <p:nvPr/>
        </p:nvSpPr>
        <p:spPr>
          <a:xfrm>
            <a:off x="10863072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6" name="Shape 174"/>
          <p:cNvSpPr/>
          <p:nvPr/>
        </p:nvSpPr>
        <p:spPr>
          <a:xfrm>
            <a:off x="11430000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7" name="Shape 175"/>
          <p:cNvSpPr/>
          <p:nvPr/>
        </p:nvSpPr>
        <p:spPr>
          <a:xfrm>
            <a:off x="11996928" y="4123944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8" name="Shape 176"/>
          <p:cNvSpPr/>
          <p:nvPr/>
        </p:nvSpPr>
        <p:spPr>
          <a:xfrm>
            <a:off x="91440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9" name="Shape 177"/>
          <p:cNvSpPr/>
          <p:nvPr/>
        </p:nvSpPr>
        <p:spPr>
          <a:xfrm>
            <a:off x="658368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0" name="Shape 178"/>
          <p:cNvSpPr/>
          <p:nvPr/>
        </p:nvSpPr>
        <p:spPr>
          <a:xfrm>
            <a:off x="1225296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1" name="Shape 179"/>
          <p:cNvSpPr/>
          <p:nvPr/>
        </p:nvSpPr>
        <p:spPr>
          <a:xfrm>
            <a:off x="1792224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2" name="Shape 180"/>
          <p:cNvSpPr/>
          <p:nvPr/>
        </p:nvSpPr>
        <p:spPr>
          <a:xfrm>
            <a:off x="2359152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3" name="Shape 181"/>
          <p:cNvSpPr/>
          <p:nvPr/>
        </p:nvSpPr>
        <p:spPr>
          <a:xfrm>
            <a:off x="2926080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4" name="Shape 182"/>
          <p:cNvSpPr/>
          <p:nvPr/>
        </p:nvSpPr>
        <p:spPr>
          <a:xfrm>
            <a:off x="3493008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5" name="Shape 183"/>
          <p:cNvSpPr/>
          <p:nvPr/>
        </p:nvSpPr>
        <p:spPr>
          <a:xfrm>
            <a:off x="4059936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6" name="Shape 184"/>
          <p:cNvSpPr/>
          <p:nvPr/>
        </p:nvSpPr>
        <p:spPr>
          <a:xfrm>
            <a:off x="4626864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7" name="Shape 185"/>
          <p:cNvSpPr/>
          <p:nvPr/>
        </p:nvSpPr>
        <p:spPr>
          <a:xfrm>
            <a:off x="5193792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8" name="Shape 186"/>
          <p:cNvSpPr/>
          <p:nvPr/>
        </p:nvSpPr>
        <p:spPr>
          <a:xfrm>
            <a:off x="5760720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9" name="Shape 187"/>
          <p:cNvSpPr/>
          <p:nvPr/>
        </p:nvSpPr>
        <p:spPr>
          <a:xfrm>
            <a:off x="6327648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0" name="Shape 188"/>
          <p:cNvSpPr/>
          <p:nvPr/>
        </p:nvSpPr>
        <p:spPr>
          <a:xfrm>
            <a:off x="6894576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1" name="Shape 189"/>
          <p:cNvSpPr/>
          <p:nvPr/>
        </p:nvSpPr>
        <p:spPr>
          <a:xfrm>
            <a:off x="7461504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2" name="Shape 190"/>
          <p:cNvSpPr/>
          <p:nvPr/>
        </p:nvSpPr>
        <p:spPr>
          <a:xfrm>
            <a:off x="8028432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3" name="Shape 191"/>
          <p:cNvSpPr/>
          <p:nvPr/>
        </p:nvSpPr>
        <p:spPr>
          <a:xfrm>
            <a:off x="8595360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4" name="Shape 192"/>
          <p:cNvSpPr/>
          <p:nvPr/>
        </p:nvSpPr>
        <p:spPr>
          <a:xfrm>
            <a:off x="9162288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5" name="Shape 193"/>
          <p:cNvSpPr/>
          <p:nvPr/>
        </p:nvSpPr>
        <p:spPr>
          <a:xfrm>
            <a:off x="9729216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6" name="Shape 194"/>
          <p:cNvSpPr/>
          <p:nvPr/>
        </p:nvSpPr>
        <p:spPr>
          <a:xfrm>
            <a:off x="10296144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7" name="Shape 195"/>
          <p:cNvSpPr/>
          <p:nvPr/>
        </p:nvSpPr>
        <p:spPr>
          <a:xfrm>
            <a:off x="10863072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8" name="Shape 196"/>
          <p:cNvSpPr/>
          <p:nvPr/>
        </p:nvSpPr>
        <p:spPr>
          <a:xfrm>
            <a:off x="11430000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9" name="Shape 197"/>
          <p:cNvSpPr/>
          <p:nvPr/>
        </p:nvSpPr>
        <p:spPr>
          <a:xfrm>
            <a:off x="11996928" y="4700016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0" name="Shape 198"/>
          <p:cNvSpPr/>
          <p:nvPr/>
        </p:nvSpPr>
        <p:spPr>
          <a:xfrm>
            <a:off x="91440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1" name="Shape 199"/>
          <p:cNvSpPr/>
          <p:nvPr/>
        </p:nvSpPr>
        <p:spPr>
          <a:xfrm>
            <a:off x="658368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2" name="Shape 200"/>
          <p:cNvSpPr/>
          <p:nvPr/>
        </p:nvSpPr>
        <p:spPr>
          <a:xfrm>
            <a:off x="1225296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3" name="Shape 201"/>
          <p:cNvSpPr/>
          <p:nvPr/>
        </p:nvSpPr>
        <p:spPr>
          <a:xfrm>
            <a:off x="1792224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4" name="Shape 202"/>
          <p:cNvSpPr/>
          <p:nvPr/>
        </p:nvSpPr>
        <p:spPr>
          <a:xfrm>
            <a:off x="2359152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5" name="Shape 203"/>
          <p:cNvSpPr/>
          <p:nvPr/>
        </p:nvSpPr>
        <p:spPr>
          <a:xfrm>
            <a:off x="2926080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6" name="Shape 204"/>
          <p:cNvSpPr/>
          <p:nvPr/>
        </p:nvSpPr>
        <p:spPr>
          <a:xfrm>
            <a:off x="3493008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7" name="Shape 205"/>
          <p:cNvSpPr/>
          <p:nvPr/>
        </p:nvSpPr>
        <p:spPr>
          <a:xfrm>
            <a:off x="4059936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8" name="Shape 206"/>
          <p:cNvSpPr/>
          <p:nvPr/>
        </p:nvSpPr>
        <p:spPr>
          <a:xfrm>
            <a:off x="4626864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9" name="Shape 207"/>
          <p:cNvSpPr/>
          <p:nvPr/>
        </p:nvSpPr>
        <p:spPr>
          <a:xfrm>
            <a:off x="5193792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0" name="Shape 208"/>
          <p:cNvSpPr/>
          <p:nvPr/>
        </p:nvSpPr>
        <p:spPr>
          <a:xfrm>
            <a:off x="5760720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1" name="Shape 209"/>
          <p:cNvSpPr/>
          <p:nvPr/>
        </p:nvSpPr>
        <p:spPr>
          <a:xfrm>
            <a:off x="6327648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2" name="Shape 210"/>
          <p:cNvSpPr/>
          <p:nvPr/>
        </p:nvSpPr>
        <p:spPr>
          <a:xfrm>
            <a:off x="6894576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3" name="Shape 211"/>
          <p:cNvSpPr/>
          <p:nvPr/>
        </p:nvSpPr>
        <p:spPr>
          <a:xfrm>
            <a:off x="7461504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4" name="Shape 212"/>
          <p:cNvSpPr/>
          <p:nvPr/>
        </p:nvSpPr>
        <p:spPr>
          <a:xfrm>
            <a:off x="8028432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5" name="Shape 213"/>
          <p:cNvSpPr/>
          <p:nvPr/>
        </p:nvSpPr>
        <p:spPr>
          <a:xfrm>
            <a:off x="8595360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6" name="Shape 214"/>
          <p:cNvSpPr/>
          <p:nvPr/>
        </p:nvSpPr>
        <p:spPr>
          <a:xfrm>
            <a:off x="9162288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7" name="Shape 215"/>
          <p:cNvSpPr/>
          <p:nvPr/>
        </p:nvSpPr>
        <p:spPr>
          <a:xfrm>
            <a:off x="9729216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8" name="Shape 216"/>
          <p:cNvSpPr/>
          <p:nvPr/>
        </p:nvSpPr>
        <p:spPr>
          <a:xfrm>
            <a:off x="10296144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9" name="Shape 217"/>
          <p:cNvSpPr/>
          <p:nvPr/>
        </p:nvSpPr>
        <p:spPr>
          <a:xfrm>
            <a:off x="10863072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0" name="Shape 218"/>
          <p:cNvSpPr/>
          <p:nvPr/>
        </p:nvSpPr>
        <p:spPr>
          <a:xfrm>
            <a:off x="11430000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1" name="Shape 219"/>
          <p:cNvSpPr/>
          <p:nvPr/>
        </p:nvSpPr>
        <p:spPr>
          <a:xfrm>
            <a:off x="11996928" y="5276088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2" name="Shape 220"/>
          <p:cNvSpPr/>
          <p:nvPr/>
        </p:nvSpPr>
        <p:spPr>
          <a:xfrm>
            <a:off x="91440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3" name="Shape 221"/>
          <p:cNvSpPr/>
          <p:nvPr/>
        </p:nvSpPr>
        <p:spPr>
          <a:xfrm>
            <a:off x="658368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4" name="Shape 222"/>
          <p:cNvSpPr/>
          <p:nvPr/>
        </p:nvSpPr>
        <p:spPr>
          <a:xfrm>
            <a:off x="1225296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5" name="Shape 223"/>
          <p:cNvSpPr/>
          <p:nvPr/>
        </p:nvSpPr>
        <p:spPr>
          <a:xfrm>
            <a:off x="1792224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6" name="Shape 224"/>
          <p:cNvSpPr/>
          <p:nvPr/>
        </p:nvSpPr>
        <p:spPr>
          <a:xfrm>
            <a:off x="2359152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7" name="Shape 225"/>
          <p:cNvSpPr/>
          <p:nvPr/>
        </p:nvSpPr>
        <p:spPr>
          <a:xfrm>
            <a:off x="2926080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8" name="Shape 226"/>
          <p:cNvSpPr/>
          <p:nvPr/>
        </p:nvSpPr>
        <p:spPr>
          <a:xfrm>
            <a:off x="3493008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9" name="Shape 227"/>
          <p:cNvSpPr/>
          <p:nvPr/>
        </p:nvSpPr>
        <p:spPr>
          <a:xfrm>
            <a:off x="4059936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0" name="Shape 228"/>
          <p:cNvSpPr/>
          <p:nvPr/>
        </p:nvSpPr>
        <p:spPr>
          <a:xfrm>
            <a:off x="4626864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1" name="Shape 229"/>
          <p:cNvSpPr/>
          <p:nvPr/>
        </p:nvSpPr>
        <p:spPr>
          <a:xfrm>
            <a:off x="5193792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2" name="Shape 230"/>
          <p:cNvSpPr/>
          <p:nvPr/>
        </p:nvSpPr>
        <p:spPr>
          <a:xfrm>
            <a:off x="5760720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3" name="Shape 231"/>
          <p:cNvSpPr/>
          <p:nvPr/>
        </p:nvSpPr>
        <p:spPr>
          <a:xfrm>
            <a:off x="6327648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4" name="Shape 232"/>
          <p:cNvSpPr/>
          <p:nvPr/>
        </p:nvSpPr>
        <p:spPr>
          <a:xfrm>
            <a:off x="6894576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5" name="Shape 233"/>
          <p:cNvSpPr/>
          <p:nvPr/>
        </p:nvSpPr>
        <p:spPr>
          <a:xfrm>
            <a:off x="7461504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6" name="Shape 234"/>
          <p:cNvSpPr/>
          <p:nvPr/>
        </p:nvSpPr>
        <p:spPr>
          <a:xfrm>
            <a:off x="8028432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7" name="Shape 235"/>
          <p:cNvSpPr/>
          <p:nvPr/>
        </p:nvSpPr>
        <p:spPr>
          <a:xfrm>
            <a:off x="8595360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8" name="Shape 236"/>
          <p:cNvSpPr/>
          <p:nvPr/>
        </p:nvSpPr>
        <p:spPr>
          <a:xfrm>
            <a:off x="9162288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9" name="Shape 237"/>
          <p:cNvSpPr/>
          <p:nvPr/>
        </p:nvSpPr>
        <p:spPr>
          <a:xfrm>
            <a:off x="9729216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0" name="Shape 238"/>
          <p:cNvSpPr/>
          <p:nvPr/>
        </p:nvSpPr>
        <p:spPr>
          <a:xfrm>
            <a:off x="10296144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1" name="Shape 239"/>
          <p:cNvSpPr/>
          <p:nvPr/>
        </p:nvSpPr>
        <p:spPr>
          <a:xfrm>
            <a:off x="10863072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2" name="Shape 240"/>
          <p:cNvSpPr/>
          <p:nvPr/>
        </p:nvSpPr>
        <p:spPr>
          <a:xfrm>
            <a:off x="11430000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3" name="Shape 241"/>
          <p:cNvSpPr/>
          <p:nvPr/>
        </p:nvSpPr>
        <p:spPr>
          <a:xfrm>
            <a:off x="11996928" y="5852160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4" name="Shape 242"/>
          <p:cNvSpPr/>
          <p:nvPr/>
        </p:nvSpPr>
        <p:spPr>
          <a:xfrm>
            <a:off x="91440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5" name="Shape 243"/>
          <p:cNvSpPr/>
          <p:nvPr/>
        </p:nvSpPr>
        <p:spPr>
          <a:xfrm>
            <a:off x="658368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6" name="Shape 244"/>
          <p:cNvSpPr/>
          <p:nvPr/>
        </p:nvSpPr>
        <p:spPr>
          <a:xfrm>
            <a:off x="1225296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7" name="Shape 245"/>
          <p:cNvSpPr/>
          <p:nvPr/>
        </p:nvSpPr>
        <p:spPr>
          <a:xfrm>
            <a:off x="1792224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8" name="Shape 246"/>
          <p:cNvSpPr/>
          <p:nvPr/>
        </p:nvSpPr>
        <p:spPr>
          <a:xfrm>
            <a:off x="2359152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9" name="Shape 247"/>
          <p:cNvSpPr/>
          <p:nvPr/>
        </p:nvSpPr>
        <p:spPr>
          <a:xfrm>
            <a:off x="2926080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0" name="Shape 248"/>
          <p:cNvSpPr/>
          <p:nvPr/>
        </p:nvSpPr>
        <p:spPr>
          <a:xfrm>
            <a:off x="3493008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1" name="Shape 249"/>
          <p:cNvSpPr/>
          <p:nvPr/>
        </p:nvSpPr>
        <p:spPr>
          <a:xfrm>
            <a:off x="4059936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2" name="Shape 250"/>
          <p:cNvSpPr/>
          <p:nvPr/>
        </p:nvSpPr>
        <p:spPr>
          <a:xfrm>
            <a:off x="4626864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3" name="Shape 251"/>
          <p:cNvSpPr/>
          <p:nvPr/>
        </p:nvSpPr>
        <p:spPr>
          <a:xfrm>
            <a:off x="5193792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4" name="Shape 252"/>
          <p:cNvSpPr/>
          <p:nvPr/>
        </p:nvSpPr>
        <p:spPr>
          <a:xfrm>
            <a:off x="5760720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5" name="Shape 253"/>
          <p:cNvSpPr/>
          <p:nvPr/>
        </p:nvSpPr>
        <p:spPr>
          <a:xfrm>
            <a:off x="6327648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6" name="Shape 254"/>
          <p:cNvSpPr/>
          <p:nvPr/>
        </p:nvSpPr>
        <p:spPr>
          <a:xfrm>
            <a:off x="6894576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7" name="Shape 255"/>
          <p:cNvSpPr/>
          <p:nvPr/>
        </p:nvSpPr>
        <p:spPr>
          <a:xfrm>
            <a:off x="7461504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8" name="Shape 256"/>
          <p:cNvSpPr/>
          <p:nvPr/>
        </p:nvSpPr>
        <p:spPr>
          <a:xfrm>
            <a:off x="8028432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9" name="Shape 257"/>
          <p:cNvSpPr/>
          <p:nvPr/>
        </p:nvSpPr>
        <p:spPr>
          <a:xfrm>
            <a:off x="8595360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0" name="Shape 258"/>
          <p:cNvSpPr/>
          <p:nvPr/>
        </p:nvSpPr>
        <p:spPr>
          <a:xfrm>
            <a:off x="9162288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1" name="Shape 259"/>
          <p:cNvSpPr/>
          <p:nvPr/>
        </p:nvSpPr>
        <p:spPr>
          <a:xfrm>
            <a:off x="9729216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2" name="Shape 260"/>
          <p:cNvSpPr/>
          <p:nvPr/>
        </p:nvSpPr>
        <p:spPr>
          <a:xfrm>
            <a:off x="10296144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3" name="Shape 261"/>
          <p:cNvSpPr/>
          <p:nvPr/>
        </p:nvSpPr>
        <p:spPr>
          <a:xfrm>
            <a:off x="10863072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4" name="Shape 262"/>
          <p:cNvSpPr/>
          <p:nvPr/>
        </p:nvSpPr>
        <p:spPr>
          <a:xfrm>
            <a:off x="11430000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5" name="Shape 263"/>
          <p:cNvSpPr/>
          <p:nvPr/>
        </p:nvSpPr>
        <p:spPr>
          <a:xfrm>
            <a:off x="11996928" y="6428232"/>
            <a:ext cx="36576" cy="365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6" name="Shape 26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7" name="Shape 26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8" name="Shape 266"/>
          <p:cNvSpPr/>
          <p:nvPr/>
        </p:nvSpPr>
        <p:spPr>
          <a:xfrm>
            <a:off x="0" y="73152"/>
            <a:ext cx="91440" cy="67116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9" name="Shape 267"/>
          <p:cNvSpPr/>
          <p:nvPr/>
        </p:nvSpPr>
        <p:spPr>
          <a:xfrm>
            <a:off x="91440" y="73152"/>
            <a:ext cx="7680960" cy="671169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0" name="Text 268"/>
          <p:cNvSpPr txBox="1"/>
          <p:nvPr/>
        </p:nvSpPr>
        <p:spPr>
          <a:xfrm>
            <a:off x="457200" y="5029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*  FROM</a:t>
            </a:r>
            <a:endParaRPr lang="en-US" sz="4800" dirty="0"/>
          </a:p>
        </p:txBody>
      </p:sp>
      <p:sp>
        <p:nvSpPr>
          <p:cNvPr id="271" name="Text 269"/>
          <p:cNvSpPr txBox="1"/>
          <p:nvPr/>
        </p:nvSpPr>
        <p:spPr>
          <a:xfrm>
            <a:off x="457200" y="56509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databases;</a:t>
            </a:r>
            <a:endParaRPr lang="en-US" sz="4800" dirty="0"/>
          </a:p>
        </p:txBody>
      </p:sp>
      <p:sp>
        <p:nvSpPr>
          <p:cNvPr id="272" name="Shape 270"/>
          <p:cNvSpPr/>
          <p:nvPr/>
        </p:nvSpPr>
        <p:spPr>
          <a:xfrm>
            <a:off x="7955280" y="746150"/>
            <a:ext cx="2377440" cy="3185770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3" name="Shape 271"/>
          <p:cNvSpPr/>
          <p:nvPr/>
        </p:nvSpPr>
        <p:spPr>
          <a:xfrm>
            <a:off x="7955280" y="365760"/>
            <a:ext cx="2377440" cy="760781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4" name="Shape 272"/>
          <p:cNvSpPr/>
          <p:nvPr/>
        </p:nvSpPr>
        <p:spPr>
          <a:xfrm>
            <a:off x="7955280" y="3551530"/>
            <a:ext cx="2377440" cy="760781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5" name="Shape 273"/>
          <p:cNvSpPr/>
          <p:nvPr/>
        </p:nvSpPr>
        <p:spPr>
          <a:xfrm>
            <a:off x="7991856" y="1466990"/>
            <a:ext cx="2304288" cy="34235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6" name="Shape 274"/>
          <p:cNvSpPr/>
          <p:nvPr/>
        </p:nvSpPr>
        <p:spPr>
          <a:xfrm>
            <a:off x="7991856" y="2231575"/>
            <a:ext cx="2304288" cy="34235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7" name="Shape 275"/>
          <p:cNvSpPr/>
          <p:nvPr/>
        </p:nvSpPr>
        <p:spPr>
          <a:xfrm>
            <a:off x="7991856" y="2996160"/>
            <a:ext cx="2304288" cy="34235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8" name="Shape 276"/>
          <p:cNvSpPr/>
          <p:nvPr/>
        </p:nvSpPr>
        <p:spPr>
          <a:xfrm>
            <a:off x="10378440" y="1192378"/>
            <a:ext cx="1737360" cy="2328062"/>
          </a:xfrm>
          <a:prstGeom prst="rect">
            <a:avLst/>
          </a:prstGeom>
          <a:solidFill>
            <a:srgbClr val="0F2235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9" name="Shape 277"/>
          <p:cNvSpPr/>
          <p:nvPr/>
        </p:nvSpPr>
        <p:spPr>
          <a:xfrm>
            <a:off x="10378440" y="914400"/>
            <a:ext cx="1737360" cy="555955"/>
          </a:xfrm>
          <a:prstGeom prst="ellipse">
            <a:avLst/>
          </a:prstGeom>
          <a:solidFill>
            <a:srgbClr val="0A1E30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0" name="Shape 278"/>
          <p:cNvSpPr/>
          <p:nvPr/>
        </p:nvSpPr>
        <p:spPr>
          <a:xfrm>
            <a:off x="10378440" y="3242462"/>
            <a:ext cx="1737360" cy="555955"/>
          </a:xfrm>
          <a:prstGeom prst="ellipse">
            <a:avLst/>
          </a:prstGeom>
          <a:solidFill>
            <a:srgbClr val="0F2235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1" name="Shape 279"/>
          <p:cNvSpPr/>
          <p:nvPr/>
        </p:nvSpPr>
        <p:spPr>
          <a:xfrm>
            <a:off x="10415016" y="1719145"/>
            <a:ext cx="1664208" cy="250180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2" name="Shape 280"/>
          <p:cNvSpPr/>
          <p:nvPr/>
        </p:nvSpPr>
        <p:spPr>
          <a:xfrm>
            <a:off x="10415016" y="2277880"/>
            <a:ext cx="1664208" cy="250180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3" name="Shape 281"/>
          <p:cNvSpPr/>
          <p:nvPr/>
        </p:nvSpPr>
        <p:spPr>
          <a:xfrm>
            <a:off x="10415016" y="2836615"/>
            <a:ext cx="1664208" cy="250180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4" name="Shape 282"/>
          <p:cNvSpPr/>
          <p:nvPr/>
        </p:nvSpPr>
        <p:spPr>
          <a:xfrm>
            <a:off x="8961120" y="3160166"/>
            <a:ext cx="1463040" cy="1960474"/>
          </a:xfrm>
          <a:prstGeom prst="rect">
            <a:avLst/>
          </a:prstGeom>
          <a:solidFill>
            <a:srgbClr val="0F2235"/>
          </a:solidFill>
          <a:ln w="1524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5" name="Shape 283"/>
          <p:cNvSpPr/>
          <p:nvPr/>
        </p:nvSpPr>
        <p:spPr>
          <a:xfrm>
            <a:off x="8961120" y="2926080"/>
            <a:ext cx="1463040" cy="468173"/>
          </a:xfrm>
          <a:prstGeom prst="ellipse">
            <a:avLst/>
          </a:prstGeom>
          <a:solidFill>
            <a:srgbClr val="0A1E30"/>
          </a:solidFill>
          <a:ln w="1524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6" name="Shape 284"/>
          <p:cNvSpPr/>
          <p:nvPr/>
        </p:nvSpPr>
        <p:spPr>
          <a:xfrm>
            <a:off x="8961120" y="4886554"/>
            <a:ext cx="1463040" cy="468173"/>
          </a:xfrm>
          <a:prstGeom prst="ellipse">
            <a:avLst/>
          </a:prstGeom>
          <a:solidFill>
            <a:srgbClr val="0F2235"/>
          </a:solidFill>
          <a:ln w="1524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7" name="Shape 285"/>
          <p:cNvSpPr/>
          <p:nvPr/>
        </p:nvSpPr>
        <p:spPr>
          <a:xfrm>
            <a:off x="8997696" y="3603760"/>
            <a:ext cx="1389888" cy="210678"/>
          </a:xfrm>
          <a:prstGeom prst="ellipse">
            <a:avLst/>
          </a:prstGeom>
          <a:solidFill>
            <a:srgbClr val="0F2235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8" name="Shape 286"/>
          <p:cNvSpPr/>
          <p:nvPr/>
        </p:nvSpPr>
        <p:spPr>
          <a:xfrm>
            <a:off x="8997696" y="4074274"/>
            <a:ext cx="1389888" cy="210678"/>
          </a:xfrm>
          <a:prstGeom prst="ellipse">
            <a:avLst/>
          </a:prstGeom>
          <a:solidFill>
            <a:srgbClr val="0F2235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9" name="Shape 287"/>
          <p:cNvSpPr/>
          <p:nvPr/>
        </p:nvSpPr>
        <p:spPr>
          <a:xfrm>
            <a:off x="8997696" y="4544787"/>
            <a:ext cx="1389888" cy="210678"/>
          </a:xfrm>
          <a:prstGeom prst="ellipse">
            <a:avLst/>
          </a:prstGeom>
          <a:solidFill>
            <a:srgbClr val="0F2235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0" name="Shape 288"/>
          <p:cNvSpPr/>
          <p:nvPr/>
        </p:nvSpPr>
        <p:spPr>
          <a:xfrm>
            <a:off x="10515600" y="3727094"/>
            <a:ext cx="1005840" cy="1347826"/>
          </a:xfrm>
          <a:prstGeom prst="rect">
            <a:avLst/>
          </a:prstGeom>
          <a:solidFill>
            <a:srgbClr val="0F2235"/>
          </a:solidFill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1" name="Shape 289"/>
          <p:cNvSpPr/>
          <p:nvPr/>
        </p:nvSpPr>
        <p:spPr>
          <a:xfrm>
            <a:off x="10515600" y="3566160"/>
            <a:ext cx="1005840" cy="321869"/>
          </a:xfrm>
          <a:prstGeom prst="ellipse">
            <a:avLst/>
          </a:prstGeom>
          <a:solidFill>
            <a:srgbClr val="0A1E30"/>
          </a:solidFill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2" name="Shape 290"/>
          <p:cNvSpPr/>
          <p:nvPr/>
        </p:nvSpPr>
        <p:spPr>
          <a:xfrm>
            <a:off x="10515600" y="4913986"/>
            <a:ext cx="1005840" cy="321869"/>
          </a:xfrm>
          <a:prstGeom prst="ellipse">
            <a:avLst/>
          </a:prstGeom>
          <a:solidFill>
            <a:srgbClr val="0F2235"/>
          </a:solidFill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3" name="Shape 291"/>
          <p:cNvSpPr/>
          <p:nvPr/>
        </p:nvSpPr>
        <p:spPr>
          <a:xfrm>
            <a:off x="10552176" y="4032065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4" name="Shape 292"/>
          <p:cNvSpPr/>
          <p:nvPr/>
        </p:nvSpPr>
        <p:spPr>
          <a:xfrm>
            <a:off x="10552176" y="4355543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5" name="Shape 293"/>
          <p:cNvSpPr/>
          <p:nvPr/>
        </p:nvSpPr>
        <p:spPr>
          <a:xfrm>
            <a:off x="10552176" y="4679021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6" name="Text 294"/>
          <p:cNvSpPr txBox="1"/>
          <p:nvPr/>
        </p:nvSpPr>
        <p:spPr>
          <a:xfrm>
            <a:off x="457200" y="1417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800" dirty="0"/>
          </a:p>
        </p:txBody>
      </p:sp>
      <p:sp>
        <p:nvSpPr>
          <p:cNvPr id="297" name="Text 295"/>
          <p:cNvSpPr txBox="1"/>
          <p:nvPr/>
        </p:nvSpPr>
        <p:spPr>
          <a:xfrm>
            <a:off x="365760" y="1755648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0" dirty="0"/>
          </a:p>
        </p:txBody>
      </p:sp>
      <p:sp>
        <p:nvSpPr>
          <p:cNvPr id="298" name="Shape 296"/>
          <p:cNvSpPr/>
          <p:nvPr/>
        </p:nvSpPr>
        <p:spPr>
          <a:xfrm>
            <a:off x="457200" y="3529584"/>
            <a:ext cx="47548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9" name="Text 297"/>
          <p:cNvSpPr txBox="1"/>
          <p:nvPr/>
        </p:nvSpPr>
        <p:spPr>
          <a:xfrm>
            <a:off x="457200" y="36758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Analytics/Science</a:t>
            </a:r>
            <a:endParaRPr lang="en-US" sz="2400" dirty="0"/>
          </a:p>
        </p:txBody>
      </p:sp>
      <p:sp>
        <p:nvSpPr>
          <p:cNvPr id="300" name="Shape 298"/>
          <p:cNvSpPr/>
          <p:nvPr/>
        </p:nvSpPr>
        <p:spPr>
          <a:xfrm>
            <a:off x="457200" y="4279392"/>
            <a:ext cx="3840480" cy="402336"/>
          </a:xfrm>
          <a:prstGeom prst="rect">
            <a:avLst/>
          </a:prstGeom>
          <a:solidFill>
            <a:srgbClr val="0F2235"/>
          </a:solidFill>
          <a:ln w="762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1" name="Text 299"/>
          <p:cNvSpPr txBox="1"/>
          <p:nvPr/>
        </p:nvSpPr>
        <p:spPr>
          <a:xfrm>
            <a:off x="594360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Introductory Seminar for Statistics Students</a:t>
            </a:r>
            <a:endParaRPr lang="en-US" sz="1200" dirty="0"/>
          </a:p>
        </p:txBody>
      </p:sp>
      <p:sp>
        <p:nvSpPr>
          <p:cNvPr id="404" name="t404"/>
          <p:cNvSpPr txBox="1"/>
          <p:nvPr/>
        </p:nvSpPr>
        <p:spPr>
          <a:xfrm rot="-900000">
            <a:off x="8229600" y="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05" name="t405"/>
          <p:cNvSpPr txBox="1"/>
          <p:nvPr/>
        </p:nvSpPr>
        <p:spPr>
          <a:xfrm rot="-900000">
            <a:off x="9052560" y="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06" name="t406"/>
          <p:cNvSpPr txBox="1"/>
          <p:nvPr/>
        </p:nvSpPr>
        <p:spPr>
          <a:xfrm rot="-900000">
            <a:off x="9875520" y="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07" name="t407"/>
          <p:cNvSpPr txBox="1"/>
          <p:nvPr/>
        </p:nvSpPr>
        <p:spPr>
          <a:xfrm rot="-900000">
            <a:off x="10698480" y="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08" name="t408"/>
          <p:cNvSpPr txBox="1"/>
          <p:nvPr/>
        </p:nvSpPr>
        <p:spPr>
          <a:xfrm rot="-900000">
            <a:off x="11521440" y="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09" name="t409"/>
          <p:cNvSpPr txBox="1"/>
          <p:nvPr/>
        </p:nvSpPr>
        <p:spPr>
          <a:xfrm rot="-900000">
            <a:off x="8641080" y="685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0" name="t410"/>
          <p:cNvSpPr txBox="1"/>
          <p:nvPr/>
        </p:nvSpPr>
        <p:spPr>
          <a:xfrm rot="-900000">
            <a:off x="9464040" y="685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1" name="t411"/>
          <p:cNvSpPr txBox="1"/>
          <p:nvPr/>
        </p:nvSpPr>
        <p:spPr>
          <a:xfrm rot="-900000">
            <a:off x="10287000" y="685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2" name="t412"/>
          <p:cNvSpPr txBox="1"/>
          <p:nvPr/>
        </p:nvSpPr>
        <p:spPr>
          <a:xfrm rot="-900000">
            <a:off x="11109960" y="685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3" name="t413"/>
          <p:cNvSpPr txBox="1"/>
          <p:nvPr/>
        </p:nvSpPr>
        <p:spPr>
          <a:xfrm rot="-900000">
            <a:off x="11932920" y="685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4" name="t414"/>
          <p:cNvSpPr txBox="1"/>
          <p:nvPr/>
        </p:nvSpPr>
        <p:spPr>
          <a:xfrm rot="-900000">
            <a:off x="8229600" y="1371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5" name="t415"/>
          <p:cNvSpPr txBox="1"/>
          <p:nvPr/>
        </p:nvSpPr>
        <p:spPr>
          <a:xfrm rot="-900000">
            <a:off x="9052560" y="1371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6" name="t416"/>
          <p:cNvSpPr txBox="1"/>
          <p:nvPr/>
        </p:nvSpPr>
        <p:spPr>
          <a:xfrm rot="-900000">
            <a:off x="9875520" y="1371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7" name="t417"/>
          <p:cNvSpPr txBox="1"/>
          <p:nvPr/>
        </p:nvSpPr>
        <p:spPr>
          <a:xfrm rot="-900000">
            <a:off x="10698480" y="1371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8" name="t418"/>
          <p:cNvSpPr txBox="1"/>
          <p:nvPr/>
        </p:nvSpPr>
        <p:spPr>
          <a:xfrm rot="-900000">
            <a:off x="11521440" y="1371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19" name="t419"/>
          <p:cNvSpPr txBox="1"/>
          <p:nvPr/>
        </p:nvSpPr>
        <p:spPr>
          <a:xfrm rot="-900000">
            <a:off x="8641080" y="2057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0" name="t420"/>
          <p:cNvSpPr txBox="1"/>
          <p:nvPr/>
        </p:nvSpPr>
        <p:spPr>
          <a:xfrm rot="-900000">
            <a:off x="9464040" y="2057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1" name="t421"/>
          <p:cNvSpPr txBox="1"/>
          <p:nvPr/>
        </p:nvSpPr>
        <p:spPr>
          <a:xfrm rot="-900000">
            <a:off x="10287000" y="2057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2" name="t422"/>
          <p:cNvSpPr txBox="1"/>
          <p:nvPr/>
        </p:nvSpPr>
        <p:spPr>
          <a:xfrm rot="-900000">
            <a:off x="11109960" y="2057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3" name="t423"/>
          <p:cNvSpPr txBox="1"/>
          <p:nvPr/>
        </p:nvSpPr>
        <p:spPr>
          <a:xfrm rot="-900000">
            <a:off x="11932920" y="2057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4" name="t424"/>
          <p:cNvSpPr txBox="1"/>
          <p:nvPr/>
        </p:nvSpPr>
        <p:spPr>
          <a:xfrm rot="-900000">
            <a:off x="8229600" y="2743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5" name="t425"/>
          <p:cNvSpPr txBox="1"/>
          <p:nvPr/>
        </p:nvSpPr>
        <p:spPr>
          <a:xfrm rot="-900000">
            <a:off x="9052560" y="2743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6" name="t426"/>
          <p:cNvSpPr txBox="1"/>
          <p:nvPr/>
        </p:nvSpPr>
        <p:spPr>
          <a:xfrm rot="-900000">
            <a:off x="9875520" y="2743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7" name="t427"/>
          <p:cNvSpPr txBox="1"/>
          <p:nvPr/>
        </p:nvSpPr>
        <p:spPr>
          <a:xfrm rot="-900000">
            <a:off x="10698480" y="2743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8" name="t428"/>
          <p:cNvSpPr txBox="1"/>
          <p:nvPr/>
        </p:nvSpPr>
        <p:spPr>
          <a:xfrm rot="-900000">
            <a:off x="11521440" y="2743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29" name="t429"/>
          <p:cNvSpPr txBox="1"/>
          <p:nvPr/>
        </p:nvSpPr>
        <p:spPr>
          <a:xfrm rot="-900000">
            <a:off x="8641080" y="34290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0" name="t430"/>
          <p:cNvSpPr txBox="1"/>
          <p:nvPr/>
        </p:nvSpPr>
        <p:spPr>
          <a:xfrm rot="-900000">
            <a:off x="9464040" y="34290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1" name="t431"/>
          <p:cNvSpPr txBox="1"/>
          <p:nvPr/>
        </p:nvSpPr>
        <p:spPr>
          <a:xfrm rot="-900000">
            <a:off x="10287000" y="34290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2" name="t432"/>
          <p:cNvSpPr txBox="1"/>
          <p:nvPr/>
        </p:nvSpPr>
        <p:spPr>
          <a:xfrm rot="-900000">
            <a:off x="11109960" y="34290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3" name="t433"/>
          <p:cNvSpPr txBox="1"/>
          <p:nvPr/>
        </p:nvSpPr>
        <p:spPr>
          <a:xfrm rot="-900000">
            <a:off x="11932920" y="34290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4" name="t434"/>
          <p:cNvSpPr txBox="1"/>
          <p:nvPr/>
        </p:nvSpPr>
        <p:spPr>
          <a:xfrm rot="-900000">
            <a:off x="8229600" y="4114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5" name="t435"/>
          <p:cNvSpPr txBox="1"/>
          <p:nvPr/>
        </p:nvSpPr>
        <p:spPr>
          <a:xfrm rot="-900000">
            <a:off x="9052560" y="4114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6" name="t436"/>
          <p:cNvSpPr txBox="1"/>
          <p:nvPr/>
        </p:nvSpPr>
        <p:spPr>
          <a:xfrm rot="-900000">
            <a:off x="9875520" y="4114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7" name="t437"/>
          <p:cNvSpPr txBox="1"/>
          <p:nvPr/>
        </p:nvSpPr>
        <p:spPr>
          <a:xfrm rot="-900000">
            <a:off x="10698480" y="4114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8" name="t438"/>
          <p:cNvSpPr txBox="1"/>
          <p:nvPr/>
        </p:nvSpPr>
        <p:spPr>
          <a:xfrm rot="-900000">
            <a:off x="11521440" y="41148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39" name="t439"/>
          <p:cNvSpPr txBox="1"/>
          <p:nvPr/>
        </p:nvSpPr>
        <p:spPr>
          <a:xfrm rot="-900000">
            <a:off x="8641080" y="4800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0" name="t440"/>
          <p:cNvSpPr txBox="1"/>
          <p:nvPr/>
        </p:nvSpPr>
        <p:spPr>
          <a:xfrm rot="-900000">
            <a:off x="9464040" y="4800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1" name="t441"/>
          <p:cNvSpPr txBox="1"/>
          <p:nvPr/>
        </p:nvSpPr>
        <p:spPr>
          <a:xfrm rot="-900000">
            <a:off x="10287000" y="4800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2" name="t442"/>
          <p:cNvSpPr txBox="1"/>
          <p:nvPr/>
        </p:nvSpPr>
        <p:spPr>
          <a:xfrm rot="-900000">
            <a:off x="11109960" y="4800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3" name="t443"/>
          <p:cNvSpPr txBox="1"/>
          <p:nvPr/>
        </p:nvSpPr>
        <p:spPr>
          <a:xfrm rot="-900000">
            <a:off x="11932920" y="48006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4" name="t444"/>
          <p:cNvSpPr txBox="1"/>
          <p:nvPr/>
        </p:nvSpPr>
        <p:spPr>
          <a:xfrm rot="-900000">
            <a:off x="8229600" y="5486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5" name="t445"/>
          <p:cNvSpPr txBox="1"/>
          <p:nvPr/>
        </p:nvSpPr>
        <p:spPr>
          <a:xfrm rot="-900000">
            <a:off x="9052560" y="5486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6" name="t446"/>
          <p:cNvSpPr txBox="1"/>
          <p:nvPr/>
        </p:nvSpPr>
        <p:spPr>
          <a:xfrm rot="-900000">
            <a:off x="9875520" y="5486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7" name="t447"/>
          <p:cNvSpPr txBox="1"/>
          <p:nvPr/>
        </p:nvSpPr>
        <p:spPr>
          <a:xfrm rot="-900000">
            <a:off x="10698480" y="5486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8" name="t448"/>
          <p:cNvSpPr txBox="1"/>
          <p:nvPr/>
        </p:nvSpPr>
        <p:spPr>
          <a:xfrm rot="-900000">
            <a:off x="11521440" y="54864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49" name="t449"/>
          <p:cNvSpPr txBox="1"/>
          <p:nvPr/>
        </p:nvSpPr>
        <p:spPr>
          <a:xfrm rot="-900000">
            <a:off x="8641080" y="6172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50" name="t450"/>
          <p:cNvSpPr txBox="1"/>
          <p:nvPr/>
        </p:nvSpPr>
        <p:spPr>
          <a:xfrm rot="-900000">
            <a:off x="9464040" y="6172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51" name="t451"/>
          <p:cNvSpPr txBox="1"/>
          <p:nvPr/>
        </p:nvSpPr>
        <p:spPr>
          <a:xfrm rot="-900000">
            <a:off x="10287000" y="6172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52" name="t452"/>
          <p:cNvSpPr txBox="1"/>
          <p:nvPr/>
        </p:nvSpPr>
        <p:spPr>
          <a:xfrm rot="-900000">
            <a:off x="11109960" y="6172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53" name="t453"/>
          <p:cNvSpPr txBox="1"/>
          <p:nvPr/>
        </p:nvSpPr>
        <p:spPr>
          <a:xfrm rot="-900000">
            <a:off x="11932920" y="6172200"/>
            <a:ext cx="658368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A5E">
                    <a:alpha val="45000"/>
                  </a:srgbClr>
                </a:solidFill>
                <a:latin typeface="Calibri"/>
              </a:rPr>
              <a:t>SQL</a:t>
            </a:r>
          </a:p>
        </p:txBody>
      </p:sp>
      <p:sp>
        <p:nvSpPr>
          <p:cNvPr id="454" name="r454"/>
          <p:cNvSpPr/>
          <p:nvPr/>
        </p:nvSpPr>
        <p:spPr>
          <a:xfrm>
            <a:off x="502920" y="5577840"/>
            <a:ext cx="705916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5" name="t455"/>
          <p:cNvSpPr txBox="1"/>
          <p:nvPr/>
        </p:nvSpPr>
        <p:spPr>
          <a:xfrm>
            <a:off x="576072" y="5614416"/>
            <a:ext cx="614476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SELECT</a:t>
            </a:r>
          </a:p>
        </p:txBody>
      </p:sp>
      <p:sp>
        <p:nvSpPr>
          <p:cNvPr id="456" name="r456"/>
          <p:cNvSpPr/>
          <p:nvPr/>
        </p:nvSpPr>
        <p:spPr>
          <a:xfrm>
            <a:off x="1481328" y="5577840"/>
            <a:ext cx="621792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7" name="t457"/>
          <p:cNvSpPr txBox="1"/>
          <p:nvPr/>
        </p:nvSpPr>
        <p:spPr>
          <a:xfrm>
            <a:off x="1554480" y="5614416"/>
            <a:ext cx="530352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WHERE</a:t>
            </a:r>
          </a:p>
        </p:txBody>
      </p:sp>
      <p:sp>
        <p:nvSpPr>
          <p:cNvPr id="458" name="r458"/>
          <p:cNvSpPr/>
          <p:nvPr/>
        </p:nvSpPr>
        <p:spPr>
          <a:xfrm>
            <a:off x="2340864" y="5577840"/>
            <a:ext cx="537667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9" name="t459"/>
          <p:cNvSpPr txBox="1"/>
          <p:nvPr/>
        </p:nvSpPr>
        <p:spPr>
          <a:xfrm>
            <a:off x="2414016" y="5614416"/>
            <a:ext cx="446227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JOIN</a:t>
            </a:r>
          </a:p>
        </p:txBody>
      </p:sp>
      <p:sp>
        <p:nvSpPr>
          <p:cNvPr id="460" name="r460"/>
          <p:cNvSpPr/>
          <p:nvPr/>
        </p:nvSpPr>
        <p:spPr>
          <a:xfrm>
            <a:off x="3054096" y="5577840"/>
            <a:ext cx="874166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1" name="t461"/>
          <p:cNvSpPr txBox="1"/>
          <p:nvPr/>
        </p:nvSpPr>
        <p:spPr>
          <a:xfrm>
            <a:off x="3127248" y="5614416"/>
            <a:ext cx="782726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GROUP BY</a:t>
            </a:r>
          </a:p>
        </p:txBody>
      </p:sp>
      <p:sp>
        <p:nvSpPr>
          <p:cNvPr id="462" name="r462"/>
          <p:cNvSpPr/>
          <p:nvPr/>
        </p:nvSpPr>
        <p:spPr>
          <a:xfrm>
            <a:off x="4187952" y="5577840"/>
            <a:ext cx="874166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3" name="t463"/>
          <p:cNvSpPr txBox="1"/>
          <p:nvPr/>
        </p:nvSpPr>
        <p:spPr>
          <a:xfrm>
            <a:off x="4261104" y="5614416"/>
            <a:ext cx="782726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ORDER BY</a:t>
            </a:r>
          </a:p>
        </p:txBody>
      </p:sp>
      <p:sp>
        <p:nvSpPr>
          <p:cNvPr id="464" name="r464"/>
          <p:cNvSpPr/>
          <p:nvPr/>
        </p:nvSpPr>
        <p:spPr>
          <a:xfrm>
            <a:off x="502920" y="5870448"/>
            <a:ext cx="621792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5" name="t465"/>
          <p:cNvSpPr txBox="1"/>
          <p:nvPr/>
        </p:nvSpPr>
        <p:spPr>
          <a:xfrm>
            <a:off x="576072" y="5907024"/>
            <a:ext cx="530352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AVG()</a:t>
            </a:r>
          </a:p>
        </p:txBody>
      </p:sp>
      <p:sp>
        <p:nvSpPr>
          <p:cNvPr id="466" name="r466"/>
          <p:cNvSpPr/>
          <p:nvPr/>
        </p:nvSpPr>
        <p:spPr>
          <a:xfrm>
            <a:off x="1463040" y="5870448"/>
            <a:ext cx="705916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7" name="t467"/>
          <p:cNvSpPr txBox="1"/>
          <p:nvPr/>
        </p:nvSpPr>
        <p:spPr>
          <a:xfrm>
            <a:off x="1536192" y="5907024"/>
            <a:ext cx="614476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HAVING</a:t>
            </a:r>
          </a:p>
        </p:txBody>
      </p:sp>
      <p:sp>
        <p:nvSpPr>
          <p:cNvPr id="468" name="r468"/>
          <p:cNvSpPr/>
          <p:nvPr/>
        </p:nvSpPr>
        <p:spPr>
          <a:xfrm>
            <a:off x="2505456" y="5870448"/>
            <a:ext cx="621792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9" name="t469"/>
          <p:cNvSpPr txBox="1"/>
          <p:nvPr/>
        </p:nvSpPr>
        <p:spPr>
          <a:xfrm>
            <a:off x="2578608" y="5907024"/>
            <a:ext cx="530352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LIMIT</a:t>
            </a:r>
          </a:p>
        </p:txBody>
      </p:sp>
      <p:sp>
        <p:nvSpPr>
          <p:cNvPr id="470" name="r470"/>
          <p:cNvSpPr/>
          <p:nvPr/>
        </p:nvSpPr>
        <p:spPr>
          <a:xfrm>
            <a:off x="3310128" y="5870448"/>
            <a:ext cx="874166" cy="219456"/>
          </a:xfrm>
          <a:prstGeom prst="rect">
            <a:avLst/>
          </a:prstGeom>
          <a:solidFill>
            <a:srgbClr val="091828">
              <a:alpha val="25000"/>
            </a:srgbClr>
          </a:solidFill>
          <a:ln w="5080">
            <a:solidFill>
              <a:srgbClr val="162840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1" name="t471"/>
          <p:cNvSpPr txBox="1"/>
          <p:nvPr/>
        </p:nvSpPr>
        <p:spPr>
          <a:xfrm>
            <a:off x="3383280" y="5907024"/>
            <a:ext cx="782726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50" dirty="0">
                <a:solidFill>
                  <a:srgbClr val="1E4A6A">
                    <a:alpha val="25000"/>
                  </a:srgbClr>
                </a:solidFill>
                <a:latin typeface="Courier New"/>
              </a:rPr>
              <a:t>DISTINCT</a:t>
            </a:r>
          </a:p>
        </p:txBody>
      </p:sp>
      <p:sp>
        <p:nvSpPr>
          <p:cNvPr id="472" name="r472"/>
          <p:cNvSpPr/>
          <p:nvPr/>
        </p:nvSpPr>
        <p:spPr>
          <a:xfrm>
            <a:off x="502920" y="6144768"/>
            <a:ext cx="5303520" cy="658368"/>
          </a:xfrm>
          <a:prstGeom prst="rect">
            <a:avLst/>
          </a:prstGeom>
          <a:solidFill>
            <a:srgbClr val="060E18"/>
          </a:solidFill>
          <a:ln w="7620">
            <a:solidFill>
              <a:srgbClr val="1A30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3" name="t473"/>
          <p:cNvSpPr txBox="1"/>
          <p:nvPr/>
        </p:nvSpPr>
        <p:spPr>
          <a:xfrm>
            <a:off x="594360" y="6217920"/>
            <a:ext cx="164592" cy="493776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700" dirty="0">
                <a:solidFill>
                  <a:srgbClr val="2A4A5A"/>
                </a:solidFill>
                <a:latin typeface="Courier New"/>
              </a:rPr>
              <a:t>1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A4A5A"/>
                </a:solidFill>
                <a:latin typeface="Courier New"/>
              </a:rPr>
              <a:t>2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A4A5A"/>
                </a:solidFill>
                <a:latin typeface="Courier New"/>
              </a:rPr>
              <a:t>3</a:t>
            </a:r>
          </a:p>
        </p:txBody>
      </p:sp>
      <p:sp>
        <p:nvSpPr>
          <p:cNvPr id="474" name="t474"/>
          <p:cNvSpPr txBox="1"/>
          <p:nvPr/>
        </p:nvSpPr>
        <p:spPr>
          <a:xfrm>
            <a:off x="804672" y="6217920"/>
            <a:ext cx="640080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/>
              </a:rPr>
              <a:t>SELECT</a:t>
            </a:r>
          </a:p>
        </p:txBody>
      </p:sp>
      <p:sp>
        <p:nvSpPr>
          <p:cNvPr id="475" name="t475"/>
          <p:cNvSpPr txBox="1"/>
          <p:nvPr/>
        </p:nvSpPr>
        <p:spPr>
          <a:xfrm>
            <a:off x="1463040" y="6217920"/>
            <a:ext cx="2560320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/>
              </a:rPr>
              <a:t>destination_name, category</a:t>
            </a:r>
          </a:p>
        </p:txBody>
      </p:sp>
      <p:sp>
        <p:nvSpPr>
          <p:cNvPr id="476" name="t476"/>
          <p:cNvSpPr txBox="1"/>
          <p:nvPr/>
        </p:nvSpPr>
        <p:spPr>
          <a:xfrm>
            <a:off x="804672" y="6382512"/>
            <a:ext cx="475488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/>
              </a:rPr>
              <a:t>FROM</a:t>
            </a:r>
          </a:p>
        </p:txBody>
      </p:sp>
      <p:sp>
        <p:nvSpPr>
          <p:cNvPr id="477" name="t477"/>
          <p:cNvSpPr txBox="1"/>
          <p:nvPr/>
        </p:nvSpPr>
        <p:spPr>
          <a:xfrm>
            <a:off x="1298448" y="6382512"/>
            <a:ext cx="1463040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dirty="0">
                <a:solidFill>
                  <a:srgbClr val="4FC3F7"/>
                </a:solidFill>
                <a:latin typeface="Courier New"/>
              </a:rPr>
              <a:t>destinations</a:t>
            </a:r>
          </a:p>
        </p:txBody>
      </p:sp>
      <p:sp>
        <p:nvSpPr>
          <p:cNvPr id="478" name="t478"/>
          <p:cNvSpPr txBox="1"/>
          <p:nvPr/>
        </p:nvSpPr>
        <p:spPr>
          <a:xfrm>
            <a:off x="804672" y="6547104"/>
            <a:ext cx="548640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/>
              </a:rPr>
              <a:t>WHERE</a:t>
            </a:r>
          </a:p>
        </p:txBody>
      </p:sp>
      <p:sp>
        <p:nvSpPr>
          <p:cNvPr id="479" name="t479"/>
          <p:cNvSpPr txBox="1"/>
          <p:nvPr/>
        </p:nvSpPr>
        <p:spPr>
          <a:xfrm>
            <a:off x="1371600" y="6547104"/>
            <a:ext cx="3291840" cy="1645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/>
              </a:rPr>
              <a:t>category = 'Beach';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594360" y="14813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SQL is and why it matters in real data 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93976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 txBox="1"/>
          <p:nvPr/>
        </p:nvSpPr>
        <p:spPr>
          <a:xfrm>
            <a:off x="594360" y="21854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128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actually structured in databases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594360" y="288950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16936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SQL commands — the ones you'll use 80% of the time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594360" y="35935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21024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statistical summaries in SQL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594360" y="4297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32511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connects to R and Python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910328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 txBox="1"/>
          <p:nvPr/>
        </p:nvSpPr>
        <p:spPr>
          <a:xfrm>
            <a:off x="594360" y="5001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2920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tying it all together</a:t>
            </a:r>
            <a:endParaRPr lang="en-US" sz="15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C2277376-1D87-B390-9487-B9B530C962C5}"/>
              </a:ext>
            </a:extLst>
          </p:cNvPr>
          <p:cNvSpPr/>
          <p:nvPr/>
        </p:nvSpPr>
        <p:spPr>
          <a:xfrm>
            <a:off x="462915" y="5630037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6" name="Picture 25" descr="Question Mark l What is a Question Mark? - Teaching Wiki">
            <a:extLst>
              <a:ext uri="{FF2B5EF4-FFF2-40B4-BE49-F238E27FC236}">
                <a16:creationId xmlns:a16="http://schemas.microsoft.com/office/drawing/2014/main" id="{3C135F6B-A639-1DA2-792C-60FD482E74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36016" y="5757510"/>
            <a:ext cx="219607" cy="311981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32EB217B-008C-F59C-7B4D-B50C2A866E6C}"/>
              </a:ext>
            </a:extLst>
          </p:cNvPr>
          <p:cNvSpPr txBox="1"/>
          <p:nvPr/>
        </p:nvSpPr>
        <p:spPr>
          <a:xfrm>
            <a:off x="1188720" y="5736116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5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— Feel free to ask</a:t>
            </a:r>
            <a:endParaRPr lang="en-US" sz="15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Start: A Quick Poll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394960" cy="1188720"/>
          </a:xfrm>
          <a:prstGeom prst="rect">
            <a:avLst/>
          </a:prstGeom>
          <a:solidFill>
            <a:srgbClr val="0F2235"/>
          </a:solidFill>
          <a:ln w="635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Excel before?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1188720"/>
          </a:xfrm>
          <a:prstGeom prst="rect">
            <a:avLst/>
          </a:prstGeom>
          <a:solidFill>
            <a:srgbClr val="0F2235"/>
          </a:solidFill>
          <a:ln w="635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 txBox="1"/>
          <p:nvPr/>
        </p:nvSpPr>
        <p:spPr>
          <a:xfrm>
            <a:off x="6537960" y="17373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1810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 or Python?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394960" cy="1188720"/>
          </a:xfrm>
          <a:prstGeom prst="rect">
            <a:avLst/>
          </a:prstGeom>
          <a:solidFill>
            <a:srgbClr val="0F2235"/>
          </a:solidFill>
          <a:ln w="635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685800" y="32461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192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of SQL?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971800"/>
            <a:ext cx="5394960" cy="1188720"/>
          </a:xfrm>
          <a:prstGeom prst="rect">
            <a:avLst/>
          </a:prstGeom>
          <a:solidFill>
            <a:srgbClr val="0F2235"/>
          </a:solidFill>
          <a:ln w="635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6537960" y="32461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3192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 SQL query?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 answers — just helping me read the room.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SQL's Role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What SQL is and where it fits in real data work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Structured Query Language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Pronounced: </a:t>
            </a:r>
            <a:r>
              <a:rPr lang="en-US" sz="14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"sequel"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r>
              <a:rPr lang="en-US" sz="14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"S-Q-L"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both are correct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7132320" cy="47548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 txBox="1"/>
          <p:nvPr/>
        </p:nvSpPr>
        <p:spPr>
          <a:xfrm>
            <a:off x="640080" y="221284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used to communicate with databases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7132320" cy="47548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640080" y="277977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filter, summarize, and combine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7132320" cy="47548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640080" y="3346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build apps, run models, or make charts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7132320" cy="47548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640080" y="3913632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you the data you need to do all of that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132320" cy="566928"/>
          </a:xfrm>
          <a:prstGeom prst="rect">
            <a:avLst/>
          </a:prstGeom>
          <a:solidFill>
            <a:srgbClr val="0A1E30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 txBox="1"/>
          <p:nvPr/>
        </p:nvSpPr>
        <p:spPr>
          <a:xfrm>
            <a:off x="640080" y="481888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"SQL is closer to writing a sentence than writing a program."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30768" y="4123944"/>
            <a:ext cx="3291840" cy="9144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8748979" y="3970325"/>
            <a:ext cx="182880" cy="201168"/>
          </a:xfrm>
          <a:prstGeom prst="rect">
            <a:avLst/>
          </a:prstGeom>
          <a:solidFill>
            <a:srgbClr val="0A1824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8595360" y="4069080"/>
            <a:ext cx="182880" cy="2011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11291011" y="3970325"/>
            <a:ext cx="182880" cy="201168"/>
          </a:xfrm>
          <a:prstGeom prst="rect">
            <a:avLst/>
          </a:prstGeom>
          <a:solidFill>
            <a:srgbClr val="0A1824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11137392" y="4069080"/>
            <a:ext cx="182880" cy="201168"/>
          </a:xfrm>
          <a:prstGeom prst="rect">
            <a:avLst/>
          </a:prstGeom>
          <a:solidFill>
            <a:srgbClr val="0D2035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8577072" y="886968"/>
            <a:ext cx="3291840" cy="201168"/>
          </a:xfrm>
          <a:prstGeom prst="rect">
            <a:avLst/>
          </a:prstGeom>
          <a:solidFill>
            <a:srgbClr val="162840"/>
          </a:solidFill>
          <a:ln w="1016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8321040" y="1051560"/>
            <a:ext cx="256032" cy="0"/>
          </a:xfrm>
          <a:prstGeom prst="line">
            <a:avLst/>
          </a:prstGeom>
          <a:noFill/>
          <a:ln w="1016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11612880" y="1051560"/>
            <a:ext cx="256032" cy="0"/>
          </a:xfrm>
          <a:prstGeom prst="line">
            <a:avLst/>
          </a:prstGeom>
          <a:noFill/>
          <a:ln w="1016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11612880" y="1051560"/>
            <a:ext cx="256032" cy="3017520"/>
          </a:xfrm>
          <a:prstGeom prst="rect">
            <a:avLst/>
          </a:prstGeom>
          <a:solidFill>
            <a:srgbClr val="0A1E30"/>
          </a:solidFill>
          <a:ln w="1016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11612880" y="1051560"/>
            <a:ext cx="256032" cy="0"/>
          </a:xfrm>
          <a:prstGeom prst="line">
            <a:avLst/>
          </a:prstGeom>
          <a:noFill/>
          <a:ln w="1016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11612880" y="4069080"/>
            <a:ext cx="256032" cy="0"/>
          </a:xfrm>
          <a:prstGeom prst="line">
            <a:avLst/>
          </a:prstGeom>
          <a:noFill/>
          <a:ln w="762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8321040" y="1051560"/>
            <a:ext cx="3291840" cy="30175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8421624" y="1143000"/>
            <a:ext cx="3090672" cy="841248"/>
          </a:xfrm>
          <a:prstGeom prst="rect">
            <a:avLst/>
          </a:prstGeom>
          <a:solidFill>
            <a:srgbClr val="091826"/>
          </a:solidFill>
          <a:ln w="63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8458200" y="1179576"/>
            <a:ext cx="3017520" cy="768096"/>
          </a:xfrm>
          <a:prstGeom prst="rect">
            <a:avLst/>
          </a:prstGeom>
          <a:solidFill>
            <a:srgbClr val="102840"/>
          </a:solidFill>
          <a:ln w="889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8458200" y="1179576"/>
            <a:ext cx="3017520" cy="27432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9491472" y="1516075"/>
            <a:ext cx="1005840" cy="18288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9464040" y="1479499"/>
            <a:ext cx="1005840" cy="182880"/>
          </a:xfrm>
          <a:prstGeom prst="rect">
            <a:avLst/>
          </a:prstGeom>
          <a:solidFill>
            <a:srgbClr val="1A4A6A"/>
          </a:solidFill>
          <a:ln w="1143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9573768" y="1506931"/>
            <a:ext cx="402336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 txBox="1"/>
          <p:nvPr/>
        </p:nvSpPr>
        <p:spPr>
          <a:xfrm>
            <a:off x="8494776" y="174650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cs typeface="Courier New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21624" y="2057400"/>
            <a:ext cx="3090672" cy="841248"/>
          </a:xfrm>
          <a:prstGeom prst="rect">
            <a:avLst/>
          </a:prstGeom>
          <a:solidFill>
            <a:srgbClr val="091826"/>
          </a:solidFill>
          <a:ln w="63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Shape 35"/>
          <p:cNvSpPr/>
          <p:nvPr/>
        </p:nvSpPr>
        <p:spPr>
          <a:xfrm>
            <a:off x="8458200" y="2093976"/>
            <a:ext cx="3017520" cy="768096"/>
          </a:xfrm>
          <a:prstGeom prst="rect">
            <a:avLst/>
          </a:prstGeom>
          <a:solidFill>
            <a:srgbClr val="102840"/>
          </a:solidFill>
          <a:ln w="889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Shape 36"/>
          <p:cNvSpPr/>
          <p:nvPr/>
        </p:nvSpPr>
        <p:spPr>
          <a:xfrm>
            <a:off x="8458200" y="2093976"/>
            <a:ext cx="3017520" cy="27432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Shape 37"/>
          <p:cNvSpPr/>
          <p:nvPr/>
        </p:nvSpPr>
        <p:spPr>
          <a:xfrm>
            <a:off x="9491472" y="2430475"/>
            <a:ext cx="1005840" cy="18288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Shape 38"/>
          <p:cNvSpPr/>
          <p:nvPr/>
        </p:nvSpPr>
        <p:spPr>
          <a:xfrm>
            <a:off x="9464040" y="2393899"/>
            <a:ext cx="1005840" cy="182880"/>
          </a:xfrm>
          <a:prstGeom prst="rect">
            <a:avLst/>
          </a:prstGeom>
          <a:solidFill>
            <a:srgbClr val="1A4A6A"/>
          </a:solidFill>
          <a:ln w="1143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1" name="Shape 39"/>
          <p:cNvSpPr/>
          <p:nvPr/>
        </p:nvSpPr>
        <p:spPr>
          <a:xfrm>
            <a:off x="9573768" y="2421331"/>
            <a:ext cx="402336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2" name="Text 40"/>
          <p:cNvSpPr txBox="1"/>
          <p:nvPr/>
        </p:nvSpPr>
        <p:spPr>
          <a:xfrm>
            <a:off x="8494776" y="266090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cs typeface="Courier New" pitchFamily="34" charset="-120"/>
              </a:rPr>
              <a:t>tourists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21624" y="2971800"/>
            <a:ext cx="3090672" cy="841248"/>
          </a:xfrm>
          <a:prstGeom prst="rect">
            <a:avLst/>
          </a:prstGeom>
          <a:solidFill>
            <a:srgbClr val="091826"/>
          </a:solidFill>
          <a:ln w="63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8458200" y="3008376"/>
            <a:ext cx="3017520" cy="768096"/>
          </a:xfrm>
          <a:prstGeom prst="rect">
            <a:avLst/>
          </a:prstGeom>
          <a:solidFill>
            <a:srgbClr val="102840"/>
          </a:solidFill>
          <a:ln w="889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5" name="Shape 43"/>
          <p:cNvSpPr/>
          <p:nvPr/>
        </p:nvSpPr>
        <p:spPr>
          <a:xfrm>
            <a:off x="8458200" y="3008376"/>
            <a:ext cx="3017520" cy="27432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6" name="Shape 44"/>
          <p:cNvSpPr/>
          <p:nvPr/>
        </p:nvSpPr>
        <p:spPr>
          <a:xfrm>
            <a:off x="9491472" y="3344875"/>
            <a:ext cx="1005840" cy="18288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Shape 45"/>
          <p:cNvSpPr/>
          <p:nvPr/>
        </p:nvSpPr>
        <p:spPr>
          <a:xfrm>
            <a:off x="9464040" y="3308299"/>
            <a:ext cx="1005840" cy="182880"/>
          </a:xfrm>
          <a:prstGeom prst="rect">
            <a:avLst/>
          </a:prstGeom>
          <a:solidFill>
            <a:srgbClr val="1A4A6A"/>
          </a:solidFill>
          <a:ln w="1143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8" name="Shape 46"/>
          <p:cNvSpPr/>
          <p:nvPr/>
        </p:nvSpPr>
        <p:spPr>
          <a:xfrm>
            <a:off x="9573768" y="3335731"/>
            <a:ext cx="402336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9" name="Text 47"/>
          <p:cNvSpPr txBox="1"/>
          <p:nvPr/>
        </p:nvSpPr>
        <p:spPr>
          <a:xfrm>
            <a:off x="8494776" y="357530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46520" y="1078992"/>
            <a:ext cx="1444752" cy="402336"/>
          </a:xfrm>
          <a:prstGeom prst="rect">
            <a:avLst/>
          </a:prstGeom>
          <a:solidFill>
            <a:srgbClr val="0A2218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1" name="Text 49"/>
          <p:cNvSpPr txBox="1"/>
          <p:nvPr/>
        </p:nvSpPr>
        <p:spPr>
          <a:xfrm>
            <a:off x="6537960" y="111556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1298448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cabinet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91272" y="1280160"/>
            <a:ext cx="429768" cy="1129284"/>
          </a:xfrm>
          <a:prstGeom prst="line">
            <a:avLst/>
          </a:prstGeom>
          <a:noFill/>
          <a:ln w="1016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54" name="Shape 52"/>
          <p:cNvSpPr/>
          <p:nvPr/>
        </p:nvSpPr>
        <p:spPr>
          <a:xfrm>
            <a:off x="6446520" y="2148840"/>
            <a:ext cx="1444752" cy="402336"/>
          </a:xfrm>
          <a:prstGeom prst="rect">
            <a:avLst/>
          </a:prstGeom>
          <a:solidFill>
            <a:srgbClr val="0A2218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53"/>
          <p:cNvSpPr txBox="1"/>
          <p:nvPr/>
        </p:nvSpPr>
        <p:spPr>
          <a:xfrm>
            <a:off x="6537960" y="218541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537960" y="236829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drawer = one table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891272" y="2350008"/>
            <a:ext cx="566928" cy="128016"/>
          </a:xfrm>
          <a:prstGeom prst="line">
            <a:avLst/>
          </a:prstGeom>
          <a:noFill/>
          <a:ln w="1016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58" name="Shape 56"/>
          <p:cNvSpPr/>
          <p:nvPr/>
        </p:nvSpPr>
        <p:spPr>
          <a:xfrm>
            <a:off x="9966960" y="4325112"/>
            <a:ext cx="9144" cy="256032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59" name="Text 57"/>
          <p:cNvSpPr txBox="1"/>
          <p:nvPr/>
        </p:nvSpPr>
        <p:spPr>
          <a:xfrm>
            <a:off x="8229600" y="45994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drawer: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26680" y="3950208"/>
            <a:ext cx="1005840" cy="310896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1" name="Text 59"/>
          <p:cNvSpPr txBox="1"/>
          <p:nvPr/>
        </p:nvSpPr>
        <p:spPr>
          <a:xfrm>
            <a:off x="7763256" y="400507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732520" y="3950208"/>
            <a:ext cx="1051560" cy="310896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3" name="Text 61"/>
          <p:cNvSpPr txBox="1"/>
          <p:nvPr/>
        </p:nvSpPr>
        <p:spPr>
          <a:xfrm>
            <a:off x="8769096" y="4005072"/>
            <a:ext cx="978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784080" y="3950208"/>
            <a:ext cx="1143000" cy="310896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5" name="Text 63"/>
          <p:cNvSpPr txBox="1"/>
          <p:nvPr/>
        </p:nvSpPr>
        <p:spPr>
          <a:xfrm>
            <a:off x="9820656" y="4005072"/>
            <a:ext cx="1069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726680" y="4261104"/>
            <a:ext cx="100584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7" name="Text 65"/>
          <p:cNvSpPr txBox="1"/>
          <p:nvPr/>
        </p:nvSpPr>
        <p:spPr>
          <a:xfrm>
            <a:off x="7763256" y="430682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732520" y="4261104"/>
            <a:ext cx="105156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9" name="Text 67"/>
          <p:cNvSpPr txBox="1"/>
          <p:nvPr/>
        </p:nvSpPr>
        <p:spPr>
          <a:xfrm>
            <a:off x="8769096" y="4306824"/>
            <a:ext cx="978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84080" y="4261104"/>
            <a:ext cx="114300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1" name="Text 69"/>
          <p:cNvSpPr txBox="1"/>
          <p:nvPr/>
        </p:nvSpPr>
        <p:spPr>
          <a:xfrm>
            <a:off x="9820656" y="4306824"/>
            <a:ext cx="1069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26680" y="4553712"/>
            <a:ext cx="1005840" cy="29260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3" name="Text 71"/>
          <p:cNvSpPr txBox="1"/>
          <p:nvPr/>
        </p:nvSpPr>
        <p:spPr>
          <a:xfrm>
            <a:off x="7763256" y="459943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732520" y="4553712"/>
            <a:ext cx="1051560" cy="29260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5" name="Text 73"/>
          <p:cNvSpPr txBox="1"/>
          <p:nvPr/>
        </p:nvSpPr>
        <p:spPr>
          <a:xfrm>
            <a:off x="8769096" y="4599432"/>
            <a:ext cx="978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784080" y="4553712"/>
            <a:ext cx="1143000" cy="29260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7" name="Text 75"/>
          <p:cNvSpPr txBox="1"/>
          <p:nvPr/>
        </p:nvSpPr>
        <p:spPr>
          <a:xfrm>
            <a:off x="9820656" y="4599432"/>
            <a:ext cx="1069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American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726680" y="4846320"/>
            <a:ext cx="100584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9" name="Text 77"/>
          <p:cNvSpPr txBox="1"/>
          <p:nvPr/>
        </p:nvSpPr>
        <p:spPr>
          <a:xfrm>
            <a:off x="7763256" y="489204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T003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732520" y="4846320"/>
            <a:ext cx="105156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1" name="Text 79"/>
          <p:cNvSpPr txBox="1"/>
          <p:nvPr/>
        </p:nvSpPr>
        <p:spPr>
          <a:xfrm>
            <a:off x="8769096" y="4892040"/>
            <a:ext cx="978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 Cruz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784080" y="4846320"/>
            <a:ext cx="1143000" cy="292608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3" name="Text 81"/>
          <p:cNvSpPr txBox="1"/>
          <p:nvPr/>
        </p:nvSpPr>
        <p:spPr>
          <a:xfrm>
            <a:off x="9820656" y="4892040"/>
            <a:ext cx="1069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726680" y="3950208"/>
            <a:ext cx="3200400" cy="1188720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5" name="Shape 83"/>
          <p:cNvSpPr/>
          <p:nvPr/>
        </p:nvSpPr>
        <p:spPr>
          <a:xfrm>
            <a:off x="7726680" y="5248656"/>
            <a:ext cx="1389888" cy="402336"/>
          </a:xfrm>
          <a:prstGeom prst="rect">
            <a:avLst/>
          </a:prstGeom>
          <a:solidFill>
            <a:srgbClr val="0A2218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6" name="Text 84"/>
          <p:cNvSpPr txBox="1"/>
          <p:nvPr/>
        </p:nvSpPr>
        <p:spPr>
          <a:xfrm>
            <a:off x="7818120" y="528523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7818120" y="5468112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tourist record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421624" y="5248656"/>
            <a:ext cx="0" cy="0"/>
          </a:xfrm>
          <a:prstGeom prst="line">
            <a:avLst/>
          </a:prstGeom>
          <a:noFill/>
          <a:ln w="1016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89" name="Shape 87"/>
          <p:cNvSpPr/>
          <p:nvPr/>
        </p:nvSpPr>
        <p:spPr>
          <a:xfrm>
            <a:off x="7955280" y="3493008"/>
            <a:ext cx="1426464" cy="402336"/>
          </a:xfrm>
          <a:prstGeom prst="rect">
            <a:avLst/>
          </a:prstGeom>
          <a:solidFill>
            <a:srgbClr val="0A2218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0" name="Text 88"/>
          <p:cNvSpPr txBox="1"/>
          <p:nvPr/>
        </p:nvSpPr>
        <p:spPr>
          <a:xfrm>
            <a:off x="8046720" y="3529584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8046720" y="3712464"/>
            <a:ext cx="1243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/ attribute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258300" y="3950208"/>
            <a:ext cx="0" cy="0"/>
          </a:xfrm>
          <a:prstGeom prst="line">
            <a:avLst/>
          </a:prstGeom>
          <a:noFill/>
          <a:ln w="1016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data lives in databases — not Excel files or CSVs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1124712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 txBox="1"/>
          <p:nvPr/>
        </p:nvSpPr>
        <p:spPr>
          <a:xfrm>
            <a:off x="640080" y="2139696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analyze anything, you need the data in the right shape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1124712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tool that gets you there</a:t>
            </a:r>
            <a:endParaRPr lang="en-US" sz="150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1C5B1380-E0C9-726B-F57C-38CDBBCE03F0}"/>
              </a:ext>
            </a:extLst>
          </p:cNvPr>
          <p:cNvSpPr/>
          <p:nvPr/>
        </p:nvSpPr>
        <p:spPr>
          <a:xfrm>
            <a:off x="457200" y="3749040"/>
            <a:ext cx="2514600" cy="21945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BDBE2624-ADB2-5D01-9015-E9142E4AD98F}"/>
              </a:ext>
            </a:extLst>
          </p:cNvPr>
          <p:cNvSpPr/>
          <p:nvPr/>
        </p:nvSpPr>
        <p:spPr>
          <a:xfrm>
            <a:off x="868680" y="4019702"/>
            <a:ext cx="1005840" cy="1347826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E8B35F60-6DE4-E19B-4F44-A9ED4B142BB3}"/>
              </a:ext>
            </a:extLst>
          </p:cNvPr>
          <p:cNvSpPr/>
          <p:nvPr/>
        </p:nvSpPr>
        <p:spPr>
          <a:xfrm>
            <a:off x="868680" y="3858768"/>
            <a:ext cx="1005840" cy="321869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1CD67227-339E-913A-5B98-0C9EEFBA36A9}"/>
              </a:ext>
            </a:extLst>
          </p:cNvPr>
          <p:cNvSpPr/>
          <p:nvPr/>
        </p:nvSpPr>
        <p:spPr>
          <a:xfrm>
            <a:off x="868680" y="5206594"/>
            <a:ext cx="1005840" cy="321869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64C2CFDB-1E5C-1CE4-0225-6867BCCC874E}"/>
              </a:ext>
            </a:extLst>
          </p:cNvPr>
          <p:cNvSpPr/>
          <p:nvPr/>
        </p:nvSpPr>
        <p:spPr>
          <a:xfrm>
            <a:off x="905256" y="4324673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942469B3-7FC6-3942-682B-C3C37F11E10E}"/>
              </a:ext>
            </a:extLst>
          </p:cNvPr>
          <p:cNvSpPr/>
          <p:nvPr/>
        </p:nvSpPr>
        <p:spPr>
          <a:xfrm>
            <a:off x="905256" y="4648151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30B0BC1-550B-B481-6B1B-4237B00779D8}"/>
              </a:ext>
            </a:extLst>
          </p:cNvPr>
          <p:cNvSpPr/>
          <p:nvPr/>
        </p:nvSpPr>
        <p:spPr>
          <a:xfrm>
            <a:off x="905256" y="4971629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C2B28B3E-E7C5-20AD-F885-6E9AA1DC6AF2}"/>
              </a:ext>
            </a:extLst>
          </p:cNvPr>
          <p:cNvSpPr txBox="1"/>
          <p:nvPr/>
        </p:nvSpPr>
        <p:spPr>
          <a:xfrm>
            <a:off x="45720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90BCE507-6528-3E4F-1670-36790535B7AA}"/>
              </a:ext>
            </a:extLst>
          </p:cNvPr>
          <p:cNvSpPr txBox="1"/>
          <p:nvPr/>
        </p:nvSpPr>
        <p:spPr>
          <a:xfrm>
            <a:off x="548640" y="5504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Census, surveys,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data</a:t>
            </a:r>
            <a:endParaRPr lang="en-US" sz="900" dirty="0"/>
          </a:p>
        </p:txBody>
      </p:sp>
      <p:sp>
        <p:nvSpPr>
          <p:cNvPr id="66" name="Shape 19">
            <a:extLst>
              <a:ext uri="{FF2B5EF4-FFF2-40B4-BE49-F238E27FC236}">
                <a16:creationId xmlns:a16="http://schemas.microsoft.com/office/drawing/2014/main" id="{87CFDD24-C4DA-3E3F-FAFD-0AEB932A041C}"/>
              </a:ext>
            </a:extLst>
          </p:cNvPr>
          <p:cNvSpPr/>
          <p:nvPr/>
        </p:nvSpPr>
        <p:spPr>
          <a:xfrm>
            <a:off x="3246120" y="3749040"/>
            <a:ext cx="2514600" cy="21945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C2CFE43A-9D40-D286-BA6A-1248DD6924D9}"/>
              </a:ext>
            </a:extLst>
          </p:cNvPr>
          <p:cNvSpPr/>
          <p:nvPr/>
        </p:nvSpPr>
        <p:spPr>
          <a:xfrm>
            <a:off x="3657600" y="4019702"/>
            <a:ext cx="1005840" cy="1347826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177088BE-F5D1-AD09-4AEF-021EEF62700E}"/>
              </a:ext>
            </a:extLst>
          </p:cNvPr>
          <p:cNvSpPr/>
          <p:nvPr/>
        </p:nvSpPr>
        <p:spPr>
          <a:xfrm>
            <a:off x="3657600" y="3858768"/>
            <a:ext cx="1005840" cy="321869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F2B60E4C-B80F-B96C-F12D-0716746450B1}"/>
              </a:ext>
            </a:extLst>
          </p:cNvPr>
          <p:cNvSpPr/>
          <p:nvPr/>
        </p:nvSpPr>
        <p:spPr>
          <a:xfrm>
            <a:off x="3657600" y="5206594"/>
            <a:ext cx="1005840" cy="321869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B1B69822-2D13-6CFE-9833-4F527D665F46}"/>
              </a:ext>
            </a:extLst>
          </p:cNvPr>
          <p:cNvSpPr/>
          <p:nvPr/>
        </p:nvSpPr>
        <p:spPr>
          <a:xfrm>
            <a:off x="3694176" y="4324673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1F2CF6C1-CE4D-E317-2E99-CB723145CF5D}"/>
              </a:ext>
            </a:extLst>
          </p:cNvPr>
          <p:cNvSpPr/>
          <p:nvPr/>
        </p:nvSpPr>
        <p:spPr>
          <a:xfrm>
            <a:off x="3694176" y="4648151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A53A6CE2-5163-656A-E750-AF8D0F73E82E}"/>
              </a:ext>
            </a:extLst>
          </p:cNvPr>
          <p:cNvSpPr/>
          <p:nvPr/>
        </p:nvSpPr>
        <p:spPr>
          <a:xfrm>
            <a:off x="3694176" y="4971629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6B0C157C-F941-37FD-0BA1-F41036E6FE80}"/>
              </a:ext>
            </a:extLst>
          </p:cNvPr>
          <p:cNvSpPr txBox="1"/>
          <p:nvPr/>
        </p:nvSpPr>
        <p:spPr>
          <a:xfrm>
            <a:off x="324612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A3584CA4-EFD1-3069-9DD6-1D28392E9806}"/>
              </a:ext>
            </a:extLst>
          </p:cNvPr>
          <p:cNvSpPr txBox="1"/>
          <p:nvPr/>
        </p:nvSpPr>
        <p:spPr>
          <a:xfrm>
            <a:off x="3337560" y="5504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outcomes</a:t>
            </a:r>
            <a:endParaRPr lang="en-US" sz="900" dirty="0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7F1C0F7C-3843-8730-AAB4-B1472CB81128}"/>
              </a:ext>
            </a:extLst>
          </p:cNvPr>
          <p:cNvSpPr/>
          <p:nvPr/>
        </p:nvSpPr>
        <p:spPr>
          <a:xfrm>
            <a:off x="6035040" y="3749040"/>
            <a:ext cx="2514600" cy="21945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6" name="Shape 29">
            <a:extLst>
              <a:ext uri="{FF2B5EF4-FFF2-40B4-BE49-F238E27FC236}">
                <a16:creationId xmlns:a16="http://schemas.microsoft.com/office/drawing/2014/main" id="{BE2D2256-B66D-2C47-9299-9090958D7DC8}"/>
              </a:ext>
            </a:extLst>
          </p:cNvPr>
          <p:cNvSpPr/>
          <p:nvPr/>
        </p:nvSpPr>
        <p:spPr>
          <a:xfrm>
            <a:off x="6446520" y="4019702"/>
            <a:ext cx="1005840" cy="1347826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694F7F8B-123D-CA5B-7BFD-A83839F5E290}"/>
              </a:ext>
            </a:extLst>
          </p:cNvPr>
          <p:cNvSpPr/>
          <p:nvPr/>
        </p:nvSpPr>
        <p:spPr>
          <a:xfrm>
            <a:off x="6446520" y="3858768"/>
            <a:ext cx="1005840" cy="321869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0" name="Shape 31">
            <a:extLst>
              <a:ext uri="{FF2B5EF4-FFF2-40B4-BE49-F238E27FC236}">
                <a16:creationId xmlns:a16="http://schemas.microsoft.com/office/drawing/2014/main" id="{093CF788-FA3A-BE52-D795-4360C1B2D67A}"/>
              </a:ext>
            </a:extLst>
          </p:cNvPr>
          <p:cNvSpPr/>
          <p:nvPr/>
        </p:nvSpPr>
        <p:spPr>
          <a:xfrm>
            <a:off x="6446520" y="5206594"/>
            <a:ext cx="1005840" cy="321869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105B0D9A-CFDB-BA3F-13CB-AEAD94B74B6B}"/>
              </a:ext>
            </a:extLst>
          </p:cNvPr>
          <p:cNvSpPr/>
          <p:nvPr/>
        </p:nvSpPr>
        <p:spPr>
          <a:xfrm>
            <a:off x="6483096" y="4324673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4" name="Shape 33">
            <a:extLst>
              <a:ext uri="{FF2B5EF4-FFF2-40B4-BE49-F238E27FC236}">
                <a16:creationId xmlns:a16="http://schemas.microsoft.com/office/drawing/2014/main" id="{454AD403-724F-0AE4-D024-067A1E88AA5D}"/>
              </a:ext>
            </a:extLst>
          </p:cNvPr>
          <p:cNvSpPr/>
          <p:nvPr/>
        </p:nvSpPr>
        <p:spPr>
          <a:xfrm>
            <a:off x="6483096" y="4648151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6" name="Shape 34">
            <a:extLst>
              <a:ext uri="{FF2B5EF4-FFF2-40B4-BE49-F238E27FC236}">
                <a16:creationId xmlns:a16="http://schemas.microsoft.com/office/drawing/2014/main" id="{7920957F-2209-8B5A-B5CF-D27E295BD1AD}"/>
              </a:ext>
            </a:extLst>
          </p:cNvPr>
          <p:cNvSpPr/>
          <p:nvPr/>
        </p:nvSpPr>
        <p:spPr>
          <a:xfrm>
            <a:off x="6483096" y="4971629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AFA73D8B-8478-5B0F-E79C-30B3724ED257}"/>
              </a:ext>
            </a:extLst>
          </p:cNvPr>
          <p:cNvSpPr txBox="1"/>
          <p:nvPr/>
        </p:nvSpPr>
        <p:spPr>
          <a:xfrm>
            <a:off x="603504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00" name="Text 36">
            <a:extLst>
              <a:ext uri="{FF2B5EF4-FFF2-40B4-BE49-F238E27FC236}">
                <a16:creationId xmlns:a16="http://schemas.microsoft.com/office/drawing/2014/main" id="{A820F315-3C69-9645-8796-76C171164226}"/>
              </a:ext>
            </a:extLst>
          </p:cNvPr>
          <p:cNvSpPr txBox="1"/>
          <p:nvPr/>
        </p:nvSpPr>
        <p:spPr>
          <a:xfrm>
            <a:off x="6126480" y="5504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studies,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900" dirty="0"/>
          </a:p>
        </p:txBody>
      </p:sp>
      <p:sp>
        <p:nvSpPr>
          <p:cNvPr id="102" name="Shape 37">
            <a:extLst>
              <a:ext uri="{FF2B5EF4-FFF2-40B4-BE49-F238E27FC236}">
                <a16:creationId xmlns:a16="http://schemas.microsoft.com/office/drawing/2014/main" id="{917480FF-FDDD-757D-8777-3880FB7C03FB}"/>
              </a:ext>
            </a:extLst>
          </p:cNvPr>
          <p:cNvSpPr/>
          <p:nvPr/>
        </p:nvSpPr>
        <p:spPr>
          <a:xfrm>
            <a:off x="8823960" y="3749040"/>
            <a:ext cx="2514600" cy="21945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4" name="Shape 38">
            <a:extLst>
              <a:ext uri="{FF2B5EF4-FFF2-40B4-BE49-F238E27FC236}">
                <a16:creationId xmlns:a16="http://schemas.microsoft.com/office/drawing/2014/main" id="{57570BEA-9A9C-2EDA-7EC5-3386E8A27D4E}"/>
              </a:ext>
            </a:extLst>
          </p:cNvPr>
          <p:cNvSpPr/>
          <p:nvPr/>
        </p:nvSpPr>
        <p:spPr>
          <a:xfrm>
            <a:off x="9235440" y="4019702"/>
            <a:ext cx="1005840" cy="1347826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6" name="Shape 39">
            <a:extLst>
              <a:ext uri="{FF2B5EF4-FFF2-40B4-BE49-F238E27FC236}">
                <a16:creationId xmlns:a16="http://schemas.microsoft.com/office/drawing/2014/main" id="{81A4C429-7020-8582-DD15-3F966FF51BB9}"/>
              </a:ext>
            </a:extLst>
          </p:cNvPr>
          <p:cNvSpPr/>
          <p:nvPr/>
        </p:nvSpPr>
        <p:spPr>
          <a:xfrm>
            <a:off x="9235440" y="3858768"/>
            <a:ext cx="1005840" cy="321869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8" name="Shape 40">
            <a:extLst>
              <a:ext uri="{FF2B5EF4-FFF2-40B4-BE49-F238E27FC236}">
                <a16:creationId xmlns:a16="http://schemas.microsoft.com/office/drawing/2014/main" id="{A80F27BE-48E4-EE5C-3B17-B46A835AAFC5}"/>
              </a:ext>
            </a:extLst>
          </p:cNvPr>
          <p:cNvSpPr/>
          <p:nvPr/>
        </p:nvSpPr>
        <p:spPr>
          <a:xfrm>
            <a:off x="9235440" y="5206594"/>
            <a:ext cx="1005840" cy="321869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0" name="Shape 41">
            <a:extLst>
              <a:ext uri="{FF2B5EF4-FFF2-40B4-BE49-F238E27FC236}">
                <a16:creationId xmlns:a16="http://schemas.microsoft.com/office/drawing/2014/main" id="{A1EE988B-1186-F966-A084-3002EA998EF4}"/>
              </a:ext>
            </a:extLst>
          </p:cNvPr>
          <p:cNvSpPr/>
          <p:nvPr/>
        </p:nvSpPr>
        <p:spPr>
          <a:xfrm>
            <a:off x="9272016" y="4324673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2" name="Shape 42">
            <a:extLst>
              <a:ext uri="{FF2B5EF4-FFF2-40B4-BE49-F238E27FC236}">
                <a16:creationId xmlns:a16="http://schemas.microsoft.com/office/drawing/2014/main" id="{A72E8D8B-1DD5-13C9-F595-8017B7ACC68D}"/>
              </a:ext>
            </a:extLst>
          </p:cNvPr>
          <p:cNvSpPr/>
          <p:nvPr/>
        </p:nvSpPr>
        <p:spPr>
          <a:xfrm>
            <a:off x="9272016" y="4648151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4" name="Shape 43">
            <a:extLst>
              <a:ext uri="{FF2B5EF4-FFF2-40B4-BE49-F238E27FC236}">
                <a16:creationId xmlns:a16="http://schemas.microsoft.com/office/drawing/2014/main" id="{93C2F36A-F8CE-D401-5A3B-7F866EAA951F}"/>
              </a:ext>
            </a:extLst>
          </p:cNvPr>
          <p:cNvSpPr/>
          <p:nvPr/>
        </p:nvSpPr>
        <p:spPr>
          <a:xfrm>
            <a:off x="9272016" y="4971629"/>
            <a:ext cx="932688" cy="144841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6" name="Text 44">
            <a:extLst>
              <a:ext uri="{FF2B5EF4-FFF2-40B4-BE49-F238E27FC236}">
                <a16:creationId xmlns:a16="http://schemas.microsoft.com/office/drawing/2014/main" id="{0A3D068F-3043-7B7A-F777-74F7B02C5ED9}"/>
              </a:ext>
            </a:extLst>
          </p:cNvPr>
          <p:cNvSpPr txBox="1"/>
          <p:nvPr/>
        </p:nvSpPr>
        <p:spPr>
          <a:xfrm>
            <a:off x="882396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400" dirty="0"/>
          </a:p>
        </p:txBody>
      </p:sp>
      <p:sp>
        <p:nvSpPr>
          <p:cNvPr id="118" name="Text 45">
            <a:extLst>
              <a:ext uri="{FF2B5EF4-FFF2-40B4-BE49-F238E27FC236}">
                <a16:creationId xmlns:a16="http://schemas.microsoft.com/office/drawing/2014/main" id="{59EDF214-D910-DC8D-1671-EB8FC364F099}"/>
              </a:ext>
            </a:extLst>
          </p:cNvPr>
          <p:cNvSpPr txBox="1"/>
          <p:nvPr/>
        </p:nvSpPr>
        <p:spPr>
          <a:xfrm>
            <a:off x="8915400" y="5504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900" dirty="0"/>
          </a:p>
        </p:txBody>
      </p:sp>
      <p:sp>
        <p:nvSpPr>
          <p:cNvPr id="120" name="Text 46">
            <a:extLst>
              <a:ext uri="{FF2B5EF4-FFF2-40B4-BE49-F238E27FC236}">
                <a16:creationId xmlns:a16="http://schemas.microsoft.com/office/drawing/2014/main" id="{A24C210B-2939-F094-C4B2-29A2E7B17515}"/>
              </a:ext>
            </a:extLst>
          </p:cNvPr>
          <p:cNvSpPr txBox="1"/>
          <p:nvPr/>
        </p:nvSpPr>
        <p:spPr>
          <a:xfrm>
            <a:off x="457200" y="610819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large datasets live — SQL is usually nearby</a:t>
            </a:r>
            <a:endParaRPr lang="en-US" sz="1200" dirty="0"/>
          </a:p>
        </p:txBody>
      </p:sp>
      <p:sp>
        <p:nvSpPr>
          <p:cNvPr id="122" name="Text 9">
            <a:extLst>
              <a:ext uri="{FF2B5EF4-FFF2-40B4-BE49-F238E27FC236}">
                <a16:creationId xmlns:a16="http://schemas.microsoft.com/office/drawing/2014/main" id="{A6A0B464-4366-2BD4-C384-5A6293501F22}"/>
              </a:ext>
            </a:extLst>
          </p:cNvPr>
          <p:cNvSpPr txBox="1"/>
          <p:nvPr/>
        </p:nvSpPr>
        <p:spPr>
          <a:xfrm>
            <a:off x="457200" y="3429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where you'll likely use this: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 Use at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777240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work, we use Snowflake — a cloud-based SQL 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777240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Daily: querying millions of claims records, building metrics pipelines, QA checks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777240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276148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core SQL you'll learn today — just running on a much bigger dataset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777240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" y="34015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change.  SQL syntax doesn't — learn it once, use it everywhere.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95360" y="1234440"/>
            <a:ext cx="3291840" cy="47548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595360" y="13167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❄  Snowflake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06840" y="2242109"/>
            <a:ext cx="2468880" cy="3308299"/>
          </a:xfrm>
          <a:prstGeom prst="rect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06840" y="1847088"/>
            <a:ext cx="2468880" cy="790042"/>
          </a:xfrm>
          <a:prstGeom prst="ellipse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06840" y="5155387"/>
            <a:ext cx="2468880" cy="790042"/>
          </a:xfrm>
          <a:prstGeom prst="ellipse">
            <a:avLst/>
          </a:prstGeom>
          <a:solidFill>
            <a:srgbClr val="0F2235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43416" y="2990673"/>
            <a:ext cx="2395728" cy="355519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43416" y="3784665"/>
            <a:ext cx="2395728" cy="355519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43416" y="4578657"/>
            <a:ext cx="2395728" cy="355519"/>
          </a:xfrm>
          <a:prstGeom prst="ellipse">
            <a:avLst/>
          </a:prstGeom>
          <a:solidFill>
            <a:srgbClr val="0F22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595360" y="5422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SQL Platform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059936"/>
            <a:ext cx="7772400" cy="214884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58368" y="4206240"/>
            <a:ext cx="737006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same SQL you learn today...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patient_id, claim_date, diagnosis_code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claims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claim_year = 2024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status = 'approved';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84445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 vs. Tools You Already Know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438912"/>
          </a:xfrm>
          <a:prstGeom prst="rect">
            <a:avLst/>
          </a:prstGeom>
          <a:solidFill>
            <a:srgbClr val="0F2A3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08960" y="1280160"/>
            <a:ext cx="3840480" cy="438912"/>
          </a:xfrm>
          <a:prstGeom prst="rect">
            <a:avLst/>
          </a:prstGeom>
          <a:solidFill>
            <a:srgbClr val="0F2A3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18688" y="13533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 At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40880" y="1280160"/>
            <a:ext cx="4572000" cy="438912"/>
          </a:xfrm>
          <a:prstGeom prst="rect">
            <a:avLst/>
          </a:prstGeom>
          <a:solidFill>
            <a:srgbClr val="0F2A3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150608" y="13533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560320" cy="438912"/>
          </a:xfrm>
          <a:prstGeom prst="rect">
            <a:avLst/>
          </a:prstGeom>
          <a:solidFill>
            <a:srgbClr val="0A1E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6928" y="18105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08960" y="1737360"/>
            <a:ext cx="38404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218688" y="18105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data, quick charts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0880" y="1737360"/>
            <a:ext cx="457200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150608" y="18105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Struggles above ~100k rows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2560320" cy="438912"/>
          </a:xfrm>
          <a:prstGeom prst="rect">
            <a:avLst/>
          </a:prstGeom>
          <a:solidFill>
            <a:srgbClr val="0A1E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66928" y="22677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08960" y="2194560"/>
            <a:ext cx="38404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218688" y="22677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040880" y="2194560"/>
            <a:ext cx="457200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50608" y="22677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raw messy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2560320" cy="438912"/>
          </a:xfrm>
          <a:prstGeom prst="rect">
            <a:avLst/>
          </a:prstGeom>
          <a:solidFill>
            <a:srgbClr val="0A1E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66928" y="27249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/ Python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08960" y="2651760"/>
            <a:ext cx="38404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218688" y="27249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visualization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40880" y="2651760"/>
            <a:ext cx="457200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150608" y="2724912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still need the data first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11247120" cy="438912"/>
          </a:xfrm>
          <a:prstGeom prst="rect">
            <a:avLst/>
          </a:prstGeom>
          <a:solidFill>
            <a:srgbClr val="0F2A3F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566928" y="31821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218688" y="3182112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Retrieve, filter, clean at any scale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150608" y="3182112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for modeling, visualization, or app logic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08598" y="4398264"/>
            <a:ext cx="41148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39B686-BC12-DD4A-5D0A-5251007AE8DE}"/>
              </a:ext>
            </a:extLst>
          </p:cNvPr>
          <p:cNvGrpSpPr/>
          <p:nvPr/>
        </p:nvGrpSpPr>
        <p:grpSpPr>
          <a:xfrm>
            <a:off x="6639732" y="4104827"/>
            <a:ext cx="2862072" cy="548640"/>
            <a:chOff x="8796528" y="3950208"/>
            <a:chExt cx="2862072" cy="548640"/>
          </a:xfrm>
        </p:grpSpPr>
        <p:sp>
          <p:nvSpPr>
            <p:cNvPr id="45" name="Shape 43"/>
            <p:cNvSpPr/>
            <p:nvPr/>
          </p:nvSpPr>
          <p:spPr>
            <a:xfrm>
              <a:off x="8796528" y="3950208"/>
              <a:ext cx="1737360" cy="548640"/>
            </a:xfrm>
            <a:prstGeom prst="rect">
              <a:avLst/>
            </a:prstGeom>
            <a:solidFill>
              <a:srgbClr val="0F2235"/>
            </a:solidFill>
            <a:ln w="635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 44"/>
            <p:cNvSpPr txBox="1"/>
            <p:nvPr/>
          </p:nvSpPr>
          <p:spPr>
            <a:xfrm>
              <a:off x="8796528" y="4087368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5E831AE-CAD3-EA0F-57A4-DDEA1BEDFF72}"/>
                </a:ext>
              </a:extLst>
            </p:cNvPr>
            <p:cNvGrpSpPr/>
            <p:nvPr/>
          </p:nvGrpSpPr>
          <p:grpSpPr>
            <a:xfrm>
              <a:off x="10561320" y="3950208"/>
              <a:ext cx="1097280" cy="548640"/>
              <a:chOff x="10561320" y="3950208"/>
              <a:chExt cx="1097280" cy="548640"/>
            </a:xfrm>
          </p:grpSpPr>
          <p:sp>
            <p:nvSpPr>
              <p:cNvPr id="47" name="Shape 45"/>
              <p:cNvSpPr/>
              <p:nvPr/>
            </p:nvSpPr>
            <p:spPr>
              <a:xfrm>
                <a:off x="10561320" y="3950208"/>
                <a:ext cx="1097280" cy="548640"/>
              </a:xfrm>
              <a:prstGeom prst="rect">
                <a:avLst/>
              </a:prstGeom>
              <a:solidFill>
                <a:srgbClr val="0F2235"/>
              </a:solidFill>
              <a:ln w="5080">
                <a:solidFill>
                  <a:srgbClr val="1E3A5F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 46"/>
              <p:cNvSpPr txBox="1"/>
              <p:nvPr/>
            </p:nvSpPr>
            <p:spPr>
              <a:xfrm>
                <a:off x="10561320" y="3959352"/>
                <a:ext cx="109728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📊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 47"/>
              <p:cNvSpPr txBox="1"/>
              <p:nvPr/>
            </p:nvSpPr>
            <p:spPr>
              <a:xfrm>
                <a:off x="10561320" y="4133088"/>
                <a:ext cx="109728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🔬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Text 48"/>
              <p:cNvSpPr txBox="1"/>
              <p:nvPr/>
            </p:nvSpPr>
            <p:spPr>
              <a:xfrm>
                <a:off x="10632570" y="4325112"/>
                <a:ext cx="975360" cy="16459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📋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" name="Shape 49"/>
          <p:cNvSpPr/>
          <p:nvPr/>
        </p:nvSpPr>
        <p:spPr>
          <a:xfrm>
            <a:off x="419793" y="5462194"/>
            <a:ext cx="11247120" cy="566928"/>
          </a:xfrm>
          <a:prstGeom prst="rect">
            <a:avLst/>
          </a:prstGeom>
          <a:solidFill>
            <a:srgbClr val="0A1E30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655320" y="5595299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 doesn't replace these tools.  It feeds them.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4001BA-FB4F-4F2D-058A-5AB47E34E8E3}"/>
              </a:ext>
            </a:extLst>
          </p:cNvPr>
          <p:cNvGrpSpPr/>
          <p:nvPr/>
        </p:nvGrpSpPr>
        <p:grpSpPr>
          <a:xfrm>
            <a:off x="1996895" y="4101853"/>
            <a:ext cx="2011680" cy="566928"/>
            <a:chOff x="457200" y="5614416"/>
            <a:chExt cx="2011680" cy="731520"/>
          </a:xfrm>
        </p:grpSpPr>
        <p:sp>
          <p:nvSpPr>
            <p:cNvPr id="56" name="Shape 40">
              <a:extLst>
                <a:ext uri="{FF2B5EF4-FFF2-40B4-BE49-F238E27FC236}">
                  <a16:creationId xmlns:a16="http://schemas.microsoft.com/office/drawing/2014/main" id="{63F80358-8687-4EE6-987E-E681C9C6B002}"/>
                </a:ext>
              </a:extLst>
            </p:cNvPr>
            <p:cNvSpPr/>
            <p:nvPr/>
          </p:nvSpPr>
          <p:spPr>
            <a:xfrm>
              <a:off x="457200" y="5614416"/>
              <a:ext cx="2011680" cy="731520"/>
            </a:xfrm>
            <a:prstGeom prst="rect">
              <a:avLst/>
            </a:prstGeom>
            <a:solidFill>
              <a:srgbClr val="0A1E30"/>
            </a:solidFill>
            <a:ln w="15240">
              <a:solidFill>
                <a:srgbClr val="00C9A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 41">
              <a:extLst>
                <a:ext uri="{FF2B5EF4-FFF2-40B4-BE49-F238E27FC236}">
                  <a16:creationId xmlns:a16="http://schemas.microsoft.com/office/drawing/2014/main" id="{C77D8359-6DC8-557E-C518-85FF0E85E2FE}"/>
                </a:ext>
              </a:extLst>
            </p:cNvPr>
            <p:cNvSpPr txBox="1"/>
            <p:nvPr/>
          </p:nvSpPr>
          <p:spPr>
            <a:xfrm>
              <a:off x="457200" y="5760720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C9A7"/>
                  </a:solidFill>
                  <a:effectLst/>
                  <a:uLnTx/>
                  <a:uFillTx/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SQL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" name="Shape 42">
            <a:extLst>
              <a:ext uri="{FF2B5EF4-FFF2-40B4-BE49-F238E27FC236}">
                <a16:creationId xmlns:a16="http://schemas.microsoft.com/office/drawing/2014/main" id="{9CDAEBF1-303E-4091-17ED-CEC9683B5CD3}"/>
              </a:ext>
            </a:extLst>
          </p:cNvPr>
          <p:cNvSpPr/>
          <p:nvPr/>
        </p:nvSpPr>
        <p:spPr>
          <a:xfrm>
            <a:off x="4016353" y="4384488"/>
            <a:ext cx="41148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49A6C72-673B-553E-0434-E3589115459D}"/>
              </a:ext>
            </a:extLst>
          </p:cNvPr>
          <p:cNvGrpSpPr/>
          <p:nvPr/>
        </p:nvGrpSpPr>
        <p:grpSpPr>
          <a:xfrm>
            <a:off x="4451584" y="3885371"/>
            <a:ext cx="1737360" cy="1133856"/>
            <a:chOff x="3146486" y="5614416"/>
            <a:chExt cx="1737360" cy="1133856"/>
          </a:xfrm>
        </p:grpSpPr>
        <p:sp>
          <p:nvSpPr>
            <p:cNvPr id="63" name="Shape 31">
              <a:extLst>
                <a:ext uri="{FF2B5EF4-FFF2-40B4-BE49-F238E27FC236}">
                  <a16:creationId xmlns:a16="http://schemas.microsoft.com/office/drawing/2014/main" id="{779F38D7-C832-768C-045A-69A834C40AE4}"/>
                </a:ext>
              </a:extLst>
            </p:cNvPr>
            <p:cNvSpPr/>
            <p:nvPr/>
          </p:nvSpPr>
          <p:spPr>
            <a:xfrm>
              <a:off x="3146486" y="5614416"/>
              <a:ext cx="1737360" cy="1133856"/>
            </a:xfrm>
            <a:prstGeom prst="rect">
              <a:avLst/>
            </a:prstGeom>
            <a:solidFill>
              <a:srgbClr val="0F2235"/>
            </a:solidFill>
            <a:ln w="635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Shape 43">
              <a:extLst>
                <a:ext uri="{FF2B5EF4-FFF2-40B4-BE49-F238E27FC236}">
                  <a16:creationId xmlns:a16="http://schemas.microsoft.com/office/drawing/2014/main" id="{5566CE4D-912A-03BA-8A5F-07D3ACC0793D}"/>
                </a:ext>
              </a:extLst>
            </p:cNvPr>
            <p:cNvSpPr/>
            <p:nvPr/>
          </p:nvSpPr>
          <p:spPr>
            <a:xfrm>
              <a:off x="3291840" y="5715000"/>
              <a:ext cx="1446415" cy="282093"/>
            </a:xfrm>
            <a:prstGeom prst="rect">
              <a:avLst/>
            </a:prstGeom>
            <a:solidFill>
              <a:srgbClr val="0F2235"/>
            </a:solidFill>
            <a:ln w="635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041D4852-C154-C264-9449-F4A5E57611C9}"/>
                </a:ext>
              </a:extLst>
            </p:cNvPr>
            <p:cNvSpPr txBox="1"/>
            <p:nvPr/>
          </p:nvSpPr>
          <p:spPr>
            <a:xfrm>
              <a:off x="3379123" y="5727802"/>
              <a:ext cx="1271847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Shape 43">
              <a:extLst>
                <a:ext uri="{FF2B5EF4-FFF2-40B4-BE49-F238E27FC236}">
                  <a16:creationId xmlns:a16="http://schemas.microsoft.com/office/drawing/2014/main" id="{9E791EDA-0A0E-026F-AD58-E11B98AB237E}"/>
                </a:ext>
              </a:extLst>
            </p:cNvPr>
            <p:cNvSpPr/>
            <p:nvPr/>
          </p:nvSpPr>
          <p:spPr>
            <a:xfrm>
              <a:off x="3297658" y="6072530"/>
              <a:ext cx="1446415" cy="282093"/>
            </a:xfrm>
            <a:prstGeom prst="rect">
              <a:avLst/>
            </a:prstGeom>
            <a:solidFill>
              <a:srgbClr val="0F2235"/>
            </a:solidFill>
            <a:ln w="635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Text 32">
              <a:extLst>
                <a:ext uri="{FF2B5EF4-FFF2-40B4-BE49-F238E27FC236}">
                  <a16:creationId xmlns:a16="http://schemas.microsoft.com/office/drawing/2014/main" id="{090F5F48-C6EB-88FF-6D83-BF6A7AD3C8F3}"/>
                </a:ext>
              </a:extLst>
            </p:cNvPr>
            <p:cNvSpPr txBox="1"/>
            <p:nvPr/>
          </p:nvSpPr>
          <p:spPr>
            <a:xfrm>
              <a:off x="3384941" y="6085332"/>
              <a:ext cx="1271847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SPSS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Shape 43">
              <a:extLst>
                <a:ext uri="{FF2B5EF4-FFF2-40B4-BE49-F238E27FC236}">
                  <a16:creationId xmlns:a16="http://schemas.microsoft.com/office/drawing/2014/main" id="{00CA290A-039D-9F65-3EB8-2CFE2053822D}"/>
                </a:ext>
              </a:extLst>
            </p:cNvPr>
            <p:cNvSpPr/>
            <p:nvPr/>
          </p:nvSpPr>
          <p:spPr>
            <a:xfrm>
              <a:off x="3297658" y="6395181"/>
              <a:ext cx="1446415" cy="282093"/>
            </a:xfrm>
            <a:prstGeom prst="rect">
              <a:avLst/>
            </a:prstGeom>
            <a:solidFill>
              <a:srgbClr val="0F2235"/>
            </a:solidFill>
            <a:ln w="635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32">
              <a:extLst>
                <a:ext uri="{FF2B5EF4-FFF2-40B4-BE49-F238E27FC236}">
                  <a16:creationId xmlns:a16="http://schemas.microsoft.com/office/drawing/2014/main" id="{4B3CDA0D-5EE8-347F-1450-9BFC62CECCE8}"/>
                </a:ext>
              </a:extLst>
            </p:cNvPr>
            <p:cNvSpPr txBox="1"/>
            <p:nvPr/>
          </p:nvSpPr>
          <p:spPr>
            <a:xfrm>
              <a:off x="3384941" y="6407983"/>
              <a:ext cx="1271847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R/Python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SQL is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0020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visualization tool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25560"/>
            <a:ext cx="1124712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 txBox="1"/>
          <p:nvPr/>
        </p:nvSpPr>
        <p:spPr>
          <a:xfrm>
            <a:off x="640080" y="32901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30844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for IT people or software developers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012528"/>
            <a:ext cx="1124712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640080" y="4177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419540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difficult to start — the basics read like English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899496"/>
            <a:ext cx="1124712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640080" y="50640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508237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something you have to memorize — even pros Google syntax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2440" y="5748528"/>
            <a:ext cx="11247120" cy="548640"/>
          </a:xfrm>
          <a:prstGeom prst="rect">
            <a:avLst/>
          </a:prstGeom>
          <a:solidFill>
            <a:srgbClr val="0A2A1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655320" y="5867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It's closer to writing a sentence than writing a program.</a:t>
            </a:r>
            <a:endParaRPr lang="en-US" sz="14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14C95B8A-4E5D-D836-41A5-DC0B882AB132}"/>
              </a:ext>
            </a:extLst>
          </p:cNvPr>
          <p:cNvSpPr/>
          <p:nvPr/>
        </p:nvSpPr>
        <p:spPr>
          <a:xfrm>
            <a:off x="457200" y="2254843"/>
            <a:ext cx="1124712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1411304-6412-4E9E-CB06-3146AE0ABFF2}"/>
              </a:ext>
            </a:extLst>
          </p:cNvPr>
          <p:cNvSpPr txBox="1"/>
          <p:nvPr/>
        </p:nvSpPr>
        <p:spPr>
          <a:xfrm>
            <a:off x="640080" y="2419435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F6B697CA-AC01-A275-9715-99162FD78B2D}"/>
              </a:ext>
            </a:extLst>
          </p:cNvPr>
          <p:cNvSpPr txBox="1"/>
          <p:nvPr/>
        </p:nvSpPr>
        <p:spPr>
          <a:xfrm>
            <a:off x="1261872" y="2437723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tools you already know</a:t>
            </a:r>
            <a:endParaRPr lang="en-US" sz="15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SQL'S ROLE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History + Common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60704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 txBox="1"/>
          <p:nvPr/>
        </p:nvSpPr>
        <p:spPr>
          <a:xfrm>
            <a:off x="64008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develops 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384048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938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standard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60020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 txBox="1"/>
          <p:nvPr/>
        </p:nvSpPr>
        <p:spPr>
          <a:xfrm>
            <a:off x="786384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1938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years, still #1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SQL tools: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557784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475488" cy="365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1115568" y="30723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local — great for 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557784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475488" cy="365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 txBox="1"/>
          <p:nvPr/>
        </p:nvSpPr>
        <p:spPr>
          <a:xfrm>
            <a:off x="1115568" y="38039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powerful, widely used in analytics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557784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475488" cy="365760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 txBox="1"/>
          <p:nvPr/>
        </p:nvSpPr>
        <p:spPr>
          <a:xfrm>
            <a:off x="1115568" y="45354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4553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web &amp; research databases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999232"/>
            <a:ext cx="557784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475488" cy="36576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 txBox="1"/>
          <p:nvPr/>
        </p:nvSpPr>
        <p:spPr>
          <a:xfrm>
            <a:off x="7013448" y="30723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 / BigQuery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— large organizations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730752"/>
            <a:ext cx="557784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6446520" y="3840480"/>
            <a:ext cx="475488" cy="365760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 txBox="1"/>
          <p:nvPr/>
        </p:nvSpPr>
        <p:spPr>
          <a:xfrm>
            <a:off x="7013448" y="38039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SQL Server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government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596128"/>
            <a:ext cx="2560320" cy="347472"/>
          </a:xfrm>
          <a:prstGeom prst="rect">
            <a:avLst/>
          </a:prstGeom>
          <a:solidFill>
            <a:srgbClr val="0A2A1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 txBox="1"/>
          <p:nvPr/>
        </p:nvSpPr>
        <p:spPr>
          <a:xfrm>
            <a:off x="566928" y="56692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SQLite today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Databases &amp; Data Structure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Tables, rows, columns, keys, and how data is structured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DATABASES &amp; DATA STRUCTURE</a:t>
            </a:r>
            <a:endParaRPr lang="en-US" sz="9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3474720"/>
          </a:xfrm>
          <a:prstGeom prst="rect">
            <a:avLst/>
          </a:prstGeom>
          <a:solidFill>
            <a:srgbClr val="0F2235"/>
          </a:solidFill>
          <a:ln w="635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500" dirty="0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1463040" cy="384048"/>
          </a:xfrm>
          <a:prstGeom prst="rect">
            <a:avLst/>
          </a:prstGeom>
          <a:solidFill>
            <a:srgbClr val="0F2A3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2240280" y="1965960"/>
            <a:ext cx="1463040" cy="384048"/>
          </a:xfrm>
          <a:prstGeom prst="rect">
            <a:avLst/>
          </a:prstGeom>
          <a:solidFill>
            <a:srgbClr val="0F2A3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Box 9"/>
          <p:cNvSpPr txBox="1"/>
          <p:nvPr/>
        </p:nvSpPr>
        <p:spPr>
          <a:xfrm>
            <a:off x="2286000" y="2029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3794760" y="1965960"/>
            <a:ext cx="1463040" cy="384048"/>
          </a:xfrm>
          <a:prstGeom prst="rect">
            <a:avLst/>
          </a:prstGeom>
          <a:solidFill>
            <a:srgbClr val="0F2A3F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3840480" y="2029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cs typeface="Courier New" pitchFamily="34" charset="-120"/>
              </a:rPr>
              <a:t>nationality</a:t>
            </a:r>
            <a:endParaRPr lang="en-US" sz="1000" dirty="0"/>
          </a:p>
        </p:txBody>
      </p:sp>
      <p:sp>
        <p:nvSpPr>
          <p:cNvPr id="13" name="Rectangle 12"/>
          <p:cNvSpPr/>
          <p:nvPr/>
        </p:nvSpPr>
        <p:spPr>
          <a:xfrm>
            <a:off x="685800" y="2404872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2240280" y="2404872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3794760" y="2404872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685800" y="2843784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Rectangle 16"/>
          <p:cNvSpPr/>
          <p:nvPr/>
        </p:nvSpPr>
        <p:spPr>
          <a:xfrm>
            <a:off x="2240280" y="2843784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Rectangle 17"/>
          <p:cNvSpPr/>
          <p:nvPr/>
        </p:nvSpPr>
        <p:spPr>
          <a:xfrm>
            <a:off x="3794760" y="2843784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/>
          <p:cNvSpPr/>
          <p:nvPr/>
        </p:nvSpPr>
        <p:spPr>
          <a:xfrm>
            <a:off x="685800" y="3282696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/>
          <p:cNvSpPr/>
          <p:nvPr/>
        </p:nvSpPr>
        <p:spPr>
          <a:xfrm>
            <a:off x="2240280" y="3282696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Rectangle 20"/>
          <p:cNvSpPr/>
          <p:nvPr/>
        </p:nvSpPr>
        <p:spPr>
          <a:xfrm>
            <a:off x="3794760" y="3282696"/>
            <a:ext cx="1463040" cy="384048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Great for smaller data you can see and work with directly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42153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Struggles past ~1 million rows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85800" y="45445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Formulas break as data grows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562356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26" name="Rectangle 25"/>
          <p:cNvSpPr/>
          <p:nvPr/>
        </p:nvSpPr>
        <p:spPr>
          <a:xfrm>
            <a:off x="6309360" y="1371600"/>
            <a:ext cx="5394960" cy="347472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Box 26"/>
          <p:cNvSpPr txBox="1"/>
          <p:nvPr/>
        </p:nvSpPr>
        <p:spPr>
          <a:xfrm>
            <a:off x="6537960" y="1508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8" name="Rectangle 27"/>
          <p:cNvSpPr/>
          <p:nvPr/>
        </p:nvSpPr>
        <p:spPr>
          <a:xfrm>
            <a:off x="6537960" y="1938528"/>
            <a:ext cx="2286000" cy="384048"/>
          </a:xfrm>
          <a:prstGeom prst="rect">
            <a:avLst/>
          </a:prstGeom>
          <a:solidFill>
            <a:srgbClr val="0F2A3F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Box 28"/>
          <p:cNvSpPr txBox="1"/>
          <p:nvPr/>
        </p:nvSpPr>
        <p:spPr>
          <a:xfrm>
            <a:off x="6629400" y="19933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6537960" y="2322576"/>
            <a:ext cx="228600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Box 30"/>
          <p:cNvSpPr txBox="1"/>
          <p:nvPr/>
        </p:nvSpPr>
        <p:spPr>
          <a:xfrm>
            <a:off x="6629400" y="23682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6537960" y="2633472"/>
            <a:ext cx="228600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TextBox 32"/>
          <p:cNvSpPr txBox="1"/>
          <p:nvPr/>
        </p:nvSpPr>
        <p:spPr>
          <a:xfrm>
            <a:off x="6629400" y="26791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6537960" y="2944368"/>
            <a:ext cx="228600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Box 34"/>
          <p:cNvSpPr txBox="1"/>
          <p:nvPr/>
        </p:nvSpPr>
        <p:spPr>
          <a:xfrm>
            <a:off x="6629400" y="29900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lang="en-US" sz="1000" dirty="0"/>
          </a:p>
        </p:txBody>
      </p:sp>
      <p:sp>
        <p:nvSpPr>
          <p:cNvPr id="36" name="Rectangle 35"/>
          <p:cNvSpPr/>
          <p:nvPr/>
        </p:nvSpPr>
        <p:spPr>
          <a:xfrm>
            <a:off x="6537960" y="1938528"/>
            <a:ext cx="2286000" cy="1316736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Rectangle 36"/>
          <p:cNvSpPr/>
          <p:nvPr/>
        </p:nvSpPr>
        <p:spPr>
          <a:xfrm>
            <a:off x="9235440" y="1938528"/>
            <a:ext cx="2286000" cy="384048"/>
          </a:xfrm>
          <a:prstGeom prst="rect">
            <a:avLst/>
          </a:prstGeom>
          <a:solidFill>
            <a:srgbClr val="0F2A3F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TextBox 37"/>
          <p:cNvSpPr txBox="1"/>
          <p:nvPr/>
        </p:nvSpPr>
        <p:spPr>
          <a:xfrm>
            <a:off x="9326880" y="19933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endParaRPr lang="en-US" sz="1200" dirty="0"/>
          </a:p>
        </p:txBody>
      </p:sp>
      <p:sp>
        <p:nvSpPr>
          <p:cNvPr id="39" name="Rectangle 38"/>
          <p:cNvSpPr/>
          <p:nvPr/>
        </p:nvSpPr>
        <p:spPr>
          <a:xfrm>
            <a:off x="9235440" y="2322576"/>
            <a:ext cx="228600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Box 39"/>
          <p:cNvSpPr txBox="1"/>
          <p:nvPr/>
        </p:nvSpPr>
        <p:spPr>
          <a:xfrm>
            <a:off x="9326880" y="23682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visit_id</a:t>
            </a:r>
            <a:endParaRPr lang="en-US" sz="1000" dirty="0"/>
          </a:p>
        </p:txBody>
      </p:sp>
      <p:sp>
        <p:nvSpPr>
          <p:cNvPr id="41" name="Rectangle 40"/>
          <p:cNvSpPr/>
          <p:nvPr/>
        </p:nvSpPr>
        <p:spPr>
          <a:xfrm>
            <a:off x="9235440" y="2633472"/>
            <a:ext cx="228600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2" name="TextBox 41"/>
          <p:cNvSpPr txBox="1"/>
          <p:nvPr/>
        </p:nvSpPr>
        <p:spPr>
          <a:xfrm>
            <a:off x="9326880" y="26791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</a:t>
            </a:r>
            <a:endParaRPr lang="en-US" sz="1000" dirty="0"/>
          </a:p>
        </p:txBody>
      </p:sp>
      <p:sp>
        <p:nvSpPr>
          <p:cNvPr id="43" name="Rectangle 42"/>
          <p:cNvSpPr/>
          <p:nvPr/>
        </p:nvSpPr>
        <p:spPr>
          <a:xfrm>
            <a:off x="9235440" y="2944368"/>
            <a:ext cx="228600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TextBox 43"/>
          <p:cNvSpPr txBox="1"/>
          <p:nvPr/>
        </p:nvSpPr>
        <p:spPr>
          <a:xfrm>
            <a:off x="9326880" y="29900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endParaRPr lang="en-US" sz="1000" dirty="0"/>
          </a:p>
        </p:txBody>
      </p:sp>
      <p:sp>
        <p:nvSpPr>
          <p:cNvPr id="45" name="Rectangle 44"/>
          <p:cNvSpPr/>
          <p:nvPr/>
        </p:nvSpPr>
        <p:spPr>
          <a:xfrm>
            <a:off x="9235440" y="1938528"/>
            <a:ext cx="2286000" cy="1316736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TextBox 46"/>
          <p:cNvSpPr txBox="1"/>
          <p:nvPr/>
        </p:nvSpPr>
        <p:spPr>
          <a:xfrm>
            <a:off x="6537960" y="3886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Multiple connected tables</a:t>
            </a:r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6537960" y="42153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Many users at once</a:t>
            </a:r>
            <a:endParaRPr 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6537960" y="45445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Billions of rows — no sweat</a:t>
            </a:r>
            <a:endParaRPr lang="en-US" sz="1200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B8FEFC6-07F8-8FDB-85BD-41495A1A34B0}"/>
              </a:ext>
            </a:extLst>
          </p:cNvPr>
          <p:cNvCxnSpPr>
            <a:cxnSpLocks/>
          </p:cNvCxnSpPr>
          <p:nvPr/>
        </p:nvCxnSpPr>
        <p:spPr>
          <a:xfrm>
            <a:off x="8823960" y="2497873"/>
            <a:ext cx="411480" cy="2910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DATABASES &amp; DATA STRUCTURE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Rows, Columns, and Keys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585216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4996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633472" y="151790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data (like one sheet in Excel)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585216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23682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633472" y="238658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— one tourist, one visit, one destination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585216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" y="32369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633472" y="325526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attribute — tourist_id, nationality, age_group, sex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585216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0080" y="41056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633472" y="412394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row  (e.g. tourist_id) 🔑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864608"/>
            <a:ext cx="5852160" cy="71323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" y="49743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633472" y="499262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Column that links to another table's primary key  🔗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75120" y="3950208"/>
            <a:ext cx="109728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11696" y="4014216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0" y="3950208"/>
            <a:ext cx="118872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808976" y="401421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61120" y="3950208"/>
            <a:ext cx="164592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997696" y="401421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75120" y="4297680"/>
            <a:ext cx="10972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11696" y="4352544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0" y="4297680"/>
            <a:ext cx="118872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808976" y="435254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61120" y="4297680"/>
            <a:ext cx="164592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997696" y="4352544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675120" y="4645152"/>
            <a:ext cx="10972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711696" y="4700016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72400" y="4645152"/>
            <a:ext cx="11887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808976" y="470001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961120" y="4645152"/>
            <a:ext cx="164592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997696" y="470001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American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675120" y="4992624"/>
            <a:ext cx="10972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711696" y="5047488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772400" y="4992624"/>
            <a:ext cx="118872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7808976" y="50474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 Cruz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961120" y="4992624"/>
            <a:ext cx="164592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997696" y="504748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54"/>
          <p:cNvSpPr/>
          <p:nvPr/>
        </p:nvSpPr>
        <p:spPr>
          <a:xfrm>
            <a:off x="7658100" y="3346704"/>
            <a:ext cx="1417320" cy="402336"/>
          </a:xfrm>
          <a:prstGeom prst="rect">
            <a:avLst/>
          </a:prstGeom>
          <a:solidFill>
            <a:srgbClr val="0A1828"/>
          </a:solidFill>
          <a:ln w="8890">
            <a:solidFill>
              <a:srgbClr val="A78BF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55"/>
          <p:cNvSpPr txBox="1"/>
          <p:nvPr/>
        </p:nvSpPr>
        <p:spPr>
          <a:xfrm>
            <a:off x="7749540" y="3383280"/>
            <a:ext cx="123444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</a:t>
            </a:r>
          </a:p>
        </p:txBody>
      </p:sp>
      <p:sp>
        <p:nvSpPr>
          <p:cNvPr id="56" name="t56"/>
          <p:cNvSpPr txBox="1"/>
          <p:nvPr/>
        </p:nvSpPr>
        <p:spPr>
          <a:xfrm>
            <a:off x="7749540" y="3566160"/>
            <a:ext cx="1234440" cy="146304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attribute</a:t>
            </a:r>
          </a:p>
        </p:txBody>
      </p:sp>
      <p:sp>
        <p:nvSpPr>
          <p:cNvPr id="57" name="arr57"/>
          <p:cNvSpPr/>
          <p:nvPr/>
        </p:nvSpPr>
        <p:spPr>
          <a:xfrm>
            <a:off x="8366760" y="3749040"/>
            <a:ext cx="9144" cy="201168"/>
          </a:xfrm>
          <a:prstGeom prst="line">
            <a:avLst/>
          </a:prstGeom>
          <a:noFill/>
          <a:ln w="11430">
            <a:solidFill>
              <a:srgbClr val="A78BFA"/>
            </a:solidFill>
            <a:tailEnd type="arrow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58"/>
          <p:cNvSpPr/>
          <p:nvPr/>
        </p:nvSpPr>
        <p:spPr>
          <a:xfrm>
            <a:off x="10698480" y="4617720"/>
            <a:ext cx="1188720" cy="402336"/>
          </a:xfrm>
          <a:prstGeom prst="rect">
            <a:avLst/>
          </a:prstGeom>
          <a:solidFill>
            <a:srgbClr val="0A1828"/>
          </a:solidFill>
          <a:ln w="889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59"/>
          <p:cNvSpPr txBox="1"/>
          <p:nvPr/>
        </p:nvSpPr>
        <p:spPr>
          <a:xfrm>
            <a:off x="10789919" y="4654296"/>
            <a:ext cx="1078992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10789919" y="4837176"/>
            <a:ext cx="1078992" cy="146304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record</a:t>
            </a:r>
          </a:p>
        </p:txBody>
      </p:sp>
      <p:sp>
        <p:nvSpPr>
          <p:cNvPr id="61" name="arr61"/>
          <p:cNvSpPr/>
          <p:nvPr/>
        </p:nvSpPr>
        <p:spPr>
          <a:xfrm>
            <a:off x="10607040" y="4818888"/>
            <a:ext cx="91439" cy="9144"/>
          </a:xfrm>
          <a:prstGeom prst="line">
            <a:avLst/>
          </a:prstGeom>
          <a:noFill/>
          <a:ln w="11430">
            <a:solidFill>
              <a:srgbClr val="4FC3F7"/>
            </a:solidFill>
            <a:tailEnd type="arrow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62"/>
          <p:cNvSpPr txBox="1"/>
          <p:nvPr/>
        </p:nvSpPr>
        <p:spPr>
          <a:xfrm>
            <a:off x="6675120" y="5449824"/>
            <a:ext cx="3931920" cy="219456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tourists  (table)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DD7B7D-C694-80C2-4EBE-A2A665ECFF09}"/>
              </a:ext>
            </a:extLst>
          </p:cNvPr>
          <p:cNvSpPr txBox="1"/>
          <p:nvPr/>
        </p:nvSpPr>
        <p:spPr>
          <a:xfrm>
            <a:off x="7472362" y="3993249"/>
            <a:ext cx="3714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51">
            <a:extLst>
              <a:ext uri="{FF2B5EF4-FFF2-40B4-BE49-F238E27FC236}">
                <a16:creationId xmlns:a16="http://schemas.microsoft.com/office/drawing/2014/main" id="{E8F04037-771D-C5D2-EC3A-9DBDA249153D}"/>
              </a:ext>
            </a:extLst>
          </p:cNvPr>
          <p:cNvSpPr/>
          <p:nvPr/>
        </p:nvSpPr>
        <p:spPr>
          <a:xfrm>
            <a:off x="6675120" y="3950208"/>
            <a:ext cx="3931920" cy="1389888"/>
          </a:xfrm>
          <a:prstGeom prst="rect">
            <a:avLst/>
          </a:prstGeom>
          <a:noFill/>
          <a:ln w="12700">
            <a:solidFill>
              <a:srgbClr val="00C9A7"/>
            </a:solidFill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5A74C-C86B-E8E3-2E50-E6FF2262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5F2C95-910F-126B-2771-D4E809BBF81F}"/>
              </a:ext>
            </a:extLst>
          </p:cNvPr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DATA CLEANING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BA4CEC-56A9-8CE9-2EC7-16D2180633E9}"/>
              </a:ext>
            </a:extLst>
          </p:cNvPr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28C76A-D53B-B994-0C65-C1A83A57A655}"/>
              </a:ext>
            </a:extLst>
          </p:cNvPr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C5410B-0119-E474-7858-A182A62EFE41}"/>
              </a:ext>
            </a:extLst>
          </p:cNvPr>
          <p:cNvSpPr/>
          <p:nvPr/>
        </p:nvSpPr>
        <p:spPr>
          <a:xfrm>
            <a:off x="457200" y="1389888"/>
            <a:ext cx="11247120" cy="74980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3DA643-C1AB-E691-1BB6-9A35D0F0612D}"/>
              </a:ext>
            </a:extLst>
          </p:cNvPr>
          <p:cNvSpPr txBox="1"/>
          <p:nvPr/>
        </p:nvSpPr>
        <p:spPr>
          <a:xfrm>
            <a:off x="566928" y="153619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1C10F5-33FB-9B81-2766-68454E9DC28B}"/>
              </a:ext>
            </a:extLst>
          </p:cNvPr>
          <p:cNvSpPr txBox="1"/>
          <p:nvPr/>
        </p:nvSpPr>
        <p:spPr>
          <a:xfrm>
            <a:off x="1133856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/ BIGINT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79673A-7067-B292-1169-64A616B71766}"/>
              </a:ext>
            </a:extLst>
          </p:cNvPr>
          <p:cNvSpPr txBox="1"/>
          <p:nvPr/>
        </p:nvSpPr>
        <p:spPr>
          <a:xfrm>
            <a:off x="3950208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C8A194-A145-4AE2-CF46-DBB735E41F47}"/>
              </a:ext>
            </a:extLst>
          </p:cNvPr>
          <p:cNvSpPr txBox="1"/>
          <p:nvPr/>
        </p:nvSpPr>
        <p:spPr>
          <a:xfrm>
            <a:off x="7498080" y="1527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 length_of_stay, count, ID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A6667B-3728-151A-CDAB-9AC198385BCE}"/>
              </a:ext>
            </a:extLst>
          </p:cNvPr>
          <p:cNvSpPr/>
          <p:nvPr/>
        </p:nvSpPr>
        <p:spPr>
          <a:xfrm>
            <a:off x="457200" y="2286000"/>
            <a:ext cx="11247120" cy="74980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4F5D98-9C47-5102-5FB9-6D003F556CC7}"/>
              </a:ext>
            </a:extLst>
          </p:cNvPr>
          <p:cNvSpPr txBox="1"/>
          <p:nvPr/>
        </p:nvSpPr>
        <p:spPr>
          <a:xfrm>
            <a:off x="566928" y="243230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9899E8-76BF-0491-861A-82B14B30A6CF}"/>
              </a:ext>
            </a:extLst>
          </p:cNvPr>
          <p:cNvSpPr txBox="1"/>
          <p:nvPr/>
        </p:nvSpPr>
        <p:spPr>
          <a:xfrm>
            <a:off x="1133856" y="2404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/ DECIMAL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00272C-4FE5-EF34-A360-6E2D9B5C7EF7}"/>
              </a:ext>
            </a:extLst>
          </p:cNvPr>
          <p:cNvSpPr txBox="1"/>
          <p:nvPr/>
        </p:nvSpPr>
        <p:spPr>
          <a:xfrm>
            <a:off x="3950208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 decimals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263A190-1FEB-C97B-8D88-E4FBC42FDED7}"/>
              </a:ext>
            </a:extLst>
          </p:cNvPr>
          <p:cNvSpPr txBox="1"/>
          <p:nvPr/>
        </p:nvSpPr>
        <p:spPr>
          <a:xfrm>
            <a:off x="749808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spending_php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34926B4-9344-6C36-47A0-5FBB02F1DC15}"/>
              </a:ext>
            </a:extLst>
          </p:cNvPr>
          <p:cNvSpPr/>
          <p:nvPr/>
        </p:nvSpPr>
        <p:spPr>
          <a:xfrm>
            <a:off x="457200" y="3182112"/>
            <a:ext cx="11247120" cy="74980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67DC07-B032-2CF1-551B-FDE667F68D44}"/>
              </a:ext>
            </a:extLst>
          </p:cNvPr>
          <p:cNvSpPr txBox="1"/>
          <p:nvPr/>
        </p:nvSpPr>
        <p:spPr>
          <a:xfrm>
            <a:off x="566928" y="33284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693F69-14A7-26B1-B680-513EE574F82C}"/>
              </a:ext>
            </a:extLst>
          </p:cNvPr>
          <p:cNvSpPr txBox="1"/>
          <p:nvPr/>
        </p:nvSpPr>
        <p:spPr>
          <a:xfrm>
            <a:off x="1133856" y="33009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 / TEXT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F57DA8-CDCE-6839-DFD0-ACA877CDEFC8}"/>
              </a:ext>
            </a:extLst>
          </p:cNvPr>
          <p:cNvSpPr txBox="1"/>
          <p:nvPr/>
        </p:nvSpPr>
        <p:spPr>
          <a:xfrm>
            <a:off x="3950208" y="3300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2F53FAD-3C40-DB84-69C8-223E3A1CBECD}"/>
              </a:ext>
            </a:extLst>
          </p:cNvPr>
          <p:cNvSpPr txBox="1"/>
          <p:nvPr/>
        </p:nvSpPr>
        <p:spPr>
          <a:xfrm>
            <a:off x="7498080" y="3319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 names, codes, categories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AE1EB3E-9208-1889-9E75-CE5757779437}"/>
              </a:ext>
            </a:extLst>
          </p:cNvPr>
          <p:cNvSpPr/>
          <p:nvPr/>
        </p:nvSpPr>
        <p:spPr>
          <a:xfrm>
            <a:off x="457200" y="4078224"/>
            <a:ext cx="11247120" cy="74980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81806A-6404-5F47-E4A9-22F9CF979900}"/>
              </a:ext>
            </a:extLst>
          </p:cNvPr>
          <p:cNvSpPr txBox="1"/>
          <p:nvPr/>
        </p:nvSpPr>
        <p:spPr>
          <a:xfrm>
            <a:off x="566928" y="42245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01DF9BC-0AF2-715B-311D-5302C0E1D6B9}"/>
              </a:ext>
            </a:extLst>
          </p:cNvPr>
          <p:cNvSpPr txBox="1"/>
          <p:nvPr/>
        </p:nvSpPr>
        <p:spPr>
          <a:xfrm>
            <a:off x="1133856" y="4197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/ TIMESTAMP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72FA9D5-BC4B-60D6-9E4D-F904DE0639C6}"/>
              </a:ext>
            </a:extLst>
          </p:cNvPr>
          <p:cNvSpPr txBox="1"/>
          <p:nvPr/>
        </p:nvSpPr>
        <p:spPr>
          <a:xfrm>
            <a:off x="3950208" y="41970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Dates and times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7DD2D3-2E6F-564A-8294-B256973D4E59}"/>
              </a:ext>
            </a:extLst>
          </p:cNvPr>
          <p:cNvSpPr txBox="1"/>
          <p:nvPr/>
        </p:nvSpPr>
        <p:spPr>
          <a:xfrm>
            <a:off x="7498080" y="42153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 visit_date, created_at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83932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3 · DATABASES &amp; DATA STRUCTURE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457200" y="457200"/>
            <a:ext cx="11247120" cy="62179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Not Just One Big Table?</a:t>
            </a:r>
          </a:p>
        </p:txBody>
      </p:sp>
      <p:sp>
        <p:nvSpPr>
          <p:cNvPr id="103" name="r103"/>
          <p:cNvSpPr/>
          <p:nvPr/>
        </p:nvSpPr>
        <p:spPr>
          <a:xfrm>
            <a:off x="457200" y="969264"/>
            <a:ext cx="3474720" cy="41148"/>
          </a:xfrm>
          <a:prstGeom prst="rect">
            <a:avLst/>
          </a:prstGeom>
          <a:solidFill>
            <a:srgbClr val="00C9A7"/>
          </a:solidFill>
          <a:ln w="635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104"/>
          <p:cNvSpPr txBox="1"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❌  One flat table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" y="1371600"/>
            <a:ext cx="54864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 same accommodation appears in many visits — it is repeated every time.</a:t>
            </a:r>
          </a:p>
        </p:txBody>
      </p:sp>
      <p:sp>
        <p:nvSpPr>
          <p:cNvPr id="106" name="r106"/>
          <p:cNvSpPr/>
          <p:nvPr/>
        </p:nvSpPr>
        <p:spPr>
          <a:xfrm>
            <a:off x="457200" y="1627632"/>
            <a:ext cx="100584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107"/>
          <p:cNvSpPr txBox="1"/>
          <p:nvPr/>
        </p:nvSpPr>
        <p:spPr>
          <a:xfrm>
            <a:off x="530352" y="1719072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tourist_id</a:t>
            </a:r>
          </a:p>
        </p:txBody>
      </p:sp>
      <p:sp>
        <p:nvSpPr>
          <p:cNvPr id="108" name="r108"/>
          <p:cNvSpPr/>
          <p:nvPr/>
        </p:nvSpPr>
        <p:spPr>
          <a:xfrm>
            <a:off x="1463040" y="1627632"/>
            <a:ext cx="100584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109"/>
          <p:cNvSpPr txBox="1"/>
          <p:nvPr/>
        </p:nvSpPr>
        <p:spPr>
          <a:xfrm>
            <a:off x="1536192" y="1719072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first_name</a:t>
            </a:r>
          </a:p>
        </p:txBody>
      </p:sp>
      <p:sp>
        <p:nvSpPr>
          <p:cNvPr id="110" name="r110"/>
          <p:cNvSpPr/>
          <p:nvPr/>
        </p:nvSpPr>
        <p:spPr>
          <a:xfrm>
            <a:off x="2468880" y="1627632"/>
            <a:ext cx="137160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111"/>
          <p:cNvSpPr txBox="1"/>
          <p:nvPr/>
        </p:nvSpPr>
        <p:spPr>
          <a:xfrm>
            <a:off x="2542032" y="1719072"/>
            <a:ext cx="12618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accommodation</a:t>
            </a:r>
          </a:p>
        </p:txBody>
      </p:sp>
      <p:sp>
        <p:nvSpPr>
          <p:cNvPr id="112" name="r112"/>
          <p:cNvSpPr/>
          <p:nvPr/>
        </p:nvSpPr>
        <p:spPr>
          <a:xfrm>
            <a:off x="3840480" y="1627632"/>
            <a:ext cx="109728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113"/>
          <p:cNvSpPr txBox="1"/>
          <p:nvPr/>
        </p:nvSpPr>
        <p:spPr>
          <a:xfrm>
            <a:off x="3913632" y="1719072"/>
            <a:ext cx="9875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destination</a:t>
            </a:r>
          </a:p>
        </p:txBody>
      </p:sp>
      <p:sp>
        <p:nvSpPr>
          <p:cNvPr id="114" name="r114"/>
          <p:cNvSpPr/>
          <p:nvPr/>
        </p:nvSpPr>
        <p:spPr>
          <a:xfrm>
            <a:off x="4937760" y="1627632"/>
            <a:ext cx="64008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115"/>
          <p:cNvSpPr txBox="1"/>
          <p:nvPr/>
        </p:nvSpPr>
        <p:spPr>
          <a:xfrm>
            <a:off x="5010912" y="1719072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spending</a:t>
            </a:r>
          </a:p>
        </p:txBody>
      </p:sp>
      <p:sp>
        <p:nvSpPr>
          <p:cNvPr id="116" name="r116"/>
          <p:cNvSpPr/>
          <p:nvPr/>
        </p:nvSpPr>
        <p:spPr>
          <a:xfrm>
            <a:off x="457200" y="1975104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117"/>
          <p:cNvSpPr txBox="1"/>
          <p:nvPr/>
        </p:nvSpPr>
        <p:spPr>
          <a:xfrm>
            <a:off x="530352" y="2066544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118" name="r118"/>
          <p:cNvSpPr/>
          <p:nvPr/>
        </p:nvSpPr>
        <p:spPr>
          <a:xfrm>
            <a:off x="1463040" y="1975104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119"/>
          <p:cNvSpPr txBox="1"/>
          <p:nvPr/>
        </p:nvSpPr>
        <p:spPr>
          <a:xfrm>
            <a:off x="1536192" y="2066544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Kim</a:t>
            </a:r>
          </a:p>
        </p:txBody>
      </p:sp>
      <p:sp>
        <p:nvSpPr>
          <p:cNvPr id="120" name="r120"/>
          <p:cNvSpPr/>
          <p:nvPr/>
        </p:nvSpPr>
        <p:spPr>
          <a:xfrm>
            <a:off x="2468880" y="1975104"/>
            <a:ext cx="13716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121"/>
          <p:cNvSpPr txBox="1"/>
          <p:nvPr/>
        </p:nvSpPr>
        <p:spPr>
          <a:xfrm>
            <a:off x="2542032" y="2066544"/>
            <a:ext cx="12618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Hostel</a:t>
            </a:r>
          </a:p>
        </p:txBody>
      </p:sp>
      <p:sp>
        <p:nvSpPr>
          <p:cNvPr id="122" name="r122"/>
          <p:cNvSpPr/>
          <p:nvPr/>
        </p:nvSpPr>
        <p:spPr>
          <a:xfrm>
            <a:off x="3840480" y="1975104"/>
            <a:ext cx="10972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123"/>
          <p:cNvSpPr txBox="1"/>
          <p:nvPr/>
        </p:nvSpPr>
        <p:spPr>
          <a:xfrm>
            <a:off x="3913632" y="2066544"/>
            <a:ext cx="9875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Boracay</a:t>
            </a:r>
          </a:p>
        </p:txBody>
      </p:sp>
      <p:sp>
        <p:nvSpPr>
          <p:cNvPr id="124" name="r124"/>
          <p:cNvSpPr/>
          <p:nvPr/>
        </p:nvSpPr>
        <p:spPr>
          <a:xfrm>
            <a:off x="4937760" y="1975104"/>
            <a:ext cx="6400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125"/>
          <p:cNvSpPr txBox="1"/>
          <p:nvPr/>
        </p:nvSpPr>
        <p:spPr>
          <a:xfrm>
            <a:off x="5010912" y="2066544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15,000</a:t>
            </a:r>
          </a:p>
        </p:txBody>
      </p:sp>
      <p:sp>
        <p:nvSpPr>
          <p:cNvPr id="126" name="r126"/>
          <p:cNvSpPr/>
          <p:nvPr/>
        </p:nvSpPr>
        <p:spPr>
          <a:xfrm>
            <a:off x="457200" y="2322576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127"/>
          <p:cNvSpPr txBox="1"/>
          <p:nvPr/>
        </p:nvSpPr>
        <p:spPr>
          <a:xfrm>
            <a:off x="530352" y="2414016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128" name="r128"/>
          <p:cNvSpPr/>
          <p:nvPr/>
        </p:nvSpPr>
        <p:spPr>
          <a:xfrm>
            <a:off x="1463040" y="2322576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129"/>
          <p:cNvSpPr txBox="1"/>
          <p:nvPr/>
        </p:nvSpPr>
        <p:spPr>
          <a:xfrm>
            <a:off x="1536192" y="2414016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Kim</a:t>
            </a:r>
          </a:p>
        </p:txBody>
      </p:sp>
      <p:sp>
        <p:nvSpPr>
          <p:cNvPr id="130" name="r130"/>
          <p:cNvSpPr/>
          <p:nvPr/>
        </p:nvSpPr>
        <p:spPr>
          <a:xfrm>
            <a:off x="2468880" y="2322576"/>
            <a:ext cx="137160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t131"/>
          <p:cNvSpPr txBox="1"/>
          <p:nvPr/>
        </p:nvSpPr>
        <p:spPr>
          <a:xfrm>
            <a:off x="2542032" y="2414016"/>
            <a:ext cx="12618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Hostel</a:t>
            </a:r>
          </a:p>
        </p:txBody>
      </p:sp>
      <p:sp>
        <p:nvSpPr>
          <p:cNvPr id="132" name="r132"/>
          <p:cNvSpPr/>
          <p:nvPr/>
        </p:nvSpPr>
        <p:spPr>
          <a:xfrm>
            <a:off x="3840480" y="2322576"/>
            <a:ext cx="10972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t133"/>
          <p:cNvSpPr txBox="1"/>
          <p:nvPr/>
        </p:nvSpPr>
        <p:spPr>
          <a:xfrm>
            <a:off x="3913632" y="2414016"/>
            <a:ext cx="9875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El Nido</a:t>
            </a:r>
          </a:p>
        </p:txBody>
      </p:sp>
      <p:sp>
        <p:nvSpPr>
          <p:cNvPr id="134" name="r134"/>
          <p:cNvSpPr/>
          <p:nvPr/>
        </p:nvSpPr>
        <p:spPr>
          <a:xfrm>
            <a:off x="4937760" y="2322576"/>
            <a:ext cx="6400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135"/>
          <p:cNvSpPr txBox="1"/>
          <p:nvPr/>
        </p:nvSpPr>
        <p:spPr>
          <a:xfrm>
            <a:off x="5010912" y="2414016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22,000</a:t>
            </a:r>
          </a:p>
        </p:txBody>
      </p:sp>
      <p:sp>
        <p:nvSpPr>
          <p:cNvPr id="136" name="r136"/>
          <p:cNvSpPr/>
          <p:nvPr/>
        </p:nvSpPr>
        <p:spPr>
          <a:xfrm>
            <a:off x="457200" y="2670048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t137"/>
          <p:cNvSpPr txBox="1"/>
          <p:nvPr/>
        </p:nvSpPr>
        <p:spPr>
          <a:xfrm>
            <a:off x="530352" y="2761488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138" name="r138"/>
          <p:cNvSpPr/>
          <p:nvPr/>
        </p:nvSpPr>
        <p:spPr>
          <a:xfrm>
            <a:off x="1463040" y="2670048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139"/>
          <p:cNvSpPr txBox="1"/>
          <p:nvPr/>
        </p:nvSpPr>
        <p:spPr>
          <a:xfrm>
            <a:off x="1536192" y="2761488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Kim</a:t>
            </a:r>
          </a:p>
        </p:txBody>
      </p:sp>
      <p:sp>
        <p:nvSpPr>
          <p:cNvPr id="140" name="r140"/>
          <p:cNvSpPr/>
          <p:nvPr/>
        </p:nvSpPr>
        <p:spPr>
          <a:xfrm>
            <a:off x="2468880" y="2670048"/>
            <a:ext cx="13716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141"/>
          <p:cNvSpPr txBox="1"/>
          <p:nvPr/>
        </p:nvSpPr>
        <p:spPr>
          <a:xfrm>
            <a:off x="2542032" y="2761488"/>
            <a:ext cx="12618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Guesthouse</a:t>
            </a:r>
          </a:p>
        </p:txBody>
      </p:sp>
      <p:sp>
        <p:nvSpPr>
          <p:cNvPr id="142" name="r142"/>
          <p:cNvSpPr/>
          <p:nvPr/>
        </p:nvSpPr>
        <p:spPr>
          <a:xfrm>
            <a:off x="3840480" y="2670048"/>
            <a:ext cx="10972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143"/>
          <p:cNvSpPr txBox="1"/>
          <p:nvPr/>
        </p:nvSpPr>
        <p:spPr>
          <a:xfrm>
            <a:off x="3913632" y="2761488"/>
            <a:ext cx="9875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Siargao</a:t>
            </a:r>
          </a:p>
        </p:txBody>
      </p:sp>
      <p:sp>
        <p:nvSpPr>
          <p:cNvPr id="144" name="r144"/>
          <p:cNvSpPr/>
          <p:nvPr/>
        </p:nvSpPr>
        <p:spPr>
          <a:xfrm>
            <a:off x="4937760" y="2670048"/>
            <a:ext cx="6400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t145"/>
          <p:cNvSpPr txBox="1"/>
          <p:nvPr/>
        </p:nvSpPr>
        <p:spPr>
          <a:xfrm>
            <a:off x="5010912" y="2761488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18,500</a:t>
            </a:r>
          </a:p>
        </p:txBody>
      </p:sp>
      <p:sp>
        <p:nvSpPr>
          <p:cNvPr id="146" name="r146"/>
          <p:cNvSpPr/>
          <p:nvPr/>
        </p:nvSpPr>
        <p:spPr>
          <a:xfrm>
            <a:off x="457200" y="3017520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t147"/>
          <p:cNvSpPr txBox="1"/>
          <p:nvPr/>
        </p:nvSpPr>
        <p:spPr>
          <a:xfrm>
            <a:off x="530352" y="3108960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148" name="r148"/>
          <p:cNvSpPr/>
          <p:nvPr/>
        </p:nvSpPr>
        <p:spPr>
          <a:xfrm>
            <a:off x="1463040" y="3017520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t149"/>
          <p:cNvSpPr txBox="1"/>
          <p:nvPr/>
        </p:nvSpPr>
        <p:spPr>
          <a:xfrm>
            <a:off x="1536192" y="3108960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Kim</a:t>
            </a:r>
          </a:p>
        </p:txBody>
      </p:sp>
      <p:sp>
        <p:nvSpPr>
          <p:cNvPr id="150" name="r150"/>
          <p:cNvSpPr/>
          <p:nvPr/>
        </p:nvSpPr>
        <p:spPr>
          <a:xfrm>
            <a:off x="2468880" y="3017520"/>
            <a:ext cx="137160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151"/>
          <p:cNvSpPr txBox="1"/>
          <p:nvPr/>
        </p:nvSpPr>
        <p:spPr>
          <a:xfrm>
            <a:off x="2542032" y="3108960"/>
            <a:ext cx="12618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Hotel</a:t>
            </a:r>
          </a:p>
        </p:txBody>
      </p:sp>
      <p:sp>
        <p:nvSpPr>
          <p:cNvPr id="152" name="r152"/>
          <p:cNvSpPr/>
          <p:nvPr/>
        </p:nvSpPr>
        <p:spPr>
          <a:xfrm>
            <a:off x="3840480" y="3017520"/>
            <a:ext cx="10972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t153"/>
          <p:cNvSpPr txBox="1"/>
          <p:nvPr/>
        </p:nvSpPr>
        <p:spPr>
          <a:xfrm>
            <a:off x="3913632" y="3108960"/>
            <a:ext cx="9875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Coron</a:t>
            </a:r>
          </a:p>
        </p:txBody>
      </p:sp>
      <p:sp>
        <p:nvSpPr>
          <p:cNvPr id="154" name="r154"/>
          <p:cNvSpPr/>
          <p:nvPr/>
        </p:nvSpPr>
        <p:spPr>
          <a:xfrm>
            <a:off x="4937760" y="3017520"/>
            <a:ext cx="6400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155"/>
          <p:cNvSpPr txBox="1"/>
          <p:nvPr/>
        </p:nvSpPr>
        <p:spPr>
          <a:xfrm>
            <a:off x="5010912" y="3108960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20,000</a:t>
            </a:r>
          </a:p>
        </p:txBody>
      </p:sp>
      <p:sp>
        <p:nvSpPr>
          <p:cNvPr id="156" name="r156"/>
          <p:cNvSpPr/>
          <p:nvPr/>
        </p:nvSpPr>
        <p:spPr>
          <a:xfrm>
            <a:off x="457200" y="1627632"/>
            <a:ext cx="5120640" cy="1737360"/>
          </a:xfrm>
          <a:prstGeom prst="rect">
            <a:avLst/>
          </a:prstGeom>
          <a:noFill/>
          <a:ln w="1016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r157"/>
          <p:cNvSpPr/>
          <p:nvPr/>
        </p:nvSpPr>
        <p:spPr>
          <a:xfrm>
            <a:off x="109728" y="1975104"/>
            <a:ext cx="256032" cy="1389888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158"/>
          <p:cNvSpPr txBox="1"/>
          <p:nvPr/>
        </p:nvSpPr>
        <p:spPr>
          <a:xfrm>
            <a:off x="128016" y="2392070"/>
            <a:ext cx="219456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2D8142-731D-A4BC-BBA7-7E827BC9DA56}"/>
              </a:ext>
            </a:extLst>
          </p:cNvPr>
          <p:cNvGrpSpPr/>
          <p:nvPr/>
        </p:nvGrpSpPr>
        <p:grpSpPr>
          <a:xfrm>
            <a:off x="457200" y="3696725"/>
            <a:ext cx="5120640" cy="1074736"/>
            <a:chOff x="457200" y="4096511"/>
            <a:chExt cx="5120640" cy="1074736"/>
          </a:xfrm>
        </p:grpSpPr>
        <p:sp>
          <p:nvSpPr>
            <p:cNvPr id="162" name="r162"/>
            <p:cNvSpPr/>
            <p:nvPr/>
          </p:nvSpPr>
          <p:spPr>
            <a:xfrm>
              <a:off x="457200" y="4096511"/>
              <a:ext cx="5120640" cy="438912"/>
            </a:xfrm>
            <a:prstGeom prst="rect">
              <a:avLst/>
            </a:prstGeom>
            <a:solidFill>
              <a:srgbClr val="0F2235"/>
            </a:solidFill>
            <a:ln w="5080">
              <a:solidFill>
                <a:srgbClr val="1A3040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163"/>
            <p:cNvSpPr txBox="1"/>
            <p:nvPr/>
          </p:nvSpPr>
          <p:spPr>
            <a:xfrm>
              <a:off x="594360" y="4187951"/>
              <a:ext cx="365760" cy="2743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🔁</a:t>
              </a:r>
            </a:p>
          </p:txBody>
        </p:sp>
        <p:sp>
          <p:nvSpPr>
            <p:cNvPr id="164" name="t164"/>
            <p:cNvSpPr txBox="1"/>
            <p:nvPr/>
          </p:nvSpPr>
          <p:spPr>
            <a:xfrm>
              <a:off x="1005840" y="4151375"/>
              <a:ext cx="1280160" cy="18288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EF44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Redundancy</a:t>
              </a:r>
            </a:p>
          </p:txBody>
        </p:sp>
        <p:sp>
          <p:nvSpPr>
            <p:cNvPr id="165" name="t165"/>
            <p:cNvSpPr txBox="1"/>
            <p:nvPr/>
          </p:nvSpPr>
          <p:spPr>
            <a:xfrm>
              <a:off x="1005840" y="4334255"/>
              <a:ext cx="4389120" cy="164592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Same data repeated across many rows</a:t>
              </a:r>
            </a:p>
          </p:txBody>
        </p:sp>
        <p:sp>
          <p:nvSpPr>
            <p:cNvPr id="170" name="r170"/>
            <p:cNvSpPr/>
            <p:nvPr/>
          </p:nvSpPr>
          <p:spPr>
            <a:xfrm>
              <a:off x="457200" y="4732335"/>
              <a:ext cx="5120640" cy="438912"/>
            </a:xfrm>
            <a:prstGeom prst="rect">
              <a:avLst/>
            </a:prstGeom>
            <a:solidFill>
              <a:srgbClr val="0F2235"/>
            </a:solidFill>
            <a:ln w="5080">
              <a:solidFill>
                <a:srgbClr val="1A3040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t171"/>
            <p:cNvSpPr txBox="1"/>
            <p:nvPr/>
          </p:nvSpPr>
          <p:spPr>
            <a:xfrm>
              <a:off x="594360" y="4823774"/>
              <a:ext cx="365760" cy="2743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🗑️</a:t>
              </a:r>
            </a:p>
          </p:txBody>
        </p:sp>
        <p:sp>
          <p:nvSpPr>
            <p:cNvPr id="172" name="t172"/>
            <p:cNvSpPr txBox="1"/>
            <p:nvPr/>
          </p:nvSpPr>
          <p:spPr>
            <a:xfrm>
              <a:off x="1005840" y="4787198"/>
              <a:ext cx="1280160" cy="18288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EF44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Deletion Anomaly</a:t>
              </a:r>
            </a:p>
          </p:txBody>
        </p:sp>
        <p:sp>
          <p:nvSpPr>
            <p:cNvPr id="173" name="t173"/>
            <p:cNvSpPr txBox="1"/>
            <p:nvPr/>
          </p:nvSpPr>
          <p:spPr>
            <a:xfrm>
              <a:off x="1005840" y="4970078"/>
              <a:ext cx="4389120" cy="164592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Delete a tourist and you lose all their visit records</a:t>
              </a:r>
            </a:p>
          </p:txBody>
        </p:sp>
      </p:grpSp>
      <p:sp>
        <p:nvSpPr>
          <p:cNvPr id="174" name="r174"/>
          <p:cNvSpPr/>
          <p:nvPr/>
        </p:nvSpPr>
        <p:spPr>
          <a:xfrm>
            <a:off x="6144768" y="1078992"/>
            <a:ext cx="36576" cy="5577840"/>
          </a:xfrm>
          <a:prstGeom prst="rect">
            <a:avLst/>
          </a:prstGeom>
          <a:solidFill>
            <a:srgbClr val="1A3040"/>
          </a:solidFill>
          <a:ln w="0">
            <a:solidFill>
              <a:srgbClr val="1A304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t175"/>
          <p:cNvSpPr txBox="1"/>
          <p:nvPr/>
        </p:nvSpPr>
        <p:spPr>
          <a:xfrm>
            <a:off x="6355080" y="1078992"/>
            <a:ext cx="54864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✅  Separate tables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6355080" y="1371600"/>
            <a:ext cx="54864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piece of information stored exactly once.</a:t>
            </a:r>
          </a:p>
        </p:txBody>
      </p:sp>
      <p:sp>
        <p:nvSpPr>
          <p:cNvPr id="177" name="r177"/>
          <p:cNvSpPr/>
          <p:nvPr/>
        </p:nvSpPr>
        <p:spPr>
          <a:xfrm>
            <a:off x="6355080" y="1627632"/>
            <a:ext cx="100584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178"/>
          <p:cNvSpPr txBox="1"/>
          <p:nvPr/>
        </p:nvSpPr>
        <p:spPr>
          <a:xfrm>
            <a:off x="6428232" y="1719072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tourist_id</a:t>
            </a:r>
          </a:p>
        </p:txBody>
      </p:sp>
      <p:sp>
        <p:nvSpPr>
          <p:cNvPr id="179" name="r179"/>
          <p:cNvSpPr/>
          <p:nvPr/>
        </p:nvSpPr>
        <p:spPr>
          <a:xfrm>
            <a:off x="7360920" y="1627632"/>
            <a:ext cx="100584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180"/>
          <p:cNvSpPr txBox="1"/>
          <p:nvPr/>
        </p:nvSpPr>
        <p:spPr>
          <a:xfrm>
            <a:off x="7434072" y="1719072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first_name</a:t>
            </a:r>
          </a:p>
        </p:txBody>
      </p:sp>
      <p:sp>
        <p:nvSpPr>
          <p:cNvPr id="183" name="r183"/>
          <p:cNvSpPr/>
          <p:nvPr/>
        </p:nvSpPr>
        <p:spPr>
          <a:xfrm>
            <a:off x="6355080" y="1975104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t184"/>
          <p:cNvSpPr txBox="1"/>
          <p:nvPr/>
        </p:nvSpPr>
        <p:spPr>
          <a:xfrm>
            <a:off x="6428232" y="2066544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185" name="r185"/>
          <p:cNvSpPr/>
          <p:nvPr/>
        </p:nvSpPr>
        <p:spPr>
          <a:xfrm>
            <a:off x="7360920" y="1975104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7434072" y="2066544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Kim</a:t>
            </a:r>
          </a:p>
        </p:txBody>
      </p:sp>
      <p:sp>
        <p:nvSpPr>
          <p:cNvPr id="189" name="r189"/>
          <p:cNvSpPr/>
          <p:nvPr/>
        </p:nvSpPr>
        <p:spPr>
          <a:xfrm>
            <a:off x="6355080" y="2322576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t190"/>
          <p:cNvSpPr txBox="1"/>
          <p:nvPr/>
        </p:nvSpPr>
        <p:spPr>
          <a:xfrm>
            <a:off x="6428232" y="2414016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T002</a:t>
            </a:r>
          </a:p>
        </p:txBody>
      </p:sp>
      <p:sp>
        <p:nvSpPr>
          <p:cNvPr id="191" name="r191"/>
          <p:cNvSpPr/>
          <p:nvPr/>
        </p:nvSpPr>
        <p:spPr>
          <a:xfrm>
            <a:off x="7360920" y="2322576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192"/>
          <p:cNvSpPr txBox="1"/>
          <p:nvPr/>
        </p:nvSpPr>
        <p:spPr>
          <a:xfrm>
            <a:off x="7434072" y="2414016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Smith</a:t>
            </a:r>
          </a:p>
        </p:txBody>
      </p:sp>
      <p:sp>
        <p:nvSpPr>
          <p:cNvPr id="195" name="r195"/>
          <p:cNvSpPr/>
          <p:nvPr/>
        </p:nvSpPr>
        <p:spPr>
          <a:xfrm>
            <a:off x="6355080" y="1627632"/>
            <a:ext cx="2020824" cy="1042416"/>
          </a:xfrm>
          <a:prstGeom prst="rect">
            <a:avLst/>
          </a:prstGeom>
          <a:noFill/>
          <a:ln w="1016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t196"/>
          <p:cNvSpPr txBox="1"/>
          <p:nvPr/>
        </p:nvSpPr>
        <p:spPr>
          <a:xfrm>
            <a:off x="6355080" y="2743200"/>
            <a:ext cx="338328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tourists</a:t>
            </a:r>
          </a:p>
        </p:txBody>
      </p:sp>
      <p:sp>
        <p:nvSpPr>
          <p:cNvPr id="197" name="r197"/>
          <p:cNvSpPr/>
          <p:nvPr/>
        </p:nvSpPr>
        <p:spPr>
          <a:xfrm>
            <a:off x="6862572" y="3054096"/>
            <a:ext cx="36576" cy="347472"/>
          </a:xfrm>
          <a:prstGeom prst="rect">
            <a:avLst/>
          </a:prstGeom>
          <a:solidFill>
            <a:srgbClr val="00C9A7"/>
          </a:solidFill>
          <a:ln w="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198"/>
          <p:cNvSpPr/>
          <p:nvPr/>
        </p:nvSpPr>
        <p:spPr>
          <a:xfrm>
            <a:off x="6862572" y="3401568"/>
            <a:ext cx="2368296" cy="36576"/>
          </a:xfrm>
          <a:prstGeom prst="rect">
            <a:avLst/>
          </a:prstGeom>
          <a:solidFill>
            <a:srgbClr val="00C9A7"/>
          </a:solidFill>
          <a:ln w="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199"/>
          <p:cNvSpPr/>
          <p:nvPr/>
        </p:nvSpPr>
        <p:spPr>
          <a:xfrm>
            <a:off x="9194292" y="3401568"/>
            <a:ext cx="36576" cy="384048"/>
          </a:xfrm>
          <a:prstGeom prst="rect">
            <a:avLst/>
          </a:prstGeom>
          <a:solidFill>
            <a:srgbClr val="00C9A7"/>
          </a:solidFill>
          <a:ln w="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200"/>
          <p:cNvSpPr txBox="1"/>
          <p:nvPr/>
        </p:nvSpPr>
        <p:spPr>
          <a:xfrm>
            <a:off x="7200900" y="3108960"/>
            <a:ext cx="2286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tourist_id  (FK)</a:t>
            </a:r>
          </a:p>
        </p:txBody>
      </p:sp>
      <p:sp>
        <p:nvSpPr>
          <p:cNvPr id="201" name="r201"/>
          <p:cNvSpPr/>
          <p:nvPr/>
        </p:nvSpPr>
        <p:spPr>
          <a:xfrm>
            <a:off x="6355080" y="3858768"/>
            <a:ext cx="100584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t202"/>
          <p:cNvSpPr txBox="1"/>
          <p:nvPr/>
        </p:nvSpPr>
        <p:spPr>
          <a:xfrm>
            <a:off x="6428232" y="3950207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visit_id</a:t>
            </a:r>
          </a:p>
        </p:txBody>
      </p:sp>
      <p:sp>
        <p:nvSpPr>
          <p:cNvPr id="203" name="r203"/>
          <p:cNvSpPr/>
          <p:nvPr/>
        </p:nvSpPr>
        <p:spPr>
          <a:xfrm>
            <a:off x="7360920" y="3858768"/>
            <a:ext cx="91440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204"/>
          <p:cNvSpPr txBox="1"/>
          <p:nvPr/>
        </p:nvSpPr>
        <p:spPr>
          <a:xfrm>
            <a:off x="7434072" y="3950207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tourist_id</a:t>
            </a:r>
          </a:p>
        </p:txBody>
      </p:sp>
      <p:sp>
        <p:nvSpPr>
          <p:cNvPr id="205" name="r205"/>
          <p:cNvSpPr/>
          <p:nvPr/>
        </p:nvSpPr>
        <p:spPr>
          <a:xfrm>
            <a:off x="8275320" y="3858768"/>
            <a:ext cx="91440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t206"/>
          <p:cNvSpPr txBox="1"/>
          <p:nvPr/>
        </p:nvSpPr>
        <p:spPr>
          <a:xfrm>
            <a:off x="8275320" y="3950207"/>
            <a:ext cx="987552" cy="146304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accommodation</a:t>
            </a:r>
          </a:p>
        </p:txBody>
      </p:sp>
      <p:sp>
        <p:nvSpPr>
          <p:cNvPr id="207" name="r207"/>
          <p:cNvSpPr/>
          <p:nvPr/>
        </p:nvSpPr>
        <p:spPr>
          <a:xfrm>
            <a:off x="9189720" y="3858768"/>
            <a:ext cx="64008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t208"/>
          <p:cNvSpPr txBox="1"/>
          <p:nvPr/>
        </p:nvSpPr>
        <p:spPr>
          <a:xfrm>
            <a:off x="9262872" y="3950207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spending</a:t>
            </a:r>
          </a:p>
        </p:txBody>
      </p:sp>
      <p:sp>
        <p:nvSpPr>
          <p:cNvPr id="209" name="r209"/>
          <p:cNvSpPr/>
          <p:nvPr/>
        </p:nvSpPr>
        <p:spPr>
          <a:xfrm>
            <a:off x="6355080" y="4206240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210"/>
          <p:cNvSpPr txBox="1"/>
          <p:nvPr/>
        </p:nvSpPr>
        <p:spPr>
          <a:xfrm>
            <a:off x="6428232" y="4297679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V001</a:t>
            </a:r>
          </a:p>
        </p:txBody>
      </p:sp>
      <p:sp>
        <p:nvSpPr>
          <p:cNvPr id="211" name="r211"/>
          <p:cNvSpPr/>
          <p:nvPr/>
        </p:nvSpPr>
        <p:spPr>
          <a:xfrm>
            <a:off x="7360920" y="4206240"/>
            <a:ext cx="9144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t212"/>
          <p:cNvSpPr txBox="1"/>
          <p:nvPr/>
        </p:nvSpPr>
        <p:spPr>
          <a:xfrm>
            <a:off x="7434072" y="4297679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213" name="r213"/>
          <p:cNvSpPr/>
          <p:nvPr/>
        </p:nvSpPr>
        <p:spPr>
          <a:xfrm>
            <a:off x="8275320" y="4206240"/>
            <a:ext cx="9144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t214"/>
          <p:cNvSpPr txBox="1"/>
          <p:nvPr/>
        </p:nvSpPr>
        <p:spPr>
          <a:xfrm>
            <a:off x="8348472" y="4297679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Hostel</a:t>
            </a:r>
          </a:p>
        </p:txBody>
      </p:sp>
      <p:sp>
        <p:nvSpPr>
          <p:cNvPr id="215" name="r215"/>
          <p:cNvSpPr/>
          <p:nvPr/>
        </p:nvSpPr>
        <p:spPr>
          <a:xfrm>
            <a:off x="9189720" y="4206240"/>
            <a:ext cx="6400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t216"/>
          <p:cNvSpPr txBox="1"/>
          <p:nvPr/>
        </p:nvSpPr>
        <p:spPr>
          <a:xfrm>
            <a:off x="9262872" y="4297679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15,000</a:t>
            </a:r>
          </a:p>
        </p:txBody>
      </p:sp>
      <p:sp>
        <p:nvSpPr>
          <p:cNvPr id="217" name="r217"/>
          <p:cNvSpPr/>
          <p:nvPr/>
        </p:nvSpPr>
        <p:spPr>
          <a:xfrm>
            <a:off x="6355080" y="4553712"/>
            <a:ext cx="100584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t218"/>
          <p:cNvSpPr txBox="1"/>
          <p:nvPr/>
        </p:nvSpPr>
        <p:spPr>
          <a:xfrm>
            <a:off x="6428232" y="4645151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V002</a:t>
            </a:r>
          </a:p>
        </p:txBody>
      </p:sp>
      <p:sp>
        <p:nvSpPr>
          <p:cNvPr id="219" name="r219"/>
          <p:cNvSpPr/>
          <p:nvPr/>
        </p:nvSpPr>
        <p:spPr>
          <a:xfrm>
            <a:off x="7360920" y="4553712"/>
            <a:ext cx="91440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t220"/>
          <p:cNvSpPr txBox="1"/>
          <p:nvPr/>
        </p:nvSpPr>
        <p:spPr>
          <a:xfrm>
            <a:off x="7434072" y="4645151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T001</a:t>
            </a:r>
          </a:p>
        </p:txBody>
      </p:sp>
      <p:sp>
        <p:nvSpPr>
          <p:cNvPr id="221" name="r221"/>
          <p:cNvSpPr/>
          <p:nvPr/>
        </p:nvSpPr>
        <p:spPr>
          <a:xfrm>
            <a:off x="8275320" y="4553712"/>
            <a:ext cx="91440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t222"/>
          <p:cNvSpPr txBox="1"/>
          <p:nvPr/>
        </p:nvSpPr>
        <p:spPr>
          <a:xfrm>
            <a:off x="8348472" y="4645151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Hostel</a:t>
            </a:r>
          </a:p>
        </p:txBody>
      </p:sp>
      <p:sp>
        <p:nvSpPr>
          <p:cNvPr id="223" name="r223"/>
          <p:cNvSpPr/>
          <p:nvPr/>
        </p:nvSpPr>
        <p:spPr>
          <a:xfrm>
            <a:off x="9189720" y="4553712"/>
            <a:ext cx="6400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t224"/>
          <p:cNvSpPr txBox="1"/>
          <p:nvPr/>
        </p:nvSpPr>
        <p:spPr>
          <a:xfrm>
            <a:off x="9262872" y="4645151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22,000</a:t>
            </a:r>
          </a:p>
        </p:txBody>
      </p:sp>
      <p:sp>
        <p:nvSpPr>
          <p:cNvPr id="225" name="r225"/>
          <p:cNvSpPr/>
          <p:nvPr/>
        </p:nvSpPr>
        <p:spPr>
          <a:xfrm>
            <a:off x="6355080" y="4901183"/>
            <a:ext cx="100584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t226"/>
          <p:cNvSpPr txBox="1"/>
          <p:nvPr/>
        </p:nvSpPr>
        <p:spPr>
          <a:xfrm>
            <a:off x="6428232" y="4992623"/>
            <a:ext cx="89611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V003</a:t>
            </a:r>
          </a:p>
        </p:txBody>
      </p:sp>
      <p:sp>
        <p:nvSpPr>
          <p:cNvPr id="227" name="r227"/>
          <p:cNvSpPr/>
          <p:nvPr/>
        </p:nvSpPr>
        <p:spPr>
          <a:xfrm>
            <a:off x="7360920" y="4901183"/>
            <a:ext cx="9144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228"/>
          <p:cNvSpPr txBox="1"/>
          <p:nvPr/>
        </p:nvSpPr>
        <p:spPr>
          <a:xfrm>
            <a:off x="7434072" y="4992623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T002</a:t>
            </a:r>
          </a:p>
        </p:txBody>
      </p:sp>
      <p:sp>
        <p:nvSpPr>
          <p:cNvPr id="229" name="r229"/>
          <p:cNvSpPr/>
          <p:nvPr/>
        </p:nvSpPr>
        <p:spPr>
          <a:xfrm>
            <a:off x="8275320" y="4901183"/>
            <a:ext cx="9144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t230"/>
          <p:cNvSpPr txBox="1"/>
          <p:nvPr/>
        </p:nvSpPr>
        <p:spPr>
          <a:xfrm>
            <a:off x="8348472" y="4992623"/>
            <a:ext cx="80467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Guesthouse</a:t>
            </a:r>
          </a:p>
        </p:txBody>
      </p:sp>
      <p:sp>
        <p:nvSpPr>
          <p:cNvPr id="231" name="r231"/>
          <p:cNvSpPr/>
          <p:nvPr/>
        </p:nvSpPr>
        <p:spPr>
          <a:xfrm>
            <a:off x="9189720" y="4901183"/>
            <a:ext cx="6400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t232"/>
          <p:cNvSpPr txBox="1"/>
          <p:nvPr/>
        </p:nvSpPr>
        <p:spPr>
          <a:xfrm>
            <a:off x="9262872" y="4992623"/>
            <a:ext cx="530352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18,500</a:t>
            </a:r>
          </a:p>
        </p:txBody>
      </p:sp>
      <p:sp>
        <p:nvSpPr>
          <p:cNvPr id="233" name="r233"/>
          <p:cNvSpPr/>
          <p:nvPr/>
        </p:nvSpPr>
        <p:spPr>
          <a:xfrm>
            <a:off x="6355080" y="3858768"/>
            <a:ext cx="3474720" cy="1389888"/>
          </a:xfrm>
          <a:prstGeom prst="rect">
            <a:avLst/>
          </a:prstGeom>
          <a:noFill/>
          <a:ln w="1016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234"/>
          <p:cNvSpPr txBox="1"/>
          <p:nvPr/>
        </p:nvSpPr>
        <p:spPr>
          <a:xfrm>
            <a:off x="6355080" y="5321808"/>
            <a:ext cx="347472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visits</a:t>
            </a:r>
          </a:p>
        </p:txBody>
      </p:sp>
      <p:sp>
        <p:nvSpPr>
          <p:cNvPr id="235" name="r235"/>
          <p:cNvSpPr/>
          <p:nvPr/>
        </p:nvSpPr>
        <p:spPr>
          <a:xfrm>
            <a:off x="6355080" y="5596128"/>
            <a:ext cx="5577840" cy="402336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t236"/>
          <p:cNvSpPr txBox="1"/>
          <p:nvPr/>
        </p:nvSpPr>
        <p:spPr>
          <a:xfrm>
            <a:off x="6537960" y="5650992"/>
            <a:ext cx="530352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Kim appears once. Visit records are stored in another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SQL Fundamentals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SELECT  ·  WHERE  ·  ORDER BY  ·  GROUP BY  ·  Aggregate functions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Look at a SQL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I explain anything: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217920" cy="233172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 txBox="1"/>
          <p:nvPr/>
        </p:nvSpPr>
        <p:spPr>
          <a:xfrm>
            <a:off x="777240" y="1901952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destination_name, region, category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destinations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5292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category = 'Beach'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28416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destination_name ASC;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48272" y="2852928"/>
            <a:ext cx="502920" cy="9144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6601968" y="259689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3533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719072"/>
            <a:ext cx="1371600" cy="347472"/>
          </a:xfrm>
          <a:prstGeom prst="rect">
            <a:avLst/>
          </a:prstGeom>
          <a:solidFill>
            <a:srgbClr val="0F2A3F"/>
          </a:solidFill>
          <a:ln w="762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7452360" y="178308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destination_name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0" y="1719072"/>
            <a:ext cx="1280160" cy="347472"/>
          </a:xfrm>
          <a:prstGeom prst="rect">
            <a:avLst/>
          </a:prstGeom>
          <a:solidFill>
            <a:srgbClr val="0F2A3F"/>
          </a:solidFill>
          <a:ln w="762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 txBox="1"/>
          <p:nvPr/>
        </p:nvSpPr>
        <p:spPr>
          <a:xfrm>
            <a:off x="8823960" y="17830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0" y="1719072"/>
            <a:ext cx="2011680" cy="347472"/>
          </a:xfrm>
          <a:prstGeom prst="rect">
            <a:avLst/>
          </a:prstGeom>
          <a:solidFill>
            <a:srgbClr val="0F2A3F"/>
          </a:solidFill>
          <a:ln w="762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 txBox="1"/>
          <p:nvPr/>
        </p:nvSpPr>
        <p:spPr>
          <a:xfrm>
            <a:off x="10104120" y="1783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2066544"/>
            <a:ext cx="13716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 txBox="1"/>
          <p:nvPr/>
        </p:nvSpPr>
        <p:spPr>
          <a:xfrm>
            <a:off x="7452360" y="21305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Boracay Island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78240" y="2066544"/>
            <a:ext cx="128016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 txBox="1"/>
          <p:nvPr/>
        </p:nvSpPr>
        <p:spPr>
          <a:xfrm>
            <a:off x="8823960" y="21305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Western Visayas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2066544"/>
            <a:ext cx="20116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 txBox="1"/>
          <p:nvPr/>
        </p:nvSpPr>
        <p:spPr>
          <a:xfrm>
            <a:off x="10104120" y="2130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414016"/>
            <a:ext cx="137160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 txBox="1"/>
          <p:nvPr/>
        </p:nvSpPr>
        <p:spPr>
          <a:xfrm>
            <a:off x="7452360" y="24780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Panglao Island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0" y="2414016"/>
            <a:ext cx="128016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 txBox="1"/>
          <p:nvPr/>
        </p:nvSpPr>
        <p:spPr>
          <a:xfrm>
            <a:off x="8823960" y="24780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Visayas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0" y="2414016"/>
            <a:ext cx="2011680" cy="347472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 txBox="1"/>
          <p:nvPr/>
        </p:nvSpPr>
        <p:spPr>
          <a:xfrm>
            <a:off x="10104120" y="24780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2761488"/>
            <a:ext cx="137160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 txBox="1"/>
          <p:nvPr/>
        </p:nvSpPr>
        <p:spPr>
          <a:xfrm>
            <a:off x="7452360" y="28254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Siargao Island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78240" y="2761488"/>
            <a:ext cx="128016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 txBox="1"/>
          <p:nvPr/>
        </p:nvSpPr>
        <p:spPr>
          <a:xfrm>
            <a:off x="8823960" y="28254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Caraga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0" y="2761488"/>
            <a:ext cx="2011680" cy="347472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 txBox="1"/>
          <p:nvPr/>
        </p:nvSpPr>
        <p:spPr>
          <a:xfrm>
            <a:off x="10104120" y="2825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1719072"/>
            <a:ext cx="4663440" cy="1389888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Shape 37"/>
          <p:cNvSpPr/>
          <p:nvPr/>
        </p:nvSpPr>
        <p:spPr>
          <a:xfrm>
            <a:off x="457200" y="4315968"/>
            <a:ext cx="11704320" cy="566928"/>
          </a:xfrm>
          <a:prstGeom prst="rect">
            <a:avLst/>
          </a:prstGeom>
          <a:solidFill>
            <a:srgbClr val="0A1E30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 txBox="1"/>
          <p:nvPr/>
        </p:nvSpPr>
        <p:spPr>
          <a:xfrm>
            <a:off x="640080" y="442569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you've never seen SQL before — you can probably guess what this does just by reading it.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SQL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5943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594360" y="14996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4996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5179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columns do you want to see?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517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solidFill>
            <a:srgbClr val="0F2235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 txBox="1"/>
          <p:nvPr/>
        </p:nvSpPr>
        <p:spPr>
          <a:xfrm>
            <a:off x="594360" y="22128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212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23113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 are you getting data from?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22311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1124712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 txBox="1"/>
          <p:nvPr/>
        </p:nvSpPr>
        <p:spPr>
          <a:xfrm>
            <a:off x="594360" y="2926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9443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conditions must the data meet?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944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1124712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 txBox="1"/>
          <p:nvPr/>
        </p:nvSpPr>
        <p:spPr>
          <a:xfrm>
            <a:off x="594360" y="3639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639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6576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want to aggregate?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3657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42816"/>
            <a:ext cx="1124712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 txBox="1"/>
          <p:nvPr/>
        </p:nvSpPr>
        <p:spPr>
          <a:xfrm>
            <a:off x="594360" y="43525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↕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43525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43708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results be sorted?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11247120" cy="59436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 txBox="1"/>
          <p:nvPr/>
        </p:nvSpPr>
        <p:spPr>
          <a:xfrm>
            <a:off x="594360" y="50657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✂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5065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50840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do you want back?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0" y="50840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FROM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41732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844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en-US" sz="15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00" dirty="0" err="1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destination_name</a:t>
            </a: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region </a:t>
            </a:r>
            <a:r>
              <a:rPr lang="en-US" sz="15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r>
              <a:rPr lang="en-US" sz="15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r>
              <a:rPr lang="en-US" sz="15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</a:t>
            </a: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r>
              <a:rPr lang="en-US" sz="15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-- * means all columns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2999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926080" y="3017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tells SQL which columns to return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593592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4360" y="36850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26080" y="3703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tells SQL which table to look in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94360" y="43708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semicolon  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926080" y="4389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ends the query, like a period ends a sentence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11247120" cy="566928"/>
          </a:xfrm>
          <a:prstGeom prst="rect">
            <a:avLst/>
          </a:prstGeom>
          <a:solidFill>
            <a:srgbClr val="0A1E30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94360" y="51023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💡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78992" y="510235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Avoid SELECT * in real work — name your columns. Faster and clearer.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— Filtering Your 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412480" y="1280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WHERE: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12480" y="1554480"/>
            <a:ext cx="3566160" cy="292608"/>
          </a:xfrm>
          <a:prstGeom prst="rect">
            <a:avLst/>
          </a:prstGeom>
          <a:solidFill>
            <a:srgbClr val="0F2A3F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503920" y="16093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241280" y="16093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12480" y="1847088"/>
            <a:ext cx="3566160" cy="246888"/>
          </a:xfrm>
          <a:prstGeom prst="rect">
            <a:avLst/>
          </a:prstGeom>
          <a:solidFill>
            <a:srgbClr val="0A1E14"/>
          </a:solidFill>
          <a:ln w="3810">
            <a:solidFill>
              <a:srgbClr val="1A40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18649" y="188366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12480" y="2121408"/>
            <a:ext cx="3566160" cy="246888"/>
          </a:xfrm>
          <a:prstGeom prst="rect">
            <a:avLst/>
          </a:prstGeom>
          <a:solidFill>
            <a:srgbClr val="100A0A"/>
          </a:solidFill>
          <a:ln w="3810">
            <a:solidFill>
              <a:srgbClr val="2A10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18649" y="21579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202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Heritage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0" y="2395728"/>
            <a:ext cx="3566160" cy="246888"/>
          </a:xfrm>
          <a:prstGeom prst="rect">
            <a:avLst/>
          </a:prstGeom>
          <a:solidFill>
            <a:srgbClr val="0A1E14"/>
          </a:solidFill>
          <a:ln w="3810">
            <a:solidFill>
              <a:srgbClr val="1A40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18649" y="24323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12480" y="2670048"/>
            <a:ext cx="3566160" cy="246888"/>
          </a:xfrm>
          <a:prstGeom prst="rect">
            <a:avLst/>
          </a:prstGeom>
          <a:solidFill>
            <a:srgbClr val="100A0A"/>
          </a:solidFill>
          <a:ln w="3810">
            <a:solidFill>
              <a:srgbClr val="2A10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618649" y="270662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202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2480" y="2944368"/>
            <a:ext cx="3566160" cy="246888"/>
          </a:xfrm>
          <a:prstGeom prst="rect">
            <a:avLst/>
          </a:prstGeom>
          <a:solidFill>
            <a:srgbClr val="0A1E14"/>
          </a:solidFill>
          <a:ln w="3810">
            <a:solidFill>
              <a:srgbClr val="1A40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618649" y="29809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29800" y="3584448"/>
            <a:ext cx="9144" cy="256032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686800" y="3858768"/>
            <a:ext cx="3017520" cy="256032"/>
          </a:xfrm>
          <a:prstGeom prst="rect">
            <a:avLst/>
          </a:prstGeom>
          <a:solidFill>
            <a:srgbClr val="0A1E30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778240" y="39136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category = 'Beach'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29800" y="4133088"/>
            <a:ext cx="9144" cy="201168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412480" y="4370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 WHERE: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412480" y="4645152"/>
            <a:ext cx="3566160" cy="292608"/>
          </a:xfrm>
          <a:prstGeom prst="rect">
            <a:avLst/>
          </a:prstGeom>
          <a:solidFill>
            <a:srgbClr val="0F2A3F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503920" y="47000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0241280" y="47000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12480" y="4937760"/>
            <a:ext cx="3566160" cy="246888"/>
          </a:xfrm>
          <a:prstGeom prst="rect">
            <a:avLst/>
          </a:prstGeom>
          <a:solidFill>
            <a:srgbClr val="0A1E14"/>
          </a:solidFill>
          <a:ln w="381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618656" y="497433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412480" y="5212080"/>
            <a:ext cx="3566160" cy="246888"/>
          </a:xfrm>
          <a:prstGeom prst="rect">
            <a:avLst/>
          </a:prstGeom>
          <a:solidFill>
            <a:srgbClr val="0F2235"/>
          </a:solidFill>
          <a:ln w="381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8618656" y="524865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12480" y="5486400"/>
            <a:ext cx="3566160" cy="246888"/>
          </a:xfrm>
          <a:prstGeom prst="rect">
            <a:avLst/>
          </a:prstGeom>
          <a:solidFill>
            <a:srgbClr val="0A1E14"/>
          </a:solidFill>
          <a:ln w="381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618656" y="552297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200" y="1280160"/>
            <a:ext cx="7909560" cy="214884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58368" y="1426464"/>
            <a:ext cx="764438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= 'Beach’;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 = 'Beach’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 = ‘NCR';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45720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operators: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200" y="3767328"/>
            <a:ext cx="374904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566928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!=  &gt;  &lt;  &gt;=  &lt;=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3200400" y="3886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617720" y="3767328"/>
            <a:ext cx="374904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4727448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OR  NOT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7360920" y="3886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" y="4425696"/>
            <a:ext cx="374904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566928" y="4517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'%stat%'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3200400" y="45445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617720" y="4425696"/>
            <a:ext cx="374904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4727448" y="4517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('A','B')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7360920" y="45445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D246D71-96DD-42D1-D4A0-7821D0BBDE6B}"/>
              </a:ext>
            </a:extLst>
          </p:cNvPr>
          <p:cNvSpPr/>
          <p:nvPr/>
        </p:nvSpPr>
        <p:spPr>
          <a:xfrm>
            <a:off x="8412480" y="3211731"/>
            <a:ext cx="3566160" cy="246888"/>
          </a:xfrm>
          <a:prstGeom prst="rect">
            <a:avLst/>
          </a:prstGeom>
          <a:solidFill>
            <a:srgbClr val="100A0A"/>
          </a:solidFill>
          <a:ln w="3810">
            <a:solidFill>
              <a:srgbClr val="2A10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C355A00C-A878-E4CE-1DE5-EE25F39473B2}"/>
              </a:ext>
            </a:extLst>
          </p:cNvPr>
          <p:cNvSpPr txBox="1"/>
          <p:nvPr/>
        </p:nvSpPr>
        <p:spPr>
          <a:xfrm>
            <a:off x="8618649" y="3245325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202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ORDER BY and LIMIT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498080" cy="251460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73700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destination_name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-- highest first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destination_name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            -- top 10 only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0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🏆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03920" y="2395728"/>
            <a:ext cx="3383280" cy="420624"/>
          </a:xfrm>
          <a:prstGeom prst="rect">
            <a:avLst/>
          </a:prstGeom>
          <a:solidFill>
            <a:srgbClr val="0F2A3F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13648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0068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Nido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442448" y="246888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24,999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03920" y="2898648"/>
            <a:ext cx="3383280" cy="42062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13648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006840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Boracay Island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442448" y="29718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22,800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03920" y="3401568"/>
            <a:ext cx="3383280" cy="42062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13648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0684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Siargao Island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442448" y="34747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749808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94360" y="40050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783080" y="4014216"/>
            <a:ext cx="5989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ascending (lowest → highest, the default)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749808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94360" y="4663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783080" y="4672584"/>
            <a:ext cx="5989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descending (highest → lowest)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5230368"/>
            <a:ext cx="7498080" cy="53035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94360" y="5321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783080" y="5330952"/>
            <a:ext cx="5989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 controls how many rows come back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5980176"/>
            <a:ext cx="11247120" cy="566928"/>
          </a:xfrm>
          <a:prstGeom prst="rect">
            <a:avLst/>
          </a:prstGeom>
          <a:solidFill>
            <a:srgbClr val="0A1E30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40080" y="608990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what would you change to get the 10 lowest-spending visits instead?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324612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8447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How many tourists total?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spending per visit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Lowest and highest spending
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length_of_stay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destination_id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-- Total nights stayed at D01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2542032" cy="100584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48006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523036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5504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Frequency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64408" y="4754880"/>
            <a:ext cx="2542032" cy="100584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264408" y="48006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264408" y="523036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264408" y="5504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Mean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71616" y="4754880"/>
            <a:ext cx="2542032" cy="100584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071616" y="48006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071616" y="523036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/ MAX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071616" y="5504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Range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78824" y="4754880"/>
            <a:ext cx="2542032" cy="1005840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878824" y="48006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878824" y="523036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78824" y="5504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Total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SQL FUNDAMENTALS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7132320" cy="1686158"/>
          </a:xfrm>
          <a:prstGeom prst="rect">
            <a:avLst/>
          </a:prstGeom>
          <a:solidFill>
            <a:srgbClr val="0F2214"/>
          </a:solidFill>
          <a:ln w="614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368" y="1785376"/>
            <a:ext cx="6729984" cy="94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*) AS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tourist_count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0" y="1719072"/>
            <a:ext cx="4114800" cy="347472"/>
          </a:xfrm>
          <a:prstGeom prst="rect">
            <a:avLst/>
          </a:prstGeom>
          <a:solidFill>
            <a:srgbClr val="0F2A3F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863840" y="17830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184159" y="1783080"/>
            <a:ext cx="121142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tourist_count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0" y="2066544"/>
            <a:ext cx="4114800" cy="347472"/>
          </a:xfrm>
          <a:prstGeom prst="rect">
            <a:avLst/>
          </a:prstGeom>
          <a:solidFill>
            <a:srgbClr val="0F2214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863840" y="2130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184160" y="2130552"/>
            <a:ext cx="112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0" y="2450592"/>
            <a:ext cx="4114800" cy="347472"/>
          </a:xfrm>
          <a:prstGeom prst="rect">
            <a:avLst/>
          </a:prstGeom>
          <a:solidFill>
            <a:srgbClr val="0A161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863840" y="2514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American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184160" y="2514600"/>
            <a:ext cx="112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0" y="2847466"/>
            <a:ext cx="4114800" cy="347472"/>
          </a:xfrm>
          <a:prstGeom prst="rect">
            <a:avLst/>
          </a:prstGeom>
          <a:solidFill>
            <a:srgbClr val="0F2214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863840" y="291147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Filipino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184160" y="2911474"/>
            <a:ext cx="112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0" y="1719072"/>
            <a:ext cx="4114800" cy="1499616"/>
          </a:xfrm>
          <a:prstGeom prst="rect">
            <a:avLst/>
          </a:prstGeom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648751"/>
            <a:ext cx="7132320" cy="475488"/>
          </a:xfrm>
          <a:prstGeom prst="rect">
            <a:avLst/>
          </a:prstGeom>
          <a:solidFill>
            <a:srgbClr val="0F2214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" y="2731047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row per group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648616"/>
            <a:ext cx="7132320" cy="475488"/>
          </a:xfrm>
          <a:prstGeom prst="rect">
            <a:avLst/>
          </a:prstGeom>
          <a:solidFill>
            <a:srgbClr val="0F2214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" y="3729312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any aggregate: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alibri" pitchFamily="34" charset="-122"/>
                <a:cs typeface="Courier New" pitchFamily="34" charset="-120"/>
              </a:rPr>
              <a:t>AVG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alibri" pitchFamily="34" charset="-122"/>
                <a:cs typeface="Courier New" pitchFamily="34" charset="-120"/>
              </a:rPr>
              <a:t>SUM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alibri" pitchFamily="34" charset="-122"/>
                <a:cs typeface="Courier New" pitchFamily="34" charset="-120"/>
              </a:rPr>
              <a:t>MIN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alibri" pitchFamily="34" charset="-122"/>
                <a:cs typeface="Courier New" pitchFamily="34" charset="-120"/>
              </a:rPr>
              <a:t>MAX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242976"/>
            <a:ext cx="7132320" cy="475488"/>
          </a:xfrm>
          <a:prstGeom prst="rect">
            <a:avLst/>
          </a:prstGeom>
          <a:solidFill>
            <a:srgbClr val="0F2214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0080" y="4325272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renames the column to something readable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4837176"/>
            <a:ext cx="7132320" cy="475488"/>
          </a:xfrm>
          <a:prstGeom prst="rect">
            <a:avLst/>
          </a:prstGeom>
          <a:solidFill>
            <a:srgbClr val="0F2214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40080" y="4919632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nationality grouped and counted — your frequency table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Handling NULLs  ·  Duplicates 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r8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2" name="r80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3" name="t803"/>
          <p:cNvSpPr txBox="1"/>
          <p:nvPr/>
        </p:nvSpPr>
        <p:spPr>
          <a:xfrm>
            <a:off x="457200" y="137160"/>
            <a:ext cx="10972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5 · DATA CLEANING</a:t>
            </a:r>
          </a:p>
        </p:txBody>
      </p:sp>
      <p:sp>
        <p:nvSpPr>
          <p:cNvPr id="804" name="t804"/>
          <p:cNvSpPr txBox="1"/>
          <p:nvPr/>
        </p:nvSpPr>
        <p:spPr>
          <a:xfrm>
            <a:off x="457200" y="384048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Handling NULLs</a:t>
            </a:r>
          </a:p>
        </p:txBody>
      </p:sp>
      <p:sp>
        <p:nvSpPr>
          <p:cNvPr id="805" name="r805"/>
          <p:cNvSpPr/>
          <p:nvPr/>
        </p:nvSpPr>
        <p:spPr>
          <a:xfrm>
            <a:off x="457200" y="822960"/>
            <a:ext cx="2011680" cy="36576"/>
          </a:xfrm>
          <a:prstGeom prst="rect">
            <a:avLst/>
          </a:prstGeom>
          <a:solidFill>
            <a:srgbClr val="00C9A7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6" name="t806"/>
          <p:cNvSpPr txBox="1"/>
          <p:nvPr/>
        </p:nvSpPr>
        <p:spPr>
          <a:xfrm>
            <a:off x="457200" y="960120"/>
            <a:ext cx="11247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NULL  ≠  zero        NULL  ≠  empty string        NULL  =  value was never recorded</a:t>
            </a:r>
          </a:p>
        </p:txBody>
      </p:sp>
      <p:sp>
        <p:nvSpPr>
          <p:cNvPr id="807" name="r807"/>
          <p:cNvSpPr/>
          <p:nvPr/>
        </p:nvSpPr>
        <p:spPr>
          <a:xfrm>
            <a:off x="457200" y="1353312"/>
            <a:ext cx="3474720" cy="1005840"/>
          </a:xfrm>
          <a:prstGeom prst="rect">
            <a:avLst/>
          </a:prstGeom>
          <a:solidFill>
            <a:srgbClr val="1A3050"/>
          </a:solidFill>
          <a:ln w="1524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8" name="t808"/>
          <p:cNvSpPr txBox="1"/>
          <p:nvPr/>
        </p:nvSpPr>
        <p:spPr>
          <a:xfrm>
            <a:off x="457200" y="1389888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809" name="t809"/>
          <p:cNvSpPr txBox="1"/>
          <p:nvPr/>
        </p:nvSpPr>
        <p:spPr>
          <a:xfrm>
            <a:off x="457200" y="1700784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NULL</a:t>
            </a:r>
          </a:p>
        </p:txBody>
      </p:sp>
      <p:sp>
        <p:nvSpPr>
          <p:cNvPr id="810" name="t810"/>
          <p:cNvSpPr txBox="1"/>
          <p:nvPr/>
        </p:nvSpPr>
        <p:spPr>
          <a:xfrm>
            <a:off x="457200" y="1975104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was never recorded</a:t>
            </a:r>
          </a:p>
        </p:txBody>
      </p:sp>
      <p:sp>
        <p:nvSpPr>
          <p:cNvPr id="811" name="r811"/>
          <p:cNvSpPr/>
          <p:nvPr/>
        </p:nvSpPr>
        <p:spPr>
          <a:xfrm>
            <a:off x="4133087" y="1353312"/>
            <a:ext cx="3474720" cy="1005840"/>
          </a:xfrm>
          <a:prstGeom prst="rect">
            <a:avLst/>
          </a:prstGeom>
          <a:solidFill>
            <a:srgbClr val="0F2235"/>
          </a:solidFill>
          <a:ln w="6350">
            <a:solidFill>
              <a:srgbClr val="2A3F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t812"/>
          <p:cNvSpPr txBox="1"/>
          <p:nvPr/>
        </p:nvSpPr>
        <p:spPr>
          <a:xfrm>
            <a:off x="4133087" y="1389888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13" name="t813"/>
          <p:cNvSpPr txBox="1"/>
          <p:nvPr/>
        </p:nvSpPr>
        <p:spPr>
          <a:xfrm>
            <a:off x="4133087" y="1700784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0  (zero)</a:t>
            </a:r>
          </a:p>
        </p:txBody>
      </p:sp>
      <p:sp>
        <p:nvSpPr>
          <p:cNvPr id="814" name="t814"/>
          <p:cNvSpPr txBox="1"/>
          <p:nvPr/>
        </p:nvSpPr>
        <p:spPr>
          <a:xfrm>
            <a:off x="4133087" y="1975104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recorded value of zero</a:t>
            </a:r>
          </a:p>
        </p:txBody>
      </p:sp>
      <p:sp>
        <p:nvSpPr>
          <p:cNvPr id="815" name="r815"/>
          <p:cNvSpPr/>
          <p:nvPr/>
        </p:nvSpPr>
        <p:spPr>
          <a:xfrm>
            <a:off x="7808975" y="1353312"/>
            <a:ext cx="3474720" cy="1005840"/>
          </a:xfrm>
          <a:prstGeom prst="rect">
            <a:avLst/>
          </a:prstGeom>
          <a:solidFill>
            <a:srgbClr val="0F2235"/>
          </a:solidFill>
          <a:ln w="6350">
            <a:solidFill>
              <a:srgbClr val="2A3F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6" name="t816"/>
          <p:cNvSpPr txBox="1"/>
          <p:nvPr/>
        </p:nvSpPr>
        <p:spPr>
          <a:xfrm>
            <a:off x="7808975" y="1389888"/>
            <a:ext cx="3474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""</a:t>
            </a:r>
          </a:p>
        </p:txBody>
      </p:sp>
      <p:sp>
        <p:nvSpPr>
          <p:cNvPr id="817" name="t817"/>
          <p:cNvSpPr txBox="1"/>
          <p:nvPr/>
        </p:nvSpPr>
        <p:spPr>
          <a:xfrm>
            <a:off x="7808975" y="1700784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Empty string</a:t>
            </a:r>
          </a:p>
        </p:txBody>
      </p:sp>
      <p:sp>
        <p:nvSpPr>
          <p:cNvPr id="818" name="t818"/>
          <p:cNvSpPr txBox="1"/>
          <p:nvPr/>
        </p:nvSpPr>
        <p:spPr>
          <a:xfrm>
            <a:off x="7808975" y="1975104"/>
            <a:ext cx="3474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blank text field</a:t>
            </a:r>
          </a:p>
        </p:txBody>
      </p:sp>
      <p:sp>
        <p:nvSpPr>
          <p:cNvPr id="819" name="r819"/>
          <p:cNvSpPr/>
          <p:nvPr/>
        </p:nvSpPr>
        <p:spPr>
          <a:xfrm>
            <a:off x="457200" y="2542032"/>
            <a:ext cx="11247120" cy="1115568"/>
          </a:xfrm>
          <a:prstGeom prst="rect">
            <a:avLst/>
          </a:prstGeom>
          <a:solidFill>
            <a:srgbClr val="060E18"/>
          </a:solidFill>
          <a:ln w="6350">
            <a:solidFill>
              <a:srgbClr val="1E3A5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0" name="t820"/>
          <p:cNvSpPr txBox="1"/>
          <p:nvPr/>
        </p:nvSpPr>
        <p:spPr>
          <a:xfrm>
            <a:off x="640080" y="2577476"/>
            <a:ext cx="10789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-- Check for NULLs</a:t>
            </a:r>
          </a:p>
        </p:txBody>
      </p:sp>
      <p:sp>
        <p:nvSpPr>
          <p:cNvPr id="821" name="t821"/>
          <p:cNvSpPr txBox="1"/>
          <p:nvPr/>
        </p:nvSpPr>
        <p:spPr>
          <a:xfrm>
            <a:off x="640080" y="2822949"/>
            <a:ext cx="10789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SELECT * FROM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visits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WHERE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spending_php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IS NULL;</a:t>
            </a:r>
          </a:p>
        </p:txBody>
      </p:sp>
      <p:sp>
        <p:nvSpPr>
          <p:cNvPr id="822" name="t822"/>
          <p:cNvSpPr txBox="1"/>
          <p:nvPr/>
        </p:nvSpPr>
        <p:spPr>
          <a:xfrm>
            <a:off x="640080" y="3068422"/>
            <a:ext cx="10789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SELECT * FROM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visits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WHERE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spending_php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IS NOT NULL;</a:t>
            </a:r>
          </a:p>
        </p:txBody>
      </p:sp>
      <p:sp>
        <p:nvSpPr>
          <p:cNvPr id="823" name="t823"/>
          <p:cNvSpPr txBox="1"/>
          <p:nvPr/>
        </p:nvSpPr>
        <p:spPr>
          <a:xfrm>
            <a:off x="640080" y="3332750"/>
            <a:ext cx="10789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SELECT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AVG(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spending_php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)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FROM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+mn-ea"/>
                <a:cs typeface="Courier New" pitchFamily="34" charset="-120"/>
              </a:rPr>
              <a:t>visits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;  -- NULLs are skipped automatically</a:t>
            </a:r>
          </a:p>
        </p:txBody>
      </p:sp>
      <p:sp>
        <p:nvSpPr>
          <p:cNvPr id="824" name="r824"/>
          <p:cNvSpPr/>
          <p:nvPr/>
        </p:nvSpPr>
        <p:spPr>
          <a:xfrm>
            <a:off x="457200" y="3840480"/>
            <a:ext cx="11247120" cy="658368"/>
          </a:xfrm>
          <a:prstGeom prst="rect">
            <a:avLst/>
          </a:prstGeom>
          <a:solidFill>
            <a:srgbClr val="1A0A0A"/>
          </a:solidFill>
          <a:ln w="10160">
            <a:solidFill>
              <a:srgbClr val="EF4444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5" name="t825"/>
          <p:cNvSpPr txBox="1"/>
          <p:nvPr/>
        </p:nvSpPr>
        <p:spPr>
          <a:xfrm>
            <a:off x="640080" y="3895344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❌  Never write: WHERE spending_php = NULL</a:t>
            </a:r>
          </a:p>
        </p:txBody>
      </p:sp>
      <p:sp>
        <p:nvSpPr>
          <p:cNvPr id="826" name="t826"/>
          <p:cNvSpPr txBox="1"/>
          <p:nvPr/>
        </p:nvSpPr>
        <p:spPr>
          <a:xfrm>
            <a:off x="640080" y="4187952"/>
            <a:ext cx="10972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NULL is not equal to anything — not even itself. This will always return zero rows.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DATA CLEANING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132320" cy="288036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672998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</a:t>
            </a: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Each unique nationality, once only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destination_id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purpose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FROM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Count of unique nationalities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DISTINCT: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46720" y="1691640"/>
            <a:ext cx="3840480" cy="274320"/>
          </a:xfrm>
          <a:prstGeom prst="rect">
            <a:avLst/>
          </a:prstGeom>
          <a:solidFill>
            <a:srgbClr val="1A0A0A"/>
          </a:solidFill>
          <a:ln w="3810">
            <a:solidFill>
              <a:srgbClr val="5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156448" y="17465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840480" cy="274320"/>
          </a:xfrm>
          <a:prstGeom prst="rect">
            <a:avLst/>
          </a:prstGeom>
          <a:solidFill>
            <a:srgbClr val="1A0A0A"/>
          </a:solidFill>
          <a:ln w="3810">
            <a:solidFill>
              <a:srgbClr val="5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156448" y="20665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840480" cy="274320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56448" y="238658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2651760"/>
            <a:ext cx="3840480" cy="274320"/>
          </a:xfrm>
          <a:prstGeom prst="rect">
            <a:avLst/>
          </a:prstGeom>
          <a:solidFill>
            <a:srgbClr val="1A0A0A"/>
          </a:solidFill>
          <a:ln w="3810">
            <a:solidFill>
              <a:srgbClr val="5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156448" y="27066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46720" y="2971800"/>
            <a:ext cx="3840480" cy="274320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156448" y="30266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6720" y="3383280"/>
            <a:ext cx="3840480" cy="320040"/>
          </a:xfrm>
          <a:prstGeom prst="rect">
            <a:avLst/>
          </a:prstGeom>
          <a:solidFill>
            <a:srgbClr val="0A1E30"/>
          </a:solidFill>
          <a:ln w="889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04672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DISTINCT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3767328"/>
            <a:ext cx="3840480" cy="292608"/>
          </a:xfrm>
          <a:prstGeom prst="rect">
            <a:avLst/>
          </a:prstGeom>
          <a:solidFill>
            <a:srgbClr val="0A2218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156448" y="38221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Korean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46720" y="4114800"/>
            <a:ext cx="3840480" cy="292608"/>
          </a:xfrm>
          <a:prstGeom prst="rect">
            <a:avLst/>
          </a:prstGeom>
          <a:solidFill>
            <a:srgbClr val="0A2218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156448" y="4169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7132320" cy="493776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0080" y="425196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removes duplicate rows from your result set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Combining Tables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All four JOIN types  ·  INNER  ·  LEFT  ·  RIGHT  ·  FULL OUTER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COMBINING TABLES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JOIN and Why Does It Exist?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51206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split data across tables by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1247120" cy="51206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combine them back together when you need the full picture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438912"/>
          </a:xfrm>
          <a:prstGeom prst="rect">
            <a:avLst/>
          </a:prstGeom>
          <a:solidFill>
            <a:srgbClr val="0A2218"/>
          </a:solidFill>
          <a:ln w="762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640080" y="27614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Think: VLOOKUP in Excel — matching two datasets on a shared column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3474720" cy="384048"/>
          </a:xfrm>
          <a:prstGeom prst="rect">
            <a:avLst/>
          </a:prstGeom>
          <a:solidFill>
            <a:srgbClr val="0F2A3F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548640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94176"/>
            <a:ext cx="347472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548640" y="37398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  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347472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 txBox="1"/>
          <p:nvPr/>
        </p:nvSpPr>
        <p:spPr>
          <a:xfrm>
            <a:off x="548640" y="4050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first_name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347472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548640" y="43616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26864"/>
            <a:ext cx="347472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 txBox="1"/>
          <p:nvPr/>
        </p:nvSpPr>
        <p:spPr>
          <a:xfrm>
            <a:off x="548640" y="46725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age_group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3474720" cy="1627632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8229600" y="3310128"/>
            <a:ext cx="3474720" cy="384048"/>
          </a:xfrm>
          <a:prstGeom prst="rect">
            <a:avLst/>
          </a:prstGeom>
          <a:solidFill>
            <a:srgbClr val="0F2A3F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 txBox="1"/>
          <p:nvPr/>
        </p:nvSpPr>
        <p:spPr>
          <a:xfrm>
            <a:off x="8321040" y="3364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694176"/>
            <a:ext cx="347472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 txBox="1"/>
          <p:nvPr/>
        </p:nvSpPr>
        <p:spPr>
          <a:xfrm>
            <a:off x="8321040" y="37398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visit_id  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05072"/>
            <a:ext cx="347472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 txBox="1"/>
          <p:nvPr/>
        </p:nvSpPr>
        <p:spPr>
          <a:xfrm>
            <a:off x="8321040" y="4050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tourist_id  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4315968"/>
            <a:ext cx="3474720" cy="310896"/>
          </a:xfrm>
          <a:prstGeom prst="rect">
            <a:avLst/>
          </a:prstGeom>
          <a:solidFill>
            <a:srgbClr val="0F2235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 txBox="1"/>
          <p:nvPr/>
        </p:nvSpPr>
        <p:spPr>
          <a:xfrm>
            <a:off x="8321040" y="43616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destination_name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626864"/>
            <a:ext cx="3474720" cy="310896"/>
          </a:xfrm>
          <a:prstGeom prst="rect">
            <a:avLst/>
          </a:prstGeom>
          <a:solidFill>
            <a:srgbClr val="0A1628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 txBox="1"/>
          <p:nvPr/>
        </p:nvSpPr>
        <p:spPr>
          <a:xfrm>
            <a:off x="8321040" y="46725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spending_php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3310128"/>
            <a:ext cx="3474720" cy="1627632"/>
          </a:xfrm>
          <a:prstGeom prst="rect">
            <a:avLst/>
          </a:prstGeom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4114800" y="3822192"/>
            <a:ext cx="3931920" cy="658368"/>
          </a:xfrm>
          <a:prstGeom prst="rect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 txBox="1"/>
          <p:nvPr/>
        </p:nvSpPr>
        <p:spPr>
          <a:xfrm>
            <a:off x="4114800" y="3968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on  tourist_id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931920" y="3900856"/>
            <a:ext cx="18288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36" name="Shape 34"/>
          <p:cNvSpPr/>
          <p:nvPr/>
        </p:nvSpPr>
        <p:spPr>
          <a:xfrm>
            <a:off x="8046720" y="4151376"/>
            <a:ext cx="18288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81540516-3EE1-A6C5-F695-D53DA307E976}"/>
              </a:ext>
            </a:extLst>
          </p:cNvPr>
          <p:cNvSpPr/>
          <p:nvPr/>
        </p:nvSpPr>
        <p:spPr>
          <a:xfrm>
            <a:off x="457200" y="5340096"/>
            <a:ext cx="11247120" cy="438912"/>
          </a:xfrm>
          <a:prstGeom prst="rect">
            <a:avLst/>
          </a:prstGeom>
          <a:solidFill>
            <a:srgbClr val="0A2218"/>
          </a:solidFill>
          <a:ln w="762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FDE9BA0C-E252-D272-DF4A-8DCE0E76E3F2}"/>
              </a:ext>
            </a:extLst>
          </p:cNvPr>
          <p:cNvSpPr txBox="1"/>
          <p:nvPr/>
        </p:nvSpPr>
        <p:spPr>
          <a:xfrm>
            <a:off x="457200" y="541269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JOIN, you can’t answer: </a:t>
            </a:r>
            <a:r>
              <a:rPr lang="en-US" sz="1300" b="1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nationality visits Boracay the most?” </a:t>
            </a: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nationality is in tourists. The destination is in visits. YOU NEED BOTH.  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7 · COMBINING TABLES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457200" y="457200"/>
            <a:ext cx="9144000" cy="5943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Types of JOIN</a:t>
            </a:r>
          </a:p>
        </p:txBody>
      </p:sp>
      <p:sp>
        <p:nvSpPr>
          <p:cNvPr id="103" name="r103"/>
          <p:cNvSpPr/>
          <p:nvPr/>
        </p:nvSpPr>
        <p:spPr>
          <a:xfrm>
            <a:off x="457200" y="969264"/>
            <a:ext cx="2286000" cy="41148"/>
          </a:xfrm>
          <a:prstGeom prst="rect">
            <a:avLst/>
          </a:prstGeom>
          <a:solidFill>
            <a:srgbClr val="00C9A7"/>
          </a:solidFill>
          <a:ln w="635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104"/>
          <p:cNvSpPr txBox="1"/>
          <p:nvPr/>
        </p:nvSpPr>
        <p:spPr>
          <a:xfrm>
            <a:off x="457200" y="1060704"/>
            <a:ext cx="201168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JOIN Type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2560320" y="1060704"/>
            <a:ext cx="448056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gets returned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7178040" y="1060704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&amp; Use Case</a:t>
            </a:r>
          </a:p>
        </p:txBody>
      </p:sp>
      <p:sp>
        <p:nvSpPr>
          <p:cNvPr id="107" name="r107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0A1E30"/>
          </a:solidFill>
          <a:ln w="6350">
            <a:solidFill>
              <a:srgbClr val="0A1E3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108"/>
          <p:cNvSpPr/>
          <p:nvPr/>
        </p:nvSpPr>
        <p:spPr>
          <a:xfrm>
            <a:off x="457200" y="1371600"/>
            <a:ext cx="11247120" cy="1207007"/>
          </a:xfrm>
          <a:prstGeom prst="rect">
            <a:avLst/>
          </a:prstGeom>
          <a:solidFill>
            <a:srgbClr val="0A1A2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109"/>
          <p:cNvSpPr txBox="1"/>
          <p:nvPr/>
        </p:nvSpPr>
        <p:spPr>
          <a:xfrm>
            <a:off x="457200" y="1773936"/>
            <a:ext cx="201168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INNER JOIN</a:t>
            </a:r>
          </a:p>
        </p:txBody>
      </p:sp>
      <p:sp>
        <p:nvSpPr>
          <p:cNvPr id="110" name="r110"/>
          <p:cNvSpPr/>
          <p:nvPr/>
        </p:nvSpPr>
        <p:spPr>
          <a:xfrm>
            <a:off x="2560320" y="1554480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111"/>
          <p:cNvSpPr txBox="1"/>
          <p:nvPr/>
        </p:nvSpPr>
        <p:spPr>
          <a:xfrm>
            <a:off x="2560320" y="1673352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tourists</a:t>
            </a:r>
          </a:p>
        </p:txBody>
      </p:sp>
      <p:sp>
        <p:nvSpPr>
          <p:cNvPr id="112" name="r112"/>
          <p:cNvSpPr/>
          <p:nvPr/>
        </p:nvSpPr>
        <p:spPr>
          <a:xfrm>
            <a:off x="4059935" y="1554480"/>
            <a:ext cx="1481328" cy="438912"/>
          </a:xfrm>
          <a:prstGeom prst="rect">
            <a:avLst/>
          </a:prstGeom>
          <a:solidFill>
            <a:srgbClr val="00C9A7"/>
          </a:solidFill>
          <a:ln w="1778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113"/>
          <p:cNvSpPr txBox="1"/>
          <p:nvPr/>
        </p:nvSpPr>
        <p:spPr>
          <a:xfrm>
            <a:off x="4059935" y="1673352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matched</a:t>
            </a:r>
          </a:p>
        </p:txBody>
      </p:sp>
      <p:sp>
        <p:nvSpPr>
          <p:cNvPr id="114" name="r114"/>
          <p:cNvSpPr/>
          <p:nvPr/>
        </p:nvSpPr>
        <p:spPr>
          <a:xfrm>
            <a:off x="5559552" y="1554480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115"/>
          <p:cNvSpPr txBox="1"/>
          <p:nvPr/>
        </p:nvSpPr>
        <p:spPr>
          <a:xfrm>
            <a:off x="5559552" y="1673352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visits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178040" y="1444752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Returns only rows with matching values in both tables.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178040" y="1645920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Non-matching rows are excluded entirely.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7178040" y="2212848"/>
            <a:ext cx="457200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supported in SQLite</a:t>
            </a:r>
          </a:p>
        </p:txBody>
      </p:sp>
      <p:sp>
        <p:nvSpPr>
          <p:cNvPr id="120" name="r120"/>
          <p:cNvSpPr/>
          <p:nvPr/>
        </p:nvSpPr>
        <p:spPr>
          <a:xfrm>
            <a:off x="457200" y="2578608"/>
            <a:ext cx="11247120" cy="27432"/>
          </a:xfrm>
          <a:prstGeom prst="rect">
            <a:avLst/>
          </a:prstGeom>
          <a:solidFill>
            <a:srgbClr val="0A1E3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121"/>
          <p:cNvSpPr txBox="1"/>
          <p:nvPr/>
        </p:nvSpPr>
        <p:spPr>
          <a:xfrm>
            <a:off x="457200" y="3035808"/>
            <a:ext cx="201168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LEFT JOIN</a:t>
            </a:r>
          </a:p>
        </p:txBody>
      </p:sp>
      <p:sp>
        <p:nvSpPr>
          <p:cNvPr id="122" name="r122"/>
          <p:cNvSpPr/>
          <p:nvPr/>
        </p:nvSpPr>
        <p:spPr>
          <a:xfrm>
            <a:off x="2560320" y="2816352"/>
            <a:ext cx="1481328" cy="438912"/>
          </a:xfrm>
          <a:prstGeom prst="rect">
            <a:avLst/>
          </a:prstGeom>
          <a:solidFill>
            <a:srgbClr val="4FC3F7"/>
          </a:solidFill>
          <a:ln w="17780">
            <a:solidFill>
              <a:srgbClr val="4FC3F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123"/>
          <p:cNvSpPr txBox="1"/>
          <p:nvPr/>
        </p:nvSpPr>
        <p:spPr>
          <a:xfrm>
            <a:off x="2560320" y="2935224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tourists</a:t>
            </a:r>
          </a:p>
        </p:txBody>
      </p:sp>
      <p:sp>
        <p:nvSpPr>
          <p:cNvPr id="124" name="r124"/>
          <p:cNvSpPr/>
          <p:nvPr/>
        </p:nvSpPr>
        <p:spPr>
          <a:xfrm>
            <a:off x="4059935" y="2816352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125"/>
          <p:cNvSpPr txBox="1"/>
          <p:nvPr/>
        </p:nvSpPr>
        <p:spPr>
          <a:xfrm>
            <a:off x="4059935" y="2935224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matched</a:t>
            </a:r>
          </a:p>
        </p:txBody>
      </p:sp>
      <p:sp>
        <p:nvSpPr>
          <p:cNvPr id="126" name="r126"/>
          <p:cNvSpPr/>
          <p:nvPr/>
        </p:nvSpPr>
        <p:spPr>
          <a:xfrm>
            <a:off x="5559552" y="2816352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127"/>
          <p:cNvSpPr txBox="1"/>
          <p:nvPr/>
        </p:nvSpPr>
        <p:spPr>
          <a:xfrm>
            <a:off x="5559552" y="2935224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visits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7178040" y="2706624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Returns all rows from the left table, plus matching rows from the right.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7178040" y="2907791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match on the right = NULL.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7178040" y="3145536"/>
            <a:ext cx="457200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case: Keep your primary table intact while pulling in optional data.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7178040" y="3474720"/>
            <a:ext cx="457200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supported in SQLite</a:t>
            </a:r>
          </a:p>
        </p:txBody>
      </p:sp>
      <p:sp>
        <p:nvSpPr>
          <p:cNvPr id="132" name="r132"/>
          <p:cNvSpPr/>
          <p:nvPr/>
        </p:nvSpPr>
        <p:spPr>
          <a:xfrm>
            <a:off x="457200" y="3840480"/>
            <a:ext cx="11247120" cy="27432"/>
          </a:xfrm>
          <a:prstGeom prst="rect">
            <a:avLst/>
          </a:prstGeom>
          <a:solidFill>
            <a:srgbClr val="0A1E3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133"/>
          <p:cNvSpPr/>
          <p:nvPr/>
        </p:nvSpPr>
        <p:spPr>
          <a:xfrm>
            <a:off x="457200" y="3895344"/>
            <a:ext cx="11247120" cy="1207007"/>
          </a:xfrm>
          <a:prstGeom prst="rect">
            <a:avLst/>
          </a:prstGeom>
          <a:solidFill>
            <a:srgbClr val="0A1A2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134"/>
          <p:cNvSpPr txBox="1"/>
          <p:nvPr/>
        </p:nvSpPr>
        <p:spPr>
          <a:xfrm>
            <a:off x="457200" y="4297680"/>
            <a:ext cx="201168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RIGHT JOIN</a:t>
            </a:r>
          </a:p>
        </p:txBody>
      </p:sp>
      <p:sp>
        <p:nvSpPr>
          <p:cNvPr id="135" name="r135"/>
          <p:cNvSpPr/>
          <p:nvPr/>
        </p:nvSpPr>
        <p:spPr>
          <a:xfrm>
            <a:off x="2560320" y="4078224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136"/>
          <p:cNvSpPr txBox="1"/>
          <p:nvPr/>
        </p:nvSpPr>
        <p:spPr>
          <a:xfrm>
            <a:off x="2560320" y="4197096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tourists</a:t>
            </a:r>
          </a:p>
        </p:txBody>
      </p:sp>
      <p:sp>
        <p:nvSpPr>
          <p:cNvPr id="137" name="r137"/>
          <p:cNvSpPr/>
          <p:nvPr/>
        </p:nvSpPr>
        <p:spPr>
          <a:xfrm>
            <a:off x="4059935" y="4078224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138"/>
          <p:cNvSpPr txBox="1"/>
          <p:nvPr/>
        </p:nvSpPr>
        <p:spPr>
          <a:xfrm>
            <a:off x="4059935" y="4197096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matched</a:t>
            </a:r>
          </a:p>
        </p:txBody>
      </p:sp>
      <p:sp>
        <p:nvSpPr>
          <p:cNvPr id="139" name="r139"/>
          <p:cNvSpPr/>
          <p:nvPr/>
        </p:nvSpPr>
        <p:spPr>
          <a:xfrm>
            <a:off x="5559552" y="4078224"/>
            <a:ext cx="1481328" cy="438912"/>
          </a:xfrm>
          <a:prstGeom prst="rect">
            <a:avLst/>
          </a:prstGeom>
          <a:solidFill>
            <a:srgbClr val="F59E0B"/>
          </a:solidFill>
          <a:ln w="17780">
            <a:solidFill>
              <a:srgbClr val="F59E0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140"/>
          <p:cNvSpPr txBox="1"/>
          <p:nvPr/>
        </p:nvSpPr>
        <p:spPr>
          <a:xfrm>
            <a:off x="5559552" y="4197096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visits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7178040" y="3968496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Returns all rows from the right table, plus matching rows from the left.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7178040" y="4169663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match on the left = NULL.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7178040" y="4407408"/>
            <a:ext cx="457200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case: Rarely used — any RIGHT JOIN can be rewritten as a LEFT JOIN by swapping table order.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7178040" y="4736592"/>
            <a:ext cx="457200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Limited SQLite support (v3.39+)</a:t>
            </a:r>
          </a:p>
        </p:txBody>
      </p:sp>
      <p:sp>
        <p:nvSpPr>
          <p:cNvPr id="145" name="r145"/>
          <p:cNvSpPr/>
          <p:nvPr/>
        </p:nvSpPr>
        <p:spPr>
          <a:xfrm>
            <a:off x="457200" y="5102352"/>
            <a:ext cx="11247120" cy="27432"/>
          </a:xfrm>
          <a:prstGeom prst="rect">
            <a:avLst/>
          </a:prstGeom>
          <a:solidFill>
            <a:srgbClr val="0A1E3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t146"/>
          <p:cNvSpPr txBox="1"/>
          <p:nvPr/>
        </p:nvSpPr>
        <p:spPr>
          <a:xfrm>
            <a:off x="457200" y="5559552"/>
            <a:ext cx="201168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FULL OUTER JOIN</a:t>
            </a:r>
          </a:p>
        </p:txBody>
      </p:sp>
      <p:sp>
        <p:nvSpPr>
          <p:cNvPr id="147" name="r147"/>
          <p:cNvSpPr/>
          <p:nvPr/>
        </p:nvSpPr>
        <p:spPr>
          <a:xfrm>
            <a:off x="2560320" y="5340096"/>
            <a:ext cx="1481328" cy="438912"/>
          </a:xfrm>
          <a:prstGeom prst="rect">
            <a:avLst/>
          </a:prstGeom>
          <a:solidFill>
            <a:srgbClr val="A78BFA"/>
          </a:solidFill>
          <a:ln w="17780">
            <a:solidFill>
              <a:srgbClr val="A78BF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t148"/>
          <p:cNvSpPr txBox="1"/>
          <p:nvPr/>
        </p:nvSpPr>
        <p:spPr>
          <a:xfrm>
            <a:off x="2560320" y="5458968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tourists</a:t>
            </a:r>
          </a:p>
        </p:txBody>
      </p:sp>
      <p:sp>
        <p:nvSpPr>
          <p:cNvPr id="149" name="r149"/>
          <p:cNvSpPr/>
          <p:nvPr/>
        </p:nvSpPr>
        <p:spPr>
          <a:xfrm>
            <a:off x="4059935" y="5340096"/>
            <a:ext cx="1481328" cy="438912"/>
          </a:xfrm>
          <a:prstGeom prst="rect">
            <a:avLst/>
          </a:prstGeom>
          <a:solidFill>
            <a:srgbClr val="0A1E2E"/>
          </a:solidFill>
          <a:ln w="5080">
            <a:solidFill>
              <a:srgbClr val="1A3A4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150"/>
          <p:cNvSpPr txBox="1"/>
          <p:nvPr/>
        </p:nvSpPr>
        <p:spPr>
          <a:xfrm>
            <a:off x="4059935" y="5458968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A5A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matched</a:t>
            </a:r>
          </a:p>
        </p:txBody>
      </p:sp>
      <p:sp>
        <p:nvSpPr>
          <p:cNvPr id="151" name="r151"/>
          <p:cNvSpPr/>
          <p:nvPr/>
        </p:nvSpPr>
        <p:spPr>
          <a:xfrm>
            <a:off x="5559552" y="5340096"/>
            <a:ext cx="1481328" cy="438912"/>
          </a:xfrm>
          <a:prstGeom prst="rect">
            <a:avLst/>
          </a:prstGeom>
          <a:solidFill>
            <a:srgbClr val="A78BFA"/>
          </a:solidFill>
          <a:ln w="17780">
            <a:solidFill>
              <a:srgbClr val="A78BF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t152"/>
          <p:cNvSpPr txBox="1"/>
          <p:nvPr/>
        </p:nvSpPr>
        <p:spPr>
          <a:xfrm>
            <a:off x="5559552" y="5458968"/>
            <a:ext cx="1481328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visits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7178040" y="5230368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Returns all rows from both tables. Matches align side-by-side;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178040" y="5431536"/>
            <a:ext cx="45720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no match exists, NULLs fill the gaps.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7178040" y="5669279"/>
            <a:ext cx="457200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case: Data reconciliation — finding mismatches between two systems.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7178040" y="5998464"/>
            <a:ext cx="4572000" cy="1828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supported in SQLite</a:t>
            </a:r>
          </a:p>
        </p:txBody>
      </p:sp>
      <p:sp>
        <p:nvSpPr>
          <p:cNvPr id="157" name="r157"/>
          <p:cNvSpPr/>
          <p:nvPr/>
        </p:nvSpPr>
        <p:spPr>
          <a:xfrm>
            <a:off x="457200" y="6364224"/>
            <a:ext cx="11247120" cy="27432"/>
          </a:xfrm>
          <a:prstGeom prst="rect">
            <a:avLst/>
          </a:prstGeom>
          <a:solidFill>
            <a:srgbClr val="0A1E3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158"/>
          <p:cNvSpPr/>
          <p:nvPr/>
        </p:nvSpPr>
        <p:spPr>
          <a:xfrm>
            <a:off x="457200" y="6382512"/>
            <a:ext cx="11247120" cy="384048"/>
          </a:xfrm>
          <a:prstGeom prst="rect">
            <a:avLst/>
          </a:prstGeom>
          <a:solidFill>
            <a:srgbClr val="0F2235"/>
          </a:solidFill>
          <a:ln w="7620">
            <a:solidFill>
              <a:srgbClr val="00C9A7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159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practice: INNER JOIN and LEFT JOIN cover 95% of real-world use cases. RIGHT JOIN and FULL OUTER JOIN are rare.</a:t>
            </a:r>
          </a:p>
        </p:txBody>
      </p:sp>
      <p:sp>
        <p:nvSpPr>
          <p:cNvPr id="3" name="t118">
            <a:extLst>
              <a:ext uri="{FF2B5EF4-FFF2-40B4-BE49-F238E27FC236}">
                <a16:creationId xmlns:a16="http://schemas.microsoft.com/office/drawing/2014/main" id="{BB48AC78-87AD-738A-4F78-B65C22CD9AFF}"/>
              </a:ext>
            </a:extLst>
          </p:cNvPr>
          <p:cNvSpPr txBox="1"/>
          <p:nvPr/>
        </p:nvSpPr>
        <p:spPr>
          <a:xfrm>
            <a:off x="7178040" y="1826514"/>
            <a:ext cx="457200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case: When you need complete, fully paired records from both tables.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i="1" dirty="0">
                <a:solidFill>
                  <a:srgbClr val="CBD5E1"/>
                </a:solidFill>
                <a:latin typeface="Calibri"/>
              </a:rPr>
              <a:t>Ex: If a tourist has no visit record, they don’t appear. If a visit has no matching tourist, it doesn’t appear either. </a:t>
            </a:r>
            <a:endParaRPr kumimoji="0" lang="en-US" sz="850" b="0" i="1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Bridging to R / Python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SQL gets the data ready  ·  R and Python take it further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BRIDGING TO R / PYTHON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Gets the Data Ready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914400" cy="640080"/>
          </a:xfrm>
          <a:prstGeom prst="rect">
            <a:avLst/>
          </a:prstGeom>
          <a:solidFill>
            <a:srgbClr val="0F2235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438912" y="1474013"/>
            <a:ext cx="640080" cy="857707"/>
          </a:xfrm>
          <a:prstGeom prst="rect">
            <a:avLst/>
          </a:prstGeom>
          <a:solidFill>
            <a:srgbClr val="0F2235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438912" y="1371600"/>
            <a:ext cx="640080" cy="204826"/>
          </a:xfrm>
          <a:prstGeom prst="ellipse">
            <a:avLst/>
          </a:prstGeom>
          <a:solidFill>
            <a:srgbClr val="0A1E30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438912" y="2229307"/>
            <a:ext cx="640080" cy="204826"/>
          </a:xfrm>
          <a:prstGeom prst="ellipse">
            <a:avLst/>
          </a:prstGeom>
          <a:solidFill>
            <a:srgbClr val="0F2235"/>
          </a:solidFill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75488" y="1668085"/>
            <a:ext cx="566928" cy="92172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475488" y="1873935"/>
            <a:ext cx="566928" cy="92172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475488" y="2079785"/>
            <a:ext cx="566928" cy="92172"/>
          </a:xfrm>
          <a:prstGeom prst="ellipse">
            <a:avLst/>
          </a:prstGeom>
          <a:solidFill>
            <a:srgbClr val="0F2235"/>
          </a:solidFill>
          <a:ln w="635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365760" y="2048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1801368"/>
            <a:ext cx="50292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1828800" y="1408176"/>
            <a:ext cx="1737360" cy="713232"/>
          </a:xfrm>
          <a:prstGeom prst="rect">
            <a:avLst/>
          </a:prstGeom>
          <a:solidFill>
            <a:srgbClr val="0A1E30"/>
          </a:solidFill>
          <a:ln w="1524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1828800" y="15361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84448" y="1801368"/>
            <a:ext cx="502920" cy="914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114800" y="1435608"/>
            <a:ext cx="1737360" cy="640080"/>
          </a:xfrm>
          <a:prstGeom prst="rect">
            <a:avLst/>
          </a:prstGeom>
          <a:solidFill>
            <a:srgbClr val="0F2235"/>
          </a:solidFill>
          <a:ln w="1016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4114800" y="15910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Python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1801368"/>
            <a:ext cx="502920" cy="914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arrow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1554480" cy="32918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 txBox="1"/>
          <p:nvPr/>
        </p:nvSpPr>
        <p:spPr>
          <a:xfrm>
            <a:off x="6400800" y="13533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664208"/>
            <a:ext cx="1554480" cy="32918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 txBox="1"/>
          <p:nvPr/>
        </p:nvSpPr>
        <p:spPr>
          <a:xfrm>
            <a:off x="6400800" y="17373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048256"/>
            <a:ext cx="1554480" cy="329184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 txBox="1"/>
          <p:nvPr/>
        </p:nvSpPr>
        <p:spPr>
          <a:xfrm>
            <a:off x="6400800" y="21214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 txBox="1"/>
          <p:nvPr/>
        </p:nvSpPr>
        <p:spPr>
          <a:xfrm>
            <a:off x="658368" y="2862072"/>
            <a:ext cx="10844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sqlite3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sqlite3.connect('tourism_ph.db')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pd.read_sql("SELECT * FROM tourists”, conn)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384597"/>
            <a:ext cx="11247120" cy="1417320"/>
          </a:xfrm>
          <a:prstGeom prst="rect">
            <a:avLst/>
          </a:prstGeom>
          <a:solidFill>
            <a:srgbClr val="0F22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 txBox="1"/>
          <p:nvPr/>
        </p:nvSpPr>
        <p:spPr>
          <a:xfrm>
            <a:off x="658368" y="4530901"/>
            <a:ext cx="108447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library(DBI)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&lt;- dbConnect(RSQLite::SQLite(), 'tourism_ph.db')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dbGetQuery(conn, 'SELECT * FROM tourists')</a:t>
            </a:r>
            <a:endParaRPr lang="en-US" sz="15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C0B270BA-9A35-9BCB-165E-F7091A54DAB3}"/>
              </a:ext>
            </a:extLst>
          </p:cNvPr>
          <p:cNvSpPr txBox="1"/>
          <p:nvPr/>
        </p:nvSpPr>
        <p:spPr>
          <a:xfrm>
            <a:off x="457200" y="4152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</a:t>
            </a:r>
            <a:endParaRPr lang="en-US" sz="1200" dirty="0"/>
          </a:p>
        </p:txBody>
      </p:sp>
    </p:spTree>
  </p:cSld>
  <p:clrMapOvr>
    <a:masterClrMapping/>
  </p:clrMapOvr>
  <p:transition spd="med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104"/>
          <p:cNvSpPr txBox="1"/>
          <p:nvPr/>
        </p:nvSpPr>
        <p:spPr>
          <a:xfrm>
            <a:off x="502920" y="2377440"/>
            <a:ext cx="1143000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05" name="r105"/>
          <p:cNvSpPr/>
          <p:nvPr/>
        </p:nvSpPr>
        <p:spPr>
          <a:xfrm>
            <a:off x="502920" y="3584448"/>
            <a:ext cx="868680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521207" y="3767328"/>
            <a:ext cx="114300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400" b="0" dirty="0">
                <a:solidFill>
                  <a:srgbClr val="94A3B8"/>
                </a:solidFill>
                <a:latin typeface="Calibri"/>
              </a:rPr>
              <a:t>tourists  ·  visits  ·  destinations  ·  SQLiteOnline.com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r801"/>
          <p:cNvSpPr/>
          <p:nvPr/>
        </p:nvSpPr>
        <p:spPr>
          <a:xfrm>
            <a:off x="57912" y="-460736"/>
            <a:ext cx="12188952" cy="6858000"/>
          </a:xfrm>
          <a:prstGeom prst="rect">
            <a:avLst/>
          </a:prstGeom>
          <a:solidFill>
            <a:srgbClr val="0A1628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2" name="r80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3" name="t803"/>
          <p:cNvSpPr txBox="1"/>
          <p:nvPr/>
        </p:nvSpPr>
        <p:spPr>
          <a:xfrm>
            <a:off x="457200" y="164592"/>
            <a:ext cx="7315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9 · LIVE DEMO</a:t>
            </a:r>
          </a:p>
        </p:txBody>
      </p:sp>
      <p:sp>
        <p:nvSpPr>
          <p:cNvPr id="804" name="t804"/>
          <p:cNvSpPr txBox="1"/>
          <p:nvPr/>
        </p:nvSpPr>
        <p:spPr>
          <a:xfrm>
            <a:off x="457200" y="384048"/>
            <a:ext cx="4572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Live Demo</a:t>
            </a:r>
          </a:p>
        </p:txBody>
      </p:sp>
      <p:sp>
        <p:nvSpPr>
          <p:cNvPr id="805" name="r805"/>
          <p:cNvSpPr/>
          <p:nvPr/>
        </p:nvSpPr>
        <p:spPr>
          <a:xfrm>
            <a:off x="457200" y="841248"/>
            <a:ext cx="1097280" cy="36576"/>
          </a:xfrm>
          <a:prstGeom prst="rect">
            <a:avLst/>
          </a:prstGeom>
          <a:solidFill>
            <a:srgbClr val="00C9A7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6" name="r806"/>
          <p:cNvSpPr/>
          <p:nvPr/>
        </p:nvSpPr>
        <p:spPr>
          <a:xfrm>
            <a:off x="457200" y="987552"/>
            <a:ext cx="11247120" cy="292608"/>
          </a:xfrm>
          <a:prstGeom prst="rect">
            <a:avLst/>
          </a:prstGeom>
          <a:solidFill>
            <a:srgbClr val="0F2235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7" name="t807"/>
          <p:cNvSpPr txBox="1"/>
          <p:nvPr/>
        </p:nvSpPr>
        <p:spPr>
          <a:xfrm>
            <a:off x="640080" y="987552"/>
            <a:ext cx="10058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Tool:  SQLiteOnline.com  —  runs in the browser, nothing to install</a:t>
            </a:r>
          </a:p>
        </p:txBody>
      </p:sp>
      <p:sp>
        <p:nvSpPr>
          <p:cNvPr id="808" name="r808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9" name="t809"/>
          <p:cNvSpPr txBox="1"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810" name="t810"/>
          <p:cNvSpPr txBox="1"/>
          <p:nvPr/>
        </p:nvSpPr>
        <p:spPr>
          <a:xfrm>
            <a:off x="777240" y="14173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Getting to Know the Data</a:t>
            </a:r>
          </a:p>
        </p:txBody>
      </p:sp>
      <p:sp>
        <p:nvSpPr>
          <p:cNvPr id="811" name="r811"/>
          <p:cNvSpPr/>
          <p:nvPr/>
        </p:nvSpPr>
        <p:spPr>
          <a:xfrm>
            <a:off x="457200" y="1691640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t812"/>
          <p:cNvSpPr txBox="1"/>
          <p:nvPr/>
        </p:nvSpPr>
        <p:spPr>
          <a:xfrm>
            <a:off x="777240" y="1764792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What do our tourists, visits, and destinations tables look like?</a:t>
            </a:r>
          </a:p>
        </p:txBody>
      </p:sp>
      <p:sp>
        <p:nvSpPr>
          <p:cNvPr id="813" name="r813"/>
          <p:cNvSpPr/>
          <p:nvPr/>
        </p:nvSpPr>
        <p:spPr>
          <a:xfrm>
            <a:off x="457200" y="2423160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4" name="t814"/>
          <p:cNvSpPr txBox="1"/>
          <p:nvPr/>
        </p:nvSpPr>
        <p:spPr>
          <a:xfrm>
            <a:off x="457200" y="242316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815" name="t815"/>
          <p:cNvSpPr txBox="1"/>
          <p:nvPr/>
        </p:nvSpPr>
        <p:spPr>
          <a:xfrm>
            <a:off x="809244" y="3390065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Are They Going?</a:t>
            </a:r>
          </a:p>
        </p:txBody>
      </p:sp>
      <p:sp>
        <p:nvSpPr>
          <p:cNvPr id="816" name="r816"/>
          <p:cNvSpPr/>
          <p:nvPr/>
        </p:nvSpPr>
        <p:spPr>
          <a:xfrm>
            <a:off x="457200" y="2697479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7" name="t817"/>
          <p:cNvSpPr txBox="1"/>
          <p:nvPr/>
        </p:nvSpPr>
        <p:spPr>
          <a:xfrm>
            <a:off x="777240" y="3748808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How many visits did each region receive?</a:t>
            </a:r>
          </a:p>
        </p:txBody>
      </p:sp>
      <p:sp>
        <p:nvSpPr>
          <p:cNvPr id="819" name="r819"/>
          <p:cNvSpPr/>
          <p:nvPr/>
        </p:nvSpPr>
        <p:spPr>
          <a:xfrm>
            <a:off x="457200" y="3429000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0" name="t820"/>
          <p:cNvSpPr txBox="1"/>
          <p:nvPr/>
        </p:nvSpPr>
        <p:spPr>
          <a:xfrm>
            <a:off x="457200" y="34290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sp>
        <p:nvSpPr>
          <p:cNvPr id="821" name="t821"/>
          <p:cNvSpPr txBox="1"/>
          <p:nvPr/>
        </p:nvSpPr>
        <p:spPr>
          <a:xfrm>
            <a:off x="6659880" y="1389887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Clean Is Our Data?</a:t>
            </a:r>
          </a:p>
        </p:txBody>
      </p:sp>
      <p:sp>
        <p:nvSpPr>
          <p:cNvPr id="822" name="r822"/>
          <p:cNvSpPr/>
          <p:nvPr/>
        </p:nvSpPr>
        <p:spPr>
          <a:xfrm>
            <a:off x="457200" y="3703320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3" name="t823"/>
          <p:cNvSpPr txBox="1"/>
          <p:nvPr/>
        </p:nvSpPr>
        <p:spPr>
          <a:xfrm>
            <a:off x="6641592" y="1726926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Are there visits with missing spending data?</a:t>
            </a:r>
          </a:p>
        </p:txBody>
      </p:sp>
      <p:sp>
        <p:nvSpPr>
          <p:cNvPr id="826" name="r826"/>
          <p:cNvSpPr/>
          <p:nvPr/>
        </p:nvSpPr>
        <p:spPr>
          <a:xfrm>
            <a:off x="457200" y="4426213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7" name="t827"/>
          <p:cNvSpPr txBox="1"/>
          <p:nvPr/>
        </p:nvSpPr>
        <p:spPr>
          <a:xfrm>
            <a:off x="457200" y="443432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</a:p>
        </p:txBody>
      </p:sp>
      <p:sp>
        <p:nvSpPr>
          <p:cNvPr id="828" name="t828"/>
          <p:cNvSpPr txBox="1"/>
          <p:nvPr/>
        </p:nvSpPr>
        <p:spPr>
          <a:xfrm>
            <a:off x="777240" y="4425178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Full Picture: A 3-Table JOIN</a:t>
            </a:r>
          </a:p>
        </p:txBody>
      </p:sp>
      <p:sp>
        <p:nvSpPr>
          <p:cNvPr id="829" name="r829"/>
          <p:cNvSpPr/>
          <p:nvPr/>
        </p:nvSpPr>
        <p:spPr>
          <a:xfrm>
            <a:off x="457200" y="4699497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0" name="t830"/>
          <p:cNvSpPr txBox="1"/>
          <p:nvPr/>
        </p:nvSpPr>
        <p:spPr>
          <a:xfrm>
            <a:off x="777240" y="4772650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Give me a complete visitor profile — tourist, destination, spending.</a:t>
            </a:r>
          </a:p>
        </p:txBody>
      </p:sp>
      <p:sp>
        <p:nvSpPr>
          <p:cNvPr id="831" name="r831"/>
          <p:cNvSpPr/>
          <p:nvPr/>
        </p:nvSpPr>
        <p:spPr>
          <a:xfrm>
            <a:off x="6327648" y="1417320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2" name="t832"/>
          <p:cNvSpPr txBox="1"/>
          <p:nvPr/>
        </p:nvSpPr>
        <p:spPr>
          <a:xfrm>
            <a:off x="6327648" y="14173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833" name="t833"/>
          <p:cNvSpPr txBox="1"/>
          <p:nvPr/>
        </p:nvSpPr>
        <p:spPr>
          <a:xfrm>
            <a:off x="809244" y="2425393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Who is Visiting?</a:t>
            </a:r>
          </a:p>
        </p:txBody>
      </p:sp>
      <p:sp>
        <p:nvSpPr>
          <p:cNvPr id="834" name="r834"/>
          <p:cNvSpPr/>
          <p:nvPr/>
        </p:nvSpPr>
        <p:spPr>
          <a:xfrm>
            <a:off x="6327648" y="1691640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5" name="t835"/>
          <p:cNvSpPr txBox="1"/>
          <p:nvPr/>
        </p:nvSpPr>
        <p:spPr>
          <a:xfrm>
            <a:off x="777240" y="2712891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How many tourists do we have by nationality?</a:t>
            </a:r>
          </a:p>
        </p:txBody>
      </p:sp>
      <p:sp>
        <p:nvSpPr>
          <p:cNvPr id="836" name="t836"/>
          <p:cNvSpPr txBox="1"/>
          <p:nvPr/>
        </p:nvSpPr>
        <p:spPr>
          <a:xfrm>
            <a:off x="757428" y="2934188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How many tourists do we have by tourist type?</a:t>
            </a:r>
          </a:p>
        </p:txBody>
      </p:sp>
      <p:sp>
        <p:nvSpPr>
          <p:cNvPr id="837" name="r837"/>
          <p:cNvSpPr/>
          <p:nvPr/>
        </p:nvSpPr>
        <p:spPr>
          <a:xfrm>
            <a:off x="6327648" y="2423160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8" name="t838"/>
          <p:cNvSpPr txBox="1"/>
          <p:nvPr/>
        </p:nvSpPr>
        <p:spPr>
          <a:xfrm>
            <a:off x="6327648" y="2450592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839" name="t839"/>
          <p:cNvSpPr txBox="1"/>
          <p:nvPr/>
        </p:nvSpPr>
        <p:spPr>
          <a:xfrm>
            <a:off x="6647688" y="242316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Overloading or Underserved?</a:t>
            </a:r>
          </a:p>
        </p:txBody>
      </p:sp>
      <p:sp>
        <p:nvSpPr>
          <p:cNvPr id="840" name="r840"/>
          <p:cNvSpPr/>
          <p:nvPr/>
        </p:nvSpPr>
        <p:spPr>
          <a:xfrm>
            <a:off x="6327648" y="2697479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1" name="t841"/>
          <p:cNvSpPr txBox="1"/>
          <p:nvPr/>
        </p:nvSpPr>
        <p:spPr>
          <a:xfrm>
            <a:off x="6647688" y="2770632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Which destinations receive the most visits?</a:t>
            </a:r>
          </a:p>
        </p:txBody>
      </p:sp>
      <p:sp>
        <p:nvSpPr>
          <p:cNvPr id="842" name="t842"/>
          <p:cNvSpPr txBox="1"/>
          <p:nvPr/>
        </p:nvSpPr>
        <p:spPr>
          <a:xfrm>
            <a:off x="6647688" y="3008376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3" name="r843"/>
          <p:cNvSpPr/>
          <p:nvPr/>
        </p:nvSpPr>
        <p:spPr>
          <a:xfrm>
            <a:off x="6385560" y="3442716"/>
            <a:ext cx="256032" cy="256032"/>
          </a:xfrm>
          <a:prstGeom prst="rect">
            <a:avLst/>
          </a:prstGeom>
          <a:solidFill>
            <a:srgbClr val="1A3050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4" name="t844"/>
          <p:cNvSpPr txBox="1"/>
          <p:nvPr/>
        </p:nvSpPr>
        <p:spPr>
          <a:xfrm>
            <a:off x="6385560" y="3470146"/>
            <a:ext cx="228600" cy="2286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sp>
        <p:nvSpPr>
          <p:cNvPr id="845" name="t845"/>
          <p:cNvSpPr txBox="1"/>
          <p:nvPr/>
        </p:nvSpPr>
        <p:spPr>
          <a:xfrm>
            <a:off x="6705600" y="34427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Does a Visit Look Like?</a:t>
            </a:r>
          </a:p>
        </p:txBody>
      </p:sp>
      <p:sp>
        <p:nvSpPr>
          <p:cNvPr id="846" name="r846"/>
          <p:cNvSpPr/>
          <p:nvPr/>
        </p:nvSpPr>
        <p:spPr>
          <a:xfrm>
            <a:off x="6385560" y="3717036"/>
            <a:ext cx="5486400" cy="18288"/>
          </a:xfrm>
          <a:prstGeom prst="rect">
            <a:avLst/>
          </a:prstGeom>
          <a:solidFill>
            <a:srgbClr val="1E3A5F"/>
          </a:solidFill>
          <a:ln w="635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t847"/>
          <p:cNvSpPr txBox="1"/>
          <p:nvPr/>
        </p:nvSpPr>
        <p:spPr>
          <a:xfrm>
            <a:off x="6705600" y="3790188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What is the avg, min, and max spending per destination category?</a:t>
            </a:r>
          </a:p>
        </p:txBody>
      </p:sp>
      <p:sp>
        <p:nvSpPr>
          <p:cNvPr id="848" name="t848"/>
          <p:cNvSpPr txBox="1"/>
          <p:nvPr/>
        </p:nvSpPr>
        <p:spPr>
          <a:xfrm>
            <a:off x="6705600" y="4027932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Which purpose of visit generates the highest average spending?</a:t>
            </a:r>
          </a:p>
        </p:txBody>
      </p:sp>
      <p:sp>
        <p:nvSpPr>
          <p:cNvPr id="849" name="t849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dataset.  Three pillars.  Every concept from today — applied to Philippine tourism.</a:t>
            </a:r>
          </a:p>
        </p:txBody>
      </p:sp>
      <p:sp>
        <p:nvSpPr>
          <p:cNvPr id="3" name="t841">
            <a:extLst>
              <a:ext uri="{FF2B5EF4-FFF2-40B4-BE49-F238E27FC236}">
                <a16:creationId xmlns:a16="http://schemas.microsoft.com/office/drawing/2014/main" id="{3AB65F8A-60A0-9510-6687-14245D67BEC6}"/>
              </a:ext>
            </a:extLst>
          </p:cNvPr>
          <p:cNvSpPr txBox="1"/>
          <p:nvPr/>
        </p:nvSpPr>
        <p:spPr>
          <a:xfrm>
            <a:off x="6647688" y="3017520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Which destinations receive the least visits?</a:t>
            </a:r>
          </a:p>
        </p:txBody>
      </p:sp>
    </p:spTree>
  </p:cSld>
  <p:clrMapOvr>
    <a:masterClrMapping/>
  </p:clrMapOvr>
  <p:transition spd="med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OPEN FORUM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62179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594360" y="154533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27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SQLZoo.net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45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exercises, free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62179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6355080" y="154533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5394960" cy="62179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594360" y="2322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304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322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syntax reference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5394960" cy="621792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6355080" y="2322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321085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level when ready: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540034"/>
            <a:ext cx="11247120" cy="475488"/>
          </a:xfrm>
          <a:prstGeom prst="rect">
            <a:avLst/>
          </a:prstGeom>
          <a:solidFill>
            <a:srgbClr val="0F2235"/>
          </a:solidFill>
          <a:ln w="508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 txBox="1"/>
          <p:nvPr/>
        </p:nvSpPr>
        <p:spPr>
          <a:xfrm>
            <a:off x="548640" y="3622330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 ·  Subqueries  ·  CTEs  ·  Indexes</a:t>
            </a:r>
            <a:endParaRPr lang="en-US" sz="1300" dirty="0"/>
          </a:p>
        </p:txBody>
      </p:sp>
      <p:sp>
        <p:nvSpPr>
          <p:cNvPr id="30" name="r901">
            <a:extLst>
              <a:ext uri="{FF2B5EF4-FFF2-40B4-BE49-F238E27FC236}">
                <a16:creationId xmlns:a16="http://schemas.microsoft.com/office/drawing/2014/main" id="{A9F0E67C-956C-F188-1107-2C8B791A193F}"/>
              </a:ext>
            </a:extLst>
          </p:cNvPr>
          <p:cNvSpPr/>
          <p:nvPr/>
        </p:nvSpPr>
        <p:spPr>
          <a:xfrm>
            <a:off x="372294" y="4426051"/>
            <a:ext cx="11247120" cy="548640"/>
          </a:xfrm>
          <a:prstGeom prst="rect">
            <a:avLst/>
          </a:prstGeom>
          <a:solidFill>
            <a:srgbClr val="0A1E30"/>
          </a:solidFill>
          <a:ln w="10160">
            <a:solidFill>
              <a:srgbClr val="00C9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903">
            <a:extLst>
              <a:ext uri="{FF2B5EF4-FFF2-40B4-BE49-F238E27FC236}">
                <a16:creationId xmlns:a16="http://schemas.microsoft.com/office/drawing/2014/main" id="{EF8A01CF-9D44-C3F0-6D9C-CB94E6F07AA1}"/>
              </a:ext>
            </a:extLst>
          </p:cNvPr>
          <p:cNvSpPr txBox="1"/>
          <p:nvPr/>
        </p:nvSpPr>
        <p:spPr>
          <a:xfrm>
            <a:off x="365760" y="4471771"/>
            <a:ext cx="3200400" cy="25603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00C9A7"/>
                </a:solidFill>
                <a:latin typeface="Calibri"/>
              </a:rPr>
              <a:t>📦  </a:t>
            </a:r>
            <a:r>
              <a:rPr lang="en-US" sz="1300" b="1" i="0" dirty="0">
                <a:solidFill>
                  <a:srgbClr val="00C9A7"/>
                </a:solidFill>
                <a:latin typeface="Calibri"/>
              </a:rPr>
              <a:t>Today's materials:</a:t>
            </a:r>
          </a:p>
        </p:txBody>
      </p:sp>
      <p:sp>
        <p:nvSpPr>
          <p:cNvPr id="34" name="t904">
            <a:extLst>
              <a:ext uri="{FF2B5EF4-FFF2-40B4-BE49-F238E27FC236}">
                <a16:creationId xmlns:a16="http://schemas.microsoft.com/office/drawing/2014/main" id="{9EF1D3A2-A5DD-69CB-E7E1-F8694ADB9D30}"/>
              </a:ext>
            </a:extLst>
          </p:cNvPr>
          <p:cNvSpPr txBox="1"/>
          <p:nvPr/>
        </p:nvSpPr>
        <p:spPr>
          <a:xfrm>
            <a:off x="365760" y="4746091"/>
            <a:ext cx="10515600" cy="201168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FFFFFF"/>
                </a:solidFill>
                <a:latin typeface="Courier New"/>
              </a:rPr>
              <a:t>github.com/rachellvinculado/sql-seminar-nsm2026</a:t>
            </a: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0FD91189-9F0A-6968-2160-A6E9080E9F69}"/>
              </a:ext>
            </a:extLst>
          </p:cNvPr>
          <p:cNvSpPr txBox="1"/>
          <p:nvPr/>
        </p:nvSpPr>
        <p:spPr>
          <a:xfrm>
            <a:off x="6903720" y="160542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SQLBolt</a:t>
            </a:r>
            <a:endParaRPr lang="en-US" sz="12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A6C3897B-20D0-E63B-AA24-A1A133B3FD56}"/>
              </a:ext>
            </a:extLst>
          </p:cNvPr>
          <p:cNvSpPr txBox="1"/>
          <p:nvPr/>
        </p:nvSpPr>
        <p:spPr>
          <a:xfrm>
            <a:off x="9326880" y="162371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no account needed</a:t>
            </a:r>
            <a:endParaRPr lang="en-US" sz="11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7470B74-E405-5F14-525C-EE5B6D07755D}"/>
              </a:ext>
            </a:extLst>
          </p:cNvPr>
          <p:cNvSpPr txBox="1"/>
          <p:nvPr/>
        </p:nvSpPr>
        <p:spPr>
          <a:xfrm>
            <a:off x="6903720" y="2304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SQL</a:t>
            </a:r>
            <a:endParaRPr lang="en-US" sz="12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11C4A62-0661-E158-A7A5-154F09DFE0AE}"/>
              </a:ext>
            </a:extLst>
          </p:cNvPr>
          <p:cNvSpPr txBox="1"/>
          <p:nvPr/>
        </p:nvSpPr>
        <p:spPr>
          <a:xfrm>
            <a:off x="9326880" y="2358201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beginner-friendly, self-paced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17063</TotalTime>
  <Words>2803</Words>
  <Application>Microsoft Office PowerPoint</Application>
  <PresentationFormat>Widescreen</PresentationFormat>
  <Paragraphs>726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Rachell Batucan</cp:lastModifiedBy>
  <cp:revision>117</cp:revision>
  <dcterms:created xsi:type="dcterms:W3CDTF">2026-09-28T19:30:56Z</dcterms:created>
  <dcterms:modified xsi:type="dcterms:W3CDTF">2026-10-20T07:44:06Z</dcterms:modified>
</cp:coreProperties>
</file>