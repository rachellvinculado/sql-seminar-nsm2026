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3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301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8" r:id="rId4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977" autoAdjust="0"/>
    <p:restoredTop sz="66223" autoAdjust="0"/>
  </p:normalViewPr>
  <p:slideViewPr>
    <p:cSldViewPr snapToGrid="0" snapToObjects="1">
      <p:cViewPr varScale="1">
        <p:scale>
          <a:sx n="49" d="100"/>
          <a:sy n="49" d="100"/>
        </p:scale>
        <p:origin x="1184" y="40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172736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" name="Shape 1"/>
          <p:cNvSpPr/>
          <p:nvPr/>
        </p:nvSpPr>
        <p:spPr>
          <a:xfrm>
            <a:off x="658368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" name="Shape 2"/>
          <p:cNvSpPr/>
          <p:nvPr/>
        </p:nvSpPr>
        <p:spPr>
          <a:xfrm>
            <a:off x="1225296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1792224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Shape 4"/>
          <p:cNvSpPr/>
          <p:nvPr/>
        </p:nvSpPr>
        <p:spPr>
          <a:xfrm>
            <a:off x="2359152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" name="Shape 5"/>
          <p:cNvSpPr/>
          <p:nvPr/>
        </p:nvSpPr>
        <p:spPr>
          <a:xfrm>
            <a:off x="2926080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" name="Shape 6"/>
          <p:cNvSpPr/>
          <p:nvPr/>
        </p:nvSpPr>
        <p:spPr>
          <a:xfrm>
            <a:off x="3493008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" name="Shape 7"/>
          <p:cNvSpPr/>
          <p:nvPr/>
        </p:nvSpPr>
        <p:spPr>
          <a:xfrm>
            <a:off x="4059936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" name="Shape 8"/>
          <p:cNvSpPr/>
          <p:nvPr/>
        </p:nvSpPr>
        <p:spPr>
          <a:xfrm>
            <a:off x="4626864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" name="Shape 9"/>
          <p:cNvSpPr/>
          <p:nvPr/>
        </p:nvSpPr>
        <p:spPr>
          <a:xfrm>
            <a:off x="5193792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Shape 10"/>
          <p:cNvSpPr/>
          <p:nvPr/>
        </p:nvSpPr>
        <p:spPr>
          <a:xfrm>
            <a:off x="5760720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" name="Shape 11"/>
          <p:cNvSpPr/>
          <p:nvPr/>
        </p:nvSpPr>
        <p:spPr>
          <a:xfrm>
            <a:off x="6327648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" name="Shape 12"/>
          <p:cNvSpPr/>
          <p:nvPr/>
        </p:nvSpPr>
        <p:spPr>
          <a:xfrm>
            <a:off x="6894576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" name="Shape 13"/>
          <p:cNvSpPr/>
          <p:nvPr/>
        </p:nvSpPr>
        <p:spPr>
          <a:xfrm>
            <a:off x="7461504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" name="Shape 14"/>
          <p:cNvSpPr/>
          <p:nvPr/>
        </p:nvSpPr>
        <p:spPr>
          <a:xfrm>
            <a:off x="8028432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" name="Shape 15"/>
          <p:cNvSpPr/>
          <p:nvPr/>
        </p:nvSpPr>
        <p:spPr>
          <a:xfrm>
            <a:off x="8595360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Shape 16"/>
          <p:cNvSpPr/>
          <p:nvPr/>
        </p:nvSpPr>
        <p:spPr>
          <a:xfrm>
            <a:off x="9162288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" name="Shape 17"/>
          <p:cNvSpPr/>
          <p:nvPr/>
        </p:nvSpPr>
        <p:spPr>
          <a:xfrm>
            <a:off x="9729216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" name="Shape 18"/>
          <p:cNvSpPr/>
          <p:nvPr/>
        </p:nvSpPr>
        <p:spPr>
          <a:xfrm>
            <a:off x="10296144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Shape 19"/>
          <p:cNvSpPr/>
          <p:nvPr/>
        </p:nvSpPr>
        <p:spPr>
          <a:xfrm>
            <a:off x="10863072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" name="Shape 20"/>
          <p:cNvSpPr/>
          <p:nvPr/>
        </p:nvSpPr>
        <p:spPr>
          <a:xfrm>
            <a:off x="11430000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" name="Shape 21"/>
          <p:cNvSpPr/>
          <p:nvPr/>
        </p:nvSpPr>
        <p:spPr>
          <a:xfrm>
            <a:off x="11996928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" name="Shape 22"/>
          <p:cNvSpPr/>
          <p:nvPr/>
        </p:nvSpPr>
        <p:spPr>
          <a:xfrm>
            <a:off x="91440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" name="Shape 23"/>
          <p:cNvSpPr/>
          <p:nvPr/>
        </p:nvSpPr>
        <p:spPr>
          <a:xfrm>
            <a:off x="658368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" name="Shape 24"/>
          <p:cNvSpPr/>
          <p:nvPr/>
        </p:nvSpPr>
        <p:spPr>
          <a:xfrm>
            <a:off x="1225296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" name="Shape 25"/>
          <p:cNvSpPr/>
          <p:nvPr/>
        </p:nvSpPr>
        <p:spPr>
          <a:xfrm>
            <a:off x="1792224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" name="Shape 26"/>
          <p:cNvSpPr/>
          <p:nvPr/>
        </p:nvSpPr>
        <p:spPr>
          <a:xfrm>
            <a:off x="2359152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" name="Shape 27"/>
          <p:cNvSpPr/>
          <p:nvPr/>
        </p:nvSpPr>
        <p:spPr>
          <a:xfrm>
            <a:off x="2926080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0" name="Shape 28"/>
          <p:cNvSpPr/>
          <p:nvPr/>
        </p:nvSpPr>
        <p:spPr>
          <a:xfrm>
            <a:off x="3493008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1" name="Shape 29"/>
          <p:cNvSpPr/>
          <p:nvPr/>
        </p:nvSpPr>
        <p:spPr>
          <a:xfrm>
            <a:off x="4059936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2" name="Shape 30"/>
          <p:cNvSpPr/>
          <p:nvPr/>
        </p:nvSpPr>
        <p:spPr>
          <a:xfrm>
            <a:off x="4626864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3" name="Shape 31"/>
          <p:cNvSpPr/>
          <p:nvPr/>
        </p:nvSpPr>
        <p:spPr>
          <a:xfrm>
            <a:off x="5193792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4" name="Shape 32"/>
          <p:cNvSpPr/>
          <p:nvPr/>
        </p:nvSpPr>
        <p:spPr>
          <a:xfrm>
            <a:off x="5760720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5" name="Shape 33"/>
          <p:cNvSpPr/>
          <p:nvPr/>
        </p:nvSpPr>
        <p:spPr>
          <a:xfrm>
            <a:off x="6327648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6" name="Shape 34"/>
          <p:cNvSpPr/>
          <p:nvPr/>
        </p:nvSpPr>
        <p:spPr>
          <a:xfrm>
            <a:off x="6894576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7" name="Shape 35"/>
          <p:cNvSpPr/>
          <p:nvPr/>
        </p:nvSpPr>
        <p:spPr>
          <a:xfrm>
            <a:off x="7461504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8" name="Shape 36"/>
          <p:cNvSpPr/>
          <p:nvPr/>
        </p:nvSpPr>
        <p:spPr>
          <a:xfrm>
            <a:off x="8028432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9" name="Shape 37"/>
          <p:cNvSpPr/>
          <p:nvPr/>
        </p:nvSpPr>
        <p:spPr>
          <a:xfrm>
            <a:off x="8595360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0" name="Shape 38"/>
          <p:cNvSpPr/>
          <p:nvPr/>
        </p:nvSpPr>
        <p:spPr>
          <a:xfrm>
            <a:off x="9162288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1" name="Shape 39"/>
          <p:cNvSpPr/>
          <p:nvPr/>
        </p:nvSpPr>
        <p:spPr>
          <a:xfrm>
            <a:off x="9729216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2" name="Shape 40"/>
          <p:cNvSpPr/>
          <p:nvPr/>
        </p:nvSpPr>
        <p:spPr>
          <a:xfrm>
            <a:off x="10296144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3" name="Shape 41"/>
          <p:cNvSpPr/>
          <p:nvPr/>
        </p:nvSpPr>
        <p:spPr>
          <a:xfrm>
            <a:off x="10863072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4" name="Shape 42"/>
          <p:cNvSpPr/>
          <p:nvPr/>
        </p:nvSpPr>
        <p:spPr>
          <a:xfrm>
            <a:off x="11430000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5" name="Shape 43"/>
          <p:cNvSpPr/>
          <p:nvPr/>
        </p:nvSpPr>
        <p:spPr>
          <a:xfrm>
            <a:off x="11996928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6" name="Shape 44"/>
          <p:cNvSpPr/>
          <p:nvPr/>
        </p:nvSpPr>
        <p:spPr>
          <a:xfrm>
            <a:off x="91440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7" name="Shape 45"/>
          <p:cNvSpPr/>
          <p:nvPr/>
        </p:nvSpPr>
        <p:spPr>
          <a:xfrm>
            <a:off x="658368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8" name="Shape 46"/>
          <p:cNvSpPr/>
          <p:nvPr/>
        </p:nvSpPr>
        <p:spPr>
          <a:xfrm>
            <a:off x="1225296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9" name="Shape 47"/>
          <p:cNvSpPr/>
          <p:nvPr/>
        </p:nvSpPr>
        <p:spPr>
          <a:xfrm>
            <a:off x="1792224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0" name="Shape 48"/>
          <p:cNvSpPr/>
          <p:nvPr/>
        </p:nvSpPr>
        <p:spPr>
          <a:xfrm>
            <a:off x="2359152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1" name="Shape 49"/>
          <p:cNvSpPr/>
          <p:nvPr/>
        </p:nvSpPr>
        <p:spPr>
          <a:xfrm>
            <a:off x="2926080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2" name="Shape 50"/>
          <p:cNvSpPr/>
          <p:nvPr/>
        </p:nvSpPr>
        <p:spPr>
          <a:xfrm>
            <a:off x="3493008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3" name="Shape 51"/>
          <p:cNvSpPr/>
          <p:nvPr/>
        </p:nvSpPr>
        <p:spPr>
          <a:xfrm>
            <a:off x="4059936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4" name="Shape 52"/>
          <p:cNvSpPr/>
          <p:nvPr/>
        </p:nvSpPr>
        <p:spPr>
          <a:xfrm>
            <a:off x="4626864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5" name="Shape 53"/>
          <p:cNvSpPr/>
          <p:nvPr/>
        </p:nvSpPr>
        <p:spPr>
          <a:xfrm>
            <a:off x="5193792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6" name="Shape 54"/>
          <p:cNvSpPr/>
          <p:nvPr/>
        </p:nvSpPr>
        <p:spPr>
          <a:xfrm>
            <a:off x="5760720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7" name="Shape 55"/>
          <p:cNvSpPr/>
          <p:nvPr/>
        </p:nvSpPr>
        <p:spPr>
          <a:xfrm>
            <a:off x="6327648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8" name="Shape 56"/>
          <p:cNvSpPr/>
          <p:nvPr/>
        </p:nvSpPr>
        <p:spPr>
          <a:xfrm>
            <a:off x="6894576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9" name="Shape 57"/>
          <p:cNvSpPr/>
          <p:nvPr/>
        </p:nvSpPr>
        <p:spPr>
          <a:xfrm>
            <a:off x="7461504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0" name="Shape 58"/>
          <p:cNvSpPr/>
          <p:nvPr/>
        </p:nvSpPr>
        <p:spPr>
          <a:xfrm>
            <a:off x="8028432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1" name="Shape 59"/>
          <p:cNvSpPr/>
          <p:nvPr/>
        </p:nvSpPr>
        <p:spPr>
          <a:xfrm>
            <a:off x="8595360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2" name="Shape 60"/>
          <p:cNvSpPr/>
          <p:nvPr/>
        </p:nvSpPr>
        <p:spPr>
          <a:xfrm>
            <a:off x="9162288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3" name="Shape 61"/>
          <p:cNvSpPr/>
          <p:nvPr/>
        </p:nvSpPr>
        <p:spPr>
          <a:xfrm>
            <a:off x="9729216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4" name="Shape 62"/>
          <p:cNvSpPr/>
          <p:nvPr/>
        </p:nvSpPr>
        <p:spPr>
          <a:xfrm>
            <a:off x="10296144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5" name="Shape 63"/>
          <p:cNvSpPr/>
          <p:nvPr/>
        </p:nvSpPr>
        <p:spPr>
          <a:xfrm>
            <a:off x="10863072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6" name="Shape 64"/>
          <p:cNvSpPr/>
          <p:nvPr/>
        </p:nvSpPr>
        <p:spPr>
          <a:xfrm>
            <a:off x="11430000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7" name="Shape 65"/>
          <p:cNvSpPr/>
          <p:nvPr/>
        </p:nvSpPr>
        <p:spPr>
          <a:xfrm>
            <a:off x="11996928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8" name="Shape 66"/>
          <p:cNvSpPr/>
          <p:nvPr/>
        </p:nvSpPr>
        <p:spPr>
          <a:xfrm>
            <a:off x="91440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9" name="Shape 67"/>
          <p:cNvSpPr/>
          <p:nvPr/>
        </p:nvSpPr>
        <p:spPr>
          <a:xfrm>
            <a:off x="658368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0" name="Shape 68"/>
          <p:cNvSpPr/>
          <p:nvPr/>
        </p:nvSpPr>
        <p:spPr>
          <a:xfrm>
            <a:off x="1225296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1" name="Shape 69"/>
          <p:cNvSpPr/>
          <p:nvPr/>
        </p:nvSpPr>
        <p:spPr>
          <a:xfrm>
            <a:off x="1792224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2" name="Shape 70"/>
          <p:cNvSpPr/>
          <p:nvPr/>
        </p:nvSpPr>
        <p:spPr>
          <a:xfrm>
            <a:off x="2359152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3" name="Shape 71"/>
          <p:cNvSpPr/>
          <p:nvPr/>
        </p:nvSpPr>
        <p:spPr>
          <a:xfrm>
            <a:off x="2926080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4" name="Shape 72"/>
          <p:cNvSpPr/>
          <p:nvPr/>
        </p:nvSpPr>
        <p:spPr>
          <a:xfrm>
            <a:off x="3493008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5" name="Shape 73"/>
          <p:cNvSpPr/>
          <p:nvPr/>
        </p:nvSpPr>
        <p:spPr>
          <a:xfrm>
            <a:off x="4059936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6" name="Shape 74"/>
          <p:cNvSpPr/>
          <p:nvPr/>
        </p:nvSpPr>
        <p:spPr>
          <a:xfrm>
            <a:off x="4626864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7" name="Shape 75"/>
          <p:cNvSpPr/>
          <p:nvPr/>
        </p:nvSpPr>
        <p:spPr>
          <a:xfrm>
            <a:off x="5193792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8" name="Shape 76"/>
          <p:cNvSpPr/>
          <p:nvPr/>
        </p:nvSpPr>
        <p:spPr>
          <a:xfrm>
            <a:off x="5760720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9" name="Shape 77"/>
          <p:cNvSpPr/>
          <p:nvPr/>
        </p:nvSpPr>
        <p:spPr>
          <a:xfrm>
            <a:off x="6327648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0" name="Shape 78"/>
          <p:cNvSpPr/>
          <p:nvPr/>
        </p:nvSpPr>
        <p:spPr>
          <a:xfrm>
            <a:off x="6894576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1" name="Shape 79"/>
          <p:cNvSpPr/>
          <p:nvPr/>
        </p:nvSpPr>
        <p:spPr>
          <a:xfrm>
            <a:off x="7461504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2" name="Shape 80"/>
          <p:cNvSpPr/>
          <p:nvPr/>
        </p:nvSpPr>
        <p:spPr>
          <a:xfrm>
            <a:off x="8028432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3" name="Shape 81"/>
          <p:cNvSpPr/>
          <p:nvPr/>
        </p:nvSpPr>
        <p:spPr>
          <a:xfrm>
            <a:off x="8595360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4" name="Shape 82"/>
          <p:cNvSpPr/>
          <p:nvPr/>
        </p:nvSpPr>
        <p:spPr>
          <a:xfrm>
            <a:off x="9162288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5" name="Shape 83"/>
          <p:cNvSpPr/>
          <p:nvPr/>
        </p:nvSpPr>
        <p:spPr>
          <a:xfrm>
            <a:off x="9729216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6" name="Shape 84"/>
          <p:cNvSpPr/>
          <p:nvPr/>
        </p:nvSpPr>
        <p:spPr>
          <a:xfrm>
            <a:off x="10296144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7" name="Shape 85"/>
          <p:cNvSpPr/>
          <p:nvPr/>
        </p:nvSpPr>
        <p:spPr>
          <a:xfrm>
            <a:off x="10863072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8" name="Shape 86"/>
          <p:cNvSpPr/>
          <p:nvPr/>
        </p:nvSpPr>
        <p:spPr>
          <a:xfrm>
            <a:off x="11430000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9" name="Shape 87"/>
          <p:cNvSpPr/>
          <p:nvPr/>
        </p:nvSpPr>
        <p:spPr>
          <a:xfrm>
            <a:off x="11996928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0" name="Shape 88"/>
          <p:cNvSpPr/>
          <p:nvPr/>
        </p:nvSpPr>
        <p:spPr>
          <a:xfrm>
            <a:off x="91440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1" name="Shape 89"/>
          <p:cNvSpPr/>
          <p:nvPr/>
        </p:nvSpPr>
        <p:spPr>
          <a:xfrm>
            <a:off x="658368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2" name="Shape 90"/>
          <p:cNvSpPr/>
          <p:nvPr/>
        </p:nvSpPr>
        <p:spPr>
          <a:xfrm>
            <a:off x="1225296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3" name="Shape 91"/>
          <p:cNvSpPr/>
          <p:nvPr/>
        </p:nvSpPr>
        <p:spPr>
          <a:xfrm>
            <a:off x="1792224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4" name="Shape 92"/>
          <p:cNvSpPr/>
          <p:nvPr/>
        </p:nvSpPr>
        <p:spPr>
          <a:xfrm>
            <a:off x="2359152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5" name="Shape 93"/>
          <p:cNvSpPr/>
          <p:nvPr/>
        </p:nvSpPr>
        <p:spPr>
          <a:xfrm>
            <a:off x="2926080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6" name="Shape 94"/>
          <p:cNvSpPr/>
          <p:nvPr/>
        </p:nvSpPr>
        <p:spPr>
          <a:xfrm>
            <a:off x="3493008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7" name="Shape 95"/>
          <p:cNvSpPr/>
          <p:nvPr/>
        </p:nvSpPr>
        <p:spPr>
          <a:xfrm>
            <a:off x="4059936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8" name="Shape 96"/>
          <p:cNvSpPr/>
          <p:nvPr/>
        </p:nvSpPr>
        <p:spPr>
          <a:xfrm>
            <a:off x="4626864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9" name="Shape 97"/>
          <p:cNvSpPr/>
          <p:nvPr/>
        </p:nvSpPr>
        <p:spPr>
          <a:xfrm>
            <a:off x="5193792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0" name="Shape 98"/>
          <p:cNvSpPr/>
          <p:nvPr/>
        </p:nvSpPr>
        <p:spPr>
          <a:xfrm>
            <a:off x="5760720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1" name="Shape 99"/>
          <p:cNvSpPr/>
          <p:nvPr/>
        </p:nvSpPr>
        <p:spPr>
          <a:xfrm>
            <a:off x="6327648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2" name="Shape 100"/>
          <p:cNvSpPr/>
          <p:nvPr/>
        </p:nvSpPr>
        <p:spPr>
          <a:xfrm>
            <a:off x="6894576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3" name="Shape 101"/>
          <p:cNvSpPr/>
          <p:nvPr/>
        </p:nvSpPr>
        <p:spPr>
          <a:xfrm>
            <a:off x="7461504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4" name="Shape 102"/>
          <p:cNvSpPr/>
          <p:nvPr/>
        </p:nvSpPr>
        <p:spPr>
          <a:xfrm>
            <a:off x="8028432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5" name="Shape 103"/>
          <p:cNvSpPr/>
          <p:nvPr/>
        </p:nvSpPr>
        <p:spPr>
          <a:xfrm>
            <a:off x="8595360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6" name="Shape 104"/>
          <p:cNvSpPr/>
          <p:nvPr/>
        </p:nvSpPr>
        <p:spPr>
          <a:xfrm>
            <a:off x="9162288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7" name="Shape 105"/>
          <p:cNvSpPr/>
          <p:nvPr/>
        </p:nvSpPr>
        <p:spPr>
          <a:xfrm>
            <a:off x="9729216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8" name="Shape 106"/>
          <p:cNvSpPr/>
          <p:nvPr/>
        </p:nvSpPr>
        <p:spPr>
          <a:xfrm>
            <a:off x="10296144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9" name="Shape 107"/>
          <p:cNvSpPr/>
          <p:nvPr/>
        </p:nvSpPr>
        <p:spPr>
          <a:xfrm>
            <a:off x="10863072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0" name="Shape 108"/>
          <p:cNvSpPr/>
          <p:nvPr/>
        </p:nvSpPr>
        <p:spPr>
          <a:xfrm>
            <a:off x="11430000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1" name="Shape 109"/>
          <p:cNvSpPr/>
          <p:nvPr/>
        </p:nvSpPr>
        <p:spPr>
          <a:xfrm>
            <a:off x="11996928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2" name="Shape 110"/>
          <p:cNvSpPr/>
          <p:nvPr/>
        </p:nvSpPr>
        <p:spPr>
          <a:xfrm>
            <a:off x="91440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3" name="Shape 111"/>
          <p:cNvSpPr/>
          <p:nvPr/>
        </p:nvSpPr>
        <p:spPr>
          <a:xfrm>
            <a:off x="658368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4" name="Shape 112"/>
          <p:cNvSpPr/>
          <p:nvPr/>
        </p:nvSpPr>
        <p:spPr>
          <a:xfrm>
            <a:off x="1225296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5" name="Shape 113"/>
          <p:cNvSpPr/>
          <p:nvPr/>
        </p:nvSpPr>
        <p:spPr>
          <a:xfrm>
            <a:off x="1792224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6" name="Shape 114"/>
          <p:cNvSpPr/>
          <p:nvPr/>
        </p:nvSpPr>
        <p:spPr>
          <a:xfrm>
            <a:off x="2359152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7" name="Shape 115"/>
          <p:cNvSpPr/>
          <p:nvPr/>
        </p:nvSpPr>
        <p:spPr>
          <a:xfrm>
            <a:off x="2926080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8" name="Shape 116"/>
          <p:cNvSpPr/>
          <p:nvPr/>
        </p:nvSpPr>
        <p:spPr>
          <a:xfrm>
            <a:off x="3493008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9" name="Shape 117"/>
          <p:cNvSpPr/>
          <p:nvPr/>
        </p:nvSpPr>
        <p:spPr>
          <a:xfrm>
            <a:off x="4059936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0" name="Shape 118"/>
          <p:cNvSpPr/>
          <p:nvPr/>
        </p:nvSpPr>
        <p:spPr>
          <a:xfrm>
            <a:off x="4626864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1" name="Shape 119"/>
          <p:cNvSpPr/>
          <p:nvPr/>
        </p:nvSpPr>
        <p:spPr>
          <a:xfrm>
            <a:off x="5193792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2" name="Shape 120"/>
          <p:cNvSpPr/>
          <p:nvPr/>
        </p:nvSpPr>
        <p:spPr>
          <a:xfrm>
            <a:off x="5760720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3" name="Shape 121"/>
          <p:cNvSpPr/>
          <p:nvPr/>
        </p:nvSpPr>
        <p:spPr>
          <a:xfrm>
            <a:off x="6327648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4" name="Shape 122"/>
          <p:cNvSpPr/>
          <p:nvPr/>
        </p:nvSpPr>
        <p:spPr>
          <a:xfrm>
            <a:off x="6894576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5" name="Shape 123"/>
          <p:cNvSpPr/>
          <p:nvPr/>
        </p:nvSpPr>
        <p:spPr>
          <a:xfrm>
            <a:off x="7461504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6" name="Shape 124"/>
          <p:cNvSpPr/>
          <p:nvPr/>
        </p:nvSpPr>
        <p:spPr>
          <a:xfrm>
            <a:off x="8028432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7" name="Shape 125"/>
          <p:cNvSpPr/>
          <p:nvPr/>
        </p:nvSpPr>
        <p:spPr>
          <a:xfrm>
            <a:off x="8595360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8" name="Shape 126"/>
          <p:cNvSpPr/>
          <p:nvPr/>
        </p:nvSpPr>
        <p:spPr>
          <a:xfrm>
            <a:off x="9162288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9" name="Shape 127"/>
          <p:cNvSpPr/>
          <p:nvPr/>
        </p:nvSpPr>
        <p:spPr>
          <a:xfrm>
            <a:off x="9729216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0" name="Shape 128"/>
          <p:cNvSpPr/>
          <p:nvPr/>
        </p:nvSpPr>
        <p:spPr>
          <a:xfrm>
            <a:off x="10296144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1" name="Shape 129"/>
          <p:cNvSpPr/>
          <p:nvPr/>
        </p:nvSpPr>
        <p:spPr>
          <a:xfrm>
            <a:off x="10863072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2" name="Shape 130"/>
          <p:cNvSpPr/>
          <p:nvPr/>
        </p:nvSpPr>
        <p:spPr>
          <a:xfrm>
            <a:off x="11430000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3" name="Shape 131"/>
          <p:cNvSpPr/>
          <p:nvPr/>
        </p:nvSpPr>
        <p:spPr>
          <a:xfrm>
            <a:off x="11996928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4" name="Shape 132"/>
          <p:cNvSpPr/>
          <p:nvPr/>
        </p:nvSpPr>
        <p:spPr>
          <a:xfrm>
            <a:off x="91440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5" name="Shape 133"/>
          <p:cNvSpPr/>
          <p:nvPr/>
        </p:nvSpPr>
        <p:spPr>
          <a:xfrm>
            <a:off x="658368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6" name="Shape 134"/>
          <p:cNvSpPr/>
          <p:nvPr/>
        </p:nvSpPr>
        <p:spPr>
          <a:xfrm>
            <a:off x="1225296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7" name="Shape 135"/>
          <p:cNvSpPr/>
          <p:nvPr/>
        </p:nvSpPr>
        <p:spPr>
          <a:xfrm>
            <a:off x="1792224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8" name="Shape 136"/>
          <p:cNvSpPr/>
          <p:nvPr/>
        </p:nvSpPr>
        <p:spPr>
          <a:xfrm>
            <a:off x="2359152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9" name="Shape 137"/>
          <p:cNvSpPr/>
          <p:nvPr/>
        </p:nvSpPr>
        <p:spPr>
          <a:xfrm>
            <a:off x="2926080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0" name="Shape 138"/>
          <p:cNvSpPr/>
          <p:nvPr/>
        </p:nvSpPr>
        <p:spPr>
          <a:xfrm>
            <a:off x="3493008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1" name="Shape 139"/>
          <p:cNvSpPr/>
          <p:nvPr/>
        </p:nvSpPr>
        <p:spPr>
          <a:xfrm>
            <a:off x="4059936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2" name="Shape 140"/>
          <p:cNvSpPr/>
          <p:nvPr/>
        </p:nvSpPr>
        <p:spPr>
          <a:xfrm>
            <a:off x="4626864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3" name="Shape 141"/>
          <p:cNvSpPr/>
          <p:nvPr/>
        </p:nvSpPr>
        <p:spPr>
          <a:xfrm>
            <a:off x="5193792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4" name="Shape 142"/>
          <p:cNvSpPr/>
          <p:nvPr/>
        </p:nvSpPr>
        <p:spPr>
          <a:xfrm>
            <a:off x="5760720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5" name="Shape 143"/>
          <p:cNvSpPr/>
          <p:nvPr/>
        </p:nvSpPr>
        <p:spPr>
          <a:xfrm>
            <a:off x="6327648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6" name="Shape 144"/>
          <p:cNvSpPr/>
          <p:nvPr/>
        </p:nvSpPr>
        <p:spPr>
          <a:xfrm>
            <a:off x="6894576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7" name="Shape 145"/>
          <p:cNvSpPr/>
          <p:nvPr/>
        </p:nvSpPr>
        <p:spPr>
          <a:xfrm>
            <a:off x="7461504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8" name="Shape 146"/>
          <p:cNvSpPr/>
          <p:nvPr/>
        </p:nvSpPr>
        <p:spPr>
          <a:xfrm>
            <a:off x="8028432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9" name="Shape 147"/>
          <p:cNvSpPr/>
          <p:nvPr/>
        </p:nvSpPr>
        <p:spPr>
          <a:xfrm>
            <a:off x="8595360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0" name="Shape 148"/>
          <p:cNvSpPr/>
          <p:nvPr/>
        </p:nvSpPr>
        <p:spPr>
          <a:xfrm>
            <a:off x="9162288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1" name="Shape 149"/>
          <p:cNvSpPr/>
          <p:nvPr/>
        </p:nvSpPr>
        <p:spPr>
          <a:xfrm>
            <a:off x="9729216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2" name="Shape 150"/>
          <p:cNvSpPr/>
          <p:nvPr/>
        </p:nvSpPr>
        <p:spPr>
          <a:xfrm>
            <a:off x="10296144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3" name="Shape 151"/>
          <p:cNvSpPr/>
          <p:nvPr/>
        </p:nvSpPr>
        <p:spPr>
          <a:xfrm>
            <a:off x="10863072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4" name="Shape 152"/>
          <p:cNvSpPr/>
          <p:nvPr/>
        </p:nvSpPr>
        <p:spPr>
          <a:xfrm>
            <a:off x="11430000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5" name="Shape 153"/>
          <p:cNvSpPr/>
          <p:nvPr/>
        </p:nvSpPr>
        <p:spPr>
          <a:xfrm>
            <a:off x="11996928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6" name="Shape 154"/>
          <p:cNvSpPr/>
          <p:nvPr/>
        </p:nvSpPr>
        <p:spPr>
          <a:xfrm>
            <a:off x="91440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7" name="Shape 155"/>
          <p:cNvSpPr/>
          <p:nvPr/>
        </p:nvSpPr>
        <p:spPr>
          <a:xfrm>
            <a:off x="658368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8" name="Shape 156"/>
          <p:cNvSpPr/>
          <p:nvPr/>
        </p:nvSpPr>
        <p:spPr>
          <a:xfrm>
            <a:off x="1225296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9" name="Shape 157"/>
          <p:cNvSpPr/>
          <p:nvPr/>
        </p:nvSpPr>
        <p:spPr>
          <a:xfrm>
            <a:off x="1792224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0" name="Shape 158"/>
          <p:cNvSpPr/>
          <p:nvPr/>
        </p:nvSpPr>
        <p:spPr>
          <a:xfrm>
            <a:off x="2359152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1" name="Shape 159"/>
          <p:cNvSpPr/>
          <p:nvPr/>
        </p:nvSpPr>
        <p:spPr>
          <a:xfrm>
            <a:off x="2926080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2" name="Shape 160"/>
          <p:cNvSpPr/>
          <p:nvPr/>
        </p:nvSpPr>
        <p:spPr>
          <a:xfrm>
            <a:off x="3493008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3" name="Shape 161"/>
          <p:cNvSpPr/>
          <p:nvPr/>
        </p:nvSpPr>
        <p:spPr>
          <a:xfrm>
            <a:off x="4059936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4" name="Shape 162"/>
          <p:cNvSpPr/>
          <p:nvPr/>
        </p:nvSpPr>
        <p:spPr>
          <a:xfrm>
            <a:off x="4626864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5" name="Shape 163"/>
          <p:cNvSpPr/>
          <p:nvPr/>
        </p:nvSpPr>
        <p:spPr>
          <a:xfrm>
            <a:off x="5193792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6" name="Shape 164"/>
          <p:cNvSpPr/>
          <p:nvPr/>
        </p:nvSpPr>
        <p:spPr>
          <a:xfrm>
            <a:off x="5760720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7" name="Shape 165"/>
          <p:cNvSpPr/>
          <p:nvPr/>
        </p:nvSpPr>
        <p:spPr>
          <a:xfrm>
            <a:off x="6327648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8" name="Shape 166"/>
          <p:cNvSpPr/>
          <p:nvPr/>
        </p:nvSpPr>
        <p:spPr>
          <a:xfrm>
            <a:off x="6894576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9" name="Shape 167"/>
          <p:cNvSpPr/>
          <p:nvPr/>
        </p:nvSpPr>
        <p:spPr>
          <a:xfrm>
            <a:off x="7461504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0" name="Shape 168"/>
          <p:cNvSpPr/>
          <p:nvPr/>
        </p:nvSpPr>
        <p:spPr>
          <a:xfrm>
            <a:off x="8028432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1" name="Shape 169"/>
          <p:cNvSpPr/>
          <p:nvPr/>
        </p:nvSpPr>
        <p:spPr>
          <a:xfrm>
            <a:off x="8595360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2" name="Shape 170"/>
          <p:cNvSpPr/>
          <p:nvPr/>
        </p:nvSpPr>
        <p:spPr>
          <a:xfrm>
            <a:off x="9162288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3" name="Shape 171"/>
          <p:cNvSpPr/>
          <p:nvPr/>
        </p:nvSpPr>
        <p:spPr>
          <a:xfrm>
            <a:off x="9729216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4" name="Shape 172"/>
          <p:cNvSpPr/>
          <p:nvPr/>
        </p:nvSpPr>
        <p:spPr>
          <a:xfrm>
            <a:off x="10296144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5" name="Shape 173"/>
          <p:cNvSpPr/>
          <p:nvPr/>
        </p:nvSpPr>
        <p:spPr>
          <a:xfrm>
            <a:off x="10863072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6" name="Shape 174"/>
          <p:cNvSpPr/>
          <p:nvPr/>
        </p:nvSpPr>
        <p:spPr>
          <a:xfrm>
            <a:off x="11430000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7" name="Shape 175"/>
          <p:cNvSpPr/>
          <p:nvPr/>
        </p:nvSpPr>
        <p:spPr>
          <a:xfrm>
            <a:off x="11996928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8" name="Shape 176"/>
          <p:cNvSpPr/>
          <p:nvPr/>
        </p:nvSpPr>
        <p:spPr>
          <a:xfrm>
            <a:off x="91440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9" name="Shape 177"/>
          <p:cNvSpPr/>
          <p:nvPr/>
        </p:nvSpPr>
        <p:spPr>
          <a:xfrm>
            <a:off x="658368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0" name="Shape 178"/>
          <p:cNvSpPr/>
          <p:nvPr/>
        </p:nvSpPr>
        <p:spPr>
          <a:xfrm>
            <a:off x="1225296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1" name="Shape 179"/>
          <p:cNvSpPr/>
          <p:nvPr/>
        </p:nvSpPr>
        <p:spPr>
          <a:xfrm>
            <a:off x="1792224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2" name="Shape 180"/>
          <p:cNvSpPr/>
          <p:nvPr/>
        </p:nvSpPr>
        <p:spPr>
          <a:xfrm>
            <a:off x="2359152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3" name="Shape 181"/>
          <p:cNvSpPr/>
          <p:nvPr/>
        </p:nvSpPr>
        <p:spPr>
          <a:xfrm>
            <a:off x="2926080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4" name="Shape 182"/>
          <p:cNvSpPr/>
          <p:nvPr/>
        </p:nvSpPr>
        <p:spPr>
          <a:xfrm>
            <a:off x="3493008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5" name="Shape 183"/>
          <p:cNvSpPr/>
          <p:nvPr/>
        </p:nvSpPr>
        <p:spPr>
          <a:xfrm>
            <a:off x="4059936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6" name="Shape 184"/>
          <p:cNvSpPr/>
          <p:nvPr/>
        </p:nvSpPr>
        <p:spPr>
          <a:xfrm>
            <a:off x="4626864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7" name="Shape 185"/>
          <p:cNvSpPr/>
          <p:nvPr/>
        </p:nvSpPr>
        <p:spPr>
          <a:xfrm>
            <a:off x="5193792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8" name="Shape 186"/>
          <p:cNvSpPr/>
          <p:nvPr/>
        </p:nvSpPr>
        <p:spPr>
          <a:xfrm>
            <a:off x="5760720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9" name="Shape 187"/>
          <p:cNvSpPr/>
          <p:nvPr/>
        </p:nvSpPr>
        <p:spPr>
          <a:xfrm>
            <a:off x="6327648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0" name="Shape 188"/>
          <p:cNvSpPr/>
          <p:nvPr/>
        </p:nvSpPr>
        <p:spPr>
          <a:xfrm>
            <a:off x="6894576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1" name="Shape 189"/>
          <p:cNvSpPr/>
          <p:nvPr/>
        </p:nvSpPr>
        <p:spPr>
          <a:xfrm>
            <a:off x="7461504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2" name="Shape 190"/>
          <p:cNvSpPr/>
          <p:nvPr/>
        </p:nvSpPr>
        <p:spPr>
          <a:xfrm>
            <a:off x="8028432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3" name="Shape 191"/>
          <p:cNvSpPr/>
          <p:nvPr/>
        </p:nvSpPr>
        <p:spPr>
          <a:xfrm>
            <a:off x="8595360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4" name="Shape 192"/>
          <p:cNvSpPr/>
          <p:nvPr/>
        </p:nvSpPr>
        <p:spPr>
          <a:xfrm>
            <a:off x="9162288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5" name="Shape 193"/>
          <p:cNvSpPr/>
          <p:nvPr/>
        </p:nvSpPr>
        <p:spPr>
          <a:xfrm>
            <a:off x="9729216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6" name="Shape 194"/>
          <p:cNvSpPr/>
          <p:nvPr/>
        </p:nvSpPr>
        <p:spPr>
          <a:xfrm>
            <a:off x="10296144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7" name="Shape 195"/>
          <p:cNvSpPr/>
          <p:nvPr/>
        </p:nvSpPr>
        <p:spPr>
          <a:xfrm>
            <a:off x="10863072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8" name="Shape 196"/>
          <p:cNvSpPr/>
          <p:nvPr/>
        </p:nvSpPr>
        <p:spPr>
          <a:xfrm>
            <a:off x="11430000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9" name="Shape 197"/>
          <p:cNvSpPr/>
          <p:nvPr/>
        </p:nvSpPr>
        <p:spPr>
          <a:xfrm>
            <a:off x="11996928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0" name="Shape 198"/>
          <p:cNvSpPr/>
          <p:nvPr/>
        </p:nvSpPr>
        <p:spPr>
          <a:xfrm>
            <a:off x="91440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1" name="Shape 199"/>
          <p:cNvSpPr/>
          <p:nvPr/>
        </p:nvSpPr>
        <p:spPr>
          <a:xfrm>
            <a:off x="658368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2" name="Shape 200"/>
          <p:cNvSpPr/>
          <p:nvPr/>
        </p:nvSpPr>
        <p:spPr>
          <a:xfrm>
            <a:off x="1225296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3" name="Shape 201"/>
          <p:cNvSpPr/>
          <p:nvPr/>
        </p:nvSpPr>
        <p:spPr>
          <a:xfrm>
            <a:off x="1792224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4" name="Shape 202"/>
          <p:cNvSpPr/>
          <p:nvPr/>
        </p:nvSpPr>
        <p:spPr>
          <a:xfrm>
            <a:off x="2359152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5" name="Shape 203"/>
          <p:cNvSpPr/>
          <p:nvPr/>
        </p:nvSpPr>
        <p:spPr>
          <a:xfrm>
            <a:off x="2926080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6" name="Shape 204"/>
          <p:cNvSpPr/>
          <p:nvPr/>
        </p:nvSpPr>
        <p:spPr>
          <a:xfrm>
            <a:off x="3493008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7" name="Shape 205"/>
          <p:cNvSpPr/>
          <p:nvPr/>
        </p:nvSpPr>
        <p:spPr>
          <a:xfrm>
            <a:off x="4059936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8" name="Shape 206"/>
          <p:cNvSpPr/>
          <p:nvPr/>
        </p:nvSpPr>
        <p:spPr>
          <a:xfrm>
            <a:off x="4626864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9" name="Shape 207"/>
          <p:cNvSpPr/>
          <p:nvPr/>
        </p:nvSpPr>
        <p:spPr>
          <a:xfrm>
            <a:off x="5193792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0" name="Shape 208"/>
          <p:cNvSpPr/>
          <p:nvPr/>
        </p:nvSpPr>
        <p:spPr>
          <a:xfrm>
            <a:off x="5760720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1" name="Shape 209"/>
          <p:cNvSpPr/>
          <p:nvPr/>
        </p:nvSpPr>
        <p:spPr>
          <a:xfrm>
            <a:off x="6327648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2" name="Shape 210"/>
          <p:cNvSpPr/>
          <p:nvPr/>
        </p:nvSpPr>
        <p:spPr>
          <a:xfrm>
            <a:off x="6894576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3" name="Shape 211"/>
          <p:cNvSpPr/>
          <p:nvPr/>
        </p:nvSpPr>
        <p:spPr>
          <a:xfrm>
            <a:off x="7461504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4" name="Shape 212"/>
          <p:cNvSpPr/>
          <p:nvPr/>
        </p:nvSpPr>
        <p:spPr>
          <a:xfrm>
            <a:off x="8028432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5" name="Shape 213"/>
          <p:cNvSpPr/>
          <p:nvPr/>
        </p:nvSpPr>
        <p:spPr>
          <a:xfrm>
            <a:off x="8595360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6" name="Shape 214"/>
          <p:cNvSpPr/>
          <p:nvPr/>
        </p:nvSpPr>
        <p:spPr>
          <a:xfrm>
            <a:off x="9162288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7" name="Shape 215"/>
          <p:cNvSpPr/>
          <p:nvPr/>
        </p:nvSpPr>
        <p:spPr>
          <a:xfrm>
            <a:off x="9729216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8" name="Shape 216"/>
          <p:cNvSpPr/>
          <p:nvPr/>
        </p:nvSpPr>
        <p:spPr>
          <a:xfrm>
            <a:off x="10296144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9" name="Shape 217"/>
          <p:cNvSpPr/>
          <p:nvPr/>
        </p:nvSpPr>
        <p:spPr>
          <a:xfrm>
            <a:off x="10863072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0" name="Shape 218"/>
          <p:cNvSpPr/>
          <p:nvPr/>
        </p:nvSpPr>
        <p:spPr>
          <a:xfrm>
            <a:off x="11430000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1" name="Shape 219"/>
          <p:cNvSpPr/>
          <p:nvPr/>
        </p:nvSpPr>
        <p:spPr>
          <a:xfrm>
            <a:off x="11996928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2" name="Shape 220"/>
          <p:cNvSpPr/>
          <p:nvPr/>
        </p:nvSpPr>
        <p:spPr>
          <a:xfrm>
            <a:off x="91440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3" name="Shape 221"/>
          <p:cNvSpPr/>
          <p:nvPr/>
        </p:nvSpPr>
        <p:spPr>
          <a:xfrm>
            <a:off x="658368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4" name="Shape 222"/>
          <p:cNvSpPr/>
          <p:nvPr/>
        </p:nvSpPr>
        <p:spPr>
          <a:xfrm>
            <a:off x="1225296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5" name="Shape 223"/>
          <p:cNvSpPr/>
          <p:nvPr/>
        </p:nvSpPr>
        <p:spPr>
          <a:xfrm>
            <a:off x="1792224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6" name="Shape 224"/>
          <p:cNvSpPr/>
          <p:nvPr/>
        </p:nvSpPr>
        <p:spPr>
          <a:xfrm>
            <a:off x="2359152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7" name="Shape 225"/>
          <p:cNvSpPr/>
          <p:nvPr/>
        </p:nvSpPr>
        <p:spPr>
          <a:xfrm>
            <a:off x="2926080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8" name="Shape 226"/>
          <p:cNvSpPr/>
          <p:nvPr/>
        </p:nvSpPr>
        <p:spPr>
          <a:xfrm>
            <a:off x="3493008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9" name="Shape 227"/>
          <p:cNvSpPr/>
          <p:nvPr/>
        </p:nvSpPr>
        <p:spPr>
          <a:xfrm>
            <a:off x="4059936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0" name="Shape 228"/>
          <p:cNvSpPr/>
          <p:nvPr/>
        </p:nvSpPr>
        <p:spPr>
          <a:xfrm>
            <a:off x="4626864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1" name="Shape 229"/>
          <p:cNvSpPr/>
          <p:nvPr/>
        </p:nvSpPr>
        <p:spPr>
          <a:xfrm>
            <a:off x="5193792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2" name="Shape 230"/>
          <p:cNvSpPr/>
          <p:nvPr/>
        </p:nvSpPr>
        <p:spPr>
          <a:xfrm>
            <a:off x="5760720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3" name="Shape 231"/>
          <p:cNvSpPr/>
          <p:nvPr/>
        </p:nvSpPr>
        <p:spPr>
          <a:xfrm>
            <a:off x="6327648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4" name="Shape 232"/>
          <p:cNvSpPr/>
          <p:nvPr/>
        </p:nvSpPr>
        <p:spPr>
          <a:xfrm>
            <a:off x="6894576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5" name="Shape 233"/>
          <p:cNvSpPr/>
          <p:nvPr/>
        </p:nvSpPr>
        <p:spPr>
          <a:xfrm>
            <a:off x="7461504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6" name="Shape 234"/>
          <p:cNvSpPr/>
          <p:nvPr/>
        </p:nvSpPr>
        <p:spPr>
          <a:xfrm>
            <a:off x="8028432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7" name="Shape 235"/>
          <p:cNvSpPr/>
          <p:nvPr/>
        </p:nvSpPr>
        <p:spPr>
          <a:xfrm>
            <a:off x="8595360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8" name="Shape 236"/>
          <p:cNvSpPr/>
          <p:nvPr/>
        </p:nvSpPr>
        <p:spPr>
          <a:xfrm>
            <a:off x="9162288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9" name="Shape 237"/>
          <p:cNvSpPr/>
          <p:nvPr/>
        </p:nvSpPr>
        <p:spPr>
          <a:xfrm>
            <a:off x="9729216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0" name="Shape 238"/>
          <p:cNvSpPr/>
          <p:nvPr/>
        </p:nvSpPr>
        <p:spPr>
          <a:xfrm>
            <a:off x="10296144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1" name="Shape 239"/>
          <p:cNvSpPr/>
          <p:nvPr/>
        </p:nvSpPr>
        <p:spPr>
          <a:xfrm>
            <a:off x="10863072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2" name="Shape 240"/>
          <p:cNvSpPr/>
          <p:nvPr/>
        </p:nvSpPr>
        <p:spPr>
          <a:xfrm>
            <a:off x="11430000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3" name="Shape 241"/>
          <p:cNvSpPr/>
          <p:nvPr/>
        </p:nvSpPr>
        <p:spPr>
          <a:xfrm>
            <a:off x="11996928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4" name="Shape 242"/>
          <p:cNvSpPr/>
          <p:nvPr/>
        </p:nvSpPr>
        <p:spPr>
          <a:xfrm>
            <a:off x="91440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5" name="Shape 243"/>
          <p:cNvSpPr/>
          <p:nvPr/>
        </p:nvSpPr>
        <p:spPr>
          <a:xfrm>
            <a:off x="658368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6" name="Shape 244"/>
          <p:cNvSpPr/>
          <p:nvPr/>
        </p:nvSpPr>
        <p:spPr>
          <a:xfrm>
            <a:off x="1225296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7" name="Shape 245"/>
          <p:cNvSpPr/>
          <p:nvPr/>
        </p:nvSpPr>
        <p:spPr>
          <a:xfrm>
            <a:off x="1792224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8" name="Shape 246"/>
          <p:cNvSpPr/>
          <p:nvPr/>
        </p:nvSpPr>
        <p:spPr>
          <a:xfrm>
            <a:off x="2359152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9" name="Shape 247"/>
          <p:cNvSpPr/>
          <p:nvPr/>
        </p:nvSpPr>
        <p:spPr>
          <a:xfrm>
            <a:off x="2926080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0" name="Shape 248"/>
          <p:cNvSpPr/>
          <p:nvPr/>
        </p:nvSpPr>
        <p:spPr>
          <a:xfrm>
            <a:off x="3493008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1" name="Shape 249"/>
          <p:cNvSpPr/>
          <p:nvPr/>
        </p:nvSpPr>
        <p:spPr>
          <a:xfrm>
            <a:off x="4059936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2" name="Shape 250"/>
          <p:cNvSpPr/>
          <p:nvPr/>
        </p:nvSpPr>
        <p:spPr>
          <a:xfrm>
            <a:off x="4626864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3" name="Shape 251"/>
          <p:cNvSpPr/>
          <p:nvPr/>
        </p:nvSpPr>
        <p:spPr>
          <a:xfrm>
            <a:off x="5193792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4" name="Shape 252"/>
          <p:cNvSpPr/>
          <p:nvPr/>
        </p:nvSpPr>
        <p:spPr>
          <a:xfrm>
            <a:off x="5760720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5" name="Shape 253"/>
          <p:cNvSpPr/>
          <p:nvPr/>
        </p:nvSpPr>
        <p:spPr>
          <a:xfrm>
            <a:off x="6327648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6" name="Shape 254"/>
          <p:cNvSpPr/>
          <p:nvPr/>
        </p:nvSpPr>
        <p:spPr>
          <a:xfrm>
            <a:off x="6894576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7" name="Shape 255"/>
          <p:cNvSpPr/>
          <p:nvPr/>
        </p:nvSpPr>
        <p:spPr>
          <a:xfrm>
            <a:off x="7461504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8" name="Shape 256"/>
          <p:cNvSpPr/>
          <p:nvPr/>
        </p:nvSpPr>
        <p:spPr>
          <a:xfrm>
            <a:off x="8028432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9" name="Shape 257"/>
          <p:cNvSpPr/>
          <p:nvPr/>
        </p:nvSpPr>
        <p:spPr>
          <a:xfrm>
            <a:off x="8595360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0" name="Shape 258"/>
          <p:cNvSpPr/>
          <p:nvPr/>
        </p:nvSpPr>
        <p:spPr>
          <a:xfrm>
            <a:off x="9162288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1" name="Shape 259"/>
          <p:cNvSpPr/>
          <p:nvPr/>
        </p:nvSpPr>
        <p:spPr>
          <a:xfrm>
            <a:off x="9729216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2" name="Shape 260"/>
          <p:cNvSpPr/>
          <p:nvPr/>
        </p:nvSpPr>
        <p:spPr>
          <a:xfrm>
            <a:off x="10296144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3" name="Shape 261"/>
          <p:cNvSpPr/>
          <p:nvPr/>
        </p:nvSpPr>
        <p:spPr>
          <a:xfrm>
            <a:off x="10863072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4" name="Shape 262"/>
          <p:cNvSpPr/>
          <p:nvPr/>
        </p:nvSpPr>
        <p:spPr>
          <a:xfrm>
            <a:off x="11430000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5" name="Shape 263"/>
          <p:cNvSpPr/>
          <p:nvPr/>
        </p:nvSpPr>
        <p:spPr>
          <a:xfrm>
            <a:off x="11996928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6" name="Shape 264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7" name="Shape 265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8" name="Shape 266"/>
          <p:cNvSpPr/>
          <p:nvPr/>
        </p:nvSpPr>
        <p:spPr>
          <a:xfrm>
            <a:off x="0" y="73152"/>
            <a:ext cx="91440" cy="6711696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9" name="Shape 267"/>
          <p:cNvSpPr/>
          <p:nvPr/>
        </p:nvSpPr>
        <p:spPr>
          <a:xfrm>
            <a:off x="91440" y="73152"/>
            <a:ext cx="7680960" cy="6711696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0" name="Text 268"/>
          <p:cNvSpPr txBox="1"/>
          <p:nvPr/>
        </p:nvSpPr>
        <p:spPr>
          <a:xfrm>
            <a:off x="457200" y="5029200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80F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 *  FROM</a:t>
            </a:r>
            <a:endParaRPr lang="en-US" sz="4800" dirty="0"/>
          </a:p>
        </p:txBody>
      </p:sp>
      <p:sp>
        <p:nvSpPr>
          <p:cNvPr id="271" name="Text 269"/>
          <p:cNvSpPr txBox="1"/>
          <p:nvPr/>
        </p:nvSpPr>
        <p:spPr>
          <a:xfrm>
            <a:off x="457200" y="5650992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80F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databases;</a:t>
            </a:r>
            <a:endParaRPr lang="en-US" sz="4800" dirty="0"/>
          </a:p>
        </p:txBody>
      </p:sp>
      <p:sp>
        <p:nvSpPr>
          <p:cNvPr id="272" name="Shape 270"/>
          <p:cNvSpPr/>
          <p:nvPr/>
        </p:nvSpPr>
        <p:spPr>
          <a:xfrm>
            <a:off x="7955280" y="746150"/>
            <a:ext cx="2377440" cy="3185770"/>
          </a:xfrm>
          <a:prstGeom prst="rect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3" name="Shape 271"/>
          <p:cNvSpPr/>
          <p:nvPr/>
        </p:nvSpPr>
        <p:spPr>
          <a:xfrm>
            <a:off x="7955280" y="365760"/>
            <a:ext cx="2377440" cy="760781"/>
          </a:xfrm>
          <a:prstGeom prst="ellipse">
            <a:avLst/>
          </a:prstGeom>
          <a:solidFill>
            <a:srgbClr val="0A1E30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4" name="Shape 272"/>
          <p:cNvSpPr/>
          <p:nvPr/>
        </p:nvSpPr>
        <p:spPr>
          <a:xfrm>
            <a:off x="7955280" y="3551530"/>
            <a:ext cx="2377440" cy="760781"/>
          </a:xfrm>
          <a:prstGeom prst="ellipse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5" name="Shape 273"/>
          <p:cNvSpPr/>
          <p:nvPr/>
        </p:nvSpPr>
        <p:spPr>
          <a:xfrm>
            <a:off x="7991856" y="1466990"/>
            <a:ext cx="2304288" cy="34235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6" name="Shape 274"/>
          <p:cNvSpPr/>
          <p:nvPr/>
        </p:nvSpPr>
        <p:spPr>
          <a:xfrm>
            <a:off x="7991856" y="2231575"/>
            <a:ext cx="2304288" cy="34235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7" name="Shape 275"/>
          <p:cNvSpPr/>
          <p:nvPr/>
        </p:nvSpPr>
        <p:spPr>
          <a:xfrm>
            <a:off x="7991856" y="2996160"/>
            <a:ext cx="2304288" cy="34235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8" name="Shape 276"/>
          <p:cNvSpPr/>
          <p:nvPr/>
        </p:nvSpPr>
        <p:spPr>
          <a:xfrm>
            <a:off x="10378440" y="1192378"/>
            <a:ext cx="1737360" cy="2328062"/>
          </a:xfrm>
          <a:prstGeom prst="rect">
            <a:avLst/>
          </a:prstGeom>
          <a:solidFill>
            <a:srgbClr val="0F2235"/>
          </a:solidFill>
          <a:ln w="1524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9" name="Shape 277"/>
          <p:cNvSpPr/>
          <p:nvPr/>
        </p:nvSpPr>
        <p:spPr>
          <a:xfrm>
            <a:off x="10378440" y="914400"/>
            <a:ext cx="1737360" cy="555955"/>
          </a:xfrm>
          <a:prstGeom prst="ellipse">
            <a:avLst/>
          </a:prstGeom>
          <a:solidFill>
            <a:srgbClr val="0A1E30"/>
          </a:solidFill>
          <a:ln w="1524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0" name="Shape 278"/>
          <p:cNvSpPr/>
          <p:nvPr/>
        </p:nvSpPr>
        <p:spPr>
          <a:xfrm>
            <a:off x="10378440" y="3242462"/>
            <a:ext cx="1737360" cy="555955"/>
          </a:xfrm>
          <a:prstGeom prst="ellipse">
            <a:avLst/>
          </a:prstGeom>
          <a:solidFill>
            <a:srgbClr val="0F2235"/>
          </a:solidFill>
          <a:ln w="1524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1" name="Shape 279"/>
          <p:cNvSpPr/>
          <p:nvPr/>
        </p:nvSpPr>
        <p:spPr>
          <a:xfrm>
            <a:off x="10415016" y="1719145"/>
            <a:ext cx="1664208" cy="250180"/>
          </a:xfrm>
          <a:prstGeom prst="ellipse">
            <a:avLst/>
          </a:prstGeom>
          <a:solidFill>
            <a:srgbClr val="0F2235"/>
          </a:solidFill>
          <a:ln w="635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2" name="Shape 280"/>
          <p:cNvSpPr/>
          <p:nvPr/>
        </p:nvSpPr>
        <p:spPr>
          <a:xfrm>
            <a:off x="10415016" y="2277880"/>
            <a:ext cx="1664208" cy="250180"/>
          </a:xfrm>
          <a:prstGeom prst="ellipse">
            <a:avLst/>
          </a:prstGeom>
          <a:solidFill>
            <a:srgbClr val="0F2235"/>
          </a:solidFill>
          <a:ln w="635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3" name="Shape 281"/>
          <p:cNvSpPr/>
          <p:nvPr/>
        </p:nvSpPr>
        <p:spPr>
          <a:xfrm>
            <a:off x="10415016" y="2836615"/>
            <a:ext cx="1664208" cy="250180"/>
          </a:xfrm>
          <a:prstGeom prst="ellipse">
            <a:avLst/>
          </a:prstGeom>
          <a:solidFill>
            <a:srgbClr val="0F2235"/>
          </a:solidFill>
          <a:ln w="635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4" name="Shape 282"/>
          <p:cNvSpPr/>
          <p:nvPr/>
        </p:nvSpPr>
        <p:spPr>
          <a:xfrm>
            <a:off x="8961120" y="3160166"/>
            <a:ext cx="1463040" cy="1960474"/>
          </a:xfrm>
          <a:prstGeom prst="rect">
            <a:avLst/>
          </a:prstGeom>
          <a:solidFill>
            <a:srgbClr val="0F2235"/>
          </a:solidFill>
          <a:ln w="1524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5" name="Shape 283"/>
          <p:cNvSpPr/>
          <p:nvPr/>
        </p:nvSpPr>
        <p:spPr>
          <a:xfrm>
            <a:off x="8961120" y="2926080"/>
            <a:ext cx="1463040" cy="468173"/>
          </a:xfrm>
          <a:prstGeom prst="ellipse">
            <a:avLst/>
          </a:prstGeom>
          <a:solidFill>
            <a:srgbClr val="0A1E30"/>
          </a:solidFill>
          <a:ln w="1524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6" name="Shape 284"/>
          <p:cNvSpPr/>
          <p:nvPr/>
        </p:nvSpPr>
        <p:spPr>
          <a:xfrm>
            <a:off x="8961120" y="4886554"/>
            <a:ext cx="1463040" cy="468173"/>
          </a:xfrm>
          <a:prstGeom prst="ellipse">
            <a:avLst/>
          </a:prstGeom>
          <a:solidFill>
            <a:srgbClr val="0F2235"/>
          </a:solidFill>
          <a:ln w="1524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7" name="Shape 285"/>
          <p:cNvSpPr/>
          <p:nvPr/>
        </p:nvSpPr>
        <p:spPr>
          <a:xfrm>
            <a:off x="8997696" y="3603760"/>
            <a:ext cx="1389888" cy="210678"/>
          </a:xfrm>
          <a:prstGeom prst="ellipse">
            <a:avLst/>
          </a:prstGeom>
          <a:solidFill>
            <a:srgbClr val="0F2235"/>
          </a:solidFill>
          <a:ln w="635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8" name="Shape 286"/>
          <p:cNvSpPr/>
          <p:nvPr/>
        </p:nvSpPr>
        <p:spPr>
          <a:xfrm>
            <a:off x="8997696" y="4074274"/>
            <a:ext cx="1389888" cy="210678"/>
          </a:xfrm>
          <a:prstGeom prst="ellipse">
            <a:avLst/>
          </a:prstGeom>
          <a:solidFill>
            <a:srgbClr val="0F2235"/>
          </a:solidFill>
          <a:ln w="635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9" name="Shape 287"/>
          <p:cNvSpPr/>
          <p:nvPr/>
        </p:nvSpPr>
        <p:spPr>
          <a:xfrm>
            <a:off x="8997696" y="4544787"/>
            <a:ext cx="1389888" cy="210678"/>
          </a:xfrm>
          <a:prstGeom prst="ellipse">
            <a:avLst/>
          </a:prstGeom>
          <a:solidFill>
            <a:srgbClr val="0F2235"/>
          </a:solidFill>
          <a:ln w="635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0" name="Shape 288"/>
          <p:cNvSpPr/>
          <p:nvPr/>
        </p:nvSpPr>
        <p:spPr>
          <a:xfrm>
            <a:off x="10515600" y="3727094"/>
            <a:ext cx="1005840" cy="1347826"/>
          </a:xfrm>
          <a:prstGeom prst="rect">
            <a:avLst/>
          </a:prstGeom>
          <a:solidFill>
            <a:srgbClr val="0F2235"/>
          </a:solidFill>
          <a:ln w="1524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1" name="Shape 289"/>
          <p:cNvSpPr/>
          <p:nvPr/>
        </p:nvSpPr>
        <p:spPr>
          <a:xfrm>
            <a:off x="10515600" y="3566160"/>
            <a:ext cx="1005840" cy="321869"/>
          </a:xfrm>
          <a:prstGeom prst="ellipse">
            <a:avLst/>
          </a:prstGeom>
          <a:solidFill>
            <a:srgbClr val="0A1E30"/>
          </a:solidFill>
          <a:ln w="1524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2" name="Shape 290"/>
          <p:cNvSpPr/>
          <p:nvPr/>
        </p:nvSpPr>
        <p:spPr>
          <a:xfrm>
            <a:off x="10515600" y="4913986"/>
            <a:ext cx="1005840" cy="321869"/>
          </a:xfrm>
          <a:prstGeom prst="ellipse">
            <a:avLst/>
          </a:prstGeom>
          <a:solidFill>
            <a:srgbClr val="0F2235"/>
          </a:solidFill>
          <a:ln w="1524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3" name="Shape 291"/>
          <p:cNvSpPr/>
          <p:nvPr/>
        </p:nvSpPr>
        <p:spPr>
          <a:xfrm>
            <a:off x="10552176" y="4032065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4" name="Shape 292"/>
          <p:cNvSpPr/>
          <p:nvPr/>
        </p:nvSpPr>
        <p:spPr>
          <a:xfrm>
            <a:off x="10552176" y="4355543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5" name="Shape 293"/>
          <p:cNvSpPr/>
          <p:nvPr/>
        </p:nvSpPr>
        <p:spPr>
          <a:xfrm>
            <a:off x="10552176" y="4679021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6" name="Text 294"/>
          <p:cNvSpPr txBox="1"/>
          <p:nvPr/>
        </p:nvSpPr>
        <p:spPr>
          <a:xfrm>
            <a:off x="457200" y="1417320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kern="0" spc="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</a:t>
            </a:r>
            <a:endParaRPr lang="en-US" sz="1800" dirty="0"/>
          </a:p>
        </p:txBody>
      </p:sp>
      <p:sp>
        <p:nvSpPr>
          <p:cNvPr id="297" name="Text 295"/>
          <p:cNvSpPr txBox="1"/>
          <p:nvPr/>
        </p:nvSpPr>
        <p:spPr>
          <a:xfrm>
            <a:off x="365760" y="1755648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12000" dirty="0"/>
          </a:p>
        </p:txBody>
      </p:sp>
      <p:sp>
        <p:nvSpPr>
          <p:cNvPr id="298" name="Shape 296"/>
          <p:cNvSpPr/>
          <p:nvPr/>
        </p:nvSpPr>
        <p:spPr>
          <a:xfrm>
            <a:off x="457200" y="3529584"/>
            <a:ext cx="4754880" cy="6400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9" name="Text 297"/>
          <p:cNvSpPr txBox="1"/>
          <p:nvPr/>
        </p:nvSpPr>
        <p:spPr>
          <a:xfrm>
            <a:off x="457200" y="3675888"/>
            <a:ext cx="7315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Data Analytics/Science</a:t>
            </a:r>
            <a:endParaRPr lang="en-US" sz="2400" dirty="0"/>
          </a:p>
        </p:txBody>
      </p:sp>
      <p:sp>
        <p:nvSpPr>
          <p:cNvPr id="300" name="Shape 298"/>
          <p:cNvSpPr/>
          <p:nvPr/>
        </p:nvSpPr>
        <p:spPr>
          <a:xfrm>
            <a:off x="457200" y="4279392"/>
            <a:ext cx="3840480" cy="402336"/>
          </a:xfrm>
          <a:prstGeom prst="rect">
            <a:avLst/>
          </a:prstGeom>
          <a:solidFill>
            <a:srgbClr val="0F2235"/>
          </a:solidFill>
          <a:ln w="762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01" name="Text 299"/>
          <p:cNvSpPr txBox="1"/>
          <p:nvPr/>
        </p:nvSpPr>
        <p:spPr>
          <a:xfrm>
            <a:off x="594360" y="4352544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Introductory Seminar for Statistics Students</a:t>
            </a:r>
            <a:endParaRPr lang="en-US" sz="1200" dirty="0"/>
          </a:p>
        </p:txBody>
      </p:sp>
      <p:sp>
        <p:nvSpPr>
          <p:cNvPr id="404" name="t404"/>
          <p:cNvSpPr txBox="1"/>
          <p:nvPr/>
        </p:nvSpPr>
        <p:spPr>
          <a:xfrm rot="-900000">
            <a:off x="8229600" y="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05" name="t405"/>
          <p:cNvSpPr txBox="1"/>
          <p:nvPr/>
        </p:nvSpPr>
        <p:spPr>
          <a:xfrm rot="-900000">
            <a:off x="9052560" y="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06" name="t406"/>
          <p:cNvSpPr txBox="1"/>
          <p:nvPr/>
        </p:nvSpPr>
        <p:spPr>
          <a:xfrm rot="-900000">
            <a:off x="9875520" y="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07" name="t407"/>
          <p:cNvSpPr txBox="1"/>
          <p:nvPr/>
        </p:nvSpPr>
        <p:spPr>
          <a:xfrm rot="-900000">
            <a:off x="10698480" y="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08" name="t408"/>
          <p:cNvSpPr txBox="1"/>
          <p:nvPr/>
        </p:nvSpPr>
        <p:spPr>
          <a:xfrm rot="-900000">
            <a:off x="11521440" y="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09" name="t409"/>
          <p:cNvSpPr txBox="1"/>
          <p:nvPr/>
        </p:nvSpPr>
        <p:spPr>
          <a:xfrm rot="-900000">
            <a:off x="8641080" y="6858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10" name="t410"/>
          <p:cNvSpPr txBox="1"/>
          <p:nvPr/>
        </p:nvSpPr>
        <p:spPr>
          <a:xfrm rot="-900000">
            <a:off x="9464040" y="6858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11" name="t411"/>
          <p:cNvSpPr txBox="1"/>
          <p:nvPr/>
        </p:nvSpPr>
        <p:spPr>
          <a:xfrm rot="-900000">
            <a:off x="10287000" y="6858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12" name="t412"/>
          <p:cNvSpPr txBox="1"/>
          <p:nvPr/>
        </p:nvSpPr>
        <p:spPr>
          <a:xfrm rot="-900000">
            <a:off x="11109960" y="6858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13" name="t413"/>
          <p:cNvSpPr txBox="1"/>
          <p:nvPr/>
        </p:nvSpPr>
        <p:spPr>
          <a:xfrm rot="-900000">
            <a:off x="11932920" y="6858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14" name="t414"/>
          <p:cNvSpPr txBox="1"/>
          <p:nvPr/>
        </p:nvSpPr>
        <p:spPr>
          <a:xfrm rot="-900000">
            <a:off x="8229600" y="13716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15" name="t415"/>
          <p:cNvSpPr txBox="1"/>
          <p:nvPr/>
        </p:nvSpPr>
        <p:spPr>
          <a:xfrm rot="-900000">
            <a:off x="9052560" y="13716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16" name="t416"/>
          <p:cNvSpPr txBox="1"/>
          <p:nvPr/>
        </p:nvSpPr>
        <p:spPr>
          <a:xfrm rot="-900000">
            <a:off x="9875520" y="13716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17" name="t417"/>
          <p:cNvSpPr txBox="1"/>
          <p:nvPr/>
        </p:nvSpPr>
        <p:spPr>
          <a:xfrm rot="-900000">
            <a:off x="10698480" y="13716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18" name="t418"/>
          <p:cNvSpPr txBox="1"/>
          <p:nvPr/>
        </p:nvSpPr>
        <p:spPr>
          <a:xfrm rot="-900000">
            <a:off x="11521440" y="13716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19" name="t419"/>
          <p:cNvSpPr txBox="1"/>
          <p:nvPr/>
        </p:nvSpPr>
        <p:spPr>
          <a:xfrm rot="-900000">
            <a:off x="8641080" y="20574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20" name="t420"/>
          <p:cNvSpPr txBox="1"/>
          <p:nvPr/>
        </p:nvSpPr>
        <p:spPr>
          <a:xfrm rot="-900000">
            <a:off x="9464040" y="20574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21" name="t421"/>
          <p:cNvSpPr txBox="1"/>
          <p:nvPr/>
        </p:nvSpPr>
        <p:spPr>
          <a:xfrm rot="-900000">
            <a:off x="10287000" y="20574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22" name="t422"/>
          <p:cNvSpPr txBox="1"/>
          <p:nvPr/>
        </p:nvSpPr>
        <p:spPr>
          <a:xfrm rot="-900000">
            <a:off x="11109960" y="20574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23" name="t423"/>
          <p:cNvSpPr txBox="1"/>
          <p:nvPr/>
        </p:nvSpPr>
        <p:spPr>
          <a:xfrm rot="-900000">
            <a:off x="11932920" y="20574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24" name="t424"/>
          <p:cNvSpPr txBox="1"/>
          <p:nvPr/>
        </p:nvSpPr>
        <p:spPr>
          <a:xfrm rot="-900000">
            <a:off x="8229600" y="27432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25" name="t425"/>
          <p:cNvSpPr txBox="1"/>
          <p:nvPr/>
        </p:nvSpPr>
        <p:spPr>
          <a:xfrm rot="-900000">
            <a:off x="9052560" y="27432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26" name="t426"/>
          <p:cNvSpPr txBox="1"/>
          <p:nvPr/>
        </p:nvSpPr>
        <p:spPr>
          <a:xfrm rot="-900000">
            <a:off x="9875520" y="27432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27" name="t427"/>
          <p:cNvSpPr txBox="1"/>
          <p:nvPr/>
        </p:nvSpPr>
        <p:spPr>
          <a:xfrm rot="-900000">
            <a:off x="10698480" y="27432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28" name="t428"/>
          <p:cNvSpPr txBox="1"/>
          <p:nvPr/>
        </p:nvSpPr>
        <p:spPr>
          <a:xfrm rot="-900000">
            <a:off x="11521440" y="27432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29" name="t429"/>
          <p:cNvSpPr txBox="1"/>
          <p:nvPr/>
        </p:nvSpPr>
        <p:spPr>
          <a:xfrm rot="-900000">
            <a:off x="8641080" y="34290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30" name="t430"/>
          <p:cNvSpPr txBox="1"/>
          <p:nvPr/>
        </p:nvSpPr>
        <p:spPr>
          <a:xfrm rot="-900000">
            <a:off x="9464040" y="34290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31" name="t431"/>
          <p:cNvSpPr txBox="1"/>
          <p:nvPr/>
        </p:nvSpPr>
        <p:spPr>
          <a:xfrm rot="-900000">
            <a:off x="10287000" y="34290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32" name="t432"/>
          <p:cNvSpPr txBox="1"/>
          <p:nvPr/>
        </p:nvSpPr>
        <p:spPr>
          <a:xfrm rot="-900000">
            <a:off x="11109960" y="34290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33" name="t433"/>
          <p:cNvSpPr txBox="1"/>
          <p:nvPr/>
        </p:nvSpPr>
        <p:spPr>
          <a:xfrm rot="-900000">
            <a:off x="11932920" y="34290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34" name="t434"/>
          <p:cNvSpPr txBox="1"/>
          <p:nvPr/>
        </p:nvSpPr>
        <p:spPr>
          <a:xfrm rot="-900000">
            <a:off x="8229600" y="41148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35" name="t435"/>
          <p:cNvSpPr txBox="1"/>
          <p:nvPr/>
        </p:nvSpPr>
        <p:spPr>
          <a:xfrm rot="-900000">
            <a:off x="9052560" y="41148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36" name="t436"/>
          <p:cNvSpPr txBox="1"/>
          <p:nvPr/>
        </p:nvSpPr>
        <p:spPr>
          <a:xfrm rot="-900000">
            <a:off x="9875520" y="41148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37" name="t437"/>
          <p:cNvSpPr txBox="1"/>
          <p:nvPr/>
        </p:nvSpPr>
        <p:spPr>
          <a:xfrm rot="-900000">
            <a:off x="10698480" y="41148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38" name="t438"/>
          <p:cNvSpPr txBox="1"/>
          <p:nvPr/>
        </p:nvSpPr>
        <p:spPr>
          <a:xfrm rot="-900000">
            <a:off x="11521440" y="41148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39" name="t439"/>
          <p:cNvSpPr txBox="1"/>
          <p:nvPr/>
        </p:nvSpPr>
        <p:spPr>
          <a:xfrm rot="-900000">
            <a:off x="8641080" y="48006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40" name="t440"/>
          <p:cNvSpPr txBox="1"/>
          <p:nvPr/>
        </p:nvSpPr>
        <p:spPr>
          <a:xfrm rot="-900000">
            <a:off x="9464040" y="48006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41" name="t441"/>
          <p:cNvSpPr txBox="1"/>
          <p:nvPr/>
        </p:nvSpPr>
        <p:spPr>
          <a:xfrm rot="-900000">
            <a:off x="10287000" y="48006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42" name="t442"/>
          <p:cNvSpPr txBox="1"/>
          <p:nvPr/>
        </p:nvSpPr>
        <p:spPr>
          <a:xfrm rot="-900000">
            <a:off x="11109960" y="48006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43" name="t443"/>
          <p:cNvSpPr txBox="1"/>
          <p:nvPr/>
        </p:nvSpPr>
        <p:spPr>
          <a:xfrm rot="-900000">
            <a:off x="11932920" y="48006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44" name="t444"/>
          <p:cNvSpPr txBox="1"/>
          <p:nvPr/>
        </p:nvSpPr>
        <p:spPr>
          <a:xfrm rot="-900000">
            <a:off x="8229600" y="54864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45" name="t445"/>
          <p:cNvSpPr txBox="1"/>
          <p:nvPr/>
        </p:nvSpPr>
        <p:spPr>
          <a:xfrm rot="-900000">
            <a:off x="9052560" y="54864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46" name="t446"/>
          <p:cNvSpPr txBox="1"/>
          <p:nvPr/>
        </p:nvSpPr>
        <p:spPr>
          <a:xfrm rot="-900000">
            <a:off x="9875520" y="54864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47" name="t447"/>
          <p:cNvSpPr txBox="1"/>
          <p:nvPr/>
        </p:nvSpPr>
        <p:spPr>
          <a:xfrm rot="-900000">
            <a:off x="10698480" y="54864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48" name="t448"/>
          <p:cNvSpPr txBox="1"/>
          <p:nvPr/>
        </p:nvSpPr>
        <p:spPr>
          <a:xfrm rot="-900000">
            <a:off x="11521440" y="54864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49" name="t449"/>
          <p:cNvSpPr txBox="1"/>
          <p:nvPr/>
        </p:nvSpPr>
        <p:spPr>
          <a:xfrm rot="-900000">
            <a:off x="8641080" y="61722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50" name="t450"/>
          <p:cNvSpPr txBox="1"/>
          <p:nvPr/>
        </p:nvSpPr>
        <p:spPr>
          <a:xfrm rot="-900000">
            <a:off x="9464040" y="61722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51" name="t451"/>
          <p:cNvSpPr txBox="1"/>
          <p:nvPr/>
        </p:nvSpPr>
        <p:spPr>
          <a:xfrm rot="-900000">
            <a:off x="10287000" y="61722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52" name="t452"/>
          <p:cNvSpPr txBox="1"/>
          <p:nvPr/>
        </p:nvSpPr>
        <p:spPr>
          <a:xfrm rot="-900000">
            <a:off x="11109960" y="61722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53" name="t453"/>
          <p:cNvSpPr txBox="1"/>
          <p:nvPr/>
        </p:nvSpPr>
        <p:spPr>
          <a:xfrm rot="-900000">
            <a:off x="11932920" y="61722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54" name="r454"/>
          <p:cNvSpPr/>
          <p:nvPr/>
        </p:nvSpPr>
        <p:spPr>
          <a:xfrm>
            <a:off x="502920" y="5577840"/>
            <a:ext cx="705916" cy="219456"/>
          </a:xfrm>
          <a:prstGeom prst="rect">
            <a:avLst/>
          </a:prstGeom>
          <a:solidFill>
            <a:srgbClr val="091828">
              <a:alpha val="25000"/>
            </a:srgbClr>
          </a:solidFill>
          <a:ln w="5080">
            <a:solidFill>
              <a:srgbClr val="162840">
                <a:alpha val="25000"/>
              </a:srgb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55" name="t455"/>
          <p:cNvSpPr txBox="1"/>
          <p:nvPr/>
        </p:nvSpPr>
        <p:spPr>
          <a:xfrm>
            <a:off x="576072" y="5614416"/>
            <a:ext cx="614476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750" dirty="0">
                <a:solidFill>
                  <a:srgbClr val="1E4A6A">
                    <a:alpha val="25000"/>
                  </a:srgbClr>
                </a:solidFill>
                <a:latin typeface="Courier New"/>
              </a:rPr>
              <a:t>SELECT</a:t>
            </a:r>
          </a:p>
        </p:txBody>
      </p:sp>
      <p:sp>
        <p:nvSpPr>
          <p:cNvPr id="456" name="r456"/>
          <p:cNvSpPr/>
          <p:nvPr/>
        </p:nvSpPr>
        <p:spPr>
          <a:xfrm>
            <a:off x="1481328" y="5577840"/>
            <a:ext cx="621792" cy="219456"/>
          </a:xfrm>
          <a:prstGeom prst="rect">
            <a:avLst/>
          </a:prstGeom>
          <a:solidFill>
            <a:srgbClr val="091828">
              <a:alpha val="25000"/>
            </a:srgbClr>
          </a:solidFill>
          <a:ln w="5080">
            <a:solidFill>
              <a:srgbClr val="162840">
                <a:alpha val="25000"/>
              </a:srgb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57" name="t457"/>
          <p:cNvSpPr txBox="1"/>
          <p:nvPr/>
        </p:nvSpPr>
        <p:spPr>
          <a:xfrm>
            <a:off x="1554480" y="5614416"/>
            <a:ext cx="530352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750" dirty="0">
                <a:solidFill>
                  <a:srgbClr val="1E4A6A">
                    <a:alpha val="25000"/>
                  </a:srgbClr>
                </a:solidFill>
                <a:latin typeface="Courier New"/>
              </a:rPr>
              <a:t>WHERE</a:t>
            </a:r>
          </a:p>
        </p:txBody>
      </p:sp>
      <p:sp>
        <p:nvSpPr>
          <p:cNvPr id="458" name="r458"/>
          <p:cNvSpPr/>
          <p:nvPr/>
        </p:nvSpPr>
        <p:spPr>
          <a:xfrm>
            <a:off x="2340864" y="5577840"/>
            <a:ext cx="537667" cy="219456"/>
          </a:xfrm>
          <a:prstGeom prst="rect">
            <a:avLst/>
          </a:prstGeom>
          <a:solidFill>
            <a:srgbClr val="091828">
              <a:alpha val="25000"/>
            </a:srgbClr>
          </a:solidFill>
          <a:ln w="5080">
            <a:solidFill>
              <a:srgbClr val="162840">
                <a:alpha val="25000"/>
              </a:srgb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59" name="t459"/>
          <p:cNvSpPr txBox="1"/>
          <p:nvPr/>
        </p:nvSpPr>
        <p:spPr>
          <a:xfrm>
            <a:off x="2414016" y="5614416"/>
            <a:ext cx="446227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750" dirty="0">
                <a:solidFill>
                  <a:srgbClr val="1E4A6A">
                    <a:alpha val="25000"/>
                  </a:srgbClr>
                </a:solidFill>
                <a:latin typeface="Courier New"/>
              </a:rPr>
              <a:t>JOIN</a:t>
            </a:r>
          </a:p>
        </p:txBody>
      </p:sp>
      <p:sp>
        <p:nvSpPr>
          <p:cNvPr id="460" name="r460"/>
          <p:cNvSpPr/>
          <p:nvPr/>
        </p:nvSpPr>
        <p:spPr>
          <a:xfrm>
            <a:off x="3054096" y="5577840"/>
            <a:ext cx="874166" cy="219456"/>
          </a:xfrm>
          <a:prstGeom prst="rect">
            <a:avLst/>
          </a:prstGeom>
          <a:solidFill>
            <a:srgbClr val="091828">
              <a:alpha val="25000"/>
            </a:srgbClr>
          </a:solidFill>
          <a:ln w="5080">
            <a:solidFill>
              <a:srgbClr val="162840">
                <a:alpha val="25000"/>
              </a:srgb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61" name="t461"/>
          <p:cNvSpPr txBox="1"/>
          <p:nvPr/>
        </p:nvSpPr>
        <p:spPr>
          <a:xfrm>
            <a:off x="3127248" y="5614416"/>
            <a:ext cx="782726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750" dirty="0">
                <a:solidFill>
                  <a:srgbClr val="1E4A6A">
                    <a:alpha val="25000"/>
                  </a:srgbClr>
                </a:solidFill>
                <a:latin typeface="Courier New"/>
              </a:rPr>
              <a:t>GROUP BY</a:t>
            </a:r>
          </a:p>
        </p:txBody>
      </p:sp>
      <p:sp>
        <p:nvSpPr>
          <p:cNvPr id="462" name="r462"/>
          <p:cNvSpPr/>
          <p:nvPr/>
        </p:nvSpPr>
        <p:spPr>
          <a:xfrm>
            <a:off x="4187952" y="5577840"/>
            <a:ext cx="874166" cy="219456"/>
          </a:xfrm>
          <a:prstGeom prst="rect">
            <a:avLst/>
          </a:prstGeom>
          <a:solidFill>
            <a:srgbClr val="091828">
              <a:alpha val="25000"/>
            </a:srgbClr>
          </a:solidFill>
          <a:ln w="5080">
            <a:solidFill>
              <a:srgbClr val="162840">
                <a:alpha val="25000"/>
              </a:srgb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63" name="t463"/>
          <p:cNvSpPr txBox="1"/>
          <p:nvPr/>
        </p:nvSpPr>
        <p:spPr>
          <a:xfrm>
            <a:off x="4261104" y="5614416"/>
            <a:ext cx="782726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750" dirty="0">
                <a:solidFill>
                  <a:srgbClr val="1E4A6A">
                    <a:alpha val="25000"/>
                  </a:srgbClr>
                </a:solidFill>
                <a:latin typeface="Courier New"/>
              </a:rPr>
              <a:t>ORDER BY</a:t>
            </a:r>
          </a:p>
        </p:txBody>
      </p:sp>
      <p:sp>
        <p:nvSpPr>
          <p:cNvPr id="464" name="r464"/>
          <p:cNvSpPr/>
          <p:nvPr/>
        </p:nvSpPr>
        <p:spPr>
          <a:xfrm>
            <a:off x="502920" y="5870448"/>
            <a:ext cx="621792" cy="219456"/>
          </a:xfrm>
          <a:prstGeom prst="rect">
            <a:avLst/>
          </a:prstGeom>
          <a:solidFill>
            <a:srgbClr val="091828">
              <a:alpha val="25000"/>
            </a:srgbClr>
          </a:solidFill>
          <a:ln w="5080">
            <a:solidFill>
              <a:srgbClr val="162840">
                <a:alpha val="25000"/>
              </a:srgb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65" name="t465"/>
          <p:cNvSpPr txBox="1"/>
          <p:nvPr/>
        </p:nvSpPr>
        <p:spPr>
          <a:xfrm>
            <a:off x="576072" y="5907024"/>
            <a:ext cx="530352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750" dirty="0">
                <a:solidFill>
                  <a:srgbClr val="1E4A6A">
                    <a:alpha val="25000"/>
                  </a:srgbClr>
                </a:solidFill>
                <a:latin typeface="Courier New"/>
              </a:rPr>
              <a:t>AVG()</a:t>
            </a:r>
          </a:p>
        </p:txBody>
      </p:sp>
      <p:sp>
        <p:nvSpPr>
          <p:cNvPr id="466" name="r466"/>
          <p:cNvSpPr/>
          <p:nvPr/>
        </p:nvSpPr>
        <p:spPr>
          <a:xfrm>
            <a:off x="1463040" y="5870448"/>
            <a:ext cx="705916" cy="219456"/>
          </a:xfrm>
          <a:prstGeom prst="rect">
            <a:avLst/>
          </a:prstGeom>
          <a:solidFill>
            <a:srgbClr val="091828">
              <a:alpha val="25000"/>
            </a:srgbClr>
          </a:solidFill>
          <a:ln w="5080">
            <a:solidFill>
              <a:srgbClr val="162840">
                <a:alpha val="25000"/>
              </a:srgb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67" name="t467"/>
          <p:cNvSpPr txBox="1"/>
          <p:nvPr/>
        </p:nvSpPr>
        <p:spPr>
          <a:xfrm>
            <a:off x="1536192" y="5907024"/>
            <a:ext cx="614476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750" dirty="0">
                <a:solidFill>
                  <a:srgbClr val="1E4A6A">
                    <a:alpha val="25000"/>
                  </a:srgbClr>
                </a:solidFill>
                <a:latin typeface="Courier New"/>
              </a:rPr>
              <a:t>HAVING</a:t>
            </a:r>
          </a:p>
        </p:txBody>
      </p:sp>
      <p:sp>
        <p:nvSpPr>
          <p:cNvPr id="468" name="r468"/>
          <p:cNvSpPr/>
          <p:nvPr/>
        </p:nvSpPr>
        <p:spPr>
          <a:xfrm>
            <a:off x="2505456" y="5870448"/>
            <a:ext cx="621792" cy="219456"/>
          </a:xfrm>
          <a:prstGeom prst="rect">
            <a:avLst/>
          </a:prstGeom>
          <a:solidFill>
            <a:srgbClr val="091828">
              <a:alpha val="25000"/>
            </a:srgbClr>
          </a:solidFill>
          <a:ln w="5080">
            <a:solidFill>
              <a:srgbClr val="162840">
                <a:alpha val="25000"/>
              </a:srgb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69" name="t469"/>
          <p:cNvSpPr txBox="1"/>
          <p:nvPr/>
        </p:nvSpPr>
        <p:spPr>
          <a:xfrm>
            <a:off x="2578608" y="5907024"/>
            <a:ext cx="530352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750" dirty="0">
                <a:solidFill>
                  <a:srgbClr val="1E4A6A">
                    <a:alpha val="25000"/>
                  </a:srgbClr>
                </a:solidFill>
                <a:latin typeface="Courier New"/>
              </a:rPr>
              <a:t>LIMIT</a:t>
            </a:r>
          </a:p>
        </p:txBody>
      </p:sp>
      <p:sp>
        <p:nvSpPr>
          <p:cNvPr id="470" name="r470"/>
          <p:cNvSpPr/>
          <p:nvPr/>
        </p:nvSpPr>
        <p:spPr>
          <a:xfrm>
            <a:off x="3310128" y="5870448"/>
            <a:ext cx="874166" cy="219456"/>
          </a:xfrm>
          <a:prstGeom prst="rect">
            <a:avLst/>
          </a:prstGeom>
          <a:solidFill>
            <a:srgbClr val="091828">
              <a:alpha val="25000"/>
            </a:srgbClr>
          </a:solidFill>
          <a:ln w="5080">
            <a:solidFill>
              <a:srgbClr val="162840">
                <a:alpha val="25000"/>
              </a:srgb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71" name="t471"/>
          <p:cNvSpPr txBox="1"/>
          <p:nvPr/>
        </p:nvSpPr>
        <p:spPr>
          <a:xfrm>
            <a:off x="3383280" y="5907024"/>
            <a:ext cx="782726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750" dirty="0">
                <a:solidFill>
                  <a:srgbClr val="1E4A6A">
                    <a:alpha val="25000"/>
                  </a:srgbClr>
                </a:solidFill>
                <a:latin typeface="Courier New"/>
              </a:rPr>
              <a:t>DISTINCT</a:t>
            </a:r>
          </a:p>
        </p:txBody>
      </p:sp>
      <p:sp>
        <p:nvSpPr>
          <p:cNvPr id="472" name="r472"/>
          <p:cNvSpPr/>
          <p:nvPr/>
        </p:nvSpPr>
        <p:spPr>
          <a:xfrm>
            <a:off x="502920" y="6144768"/>
            <a:ext cx="5303520" cy="658368"/>
          </a:xfrm>
          <a:prstGeom prst="rect">
            <a:avLst/>
          </a:prstGeom>
          <a:solidFill>
            <a:srgbClr val="060E18"/>
          </a:solidFill>
          <a:ln w="7620">
            <a:solidFill>
              <a:srgbClr val="1A304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73" name="t473"/>
          <p:cNvSpPr txBox="1"/>
          <p:nvPr/>
        </p:nvSpPr>
        <p:spPr>
          <a:xfrm>
            <a:off x="594360" y="6217920"/>
            <a:ext cx="164592" cy="493776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700" dirty="0">
                <a:solidFill>
                  <a:srgbClr val="2A4A5A"/>
                </a:solidFill>
                <a:latin typeface="Courier New"/>
              </a:rPr>
              <a:t>1</a:t>
            </a:r>
          </a:p>
          <a:p>
            <a:pPr marL="0" indent="0" algn="l">
              <a:buNone/>
            </a:pPr>
            <a:r>
              <a:rPr lang="en-US" sz="700" dirty="0">
                <a:solidFill>
                  <a:srgbClr val="2A4A5A"/>
                </a:solidFill>
                <a:latin typeface="Courier New"/>
              </a:rPr>
              <a:t>2</a:t>
            </a:r>
          </a:p>
          <a:p>
            <a:pPr marL="0" indent="0" algn="l">
              <a:buNone/>
            </a:pPr>
            <a:r>
              <a:rPr lang="en-US" sz="700" dirty="0">
                <a:solidFill>
                  <a:srgbClr val="2A4A5A"/>
                </a:solidFill>
                <a:latin typeface="Courier New"/>
              </a:rPr>
              <a:t>3</a:t>
            </a:r>
          </a:p>
        </p:txBody>
      </p:sp>
      <p:sp>
        <p:nvSpPr>
          <p:cNvPr id="474" name="t474"/>
          <p:cNvSpPr txBox="1"/>
          <p:nvPr/>
        </p:nvSpPr>
        <p:spPr>
          <a:xfrm>
            <a:off x="804672" y="6217920"/>
            <a:ext cx="640080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0C9A7"/>
                </a:solidFill>
                <a:latin typeface="Courier New"/>
              </a:rPr>
              <a:t>SELECT</a:t>
            </a:r>
          </a:p>
        </p:txBody>
      </p:sp>
      <p:sp>
        <p:nvSpPr>
          <p:cNvPr id="475" name="t475"/>
          <p:cNvSpPr txBox="1"/>
          <p:nvPr/>
        </p:nvSpPr>
        <p:spPr>
          <a:xfrm>
            <a:off x="1463040" y="6217920"/>
            <a:ext cx="2560320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/>
              </a:rPr>
              <a:t>destination_name, category</a:t>
            </a:r>
          </a:p>
        </p:txBody>
      </p:sp>
      <p:sp>
        <p:nvSpPr>
          <p:cNvPr id="476" name="t476"/>
          <p:cNvSpPr txBox="1"/>
          <p:nvPr/>
        </p:nvSpPr>
        <p:spPr>
          <a:xfrm>
            <a:off x="804672" y="6382512"/>
            <a:ext cx="475488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0C9A7"/>
                </a:solidFill>
                <a:latin typeface="Courier New"/>
              </a:rPr>
              <a:t>FROM</a:t>
            </a:r>
          </a:p>
        </p:txBody>
      </p:sp>
      <p:sp>
        <p:nvSpPr>
          <p:cNvPr id="477" name="t477"/>
          <p:cNvSpPr txBox="1"/>
          <p:nvPr/>
        </p:nvSpPr>
        <p:spPr>
          <a:xfrm>
            <a:off x="1298448" y="6382512"/>
            <a:ext cx="1463040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900" dirty="0">
                <a:solidFill>
                  <a:srgbClr val="4FC3F7"/>
                </a:solidFill>
                <a:latin typeface="Courier New"/>
              </a:rPr>
              <a:t>destinations</a:t>
            </a:r>
          </a:p>
        </p:txBody>
      </p:sp>
      <p:sp>
        <p:nvSpPr>
          <p:cNvPr id="478" name="t478"/>
          <p:cNvSpPr txBox="1"/>
          <p:nvPr/>
        </p:nvSpPr>
        <p:spPr>
          <a:xfrm>
            <a:off x="804672" y="6547104"/>
            <a:ext cx="548640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0C9A7"/>
                </a:solidFill>
                <a:latin typeface="Courier New"/>
              </a:rPr>
              <a:t>WHERE</a:t>
            </a:r>
          </a:p>
        </p:txBody>
      </p:sp>
      <p:sp>
        <p:nvSpPr>
          <p:cNvPr id="479" name="t479"/>
          <p:cNvSpPr txBox="1"/>
          <p:nvPr/>
        </p:nvSpPr>
        <p:spPr>
          <a:xfrm>
            <a:off x="1371600" y="6547104"/>
            <a:ext cx="3291840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/>
              </a:rPr>
              <a:t>category = 'Beach';</a:t>
            </a:r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 Today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594360" y="1481328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💡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08760"/>
            <a:ext cx="10241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SQL is and why it matters in real data work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093976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" name="Text 7"/>
          <p:cNvSpPr txBox="1"/>
          <p:nvPr/>
        </p:nvSpPr>
        <p:spPr>
          <a:xfrm>
            <a:off x="594360" y="2185416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🗄️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212848"/>
            <a:ext cx="10241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data is actually structured in databases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798064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 10"/>
          <p:cNvSpPr txBox="1"/>
          <p:nvPr/>
        </p:nvSpPr>
        <p:spPr>
          <a:xfrm>
            <a:off x="594360" y="2889504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⌨️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916936"/>
            <a:ext cx="10241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SQL commands — the ones you'll use 80% of the time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" y="3502152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" name="Text 13"/>
          <p:cNvSpPr txBox="1"/>
          <p:nvPr/>
        </p:nvSpPr>
        <p:spPr>
          <a:xfrm>
            <a:off x="594360" y="359359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🧹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621024"/>
            <a:ext cx="10241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 and statistical summaries in SQL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57200" y="4206240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Text 16"/>
          <p:cNvSpPr txBox="1"/>
          <p:nvPr/>
        </p:nvSpPr>
        <p:spPr>
          <a:xfrm>
            <a:off x="594360" y="429768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4325112"/>
            <a:ext cx="10241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SQL connects to R and Python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57200" y="4910328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Text 19"/>
          <p:cNvSpPr txBox="1"/>
          <p:nvPr/>
        </p:nvSpPr>
        <p:spPr>
          <a:xfrm>
            <a:off x="594360" y="5001768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🎬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5029200"/>
            <a:ext cx="10241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demo tying it all together</a:t>
            </a:r>
            <a:endParaRPr lang="en-US" sz="1500" dirty="0"/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Start: A Quick Poll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5394960" cy="1188720"/>
          </a:xfrm>
          <a:prstGeom prst="rect">
            <a:avLst/>
          </a:prstGeom>
          <a:solidFill>
            <a:srgbClr val="0F2235"/>
          </a:solidFill>
          <a:ln w="635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685800" y="1737360"/>
            <a:ext cx="64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✋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810512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Excel before?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309360" y="1463040"/>
            <a:ext cx="5394960" cy="1188720"/>
          </a:xfrm>
          <a:prstGeom prst="rect">
            <a:avLst/>
          </a:prstGeom>
          <a:solidFill>
            <a:srgbClr val="0F2235"/>
          </a:solidFill>
          <a:ln w="635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" name="Text 7"/>
          <p:cNvSpPr txBox="1"/>
          <p:nvPr/>
        </p:nvSpPr>
        <p:spPr>
          <a:xfrm>
            <a:off x="6537960" y="1737360"/>
            <a:ext cx="64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✋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7269480" y="1810512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R or Python?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971800"/>
            <a:ext cx="5394960" cy="1188720"/>
          </a:xfrm>
          <a:prstGeom prst="rect">
            <a:avLst/>
          </a:prstGeom>
          <a:solidFill>
            <a:srgbClr val="0F2235"/>
          </a:solidFill>
          <a:ln w="635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 10"/>
          <p:cNvSpPr txBox="1"/>
          <p:nvPr/>
        </p:nvSpPr>
        <p:spPr>
          <a:xfrm>
            <a:off x="685800" y="3246120"/>
            <a:ext cx="64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✋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3319272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Heard of SQL?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309360" y="2971800"/>
            <a:ext cx="5394960" cy="1188720"/>
          </a:xfrm>
          <a:prstGeom prst="rect">
            <a:avLst/>
          </a:prstGeom>
          <a:solidFill>
            <a:srgbClr val="0F2235"/>
          </a:solidFill>
          <a:ln w="635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" name="Text 13"/>
          <p:cNvSpPr txBox="1"/>
          <p:nvPr/>
        </p:nvSpPr>
        <p:spPr>
          <a:xfrm>
            <a:off x="6537960" y="3246120"/>
            <a:ext cx="64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✋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7269480" y="3319272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a SQL query?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56692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wrong answers — just helping me read the room.</a:t>
            </a:r>
            <a:endParaRPr lang="en-US" sz="1200" dirty="0"/>
          </a:p>
        </p:txBody>
      </p:sp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10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r10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r10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104"/>
          <p:cNvSpPr txBox="1"/>
          <p:nvPr/>
        </p:nvSpPr>
        <p:spPr>
          <a:xfrm>
            <a:off x="502920" y="2377440"/>
            <a:ext cx="11430000" cy="12801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/>
              </a:rPr>
              <a:t>SQL's Role</a:t>
            </a:r>
          </a:p>
        </p:txBody>
      </p:sp>
      <p:sp>
        <p:nvSpPr>
          <p:cNvPr id="105" name="r105"/>
          <p:cNvSpPr/>
          <p:nvPr/>
        </p:nvSpPr>
        <p:spPr>
          <a:xfrm>
            <a:off x="502920" y="3584448"/>
            <a:ext cx="8686800" cy="6400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6" name="t106"/>
          <p:cNvSpPr txBox="1"/>
          <p:nvPr/>
        </p:nvSpPr>
        <p:spPr>
          <a:xfrm>
            <a:off x="521207" y="3767328"/>
            <a:ext cx="11430000" cy="3657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1400" b="0" dirty="0">
                <a:solidFill>
                  <a:srgbClr val="94A3B8"/>
                </a:solidFill>
                <a:latin typeface="Calibri"/>
              </a:rPr>
              <a:t>What SQL is and where it fits in real data work</a:t>
            </a:r>
          </a:p>
        </p:txBody>
      </p:sp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SQL'S ROLE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SQL?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Text 3"/>
          <p:cNvSpPr txBox="1"/>
          <p:nvPr/>
        </p:nvSpPr>
        <p:spPr>
          <a:xfrm>
            <a:off x="457200" y="1170432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=  Structured Query Language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66420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Pronounced: </a:t>
            </a:r>
            <a:r>
              <a:rPr lang="en-US" sz="14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"sequel"</a:t>
            </a: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or  </a:t>
            </a:r>
            <a:r>
              <a:rPr lang="en-US" sz="14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"S-Q-L"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both are correct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21408"/>
            <a:ext cx="7132320" cy="47548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" name="Text 6"/>
          <p:cNvSpPr txBox="1"/>
          <p:nvPr/>
        </p:nvSpPr>
        <p:spPr>
          <a:xfrm>
            <a:off x="640080" y="2212848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language used to communicate with databases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688336"/>
            <a:ext cx="7132320" cy="47548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" name="Text 8"/>
          <p:cNvSpPr txBox="1"/>
          <p:nvPr/>
        </p:nvSpPr>
        <p:spPr>
          <a:xfrm>
            <a:off x="640080" y="2779776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Retrieve, filter, summarize, and combine data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255264"/>
            <a:ext cx="7132320" cy="47548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 10"/>
          <p:cNvSpPr txBox="1"/>
          <p:nvPr/>
        </p:nvSpPr>
        <p:spPr>
          <a:xfrm>
            <a:off x="640080" y="3346704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build apps, run models, or make charts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822192"/>
            <a:ext cx="7132320" cy="47548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" name="Text 12"/>
          <p:cNvSpPr txBox="1"/>
          <p:nvPr/>
        </p:nvSpPr>
        <p:spPr>
          <a:xfrm>
            <a:off x="640080" y="3913632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 you the data you need to do all of that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4709160"/>
            <a:ext cx="7132320" cy="566928"/>
          </a:xfrm>
          <a:prstGeom prst="rect">
            <a:avLst/>
          </a:prstGeom>
          <a:solidFill>
            <a:srgbClr val="0A1E30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" name="Text 14"/>
          <p:cNvSpPr txBox="1"/>
          <p:nvPr/>
        </p:nvSpPr>
        <p:spPr>
          <a:xfrm>
            <a:off x="640080" y="4818888"/>
            <a:ext cx="6766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"SQL is closer to writing a sentence than writing a program."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430768" y="4123944"/>
            <a:ext cx="3291840" cy="91440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Shape 16"/>
          <p:cNvSpPr/>
          <p:nvPr/>
        </p:nvSpPr>
        <p:spPr>
          <a:xfrm>
            <a:off x="8748979" y="3970325"/>
            <a:ext cx="182880" cy="201168"/>
          </a:xfrm>
          <a:prstGeom prst="rect">
            <a:avLst/>
          </a:prstGeom>
          <a:solidFill>
            <a:srgbClr val="0A1824"/>
          </a:solidFill>
          <a:ln w="6350">
            <a:solidFill>
              <a:srgbClr val="1A3A5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" name="Shape 17"/>
          <p:cNvSpPr/>
          <p:nvPr/>
        </p:nvSpPr>
        <p:spPr>
          <a:xfrm>
            <a:off x="8595360" y="4069080"/>
            <a:ext cx="182880" cy="201168"/>
          </a:xfrm>
          <a:prstGeom prst="rect">
            <a:avLst/>
          </a:prstGeom>
          <a:solidFill>
            <a:srgbClr val="0D2035"/>
          </a:solidFill>
          <a:ln w="6350">
            <a:solidFill>
              <a:srgbClr val="1A3A5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" name="Shape 18"/>
          <p:cNvSpPr/>
          <p:nvPr/>
        </p:nvSpPr>
        <p:spPr>
          <a:xfrm>
            <a:off x="11291011" y="3970325"/>
            <a:ext cx="182880" cy="201168"/>
          </a:xfrm>
          <a:prstGeom prst="rect">
            <a:avLst/>
          </a:prstGeom>
          <a:solidFill>
            <a:srgbClr val="0A1824"/>
          </a:solidFill>
          <a:ln w="6350">
            <a:solidFill>
              <a:srgbClr val="1A3A5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Shape 19"/>
          <p:cNvSpPr/>
          <p:nvPr/>
        </p:nvSpPr>
        <p:spPr>
          <a:xfrm>
            <a:off x="11137392" y="4069080"/>
            <a:ext cx="182880" cy="201168"/>
          </a:xfrm>
          <a:prstGeom prst="rect">
            <a:avLst/>
          </a:prstGeom>
          <a:solidFill>
            <a:srgbClr val="0D2035"/>
          </a:solidFill>
          <a:ln w="6350">
            <a:solidFill>
              <a:srgbClr val="1A3A5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" name="Shape 20"/>
          <p:cNvSpPr/>
          <p:nvPr/>
        </p:nvSpPr>
        <p:spPr>
          <a:xfrm>
            <a:off x="8577072" y="886968"/>
            <a:ext cx="3291840" cy="201168"/>
          </a:xfrm>
          <a:prstGeom prst="rect">
            <a:avLst/>
          </a:prstGeom>
          <a:solidFill>
            <a:srgbClr val="162840"/>
          </a:solidFill>
          <a:ln w="1016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" name="Shape 21"/>
          <p:cNvSpPr/>
          <p:nvPr/>
        </p:nvSpPr>
        <p:spPr>
          <a:xfrm>
            <a:off x="8321040" y="1051560"/>
            <a:ext cx="256032" cy="0"/>
          </a:xfrm>
          <a:prstGeom prst="line">
            <a:avLst/>
          </a:prstGeom>
          <a:noFill/>
          <a:ln w="1016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" name="Shape 22"/>
          <p:cNvSpPr/>
          <p:nvPr/>
        </p:nvSpPr>
        <p:spPr>
          <a:xfrm>
            <a:off x="11612880" y="1051560"/>
            <a:ext cx="256032" cy="0"/>
          </a:xfrm>
          <a:prstGeom prst="line">
            <a:avLst/>
          </a:prstGeom>
          <a:noFill/>
          <a:ln w="1016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" name="Shape 23"/>
          <p:cNvSpPr/>
          <p:nvPr/>
        </p:nvSpPr>
        <p:spPr>
          <a:xfrm>
            <a:off x="11612880" y="1051560"/>
            <a:ext cx="256032" cy="3017520"/>
          </a:xfrm>
          <a:prstGeom prst="rect">
            <a:avLst/>
          </a:prstGeom>
          <a:solidFill>
            <a:srgbClr val="0A1E30"/>
          </a:solidFill>
          <a:ln w="10160">
            <a:solidFill>
              <a:srgbClr val="1A3A5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" name="Shape 24"/>
          <p:cNvSpPr/>
          <p:nvPr/>
        </p:nvSpPr>
        <p:spPr>
          <a:xfrm>
            <a:off x="11612880" y="1051560"/>
            <a:ext cx="256032" cy="0"/>
          </a:xfrm>
          <a:prstGeom prst="line">
            <a:avLst/>
          </a:prstGeom>
          <a:noFill/>
          <a:ln w="1016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" name="Shape 25"/>
          <p:cNvSpPr/>
          <p:nvPr/>
        </p:nvSpPr>
        <p:spPr>
          <a:xfrm>
            <a:off x="11612880" y="4069080"/>
            <a:ext cx="256032" cy="0"/>
          </a:xfrm>
          <a:prstGeom prst="line">
            <a:avLst/>
          </a:prstGeom>
          <a:noFill/>
          <a:ln w="7620">
            <a:solidFill>
              <a:srgbClr val="1A3A5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" name="Shape 26"/>
          <p:cNvSpPr/>
          <p:nvPr/>
        </p:nvSpPr>
        <p:spPr>
          <a:xfrm>
            <a:off x="8321040" y="1051560"/>
            <a:ext cx="3291840" cy="3017520"/>
          </a:xfrm>
          <a:prstGeom prst="rect">
            <a:avLst/>
          </a:prstGeom>
          <a:solidFill>
            <a:srgbClr val="0D2035"/>
          </a:solidFill>
          <a:ln w="1270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" name="Shape 27"/>
          <p:cNvSpPr/>
          <p:nvPr/>
        </p:nvSpPr>
        <p:spPr>
          <a:xfrm>
            <a:off x="8421624" y="1143000"/>
            <a:ext cx="3090672" cy="841248"/>
          </a:xfrm>
          <a:prstGeom prst="rect">
            <a:avLst/>
          </a:prstGeom>
          <a:solidFill>
            <a:srgbClr val="091826"/>
          </a:solidFill>
          <a:ln w="6350">
            <a:solidFill>
              <a:srgbClr val="0A162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0" name="Shape 28"/>
          <p:cNvSpPr/>
          <p:nvPr/>
        </p:nvSpPr>
        <p:spPr>
          <a:xfrm>
            <a:off x="8458200" y="1179576"/>
            <a:ext cx="3017520" cy="768096"/>
          </a:xfrm>
          <a:prstGeom prst="rect">
            <a:avLst/>
          </a:prstGeom>
          <a:solidFill>
            <a:srgbClr val="102840"/>
          </a:solidFill>
          <a:ln w="889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1" name="Shape 29"/>
          <p:cNvSpPr/>
          <p:nvPr/>
        </p:nvSpPr>
        <p:spPr>
          <a:xfrm>
            <a:off x="8458200" y="1179576"/>
            <a:ext cx="3017520" cy="27432"/>
          </a:xfrm>
          <a:prstGeom prst="rect">
            <a:avLst/>
          </a:prstGeom>
          <a:solidFill>
            <a:srgbClr val="1E4A6A"/>
          </a:solidFill>
          <a:ln w="12700">
            <a:solidFill>
              <a:srgbClr val="1E4A6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2" name="Shape 30"/>
          <p:cNvSpPr/>
          <p:nvPr/>
        </p:nvSpPr>
        <p:spPr>
          <a:xfrm>
            <a:off x="9491472" y="1516075"/>
            <a:ext cx="1005840" cy="182880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3" name="Shape 31"/>
          <p:cNvSpPr/>
          <p:nvPr/>
        </p:nvSpPr>
        <p:spPr>
          <a:xfrm>
            <a:off x="9464040" y="1479499"/>
            <a:ext cx="1005840" cy="182880"/>
          </a:xfrm>
          <a:prstGeom prst="rect">
            <a:avLst/>
          </a:prstGeom>
          <a:solidFill>
            <a:srgbClr val="1A4A6A"/>
          </a:solidFill>
          <a:ln w="1143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4" name="Shape 32"/>
          <p:cNvSpPr/>
          <p:nvPr/>
        </p:nvSpPr>
        <p:spPr>
          <a:xfrm>
            <a:off x="9573768" y="1506931"/>
            <a:ext cx="402336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5" name="Text 33"/>
          <p:cNvSpPr txBox="1"/>
          <p:nvPr/>
        </p:nvSpPr>
        <p:spPr>
          <a:xfrm>
            <a:off x="8494776" y="1746504"/>
            <a:ext cx="2944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C9A7"/>
                </a:solidFill>
                <a:latin typeface="Courier New" pitchFamily="34" charset="0"/>
                <a:cs typeface="Courier New" pitchFamily="34" charset="-120"/>
              </a:rPr>
              <a:t>destinations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8421624" y="2057400"/>
            <a:ext cx="3090672" cy="841248"/>
          </a:xfrm>
          <a:prstGeom prst="rect">
            <a:avLst/>
          </a:prstGeom>
          <a:solidFill>
            <a:srgbClr val="091826"/>
          </a:solidFill>
          <a:ln w="6350">
            <a:solidFill>
              <a:srgbClr val="0A162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7" name="Shape 35"/>
          <p:cNvSpPr/>
          <p:nvPr/>
        </p:nvSpPr>
        <p:spPr>
          <a:xfrm>
            <a:off x="8458200" y="2093976"/>
            <a:ext cx="3017520" cy="768096"/>
          </a:xfrm>
          <a:prstGeom prst="rect">
            <a:avLst/>
          </a:prstGeom>
          <a:solidFill>
            <a:srgbClr val="102840"/>
          </a:solidFill>
          <a:ln w="889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8" name="Shape 36"/>
          <p:cNvSpPr/>
          <p:nvPr/>
        </p:nvSpPr>
        <p:spPr>
          <a:xfrm>
            <a:off x="8458200" y="2093976"/>
            <a:ext cx="3017520" cy="27432"/>
          </a:xfrm>
          <a:prstGeom prst="rect">
            <a:avLst/>
          </a:prstGeom>
          <a:solidFill>
            <a:srgbClr val="1E4A6A"/>
          </a:solidFill>
          <a:ln w="12700">
            <a:solidFill>
              <a:srgbClr val="1E4A6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9" name="Shape 37"/>
          <p:cNvSpPr/>
          <p:nvPr/>
        </p:nvSpPr>
        <p:spPr>
          <a:xfrm>
            <a:off x="9491472" y="2430475"/>
            <a:ext cx="1005840" cy="182880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0" name="Shape 38"/>
          <p:cNvSpPr/>
          <p:nvPr/>
        </p:nvSpPr>
        <p:spPr>
          <a:xfrm>
            <a:off x="9464040" y="2393899"/>
            <a:ext cx="1005840" cy="182880"/>
          </a:xfrm>
          <a:prstGeom prst="rect">
            <a:avLst/>
          </a:prstGeom>
          <a:solidFill>
            <a:srgbClr val="1A4A6A"/>
          </a:solidFill>
          <a:ln w="1143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1" name="Shape 39"/>
          <p:cNvSpPr/>
          <p:nvPr/>
        </p:nvSpPr>
        <p:spPr>
          <a:xfrm>
            <a:off x="9573768" y="2421331"/>
            <a:ext cx="402336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2" name="Text 40"/>
          <p:cNvSpPr txBox="1"/>
          <p:nvPr/>
        </p:nvSpPr>
        <p:spPr>
          <a:xfrm>
            <a:off x="8494776" y="2660904"/>
            <a:ext cx="2944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C9A7"/>
                </a:solidFill>
                <a:latin typeface="Courier New" pitchFamily="34" charset="0"/>
                <a:cs typeface="Courier New" pitchFamily="34" charset="-120"/>
              </a:rPr>
              <a:t>tourists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8421624" y="2971800"/>
            <a:ext cx="3090672" cy="841248"/>
          </a:xfrm>
          <a:prstGeom prst="rect">
            <a:avLst/>
          </a:prstGeom>
          <a:solidFill>
            <a:srgbClr val="091826"/>
          </a:solidFill>
          <a:ln w="6350">
            <a:solidFill>
              <a:srgbClr val="0A162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4" name="Shape 42"/>
          <p:cNvSpPr/>
          <p:nvPr/>
        </p:nvSpPr>
        <p:spPr>
          <a:xfrm>
            <a:off x="8458200" y="3008376"/>
            <a:ext cx="3017520" cy="768096"/>
          </a:xfrm>
          <a:prstGeom prst="rect">
            <a:avLst/>
          </a:prstGeom>
          <a:solidFill>
            <a:srgbClr val="102840"/>
          </a:solidFill>
          <a:ln w="889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5" name="Shape 43"/>
          <p:cNvSpPr/>
          <p:nvPr/>
        </p:nvSpPr>
        <p:spPr>
          <a:xfrm>
            <a:off x="8458200" y="3008376"/>
            <a:ext cx="3017520" cy="27432"/>
          </a:xfrm>
          <a:prstGeom prst="rect">
            <a:avLst/>
          </a:prstGeom>
          <a:solidFill>
            <a:srgbClr val="1E4A6A"/>
          </a:solidFill>
          <a:ln w="12700">
            <a:solidFill>
              <a:srgbClr val="1E4A6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6" name="Shape 44"/>
          <p:cNvSpPr/>
          <p:nvPr/>
        </p:nvSpPr>
        <p:spPr>
          <a:xfrm>
            <a:off x="9491472" y="3344875"/>
            <a:ext cx="1005840" cy="182880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7" name="Shape 45"/>
          <p:cNvSpPr/>
          <p:nvPr/>
        </p:nvSpPr>
        <p:spPr>
          <a:xfrm>
            <a:off x="9464040" y="3308299"/>
            <a:ext cx="1005840" cy="182880"/>
          </a:xfrm>
          <a:prstGeom prst="rect">
            <a:avLst/>
          </a:prstGeom>
          <a:solidFill>
            <a:srgbClr val="1A4A6A"/>
          </a:solidFill>
          <a:ln w="1143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8" name="Shape 46"/>
          <p:cNvSpPr/>
          <p:nvPr/>
        </p:nvSpPr>
        <p:spPr>
          <a:xfrm>
            <a:off x="9573768" y="3335731"/>
            <a:ext cx="402336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9" name="Text 47"/>
          <p:cNvSpPr txBox="1"/>
          <p:nvPr/>
        </p:nvSpPr>
        <p:spPr>
          <a:xfrm>
            <a:off x="8494776" y="3575304"/>
            <a:ext cx="2944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visits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46520" y="1078992"/>
            <a:ext cx="1444752" cy="402336"/>
          </a:xfrm>
          <a:prstGeom prst="rect">
            <a:avLst/>
          </a:prstGeom>
          <a:solidFill>
            <a:srgbClr val="0A2218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1" name="Text 49"/>
          <p:cNvSpPr txBox="1"/>
          <p:nvPr/>
        </p:nvSpPr>
        <p:spPr>
          <a:xfrm>
            <a:off x="6537960" y="1115568"/>
            <a:ext cx="12618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6537960" y="1298448"/>
            <a:ext cx="126187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cabinet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7891272" y="1280160"/>
            <a:ext cx="429768" cy="1129284"/>
          </a:xfrm>
          <a:prstGeom prst="line">
            <a:avLst/>
          </a:prstGeom>
          <a:noFill/>
          <a:ln w="1016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54" name="Shape 52"/>
          <p:cNvSpPr/>
          <p:nvPr/>
        </p:nvSpPr>
        <p:spPr>
          <a:xfrm>
            <a:off x="6446520" y="2148840"/>
            <a:ext cx="1444752" cy="402336"/>
          </a:xfrm>
          <a:prstGeom prst="rect">
            <a:avLst/>
          </a:prstGeom>
          <a:solidFill>
            <a:srgbClr val="0A2218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5" name="Text 53"/>
          <p:cNvSpPr txBox="1"/>
          <p:nvPr/>
        </p:nvSpPr>
        <p:spPr>
          <a:xfrm>
            <a:off x="6537960" y="2185416"/>
            <a:ext cx="12618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6537960" y="2368296"/>
            <a:ext cx="126187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drawer = one table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7891272" y="2350008"/>
            <a:ext cx="566928" cy="128016"/>
          </a:xfrm>
          <a:prstGeom prst="line">
            <a:avLst/>
          </a:prstGeom>
          <a:noFill/>
          <a:ln w="1016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58" name="Shape 56"/>
          <p:cNvSpPr/>
          <p:nvPr/>
        </p:nvSpPr>
        <p:spPr>
          <a:xfrm>
            <a:off x="9966960" y="4325112"/>
            <a:ext cx="9144" cy="256032"/>
          </a:xfrm>
          <a:prstGeom prst="line">
            <a:avLst/>
          </a:prstGeom>
          <a:noFill/>
          <a:ln w="1524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59" name="Text 57"/>
          <p:cNvSpPr txBox="1"/>
          <p:nvPr/>
        </p:nvSpPr>
        <p:spPr>
          <a:xfrm>
            <a:off x="8229600" y="4599432"/>
            <a:ext cx="3474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a drawer: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7726680" y="3950208"/>
            <a:ext cx="1005840" cy="310896"/>
          </a:xfrm>
          <a:prstGeom prst="rect">
            <a:avLst/>
          </a:prstGeom>
          <a:solidFill>
            <a:srgbClr val="0F2A3F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1" name="Text 59"/>
          <p:cNvSpPr txBox="1"/>
          <p:nvPr/>
        </p:nvSpPr>
        <p:spPr>
          <a:xfrm>
            <a:off x="7763256" y="4005072"/>
            <a:ext cx="9326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tourist_id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8732520" y="3950208"/>
            <a:ext cx="1051560" cy="310896"/>
          </a:xfrm>
          <a:prstGeom prst="rect">
            <a:avLst/>
          </a:prstGeom>
          <a:solidFill>
            <a:srgbClr val="0F2A3F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3" name="Text 61"/>
          <p:cNvSpPr txBox="1"/>
          <p:nvPr/>
        </p:nvSpPr>
        <p:spPr>
          <a:xfrm>
            <a:off x="8769096" y="4005072"/>
            <a:ext cx="9784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first_name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9784080" y="3950208"/>
            <a:ext cx="1143000" cy="310896"/>
          </a:xfrm>
          <a:prstGeom prst="rect">
            <a:avLst/>
          </a:prstGeom>
          <a:solidFill>
            <a:srgbClr val="0F2A3F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5" name="Text 63"/>
          <p:cNvSpPr txBox="1"/>
          <p:nvPr/>
        </p:nvSpPr>
        <p:spPr>
          <a:xfrm>
            <a:off x="9820656" y="4005072"/>
            <a:ext cx="10698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nationality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726680" y="4261104"/>
            <a:ext cx="1005840" cy="292608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7" name="Text 65"/>
          <p:cNvSpPr txBox="1"/>
          <p:nvPr/>
        </p:nvSpPr>
        <p:spPr>
          <a:xfrm>
            <a:off x="7763256" y="4306824"/>
            <a:ext cx="9326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T001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8732520" y="4261104"/>
            <a:ext cx="1051560" cy="292608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9" name="Text 67"/>
          <p:cNvSpPr txBox="1"/>
          <p:nvPr/>
        </p:nvSpPr>
        <p:spPr>
          <a:xfrm>
            <a:off x="8769096" y="4306824"/>
            <a:ext cx="9784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Kim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9784080" y="4261104"/>
            <a:ext cx="1143000" cy="292608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1" name="Text 69"/>
          <p:cNvSpPr txBox="1"/>
          <p:nvPr/>
        </p:nvSpPr>
        <p:spPr>
          <a:xfrm>
            <a:off x="9820656" y="4306824"/>
            <a:ext cx="10698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Korean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7726680" y="4553712"/>
            <a:ext cx="1005840" cy="29260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3" name="Text 71"/>
          <p:cNvSpPr txBox="1"/>
          <p:nvPr/>
        </p:nvSpPr>
        <p:spPr>
          <a:xfrm>
            <a:off x="7763256" y="4599432"/>
            <a:ext cx="9326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T002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8732520" y="4553712"/>
            <a:ext cx="1051560" cy="29260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5" name="Text 73"/>
          <p:cNvSpPr txBox="1"/>
          <p:nvPr/>
        </p:nvSpPr>
        <p:spPr>
          <a:xfrm>
            <a:off x="8769096" y="4599432"/>
            <a:ext cx="9784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Smith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9784080" y="4553712"/>
            <a:ext cx="1143000" cy="29260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7" name="Text 75"/>
          <p:cNvSpPr txBox="1"/>
          <p:nvPr/>
        </p:nvSpPr>
        <p:spPr>
          <a:xfrm>
            <a:off x="9820656" y="4599432"/>
            <a:ext cx="10698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American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7726680" y="4846320"/>
            <a:ext cx="1005840" cy="292608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9" name="Text 77"/>
          <p:cNvSpPr txBox="1"/>
          <p:nvPr/>
        </p:nvSpPr>
        <p:spPr>
          <a:xfrm>
            <a:off x="7763256" y="4892040"/>
            <a:ext cx="9326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T003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8732520" y="4846320"/>
            <a:ext cx="1051560" cy="292608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1" name="Text 79"/>
          <p:cNvSpPr txBox="1"/>
          <p:nvPr/>
        </p:nvSpPr>
        <p:spPr>
          <a:xfrm>
            <a:off x="8769096" y="4892040"/>
            <a:ext cx="9784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Dela Cruz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9784080" y="4846320"/>
            <a:ext cx="1143000" cy="292608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3" name="Text 81"/>
          <p:cNvSpPr txBox="1"/>
          <p:nvPr/>
        </p:nvSpPr>
        <p:spPr>
          <a:xfrm>
            <a:off x="9820656" y="4892040"/>
            <a:ext cx="10698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Korean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7726680" y="3950208"/>
            <a:ext cx="3200400" cy="1188720"/>
          </a:xfrm>
          <a:prstGeom prst="rect">
            <a:avLst/>
          </a:prstGeom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5" name="Shape 83"/>
          <p:cNvSpPr/>
          <p:nvPr/>
        </p:nvSpPr>
        <p:spPr>
          <a:xfrm>
            <a:off x="7726680" y="5248656"/>
            <a:ext cx="1389888" cy="402336"/>
          </a:xfrm>
          <a:prstGeom prst="rect">
            <a:avLst/>
          </a:prstGeom>
          <a:solidFill>
            <a:srgbClr val="0A2218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6" name="Text 84"/>
          <p:cNvSpPr txBox="1"/>
          <p:nvPr/>
        </p:nvSpPr>
        <p:spPr>
          <a:xfrm>
            <a:off x="7818120" y="5285232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</a:t>
            </a:r>
            <a:endParaRPr lang="en-US" sz="1000" dirty="0"/>
          </a:p>
        </p:txBody>
      </p:sp>
      <p:sp>
        <p:nvSpPr>
          <p:cNvPr id="87" name="Text 85"/>
          <p:cNvSpPr txBox="1"/>
          <p:nvPr/>
        </p:nvSpPr>
        <p:spPr>
          <a:xfrm>
            <a:off x="7818120" y="5468112"/>
            <a:ext cx="12070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tourist record</a:t>
            </a:r>
            <a:endParaRPr lang="en-US" sz="800" dirty="0"/>
          </a:p>
        </p:txBody>
      </p:sp>
      <p:sp>
        <p:nvSpPr>
          <p:cNvPr id="88" name="Shape 86"/>
          <p:cNvSpPr/>
          <p:nvPr/>
        </p:nvSpPr>
        <p:spPr>
          <a:xfrm>
            <a:off x="8421624" y="5248656"/>
            <a:ext cx="0" cy="0"/>
          </a:xfrm>
          <a:prstGeom prst="line">
            <a:avLst/>
          </a:prstGeom>
          <a:noFill/>
          <a:ln w="1016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89" name="Shape 87"/>
          <p:cNvSpPr/>
          <p:nvPr/>
        </p:nvSpPr>
        <p:spPr>
          <a:xfrm>
            <a:off x="7955280" y="3493008"/>
            <a:ext cx="1426464" cy="402336"/>
          </a:xfrm>
          <a:prstGeom prst="rect">
            <a:avLst/>
          </a:prstGeom>
          <a:solidFill>
            <a:srgbClr val="0A2218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0" name="Text 88"/>
          <p:cNvSpPr txBox="1"/>
          <p:nvPr/>
        </p:nvSpPr>
        <p:spPr>
          <a:xfrm>
            <a:off x="8046720" y="3529584"/>
            <a:ext cx="12435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</a:t>
            </a:r>
            <a:endParaRPr lang="en-US" sz="1000" dirty="0"/>
          </a:p>
        </p:txBody>
      </p:sp>
      <p:sp>
        <p:nvSpPr>
          <p:cNvPr id="91" name="Text 89"/>
          <p:cNvSpPr txBox="1"/>
          <p:nvPr/>
        </p:nvSpPr>
        <p:spPr>
          <a:xfrm>
            <a:off x="8046720" y="3712464"/>
            <a:ext cx="124358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field / attribute</a:t>
            </a:r>
            <a:endParaRPr lang="en-US" sz="800" dirty="0"/>
          </a:p>
        </p:txBody>
      </p:sp>
      <p:sp>
        <p:nvSpPr>
          <p:cNvPr id="92" name="Shape 90"/>
          <p:cNvSpPr/>
          <p:nvPr/>
        </p:nvSpPr>
        <p:spPr>
          <a:xfrm>
            <a:off x="9258300" y="3950208"/>
            <a:ext cx="0" cy="0"/>
          </a:xfrm>
          <a:prstGeom prst="line">
            <a:avLst/>
          </a:prstGeom>
          <a:noFill/>
          <a:ln w="1016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</p:spTree>
  </p:cSld>
  <p:clrMapOvr>
    <a:masterClrMapping/>
  </p:clrMapOvr>
  <p:transition spd="med"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SQL'S ROLE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SQL Matters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4712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640080" y="1481328"/>
            <a:ext cx="10789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real-world data lives in databases — not Excel files or CSVs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048256"/>
            <a:ext cx="1124712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" name="Text 6"/>
          <p:cNvSpPr txBox="1"/>
          <p:nvPr/>
        </p:nvSpPr>
        <p:spPr>
          <a:xfrm>
            <a:off x="640080" y="2139696"/>
            <a:ext cx="10789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can analyze anything, you need the data in the right shape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706624"/>
            <a:ext cx="1124712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" name="Text 8"/>
          <p:cNvSpPr txBox="1"/>
          <p:nvPr/>
        </p:nvSpPr>
        <p:spPr>
          <a:xfrm>
            <a:off x="640080" y="2798064"/>
            <a:ext cx="10789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is the tool that gets you there</a:t>
            </a:r>
            <a:endParaRPr lang="en-US" sz="1500" dirty="0"/>
          </a:p>
        </p:txBody>
      </p:sp>
      <p:sp>
        <p:nvSpPr>
          <p:cNvPr id="48" name="Shape 10">
            <a:extLst>
              <a:ext uri="{FF2B5EF4-FFF2-40B4-BE49-F238E27FC236}">
                <a16:creationId xmlns:a16="http://schemas.microsoft.com/office/drawing/2014/main" id="{1C5B1380-E0C9-726B-F57C-38CDBBCE03F0}"/>
              </a:ext>
            </a:extLst>
          </p:cNvPr>
          <p:cNvSpPr/>
          <p:nvPr/>
        </p:nvSpPr>
        <p:spPr>
          <a:xfrm>
            <a:off x="457200" y="3749040"/>
            <a:ext cx="2514600" cy="2194560"/>
          </a:xfrm>
          <a:prstGeom prst="rect">
            <a:avLst/>
          </a:prstGeom>
          <a:solidFill>
            <a:srgbClr val="0F2235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0" name="Shape 11">
            <a:extLst>
              <a:ext uri="{FF2B5EF4-FFF2-40B4-BE49-F238E27FC236}">
                <a16:creationId xmlns:a16="http://schemas.microsoft.com/office/drawing/2014/main" id="{BDBE2624-ADB2-5D01-9015-E9142E4AD98F}"/>
              </a:ext>
            </a:extLst>
          </p:cNvPr>
          <p:cNvSpPr/>
          <p:nvPr/>
        </p:nvSpPr>
        <p:spPr>
          <a:xfrm>
            <a:off x="868680" y="4019702"/>
            <a:ext cx="1005840" cy="1347826"/>
          </a:xfrm>
          <a:prstGeom prst="rect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2" name="Shape 12">
            <a:extLst>
              <a:ext uri="{FF2B5EF4-FFF2-40B4-BE49-F238E27FC236}">
                <a16:creationId xmlns:a16="http://schemas.microsoft.com/office/drawing/2014/main" id="{E8B35F60-6DE4-E19B-4F44-A9ED4B142BB3}"/>
              </a:ext>
            </a:extLst>
          </p:cNvPr>
          <p:cNvSpPr/>
          <p:nvPr/>
        </p:nvSpPr>
        <p:spPr>
          <a:xfrm>
            <a:off x="868680" y="3858768"/>
            <a:ext cx="1005840" cy="321869"/>
          </a:xfrm>
          <a:prstGeom prst="ellipse">
            <a:avLst/>
          </a:prstGeom>
          <a:solidFill>
            <a:srgbClr val="0A1E30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4" name="Shape 13">
            <a:extLst>
              <a:ext uri="{FF2B5EF4-FFF2-40B4-BE49-F238E27FC236}">
                <a16:creationId xmlns:a16="http://schemas.microsoft.com/office/drawing/2014/main" id="{1CD67227-339E-913A-5B98-0C9EEFBA36A9}"/>
              </a:ext>
            </a:extLst>
          </p:cNvPr>
          <p:cNvSpPr/>
          <p:nvPr/>
        </p:nvSpPr>
        <p:spPr>
          <a:xfrm>
            <a:off x="868680" y="5206594"/>
            <a:ext cx="1005840" cy="321869"/>
          </a:xfrm>
          <a:prstGeom prst="ellipse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6" name="Shape 14">
            <a:extLst>
              <a:ext uri="{FF2B5EF4-FFF2-40B4-BE49-F238E27FC236}">
                <a16:creationId xmlns:a16="http://schemas.microsoft.com/office/drawing/2014/main" id="{64C2CFDB-1E5C-1CE4-0225-6867BCCC874E}"/>
              </a:ext>
            </a:extLst>
          </p:cNvPr>
          <p:cNvSpPr/>
          <p:nvPr/>
        </p:nvSpPr>
        <p:spPr>
          <a:xfrm>
            <a:off x="905256" y="4324673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8" name="Shape 15">
            <a:extLst>
              <a:ext uri="{FF2B5EF4-FFF2-40B4-BE49-F238E27FC236}">
                <a16:creationId xmlns:a16="http://schemas.microsoft.com/office/drawing/2014/main" id="{942469B3-7FC6-3942-682B-C3C37F11E10E}"/>
              </a:ext>
            </a:extLst>
          </p:cNvPr>
          <p:cNvSpPr/>
          <p:nvPr/>
        </p:nvSpPr>
        <p:spPr>
          <a:xfrm>
            <a:off x="905256" y="4648151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0" name="Shape 16">
            <a:extLst>
              <a:ext uri="{FF2B5EF4-FFF2-40B4-BE49-F238E27FC236}">
                <a16:creationId xmlns:a16="http://schemas.microsoft.com/office/drawing/2014/main" id="{E30B0BC1-550B-B481-6B1B-4237B00779D8}"/>
              </a:ext>
            </a:extLst>
          </p:cNvPr>
          <p:cNvSpPr/>
          <p:nvPr/>
        </p:nvSpPr>
        <p:spPr>
          <a:xfrm>
            <a:off x="905256" y="4971629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2" name="Text 17">
            <a:extLst>
              <a:ext uri="{FF2B5EF4-FFF2-40B4-BE49-F238E27FC236}">
                <a16:creationId xmlns:a16="http://schemas.microsoft.com/office/drawing/2014/main" id="{C2B28B3E-E7C5-20AD-F885-6E9AA1DC6AF2}"/>
              </a:ext>
            </a:extLst>
          </p:cNvPr>
          <p:cNvSpPr txBox="1"/>
          <p:nvPr/>
        </p:nvSpPr>
        <p:spPr>
          <a:xfrm>
            <a:off x="457200" y="5230368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</a:t>
            </a:r>
            <a:endParaRPr lang="en-US" sz="1400" dirty="0"/>
          </a:p>
        </p:txBody>
      </p:sp>
      <p:sp>
        <p:nvSpPr>
          <p:cNvPr id="64" name="Text 18">
            <a:extLst>
              <a:ext uri="{FF2B5EF4-FFF2-40B4-BE49-F238E27FC236}">
                <a16:creationId xmlns:a16="http://schemas.microsoft.com/office/drawing/2014/main" id="{90BCE507-6528-3E4F-1670-36790535B7AA}"/>
              </a:ext>
            </a:extLst>
          </p:cNvPr>
          <p:cNvSpPr txBox="1"/>
          <p:nvPr/>
        </p:nvSpPr>
        <p:spPr>
          <a:xfrm>
            <a:off x="548640" y="550468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Census, surveys,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data</a:t>
            </a:r>
            <a:endParaRPr lang="en-US" sz="900" dirty="0"/>
          </a:p>
        </p:txBody>
      </p:sp>
      <p:sp>
        <p:nvSpPr>
          <p:cNvPr id="66" name="Shape 19">
            <a:extLst>
              <a:ext uri="{FF2B5EF4-FFF2-40B4-BE49-F238E27FC236}">
                <a16:creationId xmlns:a16="http://schemas.microsoft.com/office/drawing/2014/main" id="{87CFDD24-C4DA-3E3F-FAFD-0AEB932A041C}"/>
              </a:ext>
            </a:extLst>
          </p:cNvPr>
          <p:cNvSpPr/>
          <p:nvPr/>
        </p:nvSpPr>
        <p:spPr>
          <a:xfrm>
            <a:off x="3246120" y="3749040"/>
            <a:ext cx="2514600" cy="2194560"/>
          </a:xfrm>
          <a:prstGeom prst="rect">
            <a:avLst/>
          </a:prstGeom>
          <a:solidFill>
            <a:srgbClr val="0F2235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8" name="Shape 20">
            <a:extLst>
              <a:ext uri="{FF2B5EF4-FFF2-40B4-BE49-F238E27FC236}">
                <a16:creationId xmlns:a16="http://schemas.microsoft.com/office/drawing/2014/main" id="{C2CFE43A-9D40-D286-BA6A-1248DD6924D9}"/>
              </a:ext>
            </a:extLst>
          </p:cNvPr>
          <p:cNvSpPr/>
          <p:nvPr/>
        </p:nvSpPr>
        <p:spPr>
          <a:xfrm>
            <a:off x="3657600" y="4019702"/>
            <a:ext cx="1005840" cy="1347826"/>
          </a:xfrm>
          <a:prstGeom prst="rect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0" name="Shape 21">
            <a:extLst>
              <a:ext uri="{FF2B5EF4-FFF2-40B4-BE49-F238E27FC236}">
                <a16:creationId xmlns:a16="http://schemas.microsoft.com/office/drawing/2014/main" id="{177088BE-F5D1-AD09-4AEF-021EEF62700E}"/>
              </a:ext>
            </a:extLst>
          </p:cNvPr>
          <p:cNvSpPr/>
          <p:nvPr/>
        </p:nvSpPr>
        <p:spPr>
          <a:xfrm>
            <a:off x="3657600" y="3858768"/>
            <a:ext cx="1005840" cy="321869"/>
          </a:xfrm>
          <a:prstGeom prst="ellipse">
            <a:avLst/>
          </a:prstGeom>
          <a:solidFill>
            <a:srgbClr val="0A1E30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2" name="Shape 22">
            <a:extLst>
              <a:ext uri="{FF2B5EF4-FFF2-40B4-BE49-F238E27FC236}">
                <a16:creationId xmlns:a16="http://schemas.microsoft.com/office/drawing/2014/main" id="{F2B60E4C-B80F-B96C-F12D-0716746450B1}"/>
              </a:ext>
            </a:extLst>
          </p:cNvPr>
          <p:cNvSpPr/>
          <p:nvPr/>
        </p:nvSpPr>
        <p:spPr>
          <a:xfrm>
            <a:off x="3657600" y="5206594"/>
            <a:ext cx="1005840" cy="321869"/>
          </a:xfrm>
          <a:prstGeom prst="ellipse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4" name="Shape 23">
            <a:extLst>
              <a:ext uri="{FF2B5EF4-FFF2-40B4-BE49-F238E27FC236}">
                <a16:creationId xmlns:a16="http://schemas.microsoft.com/office/drawing/2014/main" id="{B1B69822-2D13-6CFE-9833-4F527D665F46}"/>
              </a:ext>
            </a:extLst>
          </p:cNvPr>
          <p:cNvSpPr/>
          <p:nvPr/>
        </p:nvSpPr>
        <p:spPr>
          <a:xfrm>
            <a:off x="3694176" y="4324673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6" name="Shape 24">
            <a:extLst>
              <a:ext uri="{FF2B5EF4-FFF2-40B4-BE49-F238E27FC236}">
                <a16:creationId xmlns:a16="http://schemas.microsoft.com/office/drawing/2014/main" id="{1F2CF6C1-CE4D-E317-2E99-CB723145CF5D}"/>
              </a:ext>
            </a:extLst>
          </p:cNvPr>
          <p:cNvSpPr/>
          <p:nvPr/>
        </p:nvSpPr>
        <p:spPr>
          <a:xfrm>
            <a:off x="3694176" y="4648151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8" name="Shape 25">
            <a:extLst>
              <a:ext uri="{FF2B5EF4-FFF2-40B4-BE49-F238E27FC236}">
                <a16:creationId xmlns:a16="http://schemas.microsoft.com/office/drawing/2014/main" id="{A53A6CE2-5163-656A-E750-AF8D0F73E82E}"/>
              </a:ext>
            </a:extLst>
          </p:cNvPr>
          <p:cNvSpPr/>
          <p:nvPr/>
        </p:nvSpPr>
        <p:spPr>
          <a:xfrm>
            <a:off x="3694176" y="4971629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6B0C157C-F941-37FD-0BA1-F41036E6FE80}"/>
              </a:ext>
            </a:extLst>
          </p:cNvPr>
          <p:cNvSpPr txBox="1"/>
          <p:nvPr/>
        </p:nvSpPr>
        <p:spPr>
          <a:xfrm>
            <a:off x="3246120" y="5230368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</a:t>
            </a:r>
            <a:endParaRPr lang="en-US" sz="1400" dirty="0"/>
          </a:p>
        </p:txBody>
      </p:sp>
      <p:sp>
        <p:nvSpPr>
          <p:cNvPr id="82" name="Text 27">
            <a:extLst>
              <a:ext uri="{FF2B5EF4-FFF2-40B4-BE49-F238E27FC236}">
                <a16:creationId xmlns:a16="http://schemas.microsoft.com/office/drawing/2014/main" id="{A3584CA4-EFD1-3069-9DD6-1D28392E9806}"/>
              </a:ext>
            </a:extLst>
          </p:cNvPr>
          <p:cNvSpPr txBox="1"/>
          <p:nvPr/>
        </p:nvSpPr>
        <p:spPr>
          <a:xfrm>
            <a:off x="3337560" y="550468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records,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claims, outcomes</a:t>
            </a:r>
            <a:endParaRPr lang="en-US" sz="900" dirty="0"/>
          </a:p>
        </p:txBody>
      </p:sp>
      <p:sp>
        <p:nvSpPr>
          <p:cNvPr id="84" name="Shape 28">
            <a:extLst>
              <a:ext uri="{FF2B5EF4-FFF2-40B4-BE49-F238E27FC236}">
                <a16:creationId xmlns:a16="http://schemas.microsoft.com/office/drawing/2014/main" id="{7F1C0F7C-3843-8730-AAB4-B1472CB81128}"/>
              </a:ext>
            </a:extLst>
          </p:cNvPr>
          <p:cNvSpPr/>
          <p:nvPr/>
        </p:nvSpPr>
        <p:spPr>
          <a:xfrm>
            <a:off x="6035040" y="3749040"/>
            <a:ext cx="2514600" cy="2194560"/>
          </a:xfrm>
          <a:prstGeom prst="rect">
            <a:avLst/>
          </a:prstGeom>
          <a:solidFill>
            <a:srgbClr val="0F2235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6" name="Shape 29">
            <a:extLst>
              <a:ext uri="{FF2B5EF4-FFF2-40B4-BE49-F238E27FC236}">
                <a16:creationId xmlns:a16="http://schemas.microsoft.com/office/drawing/2014/main" id="{BE2D2256-B66D-2C47-9299-9090958D7DC8}"/>
              </a:ext>
            </a:extLst>
          </p:cNvPr>
          <p:cNvSpPr/>
          <p:nvPr/>
        </p:nvSpPr>
        <p:spPr>
          <a:xfrm>
            <a:off x="6446520" y="4019702"/>
            <a:ext cx="1005840" cy="1347826"/>
          </a:xfrm>
          <a:prstGeom prst="rect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8" name="Shape 30">
            <a:extLst>
              <a:ext uri="{FF2B5EF4-FFF2-40B4-BE49-F238E27FC236}">
                <a16:creationId xmlns:a16="http://schemas.microsoft.com/office/drawing/2014/main" id="{694F7F8B-123D-CA5B-7BFD-A83839F5E290}"/>
              </a:ext>
            </a:extLst>
          </p:cNvPr>
          <p:cNvSpPr/>
          <p:nvPr/>
        </p:nvSpPr>
        <p:spPr>
          <a:xfrm>
            <a:off x="6446520" y="3858768"/>
            <a:ext cx="1005840" cy="321869"/>
          </a:xfrm>
          <a:prstGeom prst="ellipse">
            <a:avLst/>
          </a:prstGeom>
          <a:solidFill>
            <a:srgbClr val="0A1E30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0" name="Shape 31">
            <a:extLst>
              <a:ext uri="{FF2B5EF4-FFF2-40B4-BE49-F238E27FC236}">
                <a16:creationId xmlns:a16="http://schemas.microsoft.com/office/drawing/2014/main" id="{093CF788-FA3A-BE52-D795-4360C1B2D67A}"/>
              </a:ext>
            </a:extLst>
          </p:cNvPr>
          <p:cNvSpPr/>
          <p:nvPr/>
        </p:nvSpPr>
        <p:spPr>
          <a:xfrm>
            <a:off x="6446520" y="5206594"/>
            <a:ext cx="1005840" cy="321869"/>
          </a:xfrm>
          <a:prstGeom prst="ellipse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2" name="Shape 32">
            <a:extLst>
              <a:ext uri="{FF2B5EF4-FFF2-40B4-BE49-F238E27FC236}">
                <a16:creationId xmlns:a16="http://schemas.microsoft.com/office/drawing/2014/main" id="{105B0D9A-CFDB-BA3F-13CB-AEAD94B74B6B}"/>
              </a:ext>
            </a:extLst>
          </p:cNvPr>
          <p:cNvSpPr/>
          <p:nvPr/>
        </p:nvSpPr>
        <p:spPr>
          <a:xfrm>
            <a:off x="6483096" y="4324673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4" name="Shape 33">
            <a:extLst>
              <a:ext uri="{FF2B5EF4-FFF2-40B4-BE49-F238E27FC236}">
                <a16:creationId xmlns:a16="http://schemas.microsoft.com/office/drawing/2014/main" id="{454AD403-724F-0AE4-D024-067A1E88AA5D}"/>
              </a:ext>
            </a:extLst>
          </p:cNvPr>
          <p:cNvSpPr/>
          <p:nvPr/>
        </p:nvSpPr>
        <p:spPr>
          <a:xfrm>
            <a:off x="6483096" y="4648151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6" name="Shape 34">
            <a:extLst>
              <a:ext uri="{FF2B5EF4-FFF2-40B4-BE49-F238E27FC236}">
                <a16:creationId xmlns:a16="http://schemas.microsoft.com/office/drawing/2014/main" id="{7920957F-2209-8B5A-B5CF-D27E295BD1AD}"/>
              </a:ext>
            </a:extLst>
          </p:cNvPr>
          <p:cNvSpPr/>
          <p:nvPr/>
        </p:nvSpPr>
        <p:spPr>
          <a:xfrm>
            <a:off x="6483096" y="4971629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8" name="Text 35">
            <a:extLst>
              <a:ext uri="{FF2B5EF4-FFF2-40B4-BE49-F238E27FC236}">
                <a16:creationId xmlns:a16="http://schemas.microsoft.com/office/drawing/2014/main" id="{AFA73D8B-8478-5B0F-E79C-30B3724ED257}"/>
              </a:ext>
            </a:extLst>
          </p:cNvPr>
          <p:cNvSpPr txBox="1"/>
          <p:nvPr/>
        </p:nvSpPr>
        <p:spPr>
          <a:xfrm>
            <a:off x="6035040" y="5230368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400" dirty="0"/>
          </a:p>
        </p:txBody>
      </p:sp>
      <p:sp>
        <p:nvSpPr>
          <p:cNvPr id="100" name="Text 36">
            <a:extLst>
              <a:ext uri="{FF2B5EF4-FFF2-40B4-BE49-F238E27FC236}">
                <a16:creationId xmlns:a16="http://schemas.microsoft.com/office/drawing/2014/main" id="{A820F315-3C69-9645-8796-76C171164226}"/>
              </a:ext>
            </a:extLst>
          </p:cNvPr>
          <p:cNvSpPr txBox="1"/>
          <p:nvPr/>
        </p:nvSpPr>
        <p:spPr>
          <a:xfrm>
            <a:off x="6126480" y="550468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studies,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datasets</a:t>
            </a:r>
            <a:endParaRPr lang="en-US" sz="900" dirty="0"/>
          </a:p>
        </p:txBody>
      </p:sp>
      <p:sp>
        <p:nvSpPr>
          <p:cNvPr id="102" name="Shape 37">
            <a:extLst>
              <a:ext uri="{FF2B5EF4-FFF2-40B4-BE49-F238E27FC236}">
                <a16:creationId xmlns:a16="http://schemas.microsoft.com/office/drawing/2014/main" id="{917480FF-FDDD-757D-8777-3880FB7C03FB}"/>
              </a:ext>
            </a:extLst>
          </p:cNvPr>
          <p:cNvSpPr/>
          <p:nvPr/>
        </p:nvSpPr>
        <p:spPr>
          <a:xfrm>
            <a:off x="8823960" y="3749040"/>
            <a:ext cx="2514600" cy="2194560"/>
          </a:xfrm>
          <a:prstGeom prst="rect">
            <a:avLst/>
          </a:prstGeom>
          <a:solidFill>
            <a:srgbClr val="0F2235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4" name="Shape 38">
            <a:extLst>
              <a:ext uri="{FF2B5EF4-FFF2-40B4-BE49-F238E27FC236}">
                <a16:creationId xmlns:a16="http://schemas.microsoft.com/office/drawing/2014/main" id="{57570BEA-9A9C-2EDA-7EC5-3386E8A27D4E}"/>
              </a:ext>
            </a:extLst>
          </p:cNvPr>
          <p:cNvSpPr/>
          <p:nvPr/>
        </p:nvSpPr>
        <p:spPr>
          <a:xfrm>
            <a:off x="9235440" y="4019702"/>
            <a:ext cx="1005840" cy="1347826"/>
          </a:xfrm>
          <a:prstGeom prst="rect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6" name="Shape 39">
            <a:extLst>
              <a:ext uri="{FF2B5EF4-FFF2-40B4-BE49-F238E27FC236}">
                <a16:creationId xmlns:a16="http://schemas.microsoft.com/office/drawing/2014/main" id="{81A4C429-7020-8582-DD15-3F966FF51BB9}"/>
              </a:ext>
            </a:extLst>
          </p:cNvPr>
          <p:cNvSpPr/>
          <p:nvPr/>
        </p:nvSpPr>
        <p:spPr>
          <a:xfrm>
            <a:off x="9235440" y="3858768"/>
            <a:ext cx="1005840" cy="321869"/>
          </a:xfrm>
          <a:prstGeom prst="ellipse">
            <a:avLst/>
          </a:prstGeom>
          <a:solidFill>
            <a:srgbClr val="0A1E30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8" name="Shape 40">
            <a:extLst>
              <a:ext uri="{FF2B5EF4-FFF2-40B4-BE49-F238E27FC236}">
                <a16:creationId xmlns:a16="http://schemas.microsoft.com/office/drawing/2014/main" id="{A80F27BE-48E4-EE5C-3B17-B46A835AAFC5}"/>
              </a:ext>
            </a:extLst>
          </p:cNvPr>
          <p:cNvSpPr/>
          <p:nvPr/>
        </p:nvSpPr>
        <p:spPr>
          <a:xfrm>
            <a:off x="9235440" y="5206594"/>
            <a:ext cx="1005840" cy="321869"/>
          </a:xfrm>
          <a:prstGeom prst="ellipse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0" name="Shape 41">
            <a:extLst>
              <a:ext uri="{FF2B5EF4-FFF2-40B4-BE49-F238E27FC236}">
                <a16:creationId xmlns:a16="http://schemas.microsoft.com/office/drawing/2014/main" id="{A1EE988B-1186-F966-A084-3002EA998EF4}"/>
              </a:ext>
            </a:extLst>
          </p:cNvPr>
          <p:cNvSpPr/>
          <p:nvPr/>
        </p:nvSpPr>
        <p:spPr>
          <a:xfrm>
            <a:off x="9272016" y="4324673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2" name="Shape 42">
            <a:extLst>
              <a:ext uri="{FF2B5EF4-FFF2-40B4-BE49-F238E27FC236}">
                <a16:creationId xmlns:a16="http://schemas.microsoft.com/office/drawing/2014/main" id="{A72E8D8B-1DD5-13C9-F595-8017B7ACC68D}"/>
              </a:ext>
            </a:extLst>
          </p:cNvPr>
          <p:cNvSpPr/>
          <p:nvPr/>
        </p:nvSpPr>
        <p:spPr>
          <a:xfrm>
            <a:off x="9272016" y="4648151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4" name="Shape 43">
            <a:extLst>
              <a:ext uri="{FF2B5EF4-FFF2-40B4-BE49-F238E27FC236}">
                <a16:creationId xmlns:a16="http://schemas.microsoft.com/office/drawing/2014/main" id="{93C2F36A-F8CE-D401-5A3B-7F866EAA951F}"/>
              </a:ext>
            </a:extLst>
          </p:cNvPr>
          <p:cNvSpPr/>
          <p:nvPr/>
        </p:nvSpPr>
        <p:spPr>
          <a:xfrm>
            <a:off x="9272016" y="4971629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6" name="Text 44">
            <a:extLst>
              <a:ext uri="{FF2B5EF4-FFF2-40B4-BE49-F238E27FC236}">
                <a16:creationId xmlns:a16="http://schemas.microsoft.com/office/drawing/2014/main" id="{0A3D068F-3043-7B7A-F777-74F7B02C5ED9}"/>
              </a:ext>
            </a:extLst>
          </p:cNvPr>
          <p:cNvSpPr txBox="1"/>
          <p:nvPr/>
        </p:nvSpPr>
        <p:spPr>
          <a:xfrm>
            <a:off x="8823960" y="5230368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</a:t>
            </a:r>
            <a:endParaRPr lang="en-US" sz="1400" dirty="0"/>
          </a:p>
        </p:txBody>
      </p:sp>
      <p:sp>
        <p:nvSpPr>
          <p:cNvPr id="118" name="Text 45">
            <a:extLst>
              <a:ext uri="{FF2B5EF4-FFF2-40B4-BE49-F238E27FC236}">
                <a16:creationId xmlns:a16="http://schemas.microsoft.com/office/drawing/2014/main" id="{59EDF214-D910-DC8D-1671-EB8FC364F099}"/>
              </a:ext>
            </a:extLst>
          </p:cNvPr>
          <p:cNvSpPr txBox="1"/>
          <p:nvPr/>
        </p:nvSpPr>
        <p:spPr>
          <a:xfrm>
            <a:off x="8915400" y="550468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metrics,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analytics</a:t>
            </a:r>
            <a:endParaRPr lang="en-US" sz="900" dirty="0"/>
          </a:p>
        </p:txBody>
      </p:sp>
      <p:sp>
        <p:nvSpPr>
          <p:cNvPr id="120" name="Text 46">
            <a:extLst>
              <a:ext uri="{FF2B5EF4-FFF2-40B4-BE49-F238E27FC236}">
                <a16:creationId xmlns:a16="http://schemas.microsoft.com/office/drawing/2014/main" id="{A24C210B-2939-F094-C4B2-29A2E7B17515}"/>
              </a:ext>
            </a:extLst>
          </p:cNvPr>
          <p:cNvSpPr txBox="1"/>
          <p:nvPr/>
        </p:nvSpPr>
        <p:spPr>
          <a:xfrm>
            <a:off x="457200" y="6108192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Wherever large datasets live — SQL is usually nearby</a:t>
            </a:r>
            <a:endParaRPr lang="en-US" sz="1200" dirty="0"/>
          </a:p>
        </p:txBody>
      </p:sp>
      <p:sp>
        <p:nvSpPr>
          <p:cNvPr id="122" name="Text 9">
            <a:extLst>
              <a:ext uri="{FF2B5EF4-FFF2-40B4-BE49-F238E27FC236}">
                <a16:creationId xmlns:a16="http://schemas.microsoft.com/office/drawing/2014/main" id="{A6A0B464-4366-2BD4-C384-5A6293501F22}"/>
              </a:ext>
            </a:extLst>
          </p:cNvPr>
          <p:cNvSpPr txBox="1"/>
          <p:nvPr/>
        </p:nvSpPr>
        <p:spPr>
          <a:xfrm>
            <a:off x="457200" y="34290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Sectors where you'll likely use this:</a:t>
            </a:r>
            <a:endParaRPr lang="en-US" sz="1300" dirty="0"/>
          </a:p>
        </p:txBody>
      </p:sp>
    </p:spTree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SQL'S ROLE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vs. Tools You Already Know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2560320" cy="438912"/>
          </a:xfrm>
          <a:prstGeom prst="rect">
            <a:avLst/>
          </a:prstGeom>
          <a:solidFill>
            <a:srgbClr val="0F2A3F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566928" y="1353312"/>
            <a:ext cx="2340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108960" y="1280160"/>
            <a:ext cx="3840480" cy="438912"/>
          </a:xfrm>
          <a:prstGeom prst="rect">
            <a:avLst/>
          </a:prstGeom>
          <a:solidFill>
            <a:srgbClr val="0F2A3F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" name="Text 6"/>
          <p:cNvSpPr txBox="1"/>
          <p:nvPr/>
        </p:nvSpPr>
        <p:spPr>
          <a:xfrm>
            <a:off x="3218688" y="1353312"/>
            <a:ext cx="36210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At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040880" y="1280160"/>
            <a:ext cx="4572000" cy="438912"/>
          </a:xfrm>
          <a:prstGeom prst="rect">
            <a:avLst/>
          </a:prstGeom>
          <a:solidFill>
            <a:srgbClr val="0F2A3F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" name="Text 8"/>
          <p:cNvSpPr txBox="1"/>
          <p:nvPr/>
        </p:nvSpPr>
        <p:spPr>
          <a:xfrm>
            <a:off x="7150608" y="1353312"/>
            <a:ext cx="43525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1737360"/>
            <a:ext cx="2560320" cy="438912"/>
          </a:xfrm>
          <a:prstGeom prst="rect">
            <a:avLst/>
          </a:prstGeom>
          <a:solidFill>
            <a:srgbClr val="0A1E30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 10"/>
          <p:cNvSpPr txBox="1"/>
          <p:nvPr/>
        </p:nvSpPr>
        <p:spPr>
          <a:xfrm>
            <a:off x="566928" y="1810512"/>
            <a:ext cx="2340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108960" y="1737360"/>
            <a:ext cx="3840480" cy="438912"/>
          </a:xfrm>
          <a:prstGeom prst="rect">
            <a:avLst/>
          </a:prstGeom>
          <a:solidFill>
            <a:srgbClr val="0A1628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" name="Text 12"/>
          <p:cNvSpPr txBox="1"/>
          <p:nvPr/>
        </p:nvSpPr>
        <p:spPr>
          <a:xfrm>
            <a:off x="3218688" y="1810512"/>
            <a:ext cx="36210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data, quick charts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040880" y="1737360"/>
            <a:ext cx="4572000" cy="438912"/>
          </a:xfrm>
          <a:prstGeom prst="rect">
            <a:avLst/>
          </a:prstGeom>
          <a:solidFill>
            <a:srgbClr val="0A1628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" name="Text 14"/>
          <p:cNvSpPr txBox="1"/>
          <p:nvPr/>
        </p:nvSpPr>
        <p:spPr>
          <a:xfrm>
            <a:off x="7150608" y="1810512"/>
            <a:ext cx="43525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Breaks above ~100k rows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194560"/>
            <a:ext cx="2560320" cy="438912"/>
          </a:xfrm>
          <a:prstGeom prst="rect">
            <a:avLst/>
          </a:prstGeom>
          <a:solidFill>
            <a:srgbClr val="0A1E30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Text 16"/>
          <p:cNvSpPr txBox="1"/>
          <p:nvPr/>
        </p:nvSpPr>
        <p:spPr>
          <a:xfrm>
            <a:off x="566928" y="2267712"/>
            <a:ext cx="2340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SPSS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108960" y="2194560"/>
            <a:ext cx="3840480" cy="438912"/>
          </a:xfrm>
          <a:prstGeom prst="rect">
            <a:avLst/>
          </a:prstGeom>
          <a:solidFill>
            <a:srgbClr val="0A1628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" name="Text 18"/>
          <p:cNvSpPr txBox="1"/>
          <p:nvPr/>
        </p:nvSpPr>
        <p:spPr>
          <a:xfrm>
            <a:off x="3218688" y="2267712"/>
            <a:ext cx="36210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tests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040880" y="2194560"/>
            <a:ext cx="4572000" cy="438912"/>
          </a:xfrm>
          <a:prstGeom prst="rect">
            <a:avLst/>
          </a:prstGeom>
          <a:solidFill>
            <a:srgbClr val="0A1628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" name="Text 20"/>
          <p:cNvSpPr txBox="1"/>
          <p:nvPr/>
        </p:nvSpPr>
        <p:spPr>
          <a:xfrm>
            <a:off x="7150608" y="2267712"/>
            <a:ext cx="43525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Struggles with raw messy data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2651760"/>
            <a:ext cx="2560320" cy="438912"/>
          </a:xfrm>
          <a:prstGeom prst="rect">
            <a:avLst/>
          </a:prstGeom>
          <a:solidFill>
            <a:srgbClr val="0A1E30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" name="Text 22"/>
          <p:cNvSpPr txBox="1"/>
          <p:nvPr/>
        </p:nvSpPr>
        <p:spPr>
          <a:xfrm>
            <a:off x="566928" y="2724912"/>
            <a:ext cx="2340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/ Python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108960" y="2651760"/>
            <a:ext cx="3840480" cy="438912"/>
          </a:xfrm>
          <a:prstGeom prst="rect">
            <a:avLst/>
          </a:prstGeom>
          <a:solidFill>
            <a:srgbClr val="0A1628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" name="Text 24"/>
          <p:cNvSpPr txBox="1"/>
          <p:nvPr/>
        </p:nvSpPr>
        <p:spPr>
          <a:xfrm>
            <a:off x="3218688" y="2724912"/>
            <a:ext cx="36210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Modeling &amp; visualization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040880" y="2651760"/>
            <a:ext cx="4572000" cy="438912"/>
          </a:xfrm>
          <a:prstGeom prst="rect">
            <a:avLst/>
          </a:prstGeom>
          <a:solidFill>
            <a:srgbClr val="0A1628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" name="Text 26"/>
          <p:cNvSpPr txBox="1"/>
          <p:nvPr/>
        </p:nvSpPr>
        <p:spPr>
          <a:xfrm>
            <a:off x="7150608" y="2724912"/>
            <a:ext cx="43525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still need the data first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57200" y="3108960"/>
            <a:ext cx="11247120" cy="438912"/>
          </a:xfrm>
          <a:prstGeom prst="rect">
            <a:avLst/>
          </a:prstGeom>
          <a:solidFill>
            <a:srgbClr val="0F2A3F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0" name="Text 28"/>
          <p:cNvSpPr txBox="1"/>
          <p:nvPr/>
        </p:nvSpPr>
        <p:spPr>
          <a:xfrm>
            <a:off x="566928" y="3182112"/>
            <a:ext cx="2340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3218688" y="3182112"/>
            <a:ext cx="37124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Retrieve, filter, clean at any scale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150608" y="3182112"/>
            <a:ext cx="44622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for modeling, visualization, or app logic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3950208"/>
            <a:ext cx="1737360" cy="54864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4" name="Text 32"/>
          <p:cNvSpPr txBox="1"/>
          <p:nvPr/>
        </p:nvSpPr>
        <p:spPr>
          <a:xfrm>
            <a:off x="457200" y="4087368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194560" y="4224528"/>
            <a:ext cx="411480" cy="9144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36" name="Shape 34"/>
          <p:cNvSpPr/>
          <p:nvPr/>
        </p:nvSpPr>
        <p:spPr>
          <a:xfrm>
            <a:off x="2331720" y="3950208"/>
            <a:ext cx="1737360" cy="54864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7" name="Text 35"/>
          <p:cNvSpPr txBox="1"/>
          <p:nvPr/>
        </p:nvSpPr>
        <p:spPr>
          <a:xfrm>
            <a:off x="2331720" y="4087368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SPSS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069080" y="4224528"/>
            <a:ext cx="411480" cy="9144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39" name="Shape 37"/>
          <p:cNvSpPr/>
          <p:nvPr/>
        </p:nvSpPr>
        <p:spPr>
          <a:xfrm>
            <a:off x="4206240" y="3950208"/>
            <a:ext cx="1737360" cy="54864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0" name="Text 38"/>
          <p:cNvSpPr txBox="1"/>
          <p:nvPr/>
        </p:nvSpPr>
        <p:spPr>
          <a:xfrm>
            <a:off x="4206240" y="4087368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R/Python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943600" y="4224528"/>
            <a:ext cx="411480" cy="9144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42" name="Shape 40"/>
          <p:cNvSpPr/>
          <p:nvPr/>
        </p:nvSpPr>
        <p:spPr>
          <a:xfrm>
            <a:off x="6345936" y="3858768"/>
            <a:ext cx="2011680" cy="731520"/>
          </a:xfrm>
          <a:prstGeom prst="rect">
            <a:avLst/>
          </a:prstGeom>
          <a:solidFill>
            <a:srgbClr val="0A1E30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3" name="Text 41"/>
          <p:cNvSpPr txBox="1"/>
          <p:nvPr/>
        </p:nvSpPr>
        <p:spPr>
          <a:xfrm>
            <a:off x="6345936" y="400507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</a:t>
            </a:r>
            <a:endParaRPr lang="en-US" sz="1800" dirty="0"/>
          </a:p>
        </p:txBody>
      </p:sp>
      <p:sp>
        <p:nvSpPr>
          <p:cNvPr id="44" name="Shape 42"/>
          <p:cNvSpPr/>
          <p:nvPr/>
        </p:nvSpPr>
        <p:spPr>
          <a:xfrm>
            <a:off x="8357616" y="4224528"/>
            <a:ext cx="411480" cy="9144"/>
          </a:xfrm>
          <a:prstGeom prst="line">
            <a:avLst/>
          </a:prstGeom>
          <a:noFill/>
          <a:ln w="1905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45" name="Shape 43"/>
          <p:cNvSpPr/>
          <p:nvPr/>
        </p:nvSpPr>
        <p:spPr>
          <a:xfrm>
            <a:off x="8796528" y="3950208"/>
            <a:ext cx="1737360" cy="54864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6" name="Text 44"/>
          <p:cNvSpPr txBox="1"/>
          <p:nvPr/>
        </p:nvSpPr>
        <p:spPr>
          <a:xfrm>
            <a:off x="8796528" y="4087368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10561320" y="3950208"/>
            <a:ext cx="1097280" cy="548640"/>
          </a:xfrm>
          <a:prstGeom prst="rect">
            <a:avLst/>
          </a:prstGeom>
          <a:solidFill>
            <a:srgbClr val="0F2235"/>
          </a:solidFill>
          <a:ln w="508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8" name="Text 46"/>
          <p:cNvSpPr txBox="1"/>
          <p:nvPr/>
        </p:nvSpPr>
        <p:spPr>
          <a:xfrm>
            <a:off x="10561320" y="3959352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📊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10561320" y="4133088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🔬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10561320" y="430682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" y="4864608"/>
            <a:ext cx="11247120" cy="566928"/>
          </a:xfrm>
          <a:prstGeom prst="rect">
            <a:avLst/>
          </a:prstGeom>
          <a:solidFill>
            <a:srgbClr val="0A1E30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2" name="Text 50"/>
          <p:cNvSpPr txBox="1"/>
          <p:nvPr/>
        </p:nvSpPr>
        <p:spPr>
          <a:xfrm>
            <a:off x="640080" y="4974336"/>
            <a:ext cx="10881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doesn't replace these tools.  It feeds them.</a:t>
            </a:r>
            <a:endParaRPr lang="en-US" sz="1400" dirty="0"/>
          </a:p>
        </p:txBody>
      </p:sp>
    </p:spTree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SQL'S ROLE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SQL is NOT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47120" cy="71323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640080" y="158191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❌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61872" y="1600200"/>
            <a:ext cx="10149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visualization tool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3125560"/>
            <a:ext cx="11247120" cy="71323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" name="Text 7"/>
          <p:cNvSpPr txBox="1"/>
          <p:nvPr/>
        </p:nvSpPr>
        <p:spPr>
          <a:xfrm>
            <a:off x="640080" y="329015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❌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261872" y="3308440"/>
            <a:ext cx="10149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for IT people or software developers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4012528"/>
            <a:ext cx="11247120" cy="71323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 10"/>
          <p:cNvSpPr txBox="1"/>
          <p:nvPr/>
        </p:nvSpPr>
        <p:spPr>
          <a:xfrm>
            <a:off x="640080" y="417712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❌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261872" y="4195408"/>
            <a:ext cx="10149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difficult to start — the basics read like English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" y="4899496"/>
            <a:ext cx="11247120" cy="71323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" name="Text 13"/>
          <p:cNvSpPr txBox="1"/>
          <p:nvPr/>
        </p:nvSpPr>
        <p:spPr>
          <a:xfrm>
            <a:off x="640080" y="5064088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❌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261872" y="5082376"/>
            <a:ext cx="10149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something you have to memorize — even pros Google syntax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72440" y="5748528"/>
            <a:ext cx="11247120" cy="548640"/>
          </a:xfrm>
          <a:prstGeom prst="rect">
            <a:avLst/>
          </a:prstGeom>
          <a:solidFill>
            <a:srgbClr val="0A2A1A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Text 16"/>
          <p:cNvSpPr txBox="1"/>
          <p:nvPr/>
        </p:nvSpPr>
        <p:spPr>
          <a:xfrm>
            <a:off x="655320" y="58674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It's closer to writing a sentence than writing a program.</a:t>
            </a:r>
            <a:endParaRPr lang="en-US" sz="1400" dirty="0"/>
          </a:p>
        </p:txBody>
      </p:sp>
      <p:sp>
        <p:nvSpPr>
          <p:cNvPr id="20" name="Shape 3">
            <a:extLst>
              <a:ext uri="{FF2B5EF4-FFF2-40B4-BE49-F238E27FC236}">
                <a16:creationId xmlns:a16="http://schemas.microsoft.com/office/drawing/2014/main" id="{14C95B8A-4E5D-D836-41A5-DC0B882AB132}"/>
              </a:ext>
            </a:extLst>
          </p:cNvPr>
          <p:cNvSpPr/>
          <p:nvPr/>
        </p:nvSpPr>
        <p:spPr>
          <a:xfrm>
            <a:off x="457200" y="2254843"/>
            <a:ext cx="11247120" cy="71323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21411304-6412-4E9E-CB06-3146AE0ABFF2}"/>
              </a:ext>
            </a:extLst>
          </p:cNvPr>
          <p:cNvSpPr txBox="1"/>
          <p:nvPr/>
        </p:nvSpPr>
        <p:spPr>
          <a:xfrm>
            <a:off x="640080" y="2419435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❌</a:t>
            </a:r>
            <a:endParaRPr lang="en-US" sz="2000" dirty="0"/>
          </a:p>
        </p:txBody>
      </p:sp>
      <p:sp>
        <p:nvSpPr>
          <p:cNvPr id="24" name="Text 5">
            <a:extLst>
              <a:ext uri="{FF2B5EF4-FFF2-40B4-BE49-F238E27FC236}">
                <a16:creationId xmlns:a16="http://schemas.microsoft.com/office/drawing/2014/main" id="{F6B697CA-AC01-A275-9715-99162FD78B2D}"/>
              </a:ext>
            </a:extLst>
          </p:cNvPr>
          <p:cNvSpPr txBox="1"/>
          <p:nvPr/>
        </p:nvSpPr>
        <p:spPr>
          <a:xfrm>
            <a:off x="1261872" y="2437723"/>
            <a:ext cx="10149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replacement for the tools you already know</a:t>
            </a:r>
            <a:endParaRPr lang="en-US" sz="1500" dirty="0"/>
          </a:p>
        </p:txBody>
      </p:sp>
    </p:spTree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SQL'S ROLE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Use at Work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777240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640080" y="1481328"/>
            <a:ext cx="7406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work, we use Snowflake — a cloud-based SQL platform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029968"/>
            <a:ext cx="777240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" name="Text 6"/>
          <p:cNvSpPr txBox="1"/>
          <p:nvPr/>
        </p:nvSpPr>
        <p:spPr>
          <a:xfrm>
            <a:off x="640080" y="2121408"/>
            <a:ext cx="7406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Daily: querying millions of claims records, building metrics pipelines, QA checks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670048"/>
            <a:ext cx="777240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" name="Text 8"/>
          <p:cNvSpPr txBox="1"/>
          <p:nvPr/>
        </p:nvSpPr>
        <p:spPr>
          <a:xfrm>
            <a:off x="640080" y="2761488"/>
            <a:ext cx="7406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core SQL you'll learn today — just running on a much bigger dataset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310128"/>
            <a:ext cx="777240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 10"/>
          <p:cNvSpPr txBox="1"/>
          <p:nvPr/>
        </p:nvSpPr>
        <p:spPr>
          <a:xfrm>
            <a:off x="640080" y="3401568"/>
            <a:ext cx="7406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change.  SQL syntax doesn't — learn it once, use it everywhere.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595360" y="1234440"/>
            <a:ext cx="3291840" cy="475488"/>
          </a:xfrm>
          <a:prstGeom prst="rect">
            <a:avLst/>
          </a:prstGeom>
          <a:solidFill>
            <a:srgbClr val="29B5E8"/>
          </a:solidFill>
          <a:ln w="12700">
            <a:solidFill>
              <a:srgbClr val="29B5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" name="Text 12"/>
          <p:cNvSpPr txBox="1"/>
          <p:nvPr/>
        </p:nvSpPr>
        <p:spPr>
          <a:xfrm>
            <a:off x="8595360" y="131673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❄  Snowflake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006840" y="2242109"/>
            <a:ext cx="2468880" cy="3308299"/>
          </a:xfrm>
          <a:prstGeom prst="rect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" name="Shape 14"/>
          <p:cNvSpPr/>
          <p:nvPr/>
        </p:nvSpPr>
        <p:spPr>
          <a:xfrm>
            <a:off x="9006840" y="1847088"/>
            <a:ext cx="2468880" cy="790042"/>
          </a:xfrm>
          <a:prstGeom prst="ellipse">
            <a:avLst/>
          </a:prstGeom>
          <a:solidFill>
            <a:srgbClr val="0A1E30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" name="Shape 15"/>
          <p:cNvSpPr/>
          <p:nvPr/>
        </p:nvSpPr>
        <p:spPr>
          <a:xfrm>
            <a:off x="9006840" y="5155387"/>
            <a:ext cx="2468880" cy="790042"/>
          </a:xfrm>
          <a:prstGeom prst="ellipse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Shape 16"/>
          <p:cNvSpPr/>
          <p:nvPr/>
        </p:nvSpPr>
        <p:spPr>
          <a:xfrm>
            <a:off x="9043416" y="2990673"/>
            <a:ext cx="2395728" cy="355519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" name="Shape 17"/>
          <p:cNvSpPr/>
          <p:nvPr/>
        </p:nvSpPr>
        <p:spPr>
          <a:xfrm>
            <a:off x="9043416" y="3784665"/>
            <a:ext cx="2395728" cy="355519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" name="Shape 18"/>
          <p:cNvSpPr/>
          <p:nvPr/>
        </p:nvSpPr>
        <p:spPr>
          <a:xfrm>
            <a:off x="9043416" y="4578657"/>
            <a:ext cx="2395728" cy="355519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Text 19"/>
          <p:cNvSpPr txBox="1"/>
          <p:nvPr/>
        </p:nvSpPr>
        <p:spPr>
          <a:xfrm>
            <a:off x="8595360" y="5422392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SQL Platform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4059936"/>
            <a:ext cx="7772400" cy="214884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" name="Text 21"/>
          <p:cNvSpPr txBox="1"/>
          <p:nvPr/>
        </p:nvSpPr>
        <p:spPr>
          <a:xfrm>
            <a:off x="658368" y="4206240"/>
            <a:ext cx="7370064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The same SQL you learn today...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patient_id, claim_date, diagnosis_code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claims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claim_year = 2024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status = 'approved';</a:t>
            </a:r>
            <a:endParaRPr lang="en-US" sz="1500" dirty="0"/>
          </a:p>
        </p:txBody>
      </p:sp>
    </p:spTree>
  </p:cSld>
  <p:clrMapOvr>
    <a:masterClrMapping/>
  </p:clrMapOvr>
  <p:transition spd="slow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SQL'S ROLE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Brief History + Common Tools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640080" y="1719072"/>
            <a:ext cx="10607040" cy="9144"/>
          </a:xfrm>
          <a:prstGeom prst="line">
            <a:avLst/>
          </a:prstGeom>
          <a:noFill/>
          <a:ln w="190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Shape 4"/>
          <p:cNvSpPr/>
          <p:nvPr/>
        </p:nvSpPr>
        <p:spPr>
          <a:xfrm>
            <a:off x="1188720" y="1600200"/>
            <a:ext cx="256032" cy="256032"/>
          </a:xfrm>
          <a:prstGeom prst="ellipse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" name="Text 5"/>
          <p:cNvSpPr txBox="1"/>
          <p:nvPr/>
        </p:nvSpPr>
        <p:spPr>
          <a:xfrm>
            <a:off x="640080" y="11887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1970s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938528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develops SQL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1600200"/>
            <a:ext cx="256032" cy="256032"/>
          </a:xfrm>
          <a:prstGeom prst="ellipse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" name="Text 8"/>
          <p:cNvSpPr txBox="1"/>
          <p:nvPr/>
        </p:nvSpPr>
        <p:spPr>
          <a:xfrm>
            <a:off x="3840480" y="11887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1986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1938528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ANSI standard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412480" y="1600200"/>
            <a:ext cx="256032" cy="256032"/>
          </a:xfrm>
          <a:prstGeom prst="ellipse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" name="Text 11"/>
          <p:cNvSpPr txBox="1"/>
          <p:nvPr/>
        </p:nvSpPr>
        <p:spPr>
          <a:xfrm>
            <a:off x="7863840" y="11887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863840" y="1938528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50+ years, still #1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6060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SQL tools: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999232"/>
            <a:ext cx="5577840" cy="59436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" name="Shape 15"/>
          <p:cNvSpPr/>
          <p:nvPr/>
        </p:nvSpPr>
        <p:spPr>
          <a:xfrm>
            <a:off x="548640" y="3108960"/>
            <a:ext cx="475488" cy="365760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Text 16"/>
          <p:cNvSpPr txBox="1"/>
          <p:nvPr/>
        </p:nvSpPr>
        <p:spPr>
          <a:xfrm>
            <a:off x="1115568" y="3072384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SQLite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337560" y="309067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Lightweight, local — great for learning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30752"/>
            <a:ext cx="5577840" cy="59436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Shape 19"/>
          <p:cNvSpPr/>
          <p:nvPr/>
        </p:nvSpPr>
        <p:spPr>
          <a:xfrm>
            <a:off x="548640" y="3840480"/>
            <a:ext cx="475488" cy="365760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" name="Text 20"/>
          <p:cNvSpPr txBox="1"/>
          <p:nvPr/>
        </p:nvSpPr>
        <p:spPr>
          <a:xfrm>
            <a:off x="1115568" y="3803904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PostgreSQL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3337560" y="382219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Free, powerful, widely used in analytics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462272"/>
            <a:ext cx="5577840" cy="59436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" name="Shape 23"/>
          <p:cNvSpPr/>
          <p:nvPr/>
        </p:nvSpPr>
        <p:spPr>
          <a:xfrm>
            <a:off x="548640" y="4572000"/>
            <a:ext cx="475488" cy="365760"/>
          </a:xfrm>
          <a:prstGeom prst="rect">
            <a:avLst/>
          </a:prstGeom>
          <a:solidFill>
            <a:srgbClr val="4479A1"/>
          </a:solidFill>
          <a:ln w="12700">
            <a:solidFill>
              <a:srgbClr val="4479A1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" name="Text 24"/>
          <p:cNvSpPr txBox="1"/>
          <p:nvPr/>
        </p:nvSpPr>
        <p:spPr>
          <a:xfrm>
            <a:off x="1115568" y="4535424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MySQL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3337560" y="455371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in web &amp; research databases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355080" y="2999232"/>
            <a:ext cx="5577840" cy="59436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" name="Shape 27"/>
          <p:cNvSpPr/>
          <p:nvPr/>
        </p:nvSpPr>
        <p:spPr>
          <a:xfrm>
            <a:off x="6446520" y="3108960"/>
            <a:ext cx="475488" cy="365760"/>
          </a:xfrm>
          <a:prstGeom prst="rect">
            <a:avLst/>
          </a:prstGeom>
          <a:solidFill>
            <a:srgbClr val="29B5E8"/>
          </a:solidFill>
          <a:ln w="12700">
            <a:solidFill>
              <a:srgbClr val="29B5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0" name="Text 28"/>
          <p:cNvSpPr txBox="1"/>
          <p:nvPr/>
        </p:nvSpPr>
        <p:spPr>
          <a:xfrm>
            <a:off x="7013448" y="3072384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Snowflake / BigQuery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9235440" y="309067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platforms — large organizations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355080" y="3730752"/>
            <a:ext cx="5577840" cy="59436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3" name="Shape 31"/>
          <p:cNvSpPr/>
          <p:nvPr/>
        </p:nvSpPr>
        <p:spPr>
          <a:xfrm>
            <a:off x="6446520" y="3840480"/>
            <a:ext cx="475488" cy="365760"/>
          </a:xfrm>
          <a:prstGeom prst="rect">
            <a:avLst/>
          </a:prstGeom>
          <a:solidFill>
            <a:srgbClr val="CC2927"/>
          </a:solidFill>
          <a:ln w="12700">
            <a:solidFill>
              <a:srgbClr val="CC292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4" name="Text 32"/>
          <p:cNvSpPr txBox="1"/>
          <p:nvPr/>
        </p:nvSpPr>
        <p:spPr>
          <a:xfrm>
            <a:off x="7013448" y="3803904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 SQL Server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9235440" y="382219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&amp; government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5596128"/>
            <a:ext cx="2560320" cy="347472"/>
          </a:xfrm>
          <a:prstGeom prst="rect">
            <a:avLst/>
          </a:prstGeom>
          <a:solidFill>
            <a:srgbClr val="0A2A1A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7" name="Text 35"/>
          <p:cNvSpPr txBox="1"/>
          <p:nvPr/>
        </p:nvSpPr>
        <p:spPr>
          <a:xfrm>
            <a:off x="566928" y="566928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use SQLite today</a:t>
            </a:r>
            <a:endParaRPr lang="en-US" sz="1100" dirty="0"/>
          </a:p>
        </p:txBody>
      </p:sp>
    </p:spTree>
  </p:cSld>
  <p:clrMapOvr>
    <a:masterClrMapping/>
  </p:clrMapOvr>
  <p:transition spd="slow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10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r10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r10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104"/>
          <p:cNvSpPr txBox="1"/>
          <p:nvPr/>
        </p:nvSpPr>
        <p:spPr>
          <a:xfrm>
            <a:off x="502920" y="2377440"/>
            <a:ext cx="11430000" cy="12801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/>
              </a:rPr>
              <a:t>Databases &amp; Data Structure</a:t>
            </a:r>
          </a:p>
        </p:txBody>
      </p:sp>
      <p:sp>
        <p:nvSpPr>
          <p:cNvPr id="105" name="r105"/>
          <p:cNvSpPr/>
          <p:nvPr/>
        </p:nvSpPr>
        <p:spPr>
          <a:xfrm>
            <a:off x="502920" y="3584448"/>
            <a:ext cx="8686800" cy="6400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6" name="t106"/>
          <p:cNvSpPr txBox="1"/>
          <p:nvPr/>
        </p:nvSpPr>
        <p:spPr>
          <a:xfrm>
            <a:off x="521207" y="3767328"/>
            <a:ext cx="11430000" cy="3657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1400" b="0" dirty="0">
                <a:solidFill>
                  <a:srgbClr val="94A3B8"/>
                </a:solidFill>
                <a:latin typeface="Calibri"/>
              </a:rPr>
              <a:t>Tables, rows, columns, keys, and how data is structured</a:t>
            </a:r>
          </a:p>
        </p:txBody>
      </p:sp>
    </p:spTree>
  </p:cSld>
  <p:clrMapOvr>
    <a:masterClrMapping/>
  </p:clrMapOvr>
  <p:transition spd="med">
    <p:push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DATABASES &amp; DATA STRUCTURE</a:t>
            </a:r>
            <a:endParaRPr lang="en-US" sz="900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Database?</a:t>
            </a:r>
            <a:endParaRPr lang="en-US" sz="2800" dirty="0"/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5212080" cy="3474720"/>
          </a:xfrm>
          <a:prstGeom prst="rect">
            <a:avLst/>
          </a:prstGeom>
          <a:solidFill>
            <a:srgbClr val="0F2235"/>
          </a:solidFill>
          <a:ln w="635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Box 5"/>
          <p:cNvSpPr txBox="1"/>
          <p:nvPr/>
        </p:nvSpPr>
        <p:spPr>
          <a:xfrm>
            <a:off x="685800" y="1508760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Spreadsheet</a:t>
            </a:r>
            <a:endParaRPr lang="en-US" sz="1500" dirty="0"/>
          </a:p>
        </p:txBody>
      </p:sp>
      <p:sp>
        <p:nvSpPr>
          <p:cNvPr id="7" name="Rectangle 6"/>
          <p:cNvSpPr/>
          <p:nvPr/>
        </p:nvSpPr>
        <p:spPr>
          <a:xfrm>
            <a:off x="685800" y="1965960"/>
            <a:ext cx="1463040" cy="384048"/>
          </a:xfrm>
          <a:prstGeom prst="rect">
            <a:avLst/>
          </a:prstGeom>
          <a:solidFill>
            <a:srgbClr val="0F2A3F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" name="TextBox 7"/>
          <p:cNvSpPr txBox="1"/>
          <p:nvPr/>
        </p:nvSpPr>
        <p:spPr>
          <a:xfrm>
            <a:off x="731520" y="2029968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tourist_id</a:t>
            </a:r>
            <a:endParaRPr lang="en-US" sz="1000" dirty="0"/>
          </a:p>
        </p:txBody>
      </p:sp>
      <p:sp>
        <p:nvSpPr>
          <p:cNvPr id="9" name="Rectangle 8"/>
          <p:cNvSpPr/>
          <p:nvPr/>
        </p:nvSpPr>
        <p:spPr>
          <a:xfrm>
            <a:off x="2240280" y="1965960"/>
            <a:ext cx="1463040" cy="384048"/>
          </a:xfrm>
          <a:prstGeom prst="rect">
            <a:avLst/>
          </a:prstGeom>
          <a:solidFill>
            <a:srgbClr val="0F2A3F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" name="TextBox 9"/>
          <p:cNvSpPr txBox="1"/>
          <p:nvPr/>
        </p:nvSpPr>
        <p:spPr>
          <a:xfrm>
            <a:off x="2286000" y="2029968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first_name</a:t>
            </a:r>
            <a:endParaRPr lang="en-US" sz="1000" dirty="0"/>
          </a:p>
        </p:txBody>
      </p:sp>
      <p:sp>
        <p:nvSpPr>
          <p:cNvPr id="11" name="Rectangle 10"/>
          <p:cNvSpPr/>
          <p:nvPr/>
        </p:nvSpPr>
        <p:spPr>
          <a:xfrm>
            <a:off x="3794760" y="1965960"/>
            <a:ext cx="1463040" cy="384048"/>
          </a:xfrm>
          <a:prstGeom prst="rect">
            <a:avLst/>
          </a:prstGeom>
          <a:solidFill>
            <a:srgbClr val="0F2A3F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Box 11"/>
          <p:cNvSpPr txBox="1"/>
          <p:nvPr/>
        </p:nvSpPr>
        <p:spPr>
          <a:xfrm>
            <a:off x="3840480" y="2029968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urier New" pitchFamily="34" charset="0"/>
                <a:cs typeface="Courier New" pitchFamily="34" charset="-120"/>
              </a:rPr>
              <a:t>nationality</a:t>
            </a:r>
            <a:endParaRPr lang="en-US" sz="1000" dirty="0"/>
          </a:p>
        </p:txBody>
      </p:sp>
      <p:sp>
        <p:nvSpPr>
          <p:cNvPr id="13" name="Rectangle 12"/>
          <p:cNvSpPr/>
          <p:nvPr/>
        </p:nvSpPr>
        <p:spPr>
          <a:xfrm>
            <a:off x="685800" y="2404872"/>
            <a:ext cx="1463040" cy="38404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" name="Rectangle 13"/>
          <p:cNvSpPr/>
          <p:nvPr/>
        </p:nvSpPr>
        <p:spPr>
          <a:xfrm>
            <a:off x="2240280" y="2404872"/>
            <a:ext cx="1463040" cy="38404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" name="Rectangle 14"/>
          <p:cNvSpPr/>
          <p:nvPr/>
        </p:nvSpPr>
        <p:spPr>
          <a:xfrm>
            <a:off x="3794760" y="2404872"/>
            <a:ext cx="1463040" cy="38404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" name="Rectangle 15"/>
          <p:cNvSpPr/>
          <p:nvPr/>
        </p:nvSpPr>
        <p:spPr>
          <a:xfrm>
            <a:off x="685800" y="2843784"/>
            <a:ext cx="1463040" cy="38404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" name="Rectangle 16"/>
          <p:cNvSpPr/>
          <p:nvPr/>
        </p:nvSpPr>
        <p:spPr>
          <a:xfrm>
            <a:off x="2240280" y="2843784"/>
            <a:ext cx="1463040" cy="38404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Rectangle 17"/>
          <p:cNvSpPr/>
          <p:nvPr/>
        </p:nvSpPr>
        <p:spPr>
          <a:xfrm>
            <a:off x="3794760" y="2843784"/>
            <a:ext cx="1463040" cy="38404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" name="Rectangle 18"/>
          <p:cNvSpPr/>
          <p:nvPr/>
        </p:nvSpPr>
        <p:spPr>
          <a:xfrm>
            <a:off x="685800" y="3282696"/>
            <a:ext cx="1463040" cy="38404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" name="Rectangle 19"/>
          <p:cNvSpPr/>
          <p:nvPr/>
        </p:nvSpPr>
        <p:spPr>
          <a:xfrm>
            <a:off x="2240280" y="3282696"/>
            <a:ext cx="1463040" cy="38404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Rectangle 20"/>
          <p:cNvSpPr/>
          <p:nvPr/>
        </p:nvSpPr>
        <p:spPr>
          <a:xfrm>
            <a:off x="3794760" y="3282696"/>
            <a:ext cx="1463040" cy="38404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" name="TextBox 21"/>
          <p:cNvSpPr txBox="1"/>
          <p:nvPr/>
        </p:nvSpPr>
        <p:spPr>
          <a:xfrm>
            <a:off x="685800" y="388620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Great for smaller data you can see and work with directly</a:t>
            </a:r>
            <a:endParaRPr lang="en-US" sz="1200" dirty="0"/>
          </a:p>
        </p:txBody>
      </p:sp>
      <p:sp>
        <p:nvSpPr>
          <p:cNvPr id="23" name="TextBox 22"/>
          <p:cNvSpPr txBox="1"/>
          <p:nvPr/>
        </p:nvSpPr>
        <p:spPr>
          <a:xfrm>
            <a:off x="685800" y="4215384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Struggles past ~1 million rows</a:t>
            </a:r>
            <a:endParaRPr lang="en-US" sz="1200" dirty="0"/>
          </a:p>
        </p:txBody>
      </p:sp>
      <p:sp>
        <p:nvSpPr>
          <p:cNvPr id="24" name="TextBox 23"/>
          <p:cNvSpPr txBox="1"/>
          <p:nvPr/>
        </p:nvSpPr>
        <p:spPr>
          <a:xfrm>
            <a:off x="685800" y="4544568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Formulas break as data grows</a:t>
            </a:r>
            <a:endParaRPr lang="en-US" sz="1200" dirty="0"/>
          </a:p>
        </p:txBody>
      </p:sp>
      <p:sp>
        <p:nvSpPr>
          <p:cNvPr id="25" name="TextBox 24"/>
          <p:cNvSpPr txBox="1"/>
          <p:nvPr/>
        </p:nvSpPr>
        <p:spPr>
          <a:xfrm>
            <a:off x="5623560" y="283464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2200" dirty="0"/>
          </a:p>
        </p:txBody>
      </p:sp>
      <p:sp>
        <p:nvSpPr>
          <p:cNvPr id="26" name="Rectangle 25"/>
          <p:cNvSpPr/>
          <p:nvPr/>
        </p:nvSpPr>
        <p:spPr>
          <a:xfrm>
            <a:off x="6309360" y="1371600"/>
            <a:ext cx="5394960" cy="3474720"/>
          </a:xfrm>
          <a:prstGeom prst="rect">
            <a:avLst/>
          </a:prstGeom>
          <a:solidFill>
            <a:srgbClr val="0F2235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" name="TextBox 26"/>
          <p:cNvSpPr txBox="1"/>
          <p:nvPr/>
        </p:nvSpPr>
        <p:spPr>
          <a:xfrm>
            <a:off x="6537960" y="1508760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500" dirty="0"/>
          </a:p>
        </p:txBody>
      </p:sp>
      <p:sp>
        <p:nvSpPr>
          <p:cNvPr id="28" name="Rectangle 27"/>
          <p:cNvSpPr/>
          <p:nvPr/>
        </p:nvSpPr>
        <p:spPr>
          <a:xfrm>
            <a:off x="6537960" y="1938528"/>
            <a:ext cx="2286000" cy="384048"/>
          </a:xfrm>
          <a:prstGeom prst="rect">
            <a:avLst/>
          </a:prstGeom>
          <a:solidFill>
            <a:srgbClr val="0F2A3F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" name="TextBox 28"/>
          <p:cNvSpPr txBox="1"/>
          <p:nvPr/>
        </p:nvSpPr>
        <p:spPr>
          <a:xfrm>
            <a:off x="6629400" y="1993392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tourists</a:t>
            </a:r>
            <a:endParaRPr lang="en-US" sz="1200" dirty="0"/>
          </a:p>
        </p:txBody>
      </p:sp>
      <p:sp>
        <p:nvSpPr>
          <p:cNvPr id="30" name="Rectangle 29"/>
          <p:cNvSpPr/>
          <p:nvPr/>
        </p:nvSpPr>
        <p:spPr>
          <a:xfrm>
            <a:off x="6537960" y="2322576"/>
            <a:ext cx="2286000" cy="310896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1" name="TextBox 30"/>
          <p:cNvSpPr txBox="1"/>
          <p:nvPr/>
        </p:nvSpPr>
        <p:spPr>
          <a:xfrm>
            <a:off x="6629400" y="2368296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tourist_id</a:t>
            </a:r>
            <a:endParaRPr lang="en-US" sz="1000" dirty="0"/>
          </a:p>
        </p:txBody>
      </p:sp>
      <p:sp>
        <p:nvSpPr>
          <p:cNvPr id="32" name="Rectangle 31"/>
          <p:cNvSpPr/>
          <p:nvPr/>
        </p:nvSpPr>
        <p:spPr>
          <a:xfrm>
            <a:off x="6537960" y="2633472"/>
            <a:ext cx="2286000" cy="310896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3" name="TextBox 32"/>
          <p:cNvSpPr txBox="1"/>
          <p:nvPr/>
        </p:nvSpPr>
        <p:spPr>
          <a:xfrm>
            <a:off x="6629400" y="2679192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first_name</a:t>
            </a:r>
            <a:endParaRPr lang="en-US" sz="1000" dirty="0"/>
          </a:p>
        </p:txBody>
      </p:sp>
      <p:sp>
        <p:nvSpPr>
          <p:cNvPr id="34" name="Rectangle 33"/>
          <p:cNvSpPr/>
          <p:nvPr/>
        </p:nvSpPr>
        <p:spPr>
          <a:xfrm>
            <a:off x="6537960" y="2944368"/>
            <a:ext cx="2286000" cy="310896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5" name="TextBox 34"/>
          <p:cNvSpPr txBox="1"/>
          <p:nvPr/>
        </p:nvSpPr>
        <p:spPr>
          <a:xfrm>
            <a:off x="6629400" y="2990088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nationality</a:t>
            </a:r>
            <a:endParaRPr lang="en-US" sz="1000" dirty="0"/>
          </a:p>
        </p:txBody>
      </p:sp>
      <p:sp>
        <p:nvSpPr>
          <p:cNvPr id="36" name="Rectangle 35"/>
          <p:cNvSpPr/>
          <p:nvPr/>
        </p:nvSpPr>
        <p:spPr>
          <a:xfrm>
            <a:off x="6537960" y="1938528"/>
            <a:ext cx="2286000" cy="1316736"/>
          </a:xfrm>
          <a:prstGeom prst="rect">
            <a:avLst/>
          </a:prstGeom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7" name="Rectangle 36"/>
          <p:cNvSpPr/>
          <p:nvPr/>
        </p:nvSpPr>
        <p:spPr>
          <a:xfrm>
            <a:off x="9235440" y="1938528"/>
            <a:ext cx="2286000" cy="384048"/>
          </a:xfrm>
          <a:prstGeom prst="rect">
            <a:avLst/>
          </a:prstGeom>
          <a:solidFill>
            <a:srgbClr val="0F2A3F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8" name="TextBox 37"/>
          <p:cNvSpPr txBox="1"/>
          <p:nvPr/>
        </p:nvSpPr>
        <p:spPr>
          <a:xfrm>
            <a:off x="9326880" y="1993392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visits</a:t>
            </a:r>
            <a:endParaRPr lang="en-US" sz="1200" dirty="0"/>
          </a:p>
        </p:txBody>
      </p:sp>
      <p:sp>
        <p:nvSpPr>
          <p:cNvPr id="39" name="Rectangle 38"/>
          <p:cNvSpPr/>
          <p:nvPr/>
        </p:nvSpPr>
        <p:spPr>
          <a:xfrm>
            <a:off x="9235440" y="2322576"/>
            <a:ext cx="2286000" cy="310896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0" name="TextBox 39"/>
          <p:cNvSpPr txBox="1"/>
          <p:nvPr/>
        </p:nvSpPr>
        <p:spPr>
          <a:xfrm>
            <a:off x="9326880" y="2368296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visit_id</a:t>
            </a:r>
            <a:endParaRPr lang="en-US" sz="1000" dirty="0"/>
          </a:p>
        </p:txBody>
      </p:sp>
      <p:sp>
        <p:nvSpPr>
          <p:cNvPr id="41" name="Rectangle 40"/>
          <p:cNvSpPr/>
          <p:nvPr/>
        </p:nvSpPr>
        <p:spPr>
          <a:xfrm>
            <a:off x="9235440" y="2633472"/>
            <a:ext cx="2286000" cy="310896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2" name="TextBox 41"/>
          <p:cNvSpPr txBox="1"/>
          <p:nvPr/>
        </p:nvSpPr>
        <p:spPr>
          <a:xfrm>
            <a:off x="9326880" y="2679192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tourist_id</a:t>
            </a:r>
            <a:endParaRPr lang="en-US" sz="1000" dirty="0"/>
          </a:p>
        </p:txBody>
      </p:sp>
      <p:sp>
        <p:nvSpPr>
          <p:cNvPr id="43" name="Rectangle 42"/>
          <p:cNvSpPr/>
          <p:nvPr/>
        </p:nvSpPr>
        <p:spPr>
          <a:xfrm>
            <a:off x="9235440" y="2944368"/>
            <a:ext cx="2286000" cy="310896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4" name="TextBox 43"/>
          <p:cNvSpPr txBox="1"/>
          <p:nvPr/>
        </p:nvSpPr>
        <p:spPr>
          <a:xfrm>
            <a:off x="9326880" y="2990088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spending_php</a:t>
            </a:r>
            <a:endParaRPr lang="en-US" sz="1000" dirty="0"/>
          </a:p>
        </p:txBody>
      </p:sp>
      <p:sp>
        <p:nvSpPr>
          <p:cNvPr id="45" name="Rectangle 44"/>
          <p:cNvSpPr/>
          <p:nvPr/>
        </p:nvSpPr>
        <p:spPr>
          <a:xfrm>
            <a:off x="9235440" y="1938528"/>
            <a:ext cx="2286000" cy="1316736"/>
          </a:xfrm>
          <a:prstGeom prst="rect">
            <a:avLst/>
          </a:prstGeom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6" name="Straight Connector 45"/>
          <p:cNvSpPr/>
          <p:nvPr/>
        </p:nvSpPr>
        <p:spPr>
          <a:xfrm>
            <a:off x="8823960" y="2487168"/>
            <a:ext cx="411480" cy="9144"/>
          </a:xfrm>
          <a:prstGeom prst="line">
            <a:avLst/>
          </a:prstGeom>
          <a:noFill/>
          <a:ln w="1524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47" name="TextBox 46"/>
          <p:cNvSpPr txBox="1"/>
          <p:nvPr/>
        </p:nvSpPr>
        <p:spPr>
          <a:xfrm>
            <a:off x="6537960" y="388620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Multiple connected tables</a:t>
            </a:r>
            <a:endParaRPr lang="en-US" sz="1200" dirty="0"/>
          </a:p>
        </p:txBody>
      </p:sp>
      <p:sp>
        <p:nvSpPr>
          <p:cNvPr id="48" name="TextBox 47"/>
          <p:cNvSpPr txBox="1"/>
          <p:nvPr/>
        </p:nvSpPr>
        <p:spPr>
          <a:xfrm>
            <a:off x="6537960" y="4215384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Many users at once</a:t>
            </a:r>
            <a:endParaRPr lang="en-US" sz="1200" dirty="0"/>
          </a:p>
        </p:txBody>
      </p:sp>
      <p:sp>
        <p:nvSpPr>
          <p:cNvPr id="49" name="TextBox 48"/>
          <p:cNvSpPr txBox="1"/>
          <p:nvPr/>
        </p:nvSpPr>
        <p:spPr>
          <a:xfrm>
            <a:off x="6537960" y="4544568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Billions of rows — no sweat</a:t>
            </a:r>
            <a:endParaRPr lang="en-US" sz="1200" dirty="0"/>
          </a:p>
        </p:txBody>
      </p:sp>
      <p:sp>
        <p:nvSpPr>
          <p:cNvPr id="50" name="Rectangle 49"/>
          <p:cNvSpPr/>
          <p:nvPr/>
        </p:nvSpPr>
        <p:spPr>
          <a:xfrm>
            <a:off x="457200" y="5047488"/>
            <a:ext cx="11704320" cy="566928"/>
          </a:xfrm>
          <a:prstGeom prst="rect">
            <a:avLst/>
          </a:prstGeom>
          <a:solidFill>
            <a:srgbClr val="0A1E30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1" name="TextBox 50"/>
          <p:cNvSpPr txBox="1"/>
          <p:nvPr/>
        </p:nvSpPr>
        <p:spPr>
          <a:xfrm>
            <a:off x="640080" y="5157216"/>
            <a:ext cx="11338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is a notebook.  A database is the filing room of an entire organization.</a:t>
            </a:r>
            <a:endParaRPr lang="en-US" sz="1400" dirty="0"/>
          </a:p>
        </p:txBody>
      </p:sp>
    </p:spTree>
  </p:cSld>
  <p:clrMapOvr>
    <a:masterClrMapping/>
  </p:clrMapOvr>
  <p:transition spd="slow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30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DATABASES &amp; DATA STRUCTURE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Tables, Rows, Columns, and Keys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5852160" cy="71323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640080" y="1499616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2633472" y="1517904"/>
            <a:ext cx="3493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 collection of related data (like one sheet in Excel)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2258568"/>
            <a:ext cx="5852160" cy="71323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0080" y="2368296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Row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2633472" y="2386584"/>
            <a:ext cx="3493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One record — one tourist, one visit, one destination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57200" y="3127248"/>
            <a:ext cx="5852160" cy="71323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640080" y="3236976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Column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2633472" y="3255264"/>
            <a:ext cx="3493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One attribute — tourist_id, nationality, age_group, sex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57200" y="3995928"/>
            <a:ext cx="5852160" cy="71323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40080" y="4105656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Primary Key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2633472" y="4123944"/>
            <a:ext cx="3493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Unique identifier for each row  (e.g. tourist_id) 🔑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57200" y="4864608"/>
            <a:ext cx="5852160" cy="71323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640080" y="4974336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Foreign Key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2633472" y="4992624"/>
            <a:ext cx="3493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Column that links to another table's primary key  🔗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675120" y="3950208"/>
            <a:ext cx="109728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6711696" y="4014216"/>
            <a:ext cx="10241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tourist_id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772400" y="3950208"/>
            <a:ext cx="118872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 txBox="1"/>
          <p:nvPr/>
        </p:nvSpPr>
        <p:spPr>
          <a:xfrm>
            <a:off x="7808976" y="4014216"/>
            <a:ext cx="11155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first_name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961120" y="3950208"/>
            <a:ext cx="164592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 txBox="1"/>
          <p:nvPr/>
        </p:nvSpPr>
        <p:spPr>
          <a:xfrm>
            <a:off x="8997696" y="4014216"/>
            <a:ext cx="15727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nationality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675120" y="4297680"/>
            <a:ext cx="109728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 txBox="1"/>
          <p:nvPr/>
        </p:nvSpPr>
        <p:spPr>
          <a:xfrm>
            <a:off x="6711696" y="4352544"/>
            <a:ext cx="1024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T001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772400" y="4297680"/>
            <a:ext cx="118872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 txBox="1"/>
          <p:nvPr/>
        </p:nvSpPr>
        <p:spPr>
          <a:xfrm>
            <a:off x="7808976" y="4352544"/>
            <a:ext cx="11155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Kim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961120" y="4297680"/>
            <a:ext cx="164592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 txBox="1"/>
          <p:nvPr/>
        </p:nvSpPr>
        <p:spPr>
          <a:xfrm>
            <a:off x="8997696" y="4352544"/>
            <a:ext cx="15727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Korean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675120" y="4645152"/>
            <a:ext cx="109728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 txBox="1"/>
          <p:nvPr/>
        </p:nvSpPr>
        <p:spPr>
          <a:xfrm>
            <a:off x="6711696" y="4700016"/>
            <a:ext cx="1024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T002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7772400" y="4645152"/>
            <a:ext cx="118872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 txBox="1"/>
          <p:nvPr/>
        </p:nvSpPr>
        <p:spPr>
          <a:xfrm>
            <a:off x="7808976" y="4700016"/>
            <a:ext cx="11155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Smith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8961120" y="4645152"/>
            <a:ext cx="164592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 txBox="1"/>
          <p:nvPr/>
        </p:nvSpPr>
        <p:spPr>
          <a:xfrm>
            <a:off x="8997696" y="4700016"/>
            <a:ext cx="15727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American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6675120" y="4992624"/>
            <a:ext cx="109728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 txBox="1"/>
          <p:nvPr/>
        </p:nvSpPr>
        <p:spPr>
          <a:xfrm>
            <a:off x="6711696" y="5047488"/>
            <a:ext cx="1024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T003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7772400" y="4992624"/>
            <a:ext cx="118872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 txBox="1"/>
          <p:nvPr/>
        </p:nvSpPr>
        <p:spPr>
          <a:xfrm>
            <a:off x="7808976" y="5047488"/>
            <a:ext cx="11155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Dela Cruz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961120" y="4992624"/>
            <a:ext cx="164592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 txBox="1"/>
          <p:nvPr/>
        </p:nvSpPr>
        <p:spPr>
          <a:xfrm>
            <a:off x="8997696" y="5047488"/>
            <a:ext cx="15727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Korean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" name="r54"/>
          <p:cNvSpPr/>
          <p:nvPr/>
        </p:nvSpPr>
        <p:spPr>
          <a:xfrm>
            <a:off x="7658100" y="3346704"/>
            <a:ext cx="1417320" cy="402336"/>
          </a:xfrm>
          <a:prstGeom prst="rect">
            <a:avLst/>
          </a:prstGeom>
          <a:solidFill>
            <a:srgbClr val="0A1828"/>
          </a:solidFill>
          <a:ln w="8890">
            <a:solidFill>
              <a:srgbClr val="A78BFA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t55"/>
          <p:cNvSpPr txBox="1"/>
          <p:nvPr/>
        </p:nvSpPr>
        <p:spPr>
          <a:xfrm>
            <a:off x="7749540" y="3383280"/>
            <a:ext cx="1234440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A78BF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COLUMN</a:t>
            </a:r>
          </a:p>
        </p:txBody>
      </p:sp>
      <p:sp>
        <p:nvSpPr>
          <p:cNvPr id="56" name="t56"/>
          <p:cNvSpPr txBox="1"/>
          <p:nvPr/>
        </p:nvSpPr>
        <p:spPr>
          <a:xfrm>
            <a:off x="7749540" y="3566160"/>
            <a:ext cx="1234440" cy="146304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one attribute</a:t>
            </a:r>
          </a:p>
        </p:txBody>
      </p:sp>
      <p:sp>
        <p:nvSpPr>
          <p:cNvPr id="57" name="arr57"/>
          <p:cNvSpPr/>
          <p:nvPr/>
        </p:nvSpPr>
        <p:spPr>
          <a:xfrm>
            <a:off x="8366760" y="3749040"/>
            <a:ext cx="9144" cy="201168"/>
          </a:xfrm>
          <a:prstGeom prst="line">
            <a:avLst/>
          </a:prstGeom>
          <a:noFill/>
          <a:ln w="11430">
            <a:solidFill>
              <a:srgbClr val="A78BFA"/>
            </a:solidFill>
            <a:tailEnd type="arrow" w="sm" len="sm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8" name="r58"/>
          <p:cNvSpPr/>
          <p:nvPr/>
        </p:nvSpPr>
        <p:spPr>
          <a:xfrm>
            <a:off x="10698480" y="4617720"/>
            <a:ext cx="1188720" cy="402336"/>
          </a:xfrm>
          <a:prstGeom prst="rect">
            <a:avLst/>
          </a:prstGeom>
          <a:solidFill>
            <a:srgbClr val="0A1828"/>
          </a:solidFill>
          <a:ln w="8890">
            <a:solidFill>
              <a:srgbClr val="4FC3F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9" name="t59"/>
          <p:cNvSpPr txBox="1"/>
          <p:nvPr/>
        </p:nvSpPr>
        <p:spPr>
          <a:xfrm>
            <a:off x="10789919" y="4654296"/>
            <a:ext cx="1078992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ROW</a:t>
            </a:r>
          </a:p>
        </p:txBody>
      </p:sp>
      <p:sp>
        <p:nvSpPr>
          <p:cNvPr id="60" name="t60"/>
          <p:cNvSpPr txBox="1"/>
          <p:nvPr/>
        </p:nvSpPr>
        <p:spPr>
          <a:xfrm>
            <a:off x="10789919" y="4837176"/>
            <a:ext cx="1078992" cy="146304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one record</a:t>
            </a:r>
          </a:p>
        </p:txBody>
      </p:sp>
      <p:sp>
        <p:nvSpPr>
          <p:cNvPr id="61" name="arr61"/>
          <p:cNvSpPr/>
          <p:nvPr/>
        </p:nvSpPr>
        <p:spPr>
          <a:xfrm>
            <a:off x="10607040" y="4818888"/>
            <a:ext cx="91439" cy="9144"/>
          </a:xfrm>
          <a:prstGeom prst="line">
            <a:avLst/>
          </a:prstGeom>
          <a:noFill/>
          <a:ln w="11430">
            <a:solidFill>
              <a:srgbClr val="4FC3F7"/>
            </a:solidFill>
            <a:tailEnd type="arrow" w="sm" len="sm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" name="t62"/>
          <p:cNvSpPr txBox="1"/>
          <p:nvPr/>
        </p:nvSpPr>
        <p:spPr>
          <a:xfrm>
            <a:off x="6675120" y="5449824"/>
            <a:ext cx="3931920" cy="219456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tourists  (table)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5DD7B7D-C694-80C2-4EBE-A2A665ECFF09}"/>
              </a:ext>
            </a:extLst>
          </p:cNvPr>
          <p:cNvSpPr txBox="1"/>
          <p:nvPr/>
        </p:nvSpPr>
        <p:spPr>
          <a:xfrm>
            <a:off x="7472362" y="3993249"/>
            <a:ext cx="37147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🔑</a:t>
            </a:r>
            <a:endParaRPr kumimoji="0" lang="en-PH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r51">
            <a:extLst>
              <a:ext uri="{FF2B5EF4-FFF2-40B4-BE49-F238E27FC236}">
                <a16:creationId xmlns:a16="http://schemas.microsoft.com/office/drawing/2014/main" id="{E8F04037-771D-C5D2-EC3A-9DBDA249153D}"/>
              </a:ext>
            </a:extLst>
          </p:cNvPr>
          <p:cNvSpPr/>
          <p:nvPr/>
        </p:nvSpPr>
        <p:spPr>
          <a:xfrm>
            <a:off x="6675120" y="3950208"/>
            <a:ext cx="3931920" cy="1389888"/>
          </a:xfrm>
          <a:prstGeom prst="rect">
            <a:avLst/>
          </a:prstGeom>
          <a:noFill/>
          <a:ln w="12700">
            <a:solidFill>
              <a:srgbClr val="00C9A7"/>
            </a:solidFill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  <p:transition spd="slow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101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SECTION 3 · DATABASES &amp; DATA STRUCTURE</a:t>
            </a:r>
          </a:p>
        </p:txBody>
      </p:sp>
      <p:sp>
        <p:nvSpPr>
          <p:cNvPr id="102" name="t102"/>
          <p:cNvSpPr txBox="1"/>
          <p:nvPr/>
        </p:nvSpPr>
        <p:spPr>
          <a:xfrm>
            <a:off x="457200" y="457200"/>
            <a:ext cx="11247120" cy="6217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Why Not Just One Big Table?</a:t>
            </a:r>
          </a:p>
        </p:txBody>
      </p:sp>
      <p:sp>
        <p:nvSpPr>
          <p:cNvPr id="103" name="r103"/>
          <p:cNvSpPr/>
          <p:nvPr/>
        </p:nvSpPr>
        <p:spPr>
          <a:xfrm>
            <a:off x="457200" y="969264"/>
            <a:ext cx="3474720" cy="41148"/>
          </a:xfrm>
          <a:prstGeom prst="rect">
            <a:avLst/>
          </a:prstGeom>
          <a:solidFill>
            <a:srgbClr val="00C9A7"/>
          </a:solidFill>
          <a:ln w="635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4" name="t104"/>
          <p:cNvSpPr txBox="1"/>
          <p:nvPr/>
        </p:nvSpPr>
        <p:spPr>
          <a:xfrm>
            <a:off x="457200" y="1078992"/>
            <a:ext cx="5486400" cy="27432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❌  One flat table</a:t>
            </a:r>
          </a:p>
        </p:txBody>
      </p:sp>
      <p:sp>
        <p:nvSpPr>
          <p:cNvPr id="105" name="t105"/>
          <p:cNvSpPr txBox="1"/>
          <p:nvPr/>
        </p:nvSpPr>
        <p:spPr>
          <a:xfrm>
            <a:off x="457200" y="1371600"/>
            <a:ext cx="54864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1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If the same accommodation appears in many visits — it is repeated every time.</a:t>
            </a:r>
          </a:p>
        </p:txBody>
      </p:sp>
      <p:sp>
        <p:nvSpPr>
          <p:cNvPr id="106" name="r106"/>
          <p:cNvSpPr/>
          <p:nvPr/>
        </p:nvSpPr>
        <p:spPr>
          <a:xfrm>
            <a:off x="457200" y="1627632"/>
            <a:ext cx="100584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EF4444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t107"/>
          <p:cNvSpPr txBox="1"/>
          <p:nvPr/>
        </p:nvSpPr>
        <p:spPr>
          <a:xfrm>
            <a:off x="530352" y="1719072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tourist_id</a:t>
            </a:r>
          </a:p>
        </p:txBody>
      </p:sp>
      <p:sp>
        <p:nvSpPr>
          <p:cNvPr id="108" name="r108"/>
          <p:cNvSpPr/>
          <p:nvPr/>
        </p:nvSpPr>
        <p:spPr>
          <a:xfrm>
            <a:off x="1463040" y="1627632"/>
            <a:ext cx="100584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EF4444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t109"/>
          <p:cNvSpPr txBox="1"/>
          <p:nvPr/>
        </p:nvSpPr>
        <p:spPr>
          <a:xfrm>
            <a:off x="1536192" y="1719072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first_name</a:t>
            </a:r>
          </a:p>
        </p:txBody>
      </p:sp>
      <p:sp>
        <p:nvSpPr>
          <p:cNvPr id="110" name="r110"/>
          <p:cNvSpPr/>
          <p:nvPr/>
        </p:nvSpPr>
        <p:spPr>
          <a:xfrm>
            <a:off x="2468880" y="1627632"/>
            <a:ext cx="137160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EF4444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1" name="t111"/>
          <p:cNvSpPr txBox="1"/>
          <p:nvPr/>
        </p:nvSpPr>
        <p:spPr>
          <a:xfrm>
            <a:off x="2542032" y="1719072"/>
            <a:ext cx="12618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accommodation</a:t>
            </a:r>
          </a:p>
        </p:txBody>
      </p:sp>
      <p:sp>
        <p:nvSpPr>
          <p:cNvPr id="112" name="r112"/>
          <p:cNvSpPr/>
          <p:nvPr/>
        </p:nvSpPr>
        <p:spPr>
          <a:xfrm>
            <a:off x="3840480" y="1627632"/>
            <a:ext cx="109728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EF4444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3" name="t113"/>
          <p:cNvSpPr txBox="1"/>
          <p:nvPr/>
        </p:nvSpPr>
        <p:spPr>
          <a:xfrm>
            <a:off x="3913632" y="1719072"/>
            <a:ext cx="9875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destination</a:t>
            </a:r>
          </a:p>
        </p:txBody>
      </p:sp>
      <p:sp>
        <p:nvSpPr>
          <p:cNvPr id="114" name="r114"/>
          <p:cNvSpPr/>
          <p:nvPr/>
        </p:nvSpPr>
        <p:spPr>
          <a:xfrm>
            <a:off x="4937760" y="1627632"/>
            <a:ext cx="64008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EF4444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5" name="t115"/>
          <p:cNvSpPr txBox="1"/>
          <p:nvPr/>
        </p:nvSpPr>
        <p:spPr>
          <a:xfrm>
            <a:off x="5010912" y="1719072"/>
            <a:ext cx="5303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spending</a:t>
            </a:r>
          </a:p>
        </p:txBody>
      </p:sp>
      <p:sp>
        <p:nvSpPr>
          <p:cNvPr id="116" name="r116"/>
          <p:cNvSpPr/>
          <p:nvPr/>
        </p:nvSpPr>
        <p:spPr>
          <a:xfrm>
            <a:off x="457200" y="1975104"/>
            <a:ext cx="100584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7" name="t117"/>
          <p:cNvSpPr txBox="1"/>
          <p:nvPr/>
        </p:nvSpPr>
        <p:spPr>
          <a:xfrm>
            <a:off x="530352" y="2066544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T001</a:t>
            </a:r>
          </a:p>
        </p:txBody>
      </p:sp>
      <p:sp>
        <p:nvSpPr>
          <p:cNvPr id="118" name="r118"/>
          <p:cNvSpPr/>
          <p:nvPr/>
        </p:nvSpPr>
        <p:spPr>
          <a:xfrm>
            <a:off x="1463040" y="1975104"/>
            <a:ext cx="100584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9" name="t119"/>
          <p:cNvSpPr txBox="1"/>
          <p:nvPr/>
        </p:nvSpPr>
        <p:spPr>
          <a:xfrm>
            <a:off x="1536192" y="2066544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Kim</a:t>
            </a:r>
          </a:p>
        </p:txBody>
      </p:sp>
      <p:sp>
        <p:nvSpPr>
          <p:cNvPr id="120" name="r120"/>
          <p:cNvSpPr/>
          <p:nvPr/>
        </p:nvSpPr>
        <p:spPr>
          <a:xfrm>
            <a:off x="2468880" y="1975104"/>
            <a:ext cx="137160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1" name="t121"/>
          <p:cNvSpPr txBox="1"/>
          <p:nvPr/>
        </p:nvSpPr>
        <p:spPr>
          <a:xfrm>
            <a:off x="2542032" y="2066544"/>
            <a:ext cx="12618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Hostel</a:t>
            </a:r>
          </a:p>
        </p:txBody>
      </p:sp>
      <p:sp>
        <p:nvSpPr>
          <p:cNvPr id="122" name="r122"/>
          <p:cNvSpPr/>
          <p:nvPr/>
        </p:nvSpPr>
        <p:spPr>
          <a:xfrm>
            <a:off x="3840480" y="1975104"/>
            <a:ext cx="109728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3" name="t123"/>
          <p:cNvSpPr txBox="1"/>
          <p:nvPr/>
        </p:nvSpPr>
        <p:spPr>
          <a:xfrm>
            <a:off x="3913632" y="2066544"/>
            <a:ext cx="9875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Boracay</a:t>
            </a:r>
          </a:p>
        </p:txBody>
      </p:sp>
      <p:sp>
        <p:nvSpPr>
          <p:cNvPr id="124" name="r124"/>
          <p:cNvSpPr/>
          <p:nvPr/>
        </p:nvSpPr>
        <p:spPr>
          <a:xfrm>
            <a:off x="4937760" y="1975104"/>
            <a:ext cx="64008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5" name="t125"/>
          <p:cNvSpPr txBox="1"/>
          <p:nvPr/>
        </p:nvSpPr>
        <p:spPr>
          <a:xfrm>
            <a:off x="5010912" y="2066544"/>
            <a:ext cx="5303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15,000</a:t>
            </a:r>
          </a:p>
        </p:txBody>
      </p:sp>
      <p:sp>
        <p:nvSpPr>
          <p:cNvPr id="126" name="r126"/>
          <p:cNvSpPr/>
          <p:nvPr/>
        </p:nvSpPr>
        <p:spPr>
          <a:xfrm>
            <a:off x="457200" y="2322576"/>
            <a:ext cx="100584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7" name="t127"/>
          <p:cNvSpPr txBox="1"/>
          <p:nvPr/>
        </p:nvSpPr>
        <p:spPr>
          <a:xfrm>
            <a:off x="530352" y="2414016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T001</a:t>
            </a:r>
          </a:p>
        </p:txBody>
      </p:sp>
      <p:sp>
        <p:nvSpPr>
          <p:cNvPr id="128" name="r128"/>
          <p:cNvSpPr/>
          <p:nvPr/>
        </p:nvSpPr>
        <p:spPr>
          <a:xfrm>
            <a:off x="1463040" y="2322576"/>
            <a:ext cx="100584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9" name="t129"/>
          <p:cNvSpPr txBox="1"/>
          <p:nvPr/>
        </p:nvSpPr>
        <p:spPr>
          <a:xfrm>
            <a:off x="1536192" y="2414016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Kim</a:t>
            </a:r>
          </a:p>
        </p:txBody>
      </p:sp>
      <p:sp>
        <p:nvSpPr>
          <p:cNvPr id="130" name="r130"/>
          <p:cNvSpPr/>
          <p:nvPr/>
        </p:nvSpPr>
        <p:spPr>
          <a:xfrm>
            <a:off x="2468880" y="2322576"/>
            <a:ext cx="137160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1" name="t131"/>
          <p:cNvSpPr txBox="1"/>
          <p:nvPr/>
        </p:nvSpPr>
        <p:spPr>
          <a:xfrm>
            <a:off x="2542032" y="2414016"/>
            <a:ext cx="12618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Hostel</a:t>
            </a:r>
          </a:p>
        </p:txBody>
      </p:sp>
      <p:sp>
        <p:nvSpPr>
          <p:cNvPr id="132" name="r132"/>
          <p:cNvSpPr/>
          <p:nvPr/>
        </p:nvSpPr>
        <p:spPr>
          <a:xfrm>
            <a:off x="3840480" y="2322576"/>
            <a:ext cx="109728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3" name="t133"/>
          <p:cNvSpPr txBox="1"/>
          <p:nvPr/>
        </p:nvSpPr>
        <p:spPr>
          <a:xfrm>
            <a:off x="3913632" y="2414016"/>
            <a:ext cx="9875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El Nido</a:t>
            </a:r>
          </a:p>
        </p:txBody>
      </p:sp>
      <p:sp>
        <p:nvSpPr>
          <p:cNvPr id="134" name="r134"/>
          <p:cNvSpPr/>
          <p:nvPr/>
        </p:nvSpPr>
        <p:spPr>
          <a:xfrm>
            <a:off x="4937760" y="2322576"/>
            <a:ext cx="64008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5" name="t135"/>
          <p:cNvSpPr txBox="1"/>
          <p:nvPr/>
        </p:nvSpPr>
        <p:spPr>
          <a:xfrm>
            <a:off x="5010912" y="2414016"/>
            <a:ext cx="5303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22,000</a:t>
            </a:r>
          </a:p>
        </p:txBody>
      </p:sp>
      <p:sp>
        <p:nvSpPr>
          <p:cNvPr id="136" name="r136"/>
          <p:cNvSpPr/>
          <p:nvPr/>
        </p:nvSpPr>
        <p:spPr>
          <a:xfrm>
            <a:off x="457200" y="2670048"/>
            <a:ext cx="100584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7" name="t137"/>
          <p:cNvSpPr txBox="1"/>
          <p:nvPr/>
        </p:nvSpPr>
        <p:spPr>
          <a:xfrm>
            <a:off x="530352" y="2761488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T001</a:t>
            </a:r>
          </a:p>
        </p:txBody>
      </p:sp>
      <p:sp>
        <p:nvSpPr>
          <p:cNvPr id="138" name="r138"/>
          <p:cNvSpPr/>
          <p:nvPr/>
        </p:nvSpPr>
        <p:spPr>
          <a:xfrm>
            <a:off x="1463040" y="2670048"/>
            <a:ext cx="100584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9" name="t139"/>
          <p:cNvSpPr txBox="1"/>
          <p:nvPr/>
        </p:nvSpPr>
        <p:spPr>
          <a:xfrm>
            <a:off x="1536192" y="2761488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Kim</a:t>
            </a:r>
          </a:p>
        </p:txBody>
      </p:sp>
      <p:sp>
        <p:nvSpPr>
          <p:cNvPr id="140" name="r140"/>
          <p:cNvSpPr/>
          <p:nvPr/>
        </p:nvSpPr>
        <p:spPr>
          <a:xfrm>
            <a:off x="2468880" y="2670048"/>
            <a:ext cx="137160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1" name="t141"/>
          <p:cNvSpPr txBox="1"/>
          <p:nvPr/>
        </p:nvSpPr>
        <p:spPr>
          <a:xfrm>
            <a:off x="2542032" y="2761488"/>
            <a:ext cx="12618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Hostel</a:t>
            </a:r>
          </a:p>
        </p:txBody>
      </p:sp>
      <p:sp>
        <p:nvSpPr>
          <p:cNvPr id="142" name="r142"/>
          <p:cNvSpPr/>
          <p:nvPr/>
        </p:nvSpPr>
        <p:spPr>
          <a:xfrm>
            <a:off x="3840480" y="2670048"/>
            <a:ext cx="109728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3" name="t143"/>
          <p:cNvSpPr txBox="1"/>
          <p:nvPr/>
        </p:nvSpPr>
        <p:spPr>
          <a:xfrm>
            <a:off x="3913632" y="2761488"/>
            <a:ext cx="9875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Siargao</a:t>
            </a:r>
          </a:p>
        </p:txBody>
      </p:sp>
      <p:sp>
        <p:nvSpPr>
          <p:cNvPr id="144" name="r144"/>
          <p:cNvSpPr/>
          <p:nvPr/>
        </p:nvSpPr>
        <p:spPr>
          <a:xfrm>
            <a:off x="4937760" y="2670048"/>
            <a:ext cx="64008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5" name="t145"/>
          <p:cNvSpPr txBox="1"/>
          <p:nvPr/>
        </p:nvSpPr>
        <p:spPr>
          <a:xfrm>
            <a:off x="5010912" y="2761488"/>
            <a:ext cx="5303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18,500</a:t>
            </a:r>
          </a:p>
        </p:txBody>
      </p:sp>
      <p:sp>
        <p:nvSpPr>
          <p:cNvPr id="146" name="r146"/>
          <p:cNvSpPr/>
          <p:nvPr/>
        </p:nvSpPr>
        <p:spPr>
          <a:xfrm>
            <a:off x="457200" y="3017520"/>
            <a:ext cx="100584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7" name="t147"/>
          <p:cNvSpPr txBox="1"/>
          <p:nvPr/>
        </p:nvSpPr>
        <p:spPr>
          <a:xfrm>
            <a:off x="530352" y="3108960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T001</a:t>
            </a:r>
          </a:p>
        </p:txBody>
      </p:sp>
      <p:sp>
        <p:nvSpPr>
          <p:cNvPr id="148" name="r148"/>
          <p:cNvSpPr/>
          <p:nvPr/>
        </p:nvSpPr>
        <p:spPr>
          <a:xfrm>
            <a:off x="1463040" y="3017520"/>
            <a:ext cx="100584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9" name="t149"/>
          <p:cNvSpPr txBox="1"/>
          <p:nvPr/>
        </p:nvSpPr>
        <p:spPr>
          <a:xfrm>
            <a:off x="1536192" y="3108960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Kim</a:t>
            </a:r>
          </a:p>
        </p:txBody>
      </p:sp>
      <p:sp>
        <p:nvSpPr>
          <p:cNvPr id="150" name="r150"/>
          <p:cNvSpPr/>
          <p:nvPr/>
        </p:nvSpPr>
        <p:spPr>
          <a:xfrm>
            <a:off x="2468880" y="3017520"/>
            <a:ext cx="137160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1" name="t151"/>
          <p:cNvSpPr txBox="1"/>
          <p:nvPr/>
        </p:nvSpPr>
        <p:spPr>
          <a:xfrm>
            <a:off x="2542032" y="3108960"/>
            <a:ext cx="12618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Hostel</a:t>
            </a:r>
          </a:p>
        </p:txBody>
      </p:sp>
      <p:sp>
        <p:nvSpPr>
          <p:cNvPr id="152" name="r152"/>
          <p:cNvSpPr/>
          <p:nvPr/>
        </p:nvSpPr>
        <p:spPr>
          <a:xfrm>
            <a:off x="3840480" y="3017520"/>
            <a:ext cx="109728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3" name="t153"/>
          <p:cNvSpPr txBox="1"/>
          <p:nvPr/>
        </p:nvSpPr>
        <p:spPr>
          <a:xfrm>
            <a:off x="3913632" y="3108960"/>
            <a:ext cx="9875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Coron</a:t>
            </a:r>
          </a:p>
        </p:txBody>
      </p:sp>
      <p:sp>
        <p:nvSpPr>
          <p:cNvPr id="154" name="r154"/>
          <p:cNvSpPr/>
          <p:nvPr/>
        </p:nvSpPr>
        <p:spPr>
          <a:xfrm>
            <a:off x="4937760" y="3017520"/>
            <a:ext cx="64008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5" name="t155"/>
          <p:cNvSpPr txBox="1"/>
          <p:nvPr/>
        </p:nvSpPr>
        <p:spPr>
          <a:xfrm>
            <a:off x="5010912" y="3108960"/>
            <a:ext cx="5303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20,000</a:t>
            </a:r>
          </a:p>
        </p:txBody>
      </p:sp>
      <p:sp>
        <p:nvSpPr>
          <p:cNvPr id="156" name="r156"/>
          <p:cNvSpPr/>
          <p:nvPr/>
        </p:nvSpPr>
        <p:spPr>
          <a:xfrm>
            <a:off x="457200" y="1627632"/>
            <a:ext cx="5120640" cy="1737360"/>
          </a:xfrm>
          <a:prstGeom prst="rect">
            <a:avLst/>
          </a:prstGeom>
          <a:noFill/>
          <a:ln w="10160">
            <a:solidFill>
              <a:srgbClr val="EF4444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7" name="r157"/>
          <p:cNvSpPr/>
          <p:nvPr/>
        </p:nvSpPr>
        <p:spPr>
          <a:xfrm>
            <a:off x="109728" y="1975104"/>
            <a:ext cx="256032" cy="1389888"/>
          </a:xfrm>
          <a:prstGeom prst="rect">
            <a:avLst/>
          </a:prstGeom>
          <a:solidFill>
            <a:srgbClr val="EF4444"/>
          </a:solidFill>
          <a:ln w="0">
            <a:solidFill>
              <a:srgbClr val="EF4444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8" name="t158"/>
          <p:cNvSpPr txBox="1"/>
          <p:nvPr/>
        </p:nvSpPr>
        <p:spPr>
          <a:xfrm>
            <a:off x="128016" y="2392070"/>
            <a:ext cx="219456" cy="457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</a:t>
            </a:r>
          </a:p>
        </p:txBody>
      </p:sp>
      <p:sp>
        <p:nvSpPr>
          <p:cNvPr id="159" name="r159"/>
          <p:cNvSpPr/>
          <p:nvPr/>
        </p:nvSpPr>
        <p:spPr>
          <a:xfrm>
            <a:off x="457200" y="3493008"/>
            <a:ext cx="5120640" cy="475488"/>
          </a:xfrm>
          <a:prstGeom prst="rect">
            <a:avLst/>
          </a:prstGeom>
          <a:solidFill>
            <a:srgbClr val="2A0A0A"/>
          </a:solidFill>
          <a:ln w="7620">
            <a:solidFill>
              <a:srgbClr val="EF4444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0" name="t160"/>
          <p:cNvSpPr txBox="1"/>
          <p:nvPr/>
        </p:nvSpPr>
        <p:spPr>
          <a:xfrm>
            <a:off x="640080" y="3547872"/>
            <a:ext cx="4846320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⚠  Update anomaly: if this property reclassifies</a:t>
            </a:r>
          </a:p>
        </p:txBody>
      </p:sp>
      <p:sp>
        <p:nvSpPr>
          <p:cNvPr id="161" name="t161"/>
          <p:cNvSpPr txBox="1"/>
          <p:nvPr/>
        </p:nvSpPr>
        <p:spPr>
          <a:xfrm>
            <a:off x="640080" y="3749039"/>
            <a:ext cx="4846320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1" u="none" strike="noStrike" kern="1200" cap="none" spc="0" normalizeH="0" baseline="0" noProof="0" dirty="0">
                <a:ln>
                  <a:noFill/>
                </a:ln>
                <a:solidFill>
                  <a:srgbClr val="F8717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from Hostel to Guesthouse — update 4 rows or data is wrong.</a:t>
            </a:r>
          </a:p>
        </p:txBody>
      </p:sp>
      <p:sp>
        <p:nvSpPr>
          <p:cNvPr id="162" name="r162"/>
          <p:cNvSpPr/>
          <p:nvPr/>
        </p:nvSpPr>
        <p:spPr>
          <a:xfrm>
            <a:off x="457200" y="4096511"/>
            <a:ext cx="5120640" cy="438912"/>
          </a:xfrm>
          <a:prstGeom prst="rect">
            <a:avLst/>
          </a:prstGeom>
          <a:solidFill>
            <a:srgbClr val="0F2235"/>
          </a:solidFill>
          <a:ln w="5080">
            <a:solidFill>
              <a:srgbClr val="1A3040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3" name="t163"/>
          <p:cNvSpPr txBox="1"/>
          <p:nvPr/>
        </p:nvSpPr>
        <p:spPr>
          <a:xfrm>
            <a:off x="594360" y="4187951"/>
            <a:ext cx="365760" cy="27432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🔁</a:t>
            </a:r>
          </a:p>
        </p:txBody>
      </p:sp>
      <p:sp>
        <p:nvSpPr>
          <p:cNvPr id="164" name="t164"/>
          <p:cNvSpPr txBox="1"/>
          <p:nvPr/>
        </p:nvSpPr>
        <p:spPr>
          <a:xfrm>
            <a:off x="1005840" y="4151375"/>
            <a:ext cx="1280160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Redundancy</a:t>
            </a:r>
          </a:p>
        </p:txBody>
      </p:sp>
      <p:sp>
        <p:nvSpPr>
          <p:cNvPr id="165" name="t165"/>
          <p:cNvSpPr txBox="1"/>
          <p:nvPr/>
        </p:nvSpPr>
        <p:spPr>
          <a:xfrm>
            <a:off x="1005840" y="4334255"/>
            <a:ext cx="4389120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Same data repeated across many rows</a:t>
            </a:r>
          </a:p>
        </p:txBody>
      </p:sp>
      <p:sp>
        <p:nvSpPr>
          <p:cNvPr id="166" name="r166"/>
          <p:cNvSpPr/>
          <p:nvPr/>
        </p:nvSpPr>
        <p:spPr>
          <a:xfrm>
            <a:off x="457200" y="4608575"/>
            <a:ext cx="5120640" cy="438912"/>
          </a:xfrm>
          <a:prstGeom prst="rect">
            <a:avLst/>
          </a:prstGeom>
          <a:solidFill>
            <a:srgbClr val="0F2235"/>
          </a:solidFill>
          <a:ln w="5080">
            <a:solidFill>
              <a:srgbClr val="1A3040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7" name="t167"/>
          <p:cNvSpPr txBox="1"/>
          <p:nvPr/>
        </p:nvSpPr>
        <p:spPr>
          <a:xfrm>
            <a:off x="594360" y="4700015"/>
            <a:ext cx="365760" cy="27432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✏️</a:t>
            </a:r>
          </a:p>
        </p:txBody>
      </p:sp>
      <p:sp>
        <p:nvSpPr>
          <p:cNvPr id="168" name="t168"/>
          <p:cNvSpPr txBox="1"/>
          <p:nvPr/>
        </p:nvSpPr>
        <p:spPr>
          <a:xfrm>
            <a:off x="1005840" y="4663439"/>
            <a:ext cx="1280160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Update Anomaly</a:t>
            </a:r>
          </a:p>
        </p:txBody>
      </p:sp>
      <p:sp>
        <p:nvSpPr>
          <p:cNvPr id="169" name="t169"/>
          <p:cNvSpPr txBox="1"/>
          <p:nvPr/>
        </p:nvSpPr>
        <p:spPr>
          <a:xfrm>
            <a:off x="1005840" y="4846319"/>
            <a:ext cx="4389120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Change one row, forget another — data becomes inconsistent</a:t>
            </a:r>
          </a:p>
        </p:txBody>
      </p:sp>
      <p:sp>
        <p:nvSpPr>
          <p:cNvPr id="170" name="r170"/>
          <p:cNvSpPr/>
          <p:nvPr/>
        </p:nvSpPr>
        <p:spPr>
          <a:xfrm>
            <a:off x="457200" y="5120640"/>
            <a:ext cx="5120640" cy="438912"/>
          </a:xfrm>
          <a:prstGeom prst="rect">
            <a:avLst/>
          </a:prstGeom>
          <a:solidFill>
            <a:srgbClr val="0F2235"/>
          </a:solidFill>
          <a:ln w="5080">
            <a:solidFill>
              <a:srgbClr val="1A3040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1" name="t171"/>
          <p:cNvSpPr txBox="1"/>
          <p:nvPr/>
        </p:nvSpPr>
        <p:spPr>
          <a:xfrm>
            <a:off x="594360" y="5212079"/>
            <a:ext cx="365760" cy="27432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🗑️</a:t>
            </a:r>
          </a:p>
        </p:txBody>
      </p:sp>
      <p:sp>
        <p:nvSpPr>
          <p:cNvPr id="172" name="t172"/>
          <p:cNvSpPr txBox="1"/>
          <p:nvPr/>
        </p:nvSpPr>
        <p:spPr>
          <a:xfrm>
            <a:off x="1005840" y="5175503"/>
            <a:ext cx="1280160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Deletion Anomaly</a:t>
            </a:r>
          </a:p>
        </p:txBody>
      </p:sp>
      <p:sp>
        <p:nvSpPr>
          <p:cNvPr id="173" name="t173"/>
          <p:cNvSpPr txBox="1"/>
          <p:nvPr/>
        </p:nvSpPr>
        <p:spPr>
          <a:xfrm>
            <a:off x="1005840" y="5358383"/>
            <a:ext cx="4389120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Delete a tourist and you lose all their visit records</a:t>
            </a:r>
          </a:p>
        </p:txBody>
      </p:sp>
      <p:sp>
        <p:nvSpPr>
          <p:cNvPr id="174" name="r174"/>
          <p:cNvSpPr/>
          <p:nvPr/>
        </p:nvSpPr>
        <p:spPr>
          <a:xfrm>
            <a:off x="6144768" y="1078992"/>
            <a:ext cx="36576" cy="5577840"/>
          </a:xfrm>
          <a:prstGeom prst="rect">
            <a:avLst/>
          </a:prstGeom>
          <a:solidFill>
            <a:srgbClr val="1A3040"/>
          </a:solidFill>
          <a:ln w="0">
            <a:solidFill>
              <a:srgbClr val="1A3040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5" name="t175"/>
          <p:cNvSpPr txBox="1"/>
          <p:nvPr/>
        </p:nvSpPr>
        <p:spPr>
          <a:xfrm>
            <a:off x="6355080" y="1078992"/>
            <a:ext cx="5486400" cy="27432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 Separate tables</a:t>
            </a:r>
          </a:p>
        </p:txBody>
      </p:sp>
      <p:sp>
        <p:nvSpPr>
          <p:cNvPr id="176" name="t176"/>
          <p:cNvSpPr txBox="1"/>
          <p:nvPr/>
        </p:nvSpPr>
        <p:spPr>
          <a:xfrm>
            <a:off x="6355080" y="1371600"/>
            <a:ext cx="54864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1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Each piece of information stored exactly once.</a:t>
            </a:r>
          </a:p>
        </p:txBody>
      </p:sp>
      <p:sp>
        <p:nvSpPr>
          <p:cNvPr id="177" name="r177"/>
          <p:cNvSpPr/>
          <p:nvPr/>
        </p:nvSpPr>
        <p:spPr>
          <a:xfrm>
            <a:off x="6355080" y="1627632"/>
            <a:ext cx="100584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8" name="t178"/>
          <p:cNvSpPr txBox="1"/>
          <p:nvPr/>
        </p:nvSpPr>
        <p:spPr>
          <a:xfrm>
            <a:off x="6428232" y="1719072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tourist_id</a:t>
            </a:r>
          </a:p>
        </p:txBody>
      </p:sp>
      <p:sp>
        <p:nvSpPr>
          <p:cNvPr id="179" name="r179"/>
          <p:cNvSpPr/>
          <p:nvPr/>
        </p:nvSpPr>
        <p:spPr>
          <a:xfrm>
            <a:off x="7360920" y="1627632"/>
            <a:ext cx="100584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0" name="t180"/>
          <p:cNvSpPr txBox="1"/>
          <p:nvPr/>
        </p:nvSpPr>
        <p:spPr>
          <a:xfrm>
            <a:off x="7434072" y="1719072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first_name</a:t>
            </a:r>
          </a:p>
        </p:txBody>
      </p:sp>
      <p:sp>
        <p:nvSpPr>
          <p:cNvPr id="181" name="r181"/>
          <p:cNvSpPr/>
          <p:nvPr/>
        </p:nvSpPr>
        <p:spPr>
          <a:xfrm>
            <a:off x="8366760" y="1627632"/>
            <a:ext cx="137160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2" name="t182"/>
          <p:cNvSpPr txBox="1"/>
          <p:nvPr/>
        </p:nvSpPr>
        <p:spPr>
          <a:xfrm>
            <a:off x="8439912" y="1719072"/>
            <a:ext cx="12618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accommodation</a:t>
            </a:r>
          </a:p>
        </p:txBody>
      </p:sp>
      <p:sp>
        <p:nvSpPr>
          <p:cNvPr id="183" name="r183"/>
          <p:cNvSpPr/>
          <p:nvPr/>
        </p:nvSpPr>
        <p:spPr>
          <a:xfrm>
            <a:off x="6355080" y="1975104"/>
            <a:ext cx="100584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4" name="t184"/>
          <p:cNvSpPr txBox="1"/>
          <p:nvPr/>
        </p:nvSpPr>
        <p:spPr>
          <a:xfrm>
            <a:off x="6428232" y="2066544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T001</a:t>
            </a:r>
          </a:p>
        </p:txBody>
      </p:sp>
      <p:sp>
        <p:nvSpPr>
          <p:cNvPr id="185" name="r185"/>
          <p:cNvSpPr/>
          <p:nvPr/>
        </p:nvSpPr>
        <p:spPr>
          <a:xfrm>
            <a:off x="7360920" y="1975104"/>
            <a:ext cx="100584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6" name="t186"/>
          <p:cNvSpPr txBox="1"/>
          <p:nvPr/>
        </p:nvSpPr>
        <p:spPr>
          <a:xfrm>
            <a:off x="7434072" y="2066544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Kim</a:t>
            </a:r>
          </a:p>
        </p:txBody>
      </p:sp>
      <p:sp>
        <p:nvSpPr>
          <p:cNvPr id="187" name="r187"/>
          <p:cNvSpPr/>
          <p:nvPr/>
        </p:nvSpPr>
        <p:spPr>
          <a:xfrm>
            <a:off x="8366760" y="1975104"/>
            <a:ext cx="137160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8" name="t188"/>
          <p:cNvSpPr txBox="1"/>
          <p:nvPr/>
        </p:nvSpPr>
        <p:spPr>
          <a:xfrm>
            <a:off x="8439912" y="2066544"/>
            <a:ext cx="12618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Hostel</a:t>
            </a:r>
          </a:p>
        </p:txBody>
      </p:sp>
      <p:sp>
        <p:nvSpPr>
          <p:cNvPr id="189" name="r189"/>
          <p:cNvSpPr/>
          <p:nvPr/>
        </p:nvSpPr>
        <p:spPr>
          <a:xfrm>
            <a:off x="6355080" y="2322576"/>
            <a:ext cx="100584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0" name="t190"/>
          <p:cNvSpPr txBox="1"/>
          <p:nvPr/>
        </p:nvSpPr>
        <p:spPr>
          <a:xfrm>
            <a:off x="6428232" y="2414016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T002</a:t>
            </a:r>
          </a:p>
        </p:txBody>
      </p:sp>
      <p:sp>
        <p:nvSpPr>
          <p:cNvPr id="191" name="r191"/>
          <p:cNvSpPr/>
          <p:nvPr/>
        </p:nvSpPr>
        <p:spPr>
          <a:xfrm>
            <a:off x="7360920" y="2322576"/>
            <a:ext cx="100584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2" name="t192"/>
          <p:cNvSpPr txBox="1"/>
          <p:nvPr/>
        </p:nvSpPr>
        <p:spPr>
          <a:xfrm>
            <a:off x="7434072" y="2414016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Smith</a:t>
            </a:r>
          </a:p>
        </p:txBody>
      </p:sp>
      <p:sp>
        <p:nvSpPr>
          <p:cNvPr id="193" name="r193"/>
          <p:cNvSpPr/>
          <p:nvPr/>
        </p:nvSpPr>
        <p:spPr>
          <a:xfrm>
            <a:off x="8366760" y="2322576"/>
            <a:ext cx="137160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4" name="t194"/>
          <p:cNvSpPr txBox="1"/>
          <p:nvPr/>
        </p:nvSpPr>
        <p:spPr>
          <a:xfrm>
            <a:off x="8439912" y="2414016"/>
            <a:ext cx="12618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Guesthouse</a:t>
            </a:r>
          </a:p>
        </p:txBody>
      </p:sp>
      <p:sp>
        <p:nvSpPr>
          <p:cNvPr id="195" name="r195"/>
          <p:cNvSpPr/>
          <p:nvPr/>
        </p:nvSpPr>
        <p:spPr>
          <a:xfrm>
            <a:off x="6355080" y="1627632"/>
            <a:ext cx="3383280" cy="1042416"/>
          </a:xfrm>
          <a:prstGeom prst="rect">
            <a:avLst/>
          </a:prstGeom>
          <a:noFill/>
          <a:ln w="1016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6" name="t196"/>
          <p:cNvSpPr txBox="1"/>
          <p:nvPr/>
        </p:nvSpPr>
        <p:spPr>
          <a:xfrm>
            <a:off x="6355080" y="2743200"/>
            <a:ext cx="338328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tourists</a:t>
            </a:r>
          </a:p>
        </p:txBody>
      </p:sp>
      <p:sp>
        <p:nvSpPr>
          <p:cNvPr id="197" name="r197"/>
          <p:cNvSpPr/>
          <p:nvPr/>
        </p:nvSpPr>
        <p:spPr>
          <a:xfrm>
            <a:off x="6862572" y="3054096"/>
            <a:ext cx="36576" cy="347472"/>
          </a:xfrm>
          <a:prstGeom prst="rect">
            <a:avLst/>
          </a:prstGeom>
          <a:solidFill>
            <a:srgbClr val="00C9A7"/>
          </a:solidFill>
          <a:ln w="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8" name="r198"/>
          <p:cNvSpPr/>
          <p:nvPr/>
        </p:nvSpPr>
        <p:spPr>
          <a:xfrm>
            <a:off x="6862572" y="3401568"/>
            <a:ext cx="2368296" cy="36576"/>
          </a:xfrm>
          <a:prstGeom prst="rect">
            <a:avLst/>
          </a:prstGeom>
          <a:solidFill>
            <a:srgbClr val="00C9A7"/>
          </a:solidFill>
          <a:ln w="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9" name="r199"/>
          <p:cNvSpPr/>
          <p:nvPr/>
        </p:nvSpPr>
        <p:spPr>
          <a:xfrm>
            <a:off x="9194292" y="3401568"/>
            <a:ext cx="36576" cy="384048"/>
          </a:xfrm>
          <a:prstGeom prst="rect">
            <a:avLst/>
          </a:prstGeom>
          <a:solidFill>
            <a:srgbClr val="00C9A7"/>
          </a:solidFill>
          <a:ln w="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0" name="t200"/>
          <p:cNvSpPr txBox="1"/>
          <p:nvPr/>
        </p:nvSpPr>
        <p:spPr>
          <a:xfrm>
            <a:off x="7200900" y="3108960"/>
            <a:ext cx="22860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tourist_id  (FK)</a:t>
            </a:r>
          </a:p>
        </p:txBody>
      </p:sp>
      <p:sp>
        <p:nvSpPr>
          <p:cNvPr id="201" name="r201"/>
          <p:cNvSpPr/>
          <p:nvPr/>
        </p:nvSpPr>
        <p:spPr>
          <a:xfrm>
            <a:off x="6355080" y="3858768"/>
            <a:ext cx="100584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4FC3F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2" name="t202"/>
          <p:cNvSpPr txBox="1"/>
          <p:nvPr/>
        </p:nvSpPr>
        <p:spPr>
          <a:xfrm>
            <a:off x="6428232" y="3950207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visit_id</a:t>
            </a:r>
          </a:p>
        </p:txBody>
      </p:sp>
      <p:sp>
        <p:nvSpPr>
          <p:cNvPr id="203" name="r203"/>
          <p:cNvSpPr/>
          <p:nvPr/>
        </p:nvSpPr>
        <p:spPr>
          <a:xfrm>
            <a:off x="7360920" y="3858768"/>
            <a:ext cx="91440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4FC3F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4" name="t204"/>
          <p:cNvSpPr txBox="1"/>
          <p:nvPr/>
        </p:nvSpPr>
        <p:spPr>
          <a:xfrm>
            <a:off x="7434072" y="3950207"/>
            <a:ext cx="8046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tourist_id</a:t>
            </a:r>
          </a:p>
        </p:txBody>
      </p:sp>
      <p:sp>
        <p:nvSpPr>
          <p:cNvPr id="205" name="r205"/>
          <p:cNvSpPr/>
          <p:nvPr/>
        </p:nvSpPr>
        <p:spPr>
          <a:xfrm>
            <a:off x="8275320" y="3858768"/>
            <a:ext cx="91440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4FC3F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6" name="t206"/>
          <p:cNvSpPr txBox="1"/>
          <p:nvPr/>
        </p:nvSpPr>
        <p:spPr>
          <a:xfrm>
            <a:off x="8348472" y="3950207"/>
            <a:ext cx="8046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destination_id</a:t>
            </a:r>
          </a:p>
        </p:txBody>
      </p:sp>
      <p:sp>
        <p:nvSpPr>
          <p:cNvPr id="207" name="r207"/>
          <p:cNvSpPr/>
          <p:nvPr/>
        </p:nvSpPr>
        <p:spPr>
          <a:xfrm>
            <a:off x="9189720" y="3858768"/>
            <a:ext cx="64008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4FC3F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8" name="t208"/>
          <p:cNvSpPr txBox="1"/>
          <p:nvPr/>
        </p:nvSpPr>
        <p:spPr>
          <a:xfrm>
            <a:off x="9262872" y="3950207"/>
            <a:ext cx="5303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spending</a:t>
            </a:r>
          </a:p>
        </p:txBody>
      </p:sp>
      <p:sp>
        <p:nvSpPr>
          <p:cNvPr id="209" name="r209"/>
          <p:cNvSpPr/>
          <p:nvPr/>
        </p:nvSpPr>
        <p:spPr>
          <a:xfrm>
            <a:off x="6355080" y="4206240"/>
            <a:ext cx="100584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0" name="t210"/>
          <p:cNvSpPr txBox="1"/>
          <p:nvPr/>
        </p:nvSpPr>
        <p:spPr>
          <a:xfrm>
            <a:off x="6428232" y="4297679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V001</a:t>
            </a:r>
          </a:p>
        </p:txBody>
      </p:sp>
      <p:sp>
        <p:nvSpPr>
          <p:cNvPr id="211" name="r211"/>
          <p:cNvSpPr/>
          <p:nvPr/>
        </p:nvSpPr>
        <p:spPr>
          <a:xfrm>
            <a:off x="7360920" y="4206240"/>
            <a:ext cx="91440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2" name="t212"/>
          <p:cNvSpPr txBox="1"/>
          <p:nvPr/>
        </p:nvSpPr>
        <p:spPr>
          <a:xfrm>
            <a:off x="7434072" y="4297679"/>
            <a:ext cx="8046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T001</a:t>
            </a:r>
          </a:p>
        </p:txBody>
      </p:sp>
      <p:sp>
        <p:nvSpPr>
          <p:cNvPr id="213" name="r213"/>
          <p:cNvSpPr/>
          <p:nvPr/>
        </p:nvSpPr>
        <p:spPr>
          <a:xfrm>
            <a:off x="8275320" y="4206240"/>
            <a:ext cx="91440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4" name="t214"/>
          <p:cNvSpPr txBox="1"/>
          <p:nvPr/>
        </p:nvSpPr>
        <p:spPr>
          <a:xfrm>
            <a:off x="8348472" y="4297679"/>
            <a:ext cx="8046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D01</a:t>
            </a:r>
          </a:p>
        </p:txBody>
      </p:sp>
      <p:sp>
        <p:nvSpPr>
          <p:cNvPr id="215" name="r215"/>
          <p:cNvSpPr/>
          <p:nvPr/>
        </p:nvSpPr>
        <p:spPr>
          <a:xfrm>
            <a:off x="9189720" y="4206240"/>
            <a:ext cx="64008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6" name="t216"/>
          <p:cNvSpPr txBox="1"/>
          <p:nvPr/>
        </p:nvSpPr>
        <p:spPr>
          <a:xfrm>
            <a:off x="9262872" y="4297679"/>
            <a:ext cx="5303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15,000</a:t>
            </a:r>
          </a:p>
        </p:txBody>
      </p:sp>
      <p:sp>
        <p:nvSpPr>
          <p:cNvPr id="217" name="r217"/>
          <p:cNvSpPr/>
          <p:nvPr/>
        </p:nvSpPr>
        <p:spPr>
          <a:xfrm>
            <a:off x="6355080" y="4553712"/>
            <a:ext cx="100584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8" name="t218"/>
          <p:cNvSpPr txBox="1"/>
          <p:nvPr/>
        </p:nvSpPr>
        <p:spPr>
          <a:xfrm>
            <a:off x="6428232" y="4645151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V002</a:t>
            </a:r>
          </a:p>
        </p:txBody>
      </p:sp>
      <p:sp>
        <p:nvSpPr>
          <p:cNvPr id="219" name="r219"/>
          <p:cNvSpPr/>
          <p:nvPr/>
        </p:nvSpPr>
        <p:spPr>
          <a:xfrm>
            <a:off x="7360920" y="4553712"/>
            <a:ext cx="91440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0" name="t220"/>
          <p:cNvSpPr txBox="1"/>
          <p:nvPr/>
        </p:nvSpPr>
        <p:spPr>
          <a:xfrm>
            <a:off x="7434072" y="4645151"/>
            <a:ext cx="8046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T001</a:t>
            </a:r>
          </a:p>
        </p:txBody>
      </p:sp>
      <p:sp>
        <p:nvSpPr>
          <p:cNvPr id="221" name="r221"/>
          <p:cNvSpPr/>
          <p:nvPr/>
        </p:nvSpPr>
        <p:spPr>
          <a:xfrm>
            <a:off x="8275320" y="4553712"/>
            <a:ext cx="91440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2" name="t222"/>
          <p:cNvSpPr txBox="1"/>
          <p:nvPr/>
        </p:nvSpPr>
        <p:spPr>
          <a:xfrm>
            <a:off x="8348472" y="4645151"/>
            <a:ext cx="8046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D02</a:t>
            </a:r>
          </a:p>
        </p:txBody>
      </p:sp>
      <p:sp>
        <p:nvSpPr>
          <p:cNvPr id="223" name="r223"/>
          <p:cNvSpPr/>
          <p:nvPr/>
        </p:nvSpPr>
        <p:spPr>
          <a:xfrm>
            <a:off x="9189720" y="4553712"/>
            <a:ext cx="64008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4" name="t224"/>
          <p:cNvSpPr txBox="1"/>
          <p:nvPr/>
        </p:nvSpPr>
        <p:spPr>
          <a:xfrm>
            <a:off x="9262872" y="4645151"/>
            <a:ext cx="5303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22,000</a:t>
            </a:r>
          </a:p>
        </p:txBody>
      </p:sp>
      <p:sp>
        <p:nvSpPr>
          <p:cNvPr id="225" name="r225"/>
          <p:cNvSpPr/>
          <p:nvPr/>
        </p:nvSpPr>
        <p:spPr>
          <a:xfrm>
            <a:off x="6355080" y="4901183"/>
            <a:ext cx="100584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6" name="t226"/>
          <p:cNvSpPr txBox="1"/>
          <p:nvPr/>
        </p:nvSpPr>
        <p:spPr>
          <a:xfrm>
            <a:off x="6428232" y="4992623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V003</a:t>
            </a:r>
          </a:p>
        </p:txBody>
      </p:sp>
      <p:sp>
        <p:nvSpPr>
          <p:cNvPr id="227" name="r227"/>
          <p:cNvSpPr/>
          <p:nvPr/>
        </p:nvSpPr>
        <p:spPr>
          <a:xfrm>
            <a:off x="7360920" y="4901183"/>
            <a:ext cx="91440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8" name="t228"/>
          <p:cNvSpPr txBox="1"/>
          <p:nvPr/>
        </p:nvSpPr>
        <p:spPr>
          <a:xfrm>
            <a:off x="7434072" y="4992623"/>
            <a:ext cx="8046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T002</a:t>
            </a:r>
          </a:p>
        </p:txBody>
      </p:sp>
      <p:sp>
        <p:nvSpPr>
          <p:cNvPr id="229" name="r229"/>
          <p:cNvSpPr/>
          <p:nvPr/>
        </p:nvSpPr>
        <p:spPr>
          <a:xfrm>
            <a:off x="8275320" y="4901183"/>
            <a:ext cx="91440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0" name="t230"/>
          <p:cNvSpPr txBox="1"/>
          <p:nvPr/>
        </p:nvSpPr>
        <p:spPr>
          <a:xfrm>
            <a:off x="8348472" y="4992623"/>
            <a:ext cx="8046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D01</a:t>
            </a:r>
          </a:p>
        </p:txBody>
      </p:sp>
      <p:sp>
        <p:nvSpPr>
          <p:cNvPr id="231" name="r231"/>
          <p:cNvSpPr/>
          <p:nvPr/>
        </p:nvSpPr>
        <p:spPr>
          <a:xfrm>
            <a:off x="9189720" y="4901183"/>
            <a:ext cx="64008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2" name="t232"/>
          <p:cNvSpPr txBox="1"/>
          <p:nvPr/>
        </p:nvSpPr>
        <p:spPr>
          <a:xfrm>
            <a:off x="9262872" y="4992623"/>
            <a:ext cx="5303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18,500</a:t>
            </a:r>
          </a:p>
        </p:txBody>
      </p:sp>
      <p:sp>
        <p:nvSpPr>
          <p:cNvPr id="233" name="r233"/>
          <p:cNvSpPr/>
          <p:nvPr/>
        </p:nvSpPr>
        <p:spPr>
          <a:xfrm>
            <a:off x="6355080" y="3858768"/>
            <a:ext cx="3474720" cy="1389888"/>
          </a:xfrm>
          <a:prstGeom prst="rect">
            <a:avLst/>
          </a:prstGeom>
          <a:noFill/>
          <a:ln w="10160">
            <a:solidFill>
              <a:srgbClr val="4FC3F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4" name="t234"/>
          <p:cNvSpPr txBox="1"/>
          <p:nvPr/>
        </p:nvSpPr>
        <p:spPr>
          <a:xfrm>
            <a:off x="6355080" y="5321808"/>
            <a:ext cx="347472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visits</a:t>
            </a:r>
          </a:p>
        </p:txBody>
      </p:sp>
      <p:sp>
        <p:nvSpPr>
          <p:cNvPr id="235" name="r235"/>
          <p:cNvSpPr/>
          <p:nvPr/>
        </p:nvSpPr>
        <p:spPr>
          <a:xfrm>
            <a:off x="6355080" y="5596128"/>
            <a:ext cx="5577840" cy="475488"/>
          </a:xfrm>
          <a:prstGeom prst="rect">
            <a:avLst/>
          </a:prstGeom>
          <a:solidFill>
            <a:srgbClr val="0F2235"/>
          </a:solidFill>
          <a:ln w="1016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6" name="t236"/>
          <p:cNvSpPr txBox="1"/>
          <p:nvPr/>
        </p:nvSpPr>
        <p:spPr>
          <a:xfrm>
            <a:off x="6537960" y="5650992"/>
            <a:ext cx="5303520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Accommodation stored once.</a:t>
            </a:r>
          </a:p>
        </p:txBody>
      </p:sp>
      <p:sp>
        <p:nvSpPr>
          <p:cNvPr id="237" name="t237"/>
          <p:cNvSpPr txBox="1"/>
          <p:nvPr/>
        </p:nvSpPr>
        <p:spPr>
          <a:xfrm>
            <a:off x="6537960" y="5843016"/>
            <a:ext cx="5303520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1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Reclassify it? Update 1 row. Done.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DATABASES &amp; DATA STRUCTURE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Real Data is Organized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Text 3"/>
          <p:cNvSpPr txBox="1"/>
          <p:nvPr/>
        </p:nvSpPr>
        <p:spPr>
          <a:xfrm>
            <a:off x="457200" y="1389888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A PSA-style household survey database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874520"/>
            <a:ext cx="3474720" cy="384048"/>
          </a:xfrm>
          <a:prstGeom prst="rect">
            <a:avLst/>
          </a:prstGeom>
          <a:solidFill>
            <a:srgbClr val="0F2A3F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" name="Text 5"/>
          <p:cNvSpPr txBox="1"/>
          <p:nvPr/>
        </p:nvSpPr>
        <p:spPr>
          <a:xfrm>
            <a:off x="548640" y="1929384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households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258568"/>
            <a:ext cx="3474720" cy="310896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" name="Text 7"/>
          <p:cNvSpPr txBox="1"/>
          <p:nvPr/>
        </p:nvSpPr>
        <p:spPr>
          <a:xfrm>
            <a:off x="548640" y="2304288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household_id  🔑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569464"/>
            <a:ext cx="3474720" cy="310896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" name="Text 9"/>
          <p:cNvSpPr txBox="1"/>
          <p:nvPr/>
        </p:nvSpPr>
        <p:spPr>
          <a:xfrm>
            <a:off x="548640" y="2615184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880360"/>
            <a:ext cx="3474720" cy="310896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" name="Text 11"/>
          <p:cNvSpPr txBox="1"/>
          <p:nvPr/>
        </p:nvSpPr>
        <p:spPr>
          <a:xfrm>
            <a:off x="548640" y="2926080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barangay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191256"/>
            <a:ext cx="3474720" cy="310896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" name="Text 13"/>
          <p:cNvSpPr txBox="1"/>
          <p:nvPr/>
        </p:nvSpPr>
        <p:spPr>
          <a:xfrm>
            <a:off x="548640" y="3236976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income_bracket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1874520"/>
            <a:ext cx="3474720" cy="1627632"/>
          </a:xfrm>
          <a:prstGeom prst="rect">
            <a:avLst/>
          </a:prstGeom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" name="Shape 15"/>
          <p:cNvSpPr/>
          <p:nvPr/>
        </p:nvSpPr>
        <p:spPr>
          <a:xfrm>
            <a:off x="4206240" y="1874520"/>
            <a:ext cx="3474720" cy="384048"/>
          </a:xfrm>
          <a:prstGeom prst="rect">
            <a:avLst/>
          </a:prstGeom>
          <a:solidFill>
            <a:srgbClr val="0F2A3F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Text 16"/>
          <p:cNvSpPr txBox="1"/>
          <p:nvPr/>
        </p:nvSpPr>
        <p:spPr>
          <a:xfrm>
            <a:off x="4297680" y="1929384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members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206240" y="2258568"/>
            <a:ext cx="3474720" cy="310896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" name="Text 18"/>
          <p:cNvSpPr txBox="1"/>
          <p:nvPr/>
        </p:nvSpPr>
        <p:spPr>
          <a:xfrm>
            <a:off x="4297680" y="2304288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member_id  🔑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206240" y="2569464"/>
            <a:ext cx="3474720" cy="310896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" name="Text 20"/>
          <p:cNvSpPr txBox="1"/>
          <p:nvPr/>
        </p:nvSpPr>
        <p:spPr>
          <a:xfrm>
            <a:off x="4297680" y="2615184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household_id  🔗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206240" y="2880360"/>
            <a:ext cx="3474720" cy="310896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" name="Text 22"/>
          <p:cNvSpPr txBox="1"/>
          <p:nvPr/>
        </p:nvSpPr>
        <p:spPr>
          <a:xfrm>
            <a:off x="4297680" y="2926080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06240" y="3191256"/>
            <a:ext cx="3474720" cy="310896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" name="Text 24"/>
          <p:cNvSpPr txBox="1"/>
          <p:nvPr/>
        </p:nvSpPr>
        <p:spPr>
          <a:xfrm>
            <a:off x="4297680" y="3236976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education_level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206240" y="1874520"/>
            <a:ext cx="3474720" cy="1627632"/>
          </a:xfrm>
          <a:prstGeom prst="rect">
            <a:avLst/>
          </a:prstGeom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" name="Shape 26"/>
          <p:cNvSpPr/>
          <p:nvPr/>
        </p:nvSpPr>
        <p:spPr>
          <a:xfrm>
            <a:off x="7955280" y="1874520"/>
            <a:ext cx="3474720" cy="384048"/>
          </a:xfrm>
          <a:prstGeom prst="rect">
            <a:avLst/>
          </a:prstGeom>
          <a:solidFill>
            <a:srgbClr val="0F2A3F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" name="Text 27"/>
          <p:cNvSpPr txBox="1"/>
          <p:nvPr/>
        </p:nvSpPr>
        <p:spPr>
          <a:xfrm>
            <a:off x="8046720" y="1929384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employment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955280" y="2258568"/>
            <a:ext cx="3474720" cy="310896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1" name="Text 29"/>
          <p:cNvSpPr txBox="1"/>
          <p:nvPr/>
        </p:nvSpPr>
        <p:spPr>
          <a:xfrm>
            <a:off x="8046720" y="2304288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member_id  🔗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955280" y="2569464"/>
            <a:ext cx="3474720" cy="310896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3" name="Text 31"/>
          <p:cNvSpPr txBox="1"/>
          <p:nvPr/>
        </p:nvSpPr>
        <p:spPr>
          <a:xfrm>
            <a:off x="8046720" y="2615184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employment_status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955280" y="2880360"/>
            <a:ext cx="3474720" cy="310896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5" name="Text 33"/>
          <p:cNvSpPr txBox="1"/>
          <p:nvPr/>
        </p:nvSpPr>
        <p:spPr>
          <a:xfrm>
            <a:off x="8046720" y="2926080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occupation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955280" y="3191256"/>
            <a:ext cx="3474720" cy="310896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7" name="Text 35"/>
          <p:cNvSpPr txBox="1"/>
          <p:nvPr/>
        </p:nvSpPr>
        <p:spPr>
          <a:xfrm>
            <a:off x="8046720" y="3236976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wage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955280" y="1874520"/>
            <a:ext cx="3474720" cy="1627632"/>
          </a:xfrm>
          <a:prstGeom prst="rect">
            <a:avLst/>
          </a:prstGeom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9" name="Shape 37"/>
          <p:cNvSpPr/>
          <p:nvPr/>
        </p:nvSpPr>
        <p:spPr>
          <a:xfrm>
            <a:off x="4041648" y="2807208"/>
            <a:ext cx="164592" cy="9144"/>
          </a:xfrm>
          <a:prstGeom prst="line">
            <a:avLst/>
          </a:prstGeom>
          <a:noFill/>
          <a:ln w="2540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40" name="Shape 38"/>
          <p:cNvSpPr/>
          <p:nvPr/>
        </p:nvSpPr>
        <p:spPr>
          <a:xfrm>
            <a:off x="7790688" y="2807208"/>
            <a:ext cx="164592" cy="9144"/>
          </a:xfrm>
          <a:prstGeom prst="line">
            <a:avLst/>
          </a:prstGeom>
          <a:noFill/>
          <a:ln w="2540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41" name="Shape 39"/>
          <p:cNvSpPr/>
          <p:nvPr/>
        </p:nvSpPr>
        <p:spPr>
          <a:xfrm>
            <a:off x="457200" y="4617720"/>
            <a:ext cx="11247120" cy="47548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2" name="Text 40"/>
          <p:cNvSpPr txBox="1"/>
          <p:nvPr/>
        </p:nvSpPr>
        <p:spPr>
          <a:xfrm>
            <a:off x="640080" y="4690872"/>
            <a:ext cx="10789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flat file — data is split across tables by design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457200" y="5212080"/>
            <a:ext cx="11247120" cy="47548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4" name="Text 42"/>
          <p:cNvSpPr txBox="1"/>
          <p:nvPr/>
        </p:nvSpPr>
        <p:spPr>
          <a:xfrm>
            <a:off x="640080" y="5285232"/>
            <a:ext cx="10789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is how you pull it back together into what you need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457200" y="5806440"/>
            <a:ext cx="11247120" cy="47548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6" name="Text 44"/>
          <p:cNvSpPr txBox="1"/>
          <p:nvPr/>
        </p:nvSpPr>
        <p:spPr>
          <a:xfrm>
            <a:off x="640080" y="5879592"/>
            <a:ext cx="10789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Researcher asking "average wage by education per region" needs all three — that's a SQL JOIN</a:t>
            </a:r>
            <a:endParaRPr lang="en-US" sz="1300" dirty="0"/>
          </a:p>
        </p:txBody>
      </p:sp>
    </p:spTree>
  </p:cSld>
  <p:clrMapOvr>
    <a:masterClrMapping/>
  </p:clrMapOvr>
  <p:transition spd="slow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10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r10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r10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104"/>
          <p:cNvSpPr txBox="1"/>
          <p:nvPr/>
        </p:nvSpPr>
        <p:spPr>
          <a:xfrm>
            <a:off x="502920" y="2377440"/>
            <a:ext cx="11430000" cy="12801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/>
              </a:rPr>
              <a:t>SQL Fundamentals</a:t>
            </a:r>
          </a:p>
        </p:txBody>
      </p:sp>
      <p:sp>
        <p:nvSpPr>
          <p:cNvPr id="105" name="r105"/>
          <p:cNvSpPr/>
          <p:nvPr/>
        </p:nvSpPr>
        <p:spPr>
          <a:xfrm>
            <a:off x="502920" y="3584448"/>
            <a:ext cx="8686800" cy="6400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6" name="t106"/>
          <p:cNvSpPr txBox="1"/>
          <p:nvPr/>
        </p:nvSpPr>
        <p:spPr>
          <a:xfrm>
            <a:off x="521207" y="3767328"/>
            <a:ext cx="11430000" cy="3657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1400" b="0" dirty="0">
                <a:solidFill>
                  <a:srgbClr val="94A3B8"/>
                </a:solidFill>
                <a:latin typeface="Calibri"/>
              </a:rPr>
              <a:t>SELECT  ·  WHERE  ·  ORDER BY  ·  GROUP BY  ·  Aggregate functions</a:t>
            </a:r>
          </a:p>
        </p:txBody>
      </p:sp>
    </p:spTree>
  </p:cSld>
  <p:clrMapOvr>
    <a:masterClrMapping/>
  </p:clrMapOvr>
  <p:transition spd="med">
    <p:push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SQL FUNDAMENTALS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First Look at a SQL Query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Text 3"/>
          <p:cNvSpPr txBox="1"/>
          <p:nvPr/>
        </p:nvSpPr>
        <p:spPr>
          <a:xfrm>
            <a:off x="457200" y="135331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this before I explain anything: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6217920" cy="2331720"/>
          </a:xfrm>
          <a:prstGeom prst="rect">
            <a:avLst/>
          </a:prstGeom>
          <a:solidFill>
            <a:srgbClr val="0F2235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" name="Text 5"/>
          <p:cNvSpPr txBox="1"/>
          <p:nvPr/>
        </p:nvSpPr>
        <p:spPr>
          <a:xfrm>
            <a:off x="777240" y="1901952"/>
            <a:ext cx="5669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16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destination_name, region, category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377440"/>
            <a:ext cx="5669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6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destinations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852928"/>
            <a:ext cx="5669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lang="en-US" sz="16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category = 'Beach'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328416"/>
            <a:ext cx="5669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r>
              <a:rPr lang="en-US" sz="16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destination_name ASC;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748272" y="2852928"/>
            <a:ext cx="502920" cy="9144"/>
          </a:xfrm>
          <a:prstGeom prst="line">
            <a:avLst/>
          </a:prstGeom>
          <a:noFill/>
          <a:ln w="2540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 10"/>
          <p:cNvSpPr txBox="1"/>
          <p:nvPr/>
        </p:nvSpPr>
        <p:spPr>
          <a:xfrm>
            <a:off x="6601968" y="2596896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7406640" y="1353312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result: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406640" y="1719072"/>
            <a:ext cx="1371600" cy="347472"/>
          </a:xfrm>
          <a:prstGeom prst="rect">
            <a:avLst/>
          </a:prstGeom>
          <a:solidFill>
            <a:srgbClr val="0F2A3F"/>
          </a:solidFill>
          <a:ln w="762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" name="Text 13"/>
          <p:cNvSpPr txBox="1"/>
          <p:nvPr/>
        </p:nvSpPr>
        <p:spPr>
          <a:xfrm>
            <a:off x="7452360" y="1783080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destination_name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778240" y="1719072"/>
            <a:ext cx="1280160" cy="347472"/>
          </a:xfrm>
          <a:prstGeom prst="rect">
            <a:avLst/>
          </a:prstGeom>
          <a:solidFill>
            <a:srgbClr val="0F2A3F"/>
          </a:solidFill>
          <a:ln w="762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" name="Text 15"/>
          <p:cNvSpPr txBox="1"/>
          <p:nvPr/>
        </p:nvSpPr>
        <p:spPr>
          <a:xfrm>
            <a:off x="8823960" y="1783080"/>
            <a:ext cx="1188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region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0058400" y="1719072"/>
            <a:ext cx="2011680" cy="347472"/>
          </a:xfrm>
          <a:prstGeom prst="rect">
            <a:avLst/>
          </a:prstGeom>
          <a:solidFill>
            <a:srgbClr val="0F2A3F"/>
          </a:solidFill>
          <a:ln w="762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" name="Text 17"/>
          <p:cNvSpPr txBox="1"/>
          <p:nvPr/>
        </p:nvSpPr>
        <p:spPr>
          <a:xfrm>
            <a:off x="10104120" y="1783080"/>
            <a:ext cx="1920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category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06640" y="2066544"/>
            <a:ext cx="137160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Text 19"/>
          <p:cNvSpPr txBox="1"/>
          <p:nvPr/>
        </p:nvSpPr>
        <p:spPr>
          <a:xfrm>
            <a:off x="7452360" y="2130552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Boracay Island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778240" y="2066544"/>
            <a:ext cx="128016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" name="Text 21"/>
          <p:cNvSpPr txBox="1"/>
          <p:nvPr/>
        </p:nvSpPr>
        <p:spPr>
          <a:xfrm>
            <a:off x="8823960" y="2130552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Western Visayas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0058400" y="2066544"/>
            <a:ext cx="201168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" name="Text 23"/>
          <p:cNvSpPr txBox="1"/>
          <p:nvPr/>
        </p:nvSpPr>
        <p:spPr>
          <a:xfrm>
            <a:off x="10104120" y="2130552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Beach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406640" y="2414016"/>
            <a:ext cx="137160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" name="Text 25"/>
          <p:cNvSpPr txBox="1"/>
          <p:nvPr/>
        </p:nvSpPr>
        <p:spPr>
          <a:xfrm>
            <a:off x="7452360" y="2478024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Panglao Island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778240" y="2414016"/>
            <a:ext cx="128016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" name="Text 27"/>
          <p:cNvSpPr txBox="1"/>
          <p:nvPr/>
        </p:nvSpPr>
        <p:spPr>
          <a:xfrm>
            <a:off x="8823960" y="2478024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Central Visayas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10058400" y="2414016"/>
            <a:ext cx="201168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1" name="Text 29"/>
          <p:cNvSpPr txBox="1"/>
          <p:nvPr/>
        </p:nvSpPr>
        <p:spPr>
          <a:xfrm>
            <a:off x="10104120" y="2478024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Beach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406640" y="2761488"/>
            <a:ext cx="137160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3" name="Text 31"/>
          <p:cNvSpPr txBox="1"/>
          <p:nvPr/>
        </p:nvSpPr>
        <p:spPr>
          <a:xfrm>
            <a:off x="7452360" y="2825496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Siargao Island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778240" y="2761488"/>
            <a:ext cx="128016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5" name="Text 33"/>
          <p:cNvSpPr txBox="1"/>
          <p:nvPr/>
        </p:nvSpPr>
        <p:spPr>
          <a:xfrm>
            <a:off x="8823960" y="2825496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Caraga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058400" y="2761488"/>
            <a:ext cx="201168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7" name="Text 35"/>
          <p:cNvSpPr txBox="1"/>
          <p:nvPr/>
        </p:nvSpPr>
        <p:spPr>
          <a:xfrm>
            <a:off x="10104120" y="2825496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Beach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406640" y="1719072"/>
            <a:ext cx="4663440" cy="1389888"/>
          </a:xfrm>
          <a:prstGeom prst="rect">
            <a:avLst/>
          </a:prstGeom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9" name="Shape 37"/>
          <p:cNvSpPr/>
          <p:nvPr/>
        </p:nvSpPr>
        <p:spPr>
          <a:xfrm>
            <a:off x="457200" y="4315968"/>
            <a:ext cx="11704320" cy="566928"/>
          </a:xfrm>
          <a:prstGeom prst="rect">
            <a:avLst/>
          </a:prstGeom>
          <a:solidFill>
            <a:srgbClr val="0A1E30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0" name="Text 38"/>
          <p:cNvSpPr txBox="1"/>
          <p:nvPr/>
        </p:nvSpPr>
        <p:spPr>
          <a:xfrm>
            <a:off x="640080" y="4425696"/>
            <a:ext cx="11338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if you've never seen SQL before — you can probably guess what this does just by reading it.</a:t>
            </a:r>
            <a:endParaRPr lang="en-US" sz="1400" dirty="0"/>
          </a:p>
        </p:txBody>
      </p:sp>
    </p:spTree>
  </p:cSld>
  <p:clrMapOvr>
    <a:masterClrMapping/>
  </p:clrMapOvr>
  <p:transition spd="slow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SQL FUNDAMENTALS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SQL Query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47120" cy="594360"/>
          </a:xfrm>
          <a:prstGeom prst="rect">
            <a:avLst/>
          </a:prstGeom>
          <a:solidFill>
            <a:srgbClr val="0F2235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594360" y="1499616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👁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15568" y="149961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200400" y="151790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columns do you want to see?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058400" y="1517904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(required)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103120"/>
            <a:ext cx="11247120" cy="594360"/>
          </a:xfrm>
          <a:prstGeom prst="rect">
            <a:avLst/>
          </a:prstGeom>
          <a:solidFill>
            <a:srgbClr val="0F2235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" name="Text 9"/>
          <p:cNvSpPr txBox="1"/>
          <p:nvPr/>
        </p:nvSpPr>
        <p:spPr>
          <a:xfrm>
            <a:off x="594360" y="2212848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🗃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" y="221284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200400" y="2231136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table are you getting data from?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0" y="2231136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(required)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816352"/>
            <a:ext cx="11247120" cy="59436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" name="Text 14"/>
          <p:cNvSpPr txBox="1"/>
          <p:nvPr/>
        </p:nvSpPr>
        <p:spPr>
          <a:xfrm>
            <a:off x="594360" y="2926080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🔍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" y="292608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200400" y="2944368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conditions must the data meet?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0" y="2944368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(optional)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529584"/>
            <a:ext cx="11247120" cy="59436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Text 19"/>
          <p:cNvSpPr txBox="1"/>
          <p:nvPr/>
        </p:nvSpPr>
        <p:spPr>
          <a:xfrm>
            <a:off x="594360" y="3639312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📊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" y="3639312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3200400" y="365760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want to aggregate?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0" y="3657600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(optional)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242816"/>
            <a:ext cx="11247120" cy="59436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" name="Text 24"/>
          <p:cNvSpPr txBox="1"/>
          <p:nvPr/>
        </p:nvSpPr>
        <p:spPr>
          <a:xfrm>
            <a:off x="594360" y="4352544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↕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115568" y="4352544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3200400" y="437083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should results be sorted?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0058400" y="4370832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(optional)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4956048"/>
            <a:ext cx="11247120" cy="59436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1" name="Text 29"/>
          <p:cNvSpPr txBox="1"/>
          <p:nvPr/>
        </p:nvSpPr>
        <p:spPr>
          <a:xfrm>
            <a:off x="594360" y="5065776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✂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1115568" y="506577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3200400" y="508406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rows do you want back?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058400" y="5084064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(optional)</a:t>
            </a:r>
            <a:endParaRPr lang="en-US" sz="1100" dirty="0"/>
          </a:p>
        </p:txBody>
      </p:sp>
    </p:spTree>
  </p:cSld>
  <p:clrMapOvr>
    <a:masterClrMapping/>
  </p:clrMapOvr>
  <p:transition spd="slow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SQL FUNDAMENTALS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and FROM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11247120" cy="141732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658368" y="1426464"/>
            <a:ext cx="1084478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destination_name, region FROM destinations;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 FROM destinations;   -- * means all columns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907792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" name="Text 6"/>
          <p:cNvSpPr txBox="1"/>
          <p:nvPr/>
        </p:nvSpPr>
        <p:spPr>
          <a:xfrm>
            <a:off x="594360" y="299923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3017520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tells SQL which columns to return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3593592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" name="Text 9"/>
          <p:cNvSpPr txBox="1"/>
          <p:nvPr/>
        </p:nvSpPr>
        <p:spPr>
          <a:xfrm>
            <a:off x="594360" y="368503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926080" y="3703320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tells SQL which table to look in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4279392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" name="Text 12"/>
          <p:cNvSpPr txBox="1"/>
          <p:nvPr/>
        </p:nvSpPr>
        <p:spPr>
          <a:xfrm>
            <a:off x="594360" y="437083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semicolon  ;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4389120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ends the query, like a period ends a sentence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4983480"/>
            <a:ext cx="11247120" cy="566928"/>
          </a:xfrm>
          <a:prstGeom prst="rect">
            <a:avLst/>
          </a:prstGeom>
          <a:solidFill>
            <a:srgbClr val="0A1E30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" name="Text 15"/>
          <p:cNvSpPr txBox="1"/>
          <p:nvPr/>
        </p:nvSpPr>
        <p:spPr>
          <a:xfrm>
            <a:off x="594360" y="5102352"/>
            <a:ext cx="411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💡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078992" y="5102352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SELECT * in real work — name your columns. Faster and clearer.</a:t>
            </a:r>
            <a:endParaRPr lang="en-US" sz="1300" dirty="0"/>
          </a:p>
        </p:txBody>
      </p:sp>
    </p:spTree>
  </p:cSld>
  <p:clrMapOvr>
    <a:masterClrMapping/>
  </p:clrMapOvr>
  <p:transition spd="slow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SQL FUNDAMENTALS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— Filtering Your Data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Text 3"/>
          <p:cNvSpPr txBox="1"/>
          <p:nvPr/>
        </p:nvSpPr>
        <p:spPr>
          <a:xfrm>
            <a:off x="8412480" y="128016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WHERE: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0" y="1554480"/>
            <a:ext cx="3566160" cy="292608"/>
          </a:xfrm>
          <a:prstGeom prst="rect">
            <a:avLst/>
          </a:prstGeom>
          <a:solidFill>
            <a:srgbClr val="0F2A3F"/>
          </a:solidFill>
          <a:ln w="508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" name="Text 5"/>
          <p:cNvSpPr txBox="1"/>
          <p:nvPr/>
        </p:nvSpPr>
        <p:spPr>
          <a:xfrm>
            <a:off x="8503920" y="1609344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category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241280" y="1609344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region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0" y="1847088"/>
            <a:ext cx="3566160" cy="246888"/>
          </a:xfrm>
          <a:prstGeom prst="rect">
            <a:avLst/>
          </a:prstGeom>
          <a:solidFill>
            <a:srgbClr val="0A1E14"/>
          </a:solidFill>
          <a:ln w="3810">
            <a:solidFill>
              <a:srgbClr val="1A403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" name="Text 8"/>
          <p:cNvSpPr txBox="1"/>
          <p:nvPr/>
        </p:nvSpPr>
        <p:spPr>
          <a:xfrm>
            <a:off x="8503920" y="1883664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9006840" y="1883664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Beach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412480" y="2121408"/>
            <a:ext cx="3566160" cy="246888"/>
          </a:xfrm>
          <a:prstGeom prst="rect">
            <a:avLst/>
          </a:prstGeom>
          <a:solidFill>
            <a:srgbClr val="100A0A"/>
          </a:solidFill>
          <a:ln w="3810">
            <a:solidFill>
              <a:srgbClr val="2A101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" name="Text 11"/>
          <p:cNvSpPr txBox="1"/>
          <p:nvPr/>
        </p:nvSpPr>
        <p:spPr>
          <a:xfrm>
            <a:off x="8503920" y="2157984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2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9006840" y="2157984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2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Heritage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412480" y="2395728"/>
            <a:ext cx="3566160" cy="246888"/>
          </a:xfrm>
          <a:prstGeom prst="rect">
            <a:avLst/>
          </a:prstGeom>
          <a:solidFill>
            <a:srgbClr val="0A1E14"/>
          </a:solidFill>
          <a:ln w="3810">
            <a:solidFill>
              <a:srgbClr val="1A403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" name="Text 14"/>
          <p:cNvSpPr txBox="1"/>
          <p:nvPr/>
        </p:nvSpPr>
        <p:spPr>
          <a:xfrm>
            <a:off x="8503920" y="2432304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9006840" y="2432304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Beach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8412480" y="2670048"/>
            <a:ext cx="3566160" cy="246888"/>
          </a:xfrm>
          <a:prstGeom prst="rect">
            <a:avLst/>
          </a:prstGeom>
          <a:solidFill>
            <a:srgbClr val="100A0A"/>
          </a:solidFill>
          <a:ln w="3810">
            <a:solidFill>
              <a:srgbClr val="2A101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" name="Text 17"/>
          <p:cNvSpPr txBox="1"/>
          <p:nvPr/>
        </p:nvSpPr>
        <p:spPr>
          <a:xfrm>
            <a:off x="8503920" y="2706624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2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9006840" y="2706624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2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Nature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412480" y="2944368"/>
            <a:ext cx="3566160" cy="246888"/>
          </a:xfrm>
          <a:prstGeom prst="rect">
            <a:avLst/>
          </a:prstGeom>
          <a:solidFill>
            <a:srgbClr val="0A1E14"/>
          </a:solidFill>
          <a:ln w="3810">
            <a:solidFill>
              <a:srgbClr val="1A403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" name="Text 20"/>
          <p:cNvSpPr txBox="1"/>
          <p:nvPr/>
        </p:nvSpPr>
        <p:spPr>
          <a:xfrm>
            <a:off x="8503920" y="2980944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9006840" y="2980944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Beach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9829800" y="3584448"/>
            <a:ext cx="9144" cy="256032"/>
          </a:xfrm>
          <a:prstGeom prst="line">
            <a:avLst/>
          </a:prstGeom>
          <a:noFill/>
          <a:ln w="1905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28" name="Shape 26"/>
          <p:cNvSpPr/>
          <p:nvPr/>
        </p:nvSpPr>
        <p:spPr>
          <a:xfrm>
            <a:off x="8686800" y="3858768"/>
            <a:ext cx="3017520" cy="256032"/>
          </a:xfrm>
          <a:prstGeom prst="rect">
            <a:avLst/>
          </a:prstGeom>
          <a:solidFill>
            <a:srgbClr val="0A1E30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" name="Text 27"/>
          <p:cNvSpPr txBox="1"/>
          <p:nvPr/>
        </p:nvSpPr>
        <p:spPr>
          <a:xfrm>
            <a:off x="8778240" y="3913632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category = 'Beach'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9829800" y="4133088"/>
            <a:ext cx="9144" cy="201168"/>
          </a:xfrm>
          <a:prstGeom prst="line">
            <a:avLst/>
          </a:prstGeom>
          <a:noFill/>
          <a:ln w="1905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31" name="Text 29"/>
          <p:cNvSpPr txBox="1"/>
          <p:nvPr/>
        </p:nvSpPr>
        <p:spPr>
          <a:xfrm>
            <a:off x="8412480" y="4370832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WHERE: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412480" y="4645152"/>
            <a:ext cx="3566160" cy="292608"/>
          </a:xfrm>
          <a:prstGeom prst="rect">
            <a:avLst/>
          </a:prstGeom>
          <a:solidFill>
            <a:srgbClr val="0F2A3F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3" name="Text 31"/>
          <p:cNvSpPr txBox="1"/>
          <p:nvPr/>
        </p:nvSpPr>
        <p:spPr>
          <a:xfrm>
            <a:off x="8503920" y="4700016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category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0241280" y="4700016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region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412480" y="4937760"/>
            <a:ext cx="3566160" cy="246888"/>
          </a:xfrm>
          <a:prstGeom prst="rect">
            <a:avLst/>
          </a:prstGeom>
          <a:solidFill>
            <a:srgbClr val="0A1E14"/>
          </a:solidFill>
          <a:ln w="381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6" name="Text 34"/>
          <p:cNvSpPr txBox="1"/>
          <p:nvPr/>
        </p:nvSpPr>
        <p:spPr>
          <a:xfrm>
            <a:off x="8503920" y="4974336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9006840" y="4974336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Beach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8412480" y="5212080"/>
            <a:ext cx="3566160" cy="246888"/>
          </a:xfrm>
          <a:prstGeom prst="rect">
            <a:avLst/>
          </a:prstGeom>
          <a:solidFill>
            <a:srgbClr val="0F2235"/>
          </a:solidFill>
          <a:ln w="381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9" name="Text 37"/>
          <p:cNvSpPr txBox="1"/>
          <p:nvPr/>
        </p:nvSpPr>
        <p:spPr>
          <a:xfrm>
            <a:off x="8503920" y="5248656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9006840" y="5248656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Beach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8412480" y="5486400"/>
            <a:ext cx="3566160" cy="246888"/>
          </a:xfrm>
          <a:prstGeom prst="rect">
            <a:avLst/>
          </a:prstGeom>
          <a:solidFill>
            <a:srgbClr val="0A1E14"/>
          </a:solidFill>
          <a:ln w="381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2" name="Text 40"/>
          <p:cNvSpPr txBox="1"/>
          <p:nvPr/>
        </p:nvSpPr>
        <p:spPr>
          <a:xfrm>
            <a:off x="8503920" y="5522976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9006840" y="5522976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Beach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7200" y="1280160"/>
            <a:ext cx="7909560" cy="214884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5" name="Text 43"/>
          <p:cNvSpPr txBox="1"/>
          <p:nvPr/>
        </p:nvSpPr>
        <p:spPr>
          <a:xfrm>
            <a:off x="658368" y="1426464"/>
            <a:ext cx="7644384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 FROM destinations WHERE category = 'Beach';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 FROM destinations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WHERE category = 'Beach'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region = ‘NCR';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457200" y="345643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operators: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457200" y="3767328"/>
            <a:ext cx="374904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8" name="Text 46"/>
          <p:cNvSpPr txBox="1"/>
          <p:nvPr/>
        </p:nvSpPr>
        <p:spPr>
          <a:xfrm>
            <a:off x="566928" y="3858768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 !=  &gt;  &lt;  &gt;=  &lt;=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3200400" y="3886200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4617720" y="3767328"/>
            <a:ext cx="374904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1" name="Text 49"/>
          <p:cNvSpPr txBox="1"/>
          <p:nvPr/>
        </p:nvSpPr>
        <p:spPr>
          <a:xfrm>
            <a:off x="4727448" y="3858768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 OR  NOT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7360920" y="3886200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4425696"/>
            <a:ext cx="374904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4" name="Text 52"/>
          <p:cNvSpPr txBox="1"/>
          <p:nvPr/>
        </p:nvSpPr>
        <p:spPr>
          <a:xfrm>
            <a:off x="566928" y="4517136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LIKE '%stat%'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3200400" y="4544568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617720" y="4425696"/>
            <a:ext cx="374904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7" name="Text 55"/>
          <p:cNvSpPr txBox="1"/>
          <p:nvPr/>
        </p:nvSpPr>
        <p:spPr>
          <a:xfrm>
            <a:off x="4727448" y="4517136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('A','B')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7360920" y="4544568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</a:t>
            </a:r>
            <a:endParaRPr lang="en-US" sz="1000" dirty="0"/>
          </a:p>
        </p:txBody>
      </p:sp>
      <p:sp>
        <p:nvSpPr>
          <p:cNvPr id="60" name="Shape 16">
            <a:extLst>
              <a:ext uri="{FF2B5EF4-FFF2-40B4-BE49-F238E27FC236}">
                <a16:creationId xmlns:a16="http://schemas.microsoft.com/office/drawing/2014/main" id="{0D246D71-96DD-42D1-D4A0-7821D0BBDE6B}"/>
              </a:ext>
            </a:extLst>
          </p:cNvPr>
          <p:cNvSpPr/>
          <p:nvPr/>
        </p:nvSpPr>
        <p:spPr>
          <a:xfrm>
            <a:off x="8412480" y="3211731"/>
            <a:ext cx="3566160" cy="246888"/>
          </a:xfrm>
          <a:prstGeom prst="rect">
            <a:avLst/>
          </a:prstGeom>
          <a:solidFill>
            <a:srgbClr val="100A0A"/>
          </a:solidFill>
          <a:ln w="3810">
            <a:solidFill>
              <a:srgbClr val="2A101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2" name="Text 11">
            <a:extLst>
              <a:ext uri="{FF2B5EF4-FFF2-40B4-BE49-F238E27FC236}">
                <a16:creationId xmlns:a16="http://schemas.microsoft.com/office/drawing/2014/main" id="{0497BD2E-252E-1C6D-F885-DC188301CD3C}"/>
              </a:ext>
            </a:extLst>
          </p:cNvPr>
          <p:cNvSpPr txBox="1"/>
          <p:nvPr/>
        </p:nvSpPr>
        <p:spPr>
          <a:xfrm>
            <a:off x="8513859" y="3245457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2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00" dirty="0"/>
          </a:p>
        </p:txBody>
      </p:sp>
      <p:sp>
        <p:nvSpPr>
          <p:cNvPr id="64" name="Text 12">
            <a:extLst>
              <a:ext uri="{FF2B5EF4-FFF2-40B4-BE49-F238E27FC236}">
                <a16:creationId xmlns:a16="http://schemas.microsoft.com/office/drawing/2014/main" id="{C355A00C-A878-E4CE-1DE5-EE25F39473B2}"/>
              </a:ext>
            </a:extLst>
          </p:cNvPr>
          <p:cNvSpPr txBox="1"/>
          <p:nvPr/>
        </p:nvSpPr>
        <p:spPr>
          <a:xfrm>
            <a:off x="9006840" y="3245325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2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Beach</a:t>
            </a:r>
            <a:endParaRPr lang="en-US" sz="900" dirty="0"/>
          </a:p>
        </p:txBody>
      </p:sp>
    </p:spTree>
  </p:cSld>
  <p:clrMapOvr>
    <a:masterClrMapping/>
  </p:clrMapOvr>
  <p:transition spd="slow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SQL FUNDAMENTALS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BY and LIMIT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7498080" cy="251460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658368" y="1426464"/>
            <a:ext cx="7370064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destination_name, spending_php FROM visits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ORDER BY spending_php DESC;   -- highest first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destination_name, spending_php FROM visits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ORDER BY spending_php DESC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LIMIT 10;            -- top 10 only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686800" y="1417320"/>
            <a:ext cx="1188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dirty="0">
                <a:solidFill>
                  <a:srgbClr val="000000"/>
                </a:solidFill>
              </a:rPr>
              <a:t>🏆</a:t>
            </a:r>
            <a:endParaRPr lang="en-US" sz="4200" dirty="0"/>
          </a:p>
        </p:txBody>
      </p:sp>
      <p:sp>
        <p:nvSpPr>
          <p:cNvPr id="8" name="Shape 6"/>
          <p:cNvSpPr/>
          <p:nvPr/>
        </p:nvSpPr>
        <p:spPr>
          <a:xfrm>
            <a:off x="8503920" y="2395728"/>
            <a:ext cx="3383280" cy="420624"/>
          </a:xfrm>
          <a:prstGeom prst="rect">
            <a:avLst/>
          </a:prstGeom>
          <a:solidFill>
            <a:srgbClr val="0F2A3F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" name="Text 7"/>
          <p:cNvSpPr txBox="1"/>
          <p:nvPr/>
        </p:nvSpPr>
        <p:spPr>
          <a:xfrm>
            <a:off x="8613648" y="24688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006840" y="246888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Nido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0442448" y="2468880"/>
            <a:ext cx="12984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24,999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503920" y="2898648"/>
            <a:ext cx="3383280" cy="420624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" name="Text 11"/>
          <p:cNvSpPr txBox="1"/>
          <p:nvPr/>
        </p:nvSpPr>
        <p:spPr>
          <a:xfrm>
            <a:off x="8613648" y="2971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006840" y="29718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Boracay Island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0442448" y="2971800"/>
            <a:ext cx="12984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22,800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503920" y="3401568"/>
            <a:ext cx="3383280" cy="420624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" name="Text 15"/>
          <p:cNvSpPr txBox="1"/>
          <p:nvPr/>
        </p:nvSpPr>
        <p:spPr>
          <a:xfrm>
            <a:off x="8613648" y="34747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006840" y="34747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Siargao Island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0442448" y="3474720"/>
            <a:ext cx="12984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21,500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913632"/>
            <a:ext cx="749808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Text 19"/>
          <p:cNvSpPr txBox="1"/>
          <p:nvPr/>
        </p:nvSpPr>
        <p:spPr>
          <a:xfrm>
            <a:off x="594360" y="4005072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ASC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783080" y="4014216"/>
            <a:ext cx="5989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ascending (lowest → highest, the default)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4572000"/>
            <a:ext cx="749808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" name="Text 22"/>
          <p:cNvSpPr txBox="1"/>
          <p:nvPr/>
        </p:nvSpPr>
        <p:spPr>
          <a:xfrm>
            <a:off x="594360" y="466344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783080" y="4672584"/>
            <a:ext cx="5989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descending (highest → lowest)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57200" y="5230368"/>
            <a:ext cx="749808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" name="Text 25"/>
          <p:cNvSpPr txBox="1"/>
          <p:nvPr/>
        </p:nvSpPr>
        <p:spPr>
          <a:xfrm>
            <a:off x="594360" y="532180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783080" y="5330952"/>
            <a:ext cx="5989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controls how many rows come back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57200" y="5980176"/>
            <a:ext cx="11247120" cy="566928"/>
          </a:xfrm>
          <a:prstGeom prst="rect">
            <a:avLst/>
          </a:prstGeom>
          <a:solidFill>
            <a:srgbClr val="0A1E30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0" name="Text 28"/>
          <p:cNvSpPr txBox="1"/>
          <p:nvPr/>
        </p:nvSpPr>
        <p:spPr>
          <a:xfrm>
            <a:off x="640080" y="6089904"/>
            <a:ext cx="10881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what would you change to get the BOTTOM 10 instead?</a:t>
            </a:r>
            <a:endParaRPr lang="en-US" sz="1400" dirty="0"/>
          </a:p>
        </p:txBody>
      </p:sp>
    </p:spTree>
  </p:cSld>
  <p:clrMapOvr>
    <a:masterClrMapping/>
  </p:clrMapOvr>
  <p:transition spd="slow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30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SQL FUNDAMENTALS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COUNT, SUM, AVG, MIN, MAX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11247120" cy="324612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658368" y="1426464"/>
            <a:ext cx="10844784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COUNT(*) FROM tourists;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How many tourists total?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AVG(spending_php) FROM visits;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Average spending per visit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MIN(spending_php), MAX(spending_php) FROM visits;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Lowest and highest spending
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SUM(length_of_stay) FROM visits WHERE 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destination_id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1;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-- Total nights stayed at D01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4754880"/>
            <a:ext cx="2542032" cy="100584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457200" y="4800600"/>
            <a:ext cx="254203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457200" y="5230368"/>
            <a:ext cx="2542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457200" y="5504688"/>
            <a:ext cx="2542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≈ Frequency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3264408" y="4754880"/>
            <a:ext cx="2542032" cy="100584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3264408" y="4800600"/>
            <a:ext cx="254203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x̄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3264408" y="5230368"/>
            <a:ext cx="2542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AVG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3264408" y="5504688"/>
            <a:ext cx="2542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≈ Mean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071616" y="4754880"/>
            <a:ext cx="2542032" cy="100584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6071616" y="4800600"/>
            <a:ext cx="254203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6071616" y="5230368"/>
            <a:ext cx="2542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 / MAX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6071616" y="5504688"/>
            <a:ext cx="2542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≈ Range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8878824" y="4754880"/>
            <a:ext cx="2542032" cy="100584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8878824" y="4800600"/>
            <a:ext cx="254203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∑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8878824" y="5230368"/>
            <a:ext cx="2542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8878824" y="5504688"/>
            <a:ext cx="2542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≈ Total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  <p:transition spd="slow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16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SQL FUNDAMENTALS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BY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12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120160"/>
            <a:ext cx="7132320" cy="3246120"/>
          </a:xfrm>
          <a:prstGeom prst="rect">
            <a:avLst/>
          </a:prstGeom>
          <a:solidFill>
            <a:srgbClr val="0F2214"/>
          </a:solidFill>
          <a:ln w="614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658368" y="1186464"/>
            <a:ext cx="6729984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nationality, COUNT(*) AS tourist_count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tourists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nationality;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category, ROUND(AVG(spending_php),2) AS avg_spending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tourists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visits v JOIN destinations d ON v.destination_id=d.destination_id GROUP BY category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avg_spending DESC;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0" y="138988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72400" y="1719072"/>
            <a:ext cx="411480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" name="Text 7"/>
          <p:cNvSpPr txBox="1"/>
          <p:nvPr/>
        </p:nvSpPr>
        <p:spPr>
          <a:xfrm>
            <a:off x="7863840" y="1783080"/>
            <a:ext cx="2560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nationality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0184159" y="1783080"/>
            <a:ext cx="1211427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 err="1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tourist_count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772400" y="2066544"/>
            <a:ext cx="4114800" cy="347472"/>
          </a:xfrm>
          <a:prstGeom prst="rect">
            <a:avLst/>
          </a:prstGeom>
          <a:solidFill>
            <a:srgbClr val="0F2214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 10"/>
          <p:cNvSpPr txBox="1"/>
          <p:nvPr/>
        </p:nvSpPr>
        <p:spPr>
          <a:xfrm>
            <a:off x="7863840" y="2130552"/>
            <a:ext cx="2560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Korean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0184160" y="2130552"/>
            <a:ext cx="112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772400" y="2450592"/>
            <a:ext cx="4114800" cy="347472"/>
          </a:xfrm>
          <a:prstGeom prst="rect">
            <a:avLst/>
          </a:prstGeom>
          <a:solidFill>
            <a:srgbClr val="0A1612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" name="Text 13"/>
          <p:cNvSpPr txBox="1"/>
          <p:nvPr/>
        </p:nvSpPr>
        <p:spPr>
          <a:xfrm>
            <a:off x="7863840" y="2514600"/>
            <a:ext cx="2560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American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0184160" y="2514600"/>
            <a:ext cx="112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772400" y="1234640"/>
            <a:ext cx="4114800" cy="347472"/>
          </a:xfrm>
          <a:prstGeom prst="rect">
            <a:avLst/>
          </a:prstGeom>
          <a:solidFill>
            <a:srgbClr val="0F2214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Text 16"/>
          <p:cNvSpPr txBox="1"/>
          <p:nvPr/>
        </p:nvSpPr>
        <p:spPr>
          <a:xfrm>
            <a:off x="7863840" y="1298648"/>
            <a:ext cx="2560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Filipino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0184160" y="1298648"/>
            <a:ext cx="112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772400" y="1719072"/>
            <a:ext cx="4114800" cy="1499616"/>
          </a:xfrm>
          <a:prstGeom prst="rect">
            <a:avLst/>
          </a:prstGeom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Shape 19"/>
          <p:cNvSpPr/>
          <p:nvPr/>
        </p:nvSpPr>
        <p:spPr>
          <a:xfrm>
            <a:off x="457200" y="3886200"/>
            <a:ext cx="7132320" cy="475488"/>
          </a:xfrm>
          <a:prstGeom prst="rect">
            <a:avLst/>
          </a:prstGeom>
          <a:solidFill>
            <a:srgbClr val="0F2214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" name="Text 20"/>
          <p:cNvSpPr txBox="1"/>
          <p:nvPr/>
        </p:nvSpPr>
        <p:spPr>
          <a:xfrm>
            <a:off x="640080" y="3968496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output row per group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4480560"/>
            <a:ext cx="7132320" cy="475488"/>
          </a:xfrm>
          <a:prstGeom prst="rect">
            <a:avLst/>
          </a:prstGeom>
          <a:solidFill>
            <a:srgbClr val="0F2214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" name="Text 22"/>
          <p:cNvSpPr txBox="1"/>
          <p:nvPr/>
        </p:nvSpPr>
        <p:spPr>
          <a:xfrm>
            <a:off x="640080" y="4561256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with any aggregate: COUNT, AVG, SUM, MIN, MAX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5074920"/>
            <a:ext cx="7132320" cy="475488"/>
          </a:xfrm>
          <a:prstGeom prst="rect">
            <a:avLst/>
          </a:prstGeom>
          <a:solidFill>
            <a:srgbClr val="0F2214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" name="Text 24"/>
          <p:cNvSpPr txBox="1"/>
          <p:nvPr/>
        </p:nvSpPr>
        <p:spPr>
          <a:xfrm>
            <a:off x="640080" y="5157216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 renames the column to something readable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57200" y="5669120"/>
            <a:ext cx="7132320" cy="475488"/>
          </a:xfrm>
          <a:prstGeom prst="rect">
            <a:avLst/>
          </a:prstGeom>
          <a:solidFill>
            <a:srgbClr val="0F2214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" name="Text 26"/>
          <p:cNvSpPr txBox="1"/>
          <p:nvPr/>
        </p:nvSpPr>
        <p:spPr>
          <a:xfrm>
            <a:off x="640080" y="5751576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nationality grouped and counted — your frequency table</a:t>
            </a:r>
            <a:endParaRPr lang="en-US" sz="1300" dirty="0"/>
          </a:p>
        </p:txBody>
      </p:sp>
    </p:spTree>
  </p:cSld>
  <p:clrMapOvr>
    <a:masterClrMapping/>
  </p:clrMapOvr>
  <p:transition spd="slow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SQL FUNDAMENTALS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11247120" cy="214884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658368" y="1426464"/>
            <a:ext cx="10844784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destination_id, COUNT(*) AS visit_count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visits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destination_id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HAVING COUNT(*) &gt; 50;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Only destinations with more than 50 visits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3520440"/>
            <a:ext cx="5212080" cy="2011680"/>
          </a:xfrm>
          <a:prstGeom prst="rect">
            <a:avLst/>
          </a:prstGeom>
          <a:solidFill>
            <a:srgbClr val="0F2235"/>
          </a:solidFill>
          <a:ln w="1016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" name="Text 6"/>
          <p:cNvSpPr txBox="1"/>
          <p:nvPr/>
        </p:nvSpPr>
        <p:spPr>
          <a:xfrm>
            <a:off x="640080" y="365760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🔍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675888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187952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 raw rows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5262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aggregation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17920" y="3520440"/>
            <a:ext cx="5212080" cy="2011680"/>
          </a:xfrm>
          <a:prstGeom prst="rect">
            <a:avLst/>
          </a:prstGeom>
          <a:solidFill>
            <a:srgbClr val="0F2235"/>
          </a:solidFill>
          <a:ln w="1016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" name="Text 11"/>
          <p:cNvSpPr txBox="1"/>
          <p:nvPr/>
        </p:nvSpPr>
        <p:spPr>
          <a:xfrm>
            <a:off x="6400800" y="365760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995160" y="3675888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HAVING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4187952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 aggregated results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45262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GROUP BY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650992" y="42519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1800" dirty="0"/>
          </a:p>
        </p:txBody>
      </p:sp>
    </p:spTree>
  </p:cSld>
  <p:clrMapOvr>
    <a:masterClrMapping/>
  </p:clrMapOvr>
  <p:transition spd="slow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SQL FUNDAMENTALS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Mistakes Beginners Make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621792" y="1527048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⚠️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1527048"/>
            <a:ext cx="10149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Forgetting the semicolon at the end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121408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" name="Text 7"/>
          <p:cNvSpPr txBox="1"/>
          <p:nvPr/>
        </p:nvSpPr>
        <p:spPr>
          <a:xfrm>
            <a:off x="621792" y="2231136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❌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2231136"/>
            <a:ext cx="10149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nationality = American   (no quotes — wrong)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825496"/>
            <a:ext cx="11247120" cy="566928"/>
          </a:xfrm>
          <a:prstGeom prst="rect">
            <a:avLst/>
          </a:prstGeom>
          <a:solidFill>
            <a:srgbClr val="0A2218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 10"/>
          <p:cNvSpPr txBox="1"/>
          <p:nvPr/>
        </p:nvSpPr>
        <p:spPr>
          <a:xfrm>
            <a:off x="621792" y="2935224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✅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2935224"/>
            <a:ext cx="10149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nationality = 'American'   (quoted — correct)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529584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" name="Text 13"/>
          <p:cNvSpPr txBox="1"/>
          <p:nvPr/>
        </p:nvSpPr>
        <p:spPr>
          <a:xfrm>
            <a:off x="621792" y="3639312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⚠️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3639312"/>
            <a:ext cx="10149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= NULL instead of IS NULL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" y="4233672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Text 16"/>
          <p:cNvSpPr txBox="1"/>
          <p:nvPr/>
        </p:nvSpPr>
        <p:spPr>
          <a:xfrm>
            <a:off x="621792" y="434340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⚠️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207008" y="4343400"/>
            <a:ext cx="10149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Selecting a column in GROUP BY that's not in SELECT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4937760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Text 19"/>
          <p:cNvSpPr txBox="1"/>
          <p:nvPr/>
        </p:nvSpPr>
        <p:spPr>
          <a:xfrm>
            <a:off x="621792" y="5047488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💡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5047488"/>
            <a:ext cx="10149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Trying to do everything in one query — break it into steps</a:t>
            </a:r>
            <a:endParaRPr lang="en-US" sz="1250" dirty="0"/>
          </a:p>
        </p:txBody>
      </p:sp>
    </p:spTree>
  </p:cSld>
  <p:clrMapOvr>
    <a:masterClrMapping/>
  </p:clrMapOvr>
  <p:transition spd="med">
    <p:push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10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r10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r10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104"/>
          <p:cNvSpPr txBox="1"/>
          <p:nvPr/>
        </p:nvSpPr>
        <p:spPr>
          <a:xfrm>
            <a:off x="502920" y="2377440"/>
            <a:ext cx="11430000" cy="12801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/>
              </a:rPr>
              <a:t>Data Cleaning</a:t>
            </a:r>
          </a:p>
        </p:txBody>
      </p:sp>
      <p:sp>
        <p:nvSpPr>
          <p:cNvPr id="105" name="r105"/>
          <p:cNvSpPr/>
          <p:nvPr/>
        </p:nvSpPr>
        <p:spPr>
          <a:xfrm>
            <a:off x="502920" y="3584448"/>
            <a:ext cx="8686800" cy="6400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6" name="t106"/>
          <p:cNvSpPr txBox="1"/>
          <p:nvPr/>
        </p:nvSpPr>
        <p:spPr>
          <a:xfrm>
            <a:off x="521207" y="3767328"/>
            <a:ext cx="11430000" cy="3657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1400" b="0" dirty="0">
                <a:solidFill>
                  <a:srgbClr val="94A3B8"/>
                </a:solidFill>
                <a:latin typeface="Calibri"/>
              </a:rPr>
              <a:t>Handling NULLs  ·  Duplicates  ·  Data type considerations</a:t>
            </a:r>
          </a:p>
        </p:txBody>
      </p:sp>
    </p:spTree>
  </p:cSld>
  <p:clrMapOvr>
    <a:masterClrMapping/>
  </p:clrMapOvr>
  <p:transition spd="slow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DATA CLEANING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Handling NULLs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11247120" cy="288036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658368" y="1426464"/>
            <a:ext cx="10844784" cy="288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 FROM visits WHERE spending_php IS NULL;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Find visits with no spending recorded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 FROM visits WHERE spending_php IS NOT NULL;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COALESCE(spending_php, 0) FROM visits;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Replace NULL with a default value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4572000"/>
            <a:ext cx="3520440" cy="1097280"/>
          </a:xfrm>
          <a:prstGeom prst="rect">
            <a:avLst/>
          </a:prstGeom>
          <a:solidFill>
            <a:srgbClr val="0F2235"/>
          </a:solidFill>
          <a:ln w="635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" name="Text 6"/>
          <p:cNvSpPr txBox="1"/>
          <p:nvPr/>
        </p:nvSpPr>
        <p:spPr>
          <a:xfrm>
            <a:off x="457200" y="4645152"/>
            <a:ext cx="3520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5047488"/>
            <a:ext cx="3310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5321808"/>
            <a:ext cx="3310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never recorded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24528" y="4572000"/>
            <a:ext cx="3520440" cy="1097280"/>
          </a:xfrm>
          <a:prstGeom prst="rect">
            <a:avLst/>
          </a:prstGeom>
          <a:solidFill>
            <a:srgbClr val="0F2235"/>
          </a:solidFill>
          <a:ln w="635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 10"/>
          <p:cNvSpPr txBox="1"/>
          <p:nvPr/>
        </p:nvSpPr>
        <p:spPr>
          <a:xfrm>
            <a:off x="4224528" y="4645152"/>
            <a:ext cx="3520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334256" y="5047488"/>
            <a:ext cx="3310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 (zero)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334256" y="5321808"/>
            <a:ext cx="3310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value of zero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991856" y="4572000"/>
            <a:ext cx="3520440" cy="1097280"/>
          </a:xfrm>
          <a:prstGeom prst="rect">
            <a:avLst/>
          </a:prstGeom>
          <a:solidFill>
            <a:srgbClr val="0F2235"/>
          </a:solidFill>
          <a:ln w="635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" name="Text 14"/>
          <p:cNvSpPr txBox="1"/>
          <p:nvPr/>
        </p:nvSpPr>
        <p:spPr>
          <a:xfrm>
            <a:off x="7991856" y="4645152"/>
            <a:ext cx="3520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101584" y="5047488"/>
            <a:ext cx="3310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Empty string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101584" y="5321808"/>
            <a:ext cx="3310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blank text field</a:t>
            </a:r>
            <a:endParaRPr lang="en-US" sz="1100" dirty="0"/>
          </a:p>
        </p:txBody>
      </p:sp>
    </p:spTree>
  </p:cSld>
  <p:clrMapOvr>
    <a:masterClrMapping/>
  </p:clrMapOvr>
  <p:transition spd="slow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DATA CLEANING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Duplicates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7132320" cy="288036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658368" y="1426464"/>
            <a:ext cx="6729984" cy="288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DISTINCT nationality FROM tourists;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Each unique nationality, once only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DISTINCT destination_id, purpose FROM visits;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COUNT(DISTINCT nationality) FROM tourists;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Count of unique nationalities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046720" y="137160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DISTINCT: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046720" y="1691640"/>
            <a:ext cx="3840480" cy="274320"/>
          </a:xfrm>
          <a:prstGeom prst="rect">
            <a:avLst/>
          </a:prstGeom>
          <a:solidFill>
            <a:srgbClr val="1A0A0A"/>
          </a:solidFill>
          <a:ln w="3810">
            <a:solidFill>
              <a:srgbClr val="5A1A1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" name="Text 7"/>
          <p:cNvSpPr txBox="1"/>
          <p:nvPr/>
        </p:nvSpPr>
        <p:spPr>
          <a:xfrm>
            <a:off x="8156448" y="1746504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Korean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046720" y="2011680"/>
            <a:ext cx="3840480" cy="274320"/>
          </a:xfrm>
          <a:prstGeom prst="rect">
            <a:avLst/>
          </a:prstGeom>
          <a:solidFill>
            <a:srgbClr val="1A0A0A"/>
          </a:solidFill>
          <a:ln w="3810">
            <a:solidFill>
              <a:srgbClr val="5A1A1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" name="Text 9"/>
          <p:cNvSpPr txBox="1"/>
          <p:nvPr/>
        </p:nvSpPr>
        <p:spPr>
          <a:xfrm>
            <a:off x="8156448" y="2066544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Korean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46720" y="2331720"/>
            <a:ext cx="3840480" cy="274320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" name="Text 11"/>
          <p:cNvSpPr txBox="1"/>
          <p:nvPr/>
        </p:nvSpPr>
        <p:spPr>
          <a:xfrm>
            <a:off x="8156448" y="2386584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Australian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046720" y="2651760"/>
            <a:ext cx="3840480" cy="274320"/>
          </a:xfrm>
          <a:prstGeom prst="rect">
            <a:avLst/>
          </a:prstGeom>
          <a:solidFill>
            <a:srgbClr val="1A0A0A"/>
          </a:solidFill>
          <a:ln w="3810">
            <a:solidFill>
              <a:srgbClr val="5A1A1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" name="Text 13"/>
          <p:cNvSpPr txBox="1"/>
          <p:nvPr/>
        </p:nvSpPr>
        <p:spPr>
          <a:xfrm>
            <a:off x="8156448" y="2706624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Korean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46720" y="2971800"/>
            <a:ext cx="3840480" cy="274320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" name="Text 15"/>
          <p:cNvSpPr txBox="1"/>
          <p:nvPr/>
        </p:nvSpPr>
        <p:spPr>
          <a:xfrm>
            <a:off x="8156448" y="3026664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Australian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046720" y="3383280"/>
            <a:ext cx="3840480" cy="320040"/>
          </a:xfrm>
          <a:prstGeom prst="rect">
            <a:avLst/>
          </a:prstGeom>
          <a:solidFill>
            <a:srgbClr val="0A1E30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" name="Text 17"/>
          <p:cNvSpPr txBox="1"/>
          <p:nvPr/>
        </p:nvSpPr>
        <p:spPr>
          <a:xfrm>
            <a:off x="8046720" y="3456432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DISTINCT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46720" y="3767328"/>
            <a:ext cx="3840480" cy="292608"/>
          </a:xfrm>
          <a:prstGeom prst="rect">
            <a:avLst/>
          </a:prstGeom>
          <a:solidFill>
            <a:srgbClr val="0A2218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Text 19"/>
          <p:cNvSpPr txBox="1"/>
          <p:nvPr/>
        </p:nvSpPr>
        <p:spPr>
          <a:xfrm>
            <a:off x="8156448" y="3822192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Korean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046720" y="4114800"/>
            <a:ext cx="3840480" cy="292608"/>
          </a:xfrm>
          <a:prstGeom prst="rect">
            <a:avLst/>
          </a:prstGeom>
          <a:solidFill>
            <a:srgbClr val="0A2218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" name="Text 21"/>
          <p:cNvSpPr txBox="1"/>
          <p:nvPr/>
        </p:nvSpPr>
        <p:spPr>
          <a:xfrm>
            <a:off x="8156448" y="4169664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Australian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4160520"/>
            <a:ext cx="7132320" cy="493776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" name="Text 23"/>
          <p:cNvSpPr txBox="1"/>
          <p:nvPr/>
        </p:nvSpPr>
        <p:spPr>
          <a:xfrm>
            <a:off x="640080" y="4251960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removes duplicate rows from your result set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57200" y="4782312"/>
            <a:ext cx="7132320" cy="493776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" name="Text 25"/>
          <p:cNvSpPr txBox="1"/>
          <p:nvPr/>
        </p:nvSpPr>
        <p:spPr>
          <a:xfrm>
            <a:off x="640080" y="4873752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Overusing it can hide data quality issues worth investigating</a:t>
            </a:r>
            <a:endParaRPr lang="en-US" sz="1300" dirty="0"/>
          </a:p>
        </p:txBody>
      </p:sp>
    </p:spTree>
  </p:cSld>
  <p:clrMapOvr>
    <a:masterClrMapping/>
  </p:clrMapOvr>
  <p:transition spd="slow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DATA CLEANING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Types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47120" cy="74980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566928" y="1536192"/>
            <a:ext cx="502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33856" y="15087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INTEGER / BIGINT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950208" y="1508760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numbers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498080" y="1527048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 length_of_stay, count, ID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286000"/>
            <a:ext cx="11247120" cy="74980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" name="Text 9"/>
          <p:cNvSpPr txBox="1"/>
          <p:nvPr/>
        </p:nvSpPr>
        <p:spPr>
          <a:xfrm>
            <a:off x="566928" y="2432304"/>
            <a:ext cx="502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133856" y="240487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 / DECIMAL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950208" y="240487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with decimals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498080" y="242316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 spending_php, percentage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182112"/>
            <a:ext cx="11247120" cy="74980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" name="Text 14"/>
          <p:cNvSpPr txBox="1"/>
          <p:nvPr/>
        </p:nvSpPr>
        <p:spPr>
          <a:xfrm>
            <a:off x="566928" y="3328416"/>
            <a:ext cx="502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133856" y="3300984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VARCHAR / TEXT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950208" y="3300984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strings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319272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 names, codes, categories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078224"/>
            <a:ext cx="11247120" cy="74980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Text 19"/>
          <p:cNvSpPr txBox="1"/>
          <p:nvPr/>
        </p:nvSpPr>
        <p:spPr>
          <a:xfrm>
            <a:off x="566928" y="4224528"/>
            <a:ext cx="502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133856" y="4197096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 / TIMESTAMP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3950208" y="4197096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 and times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498080" y="4215384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 visit_date, created_at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5074920"/>
            <a:ext cx="11247120" cy="548640"/>
          </a:xfrm>
          <a:prstGeom prst="rect">
            <a:avLst/>
          </a:prstGeom>
          <a:solidFill>
            <a:srgbClr val="1A0A0A"/>
          </a:solidFill>
          <a:ln w="10160">
            <a:solidFill>
              <a:srgbClr val="C0505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" name="Text 24"/>
          <p:cNvSpPr txBox="1"/>
          <p:nvPr/>
        </p:nvSpPr>
        <p:spPr>
          <a:xfrm>
            <a:off x="640080" y="5193792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You cannot run AVG() on a text column. Type mismatches cause silent errors — always check.</a:t>
            </a:r>
            <a:endParaRPr lang="en-US" sz="1300" dirty="0"/>
          </a:p>
        </p:txBody>
      </p:sp>
    </p:spTree>
  </p:cSld>
  <p:clrMapOvr>
    <a:masterClrMapping/>
  </p:clrMapOvr>
  <p:transition spd="slow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10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r10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r10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104"/>
          <p:cNvSpPr txBox="1"/>
          <p:nvPr/>
        </p:nvSpPr>
        <p:spPr>
          <a:xfrm>
            <a:off x="502920" y="2377440"/>
            <a:ext cx="11430000" cy="12801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/>
              </a:rPr>
              <a:t>Statistical Summaries</a:t>
            </a:r>
          </a:p>
        </p:txBody>
      </p:sp>
      <p:sp>
        <p:nvSpPr>
          <p:cNvPr id="105" name="r105"/>
          <p:cNvSpPr/>
          <p:nvPr/>
        </p:nvSpPr>
        <p:spPr>
          <a:xfrm>
            <a:off x="502920" y="3584448"/>
            <a:ext cx="8686800" cy="6400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6" name="t106"/>
          <p:cNvSpPr txBox="1"/>
          <p:nvPr/>
        </p:nvSpPr>
        <p:spPr>
          <a:xfrm>
            <a:off x="521207" y="3767328"/>
            <a:ext cx="11430000" cy="3657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1400" b="0" dirty="0">
                <a:solidFill>
                  <a:srgbClr val="94A3B8"/>
                </a:solidFill>
                <a:latin typeface="Calibri"/>
              </a:rPr>
              <a:t>Descriptive stats  ·  Frequency counts  ·  Percentages</a:t>
            </a:r>
          </a:p>
        </p:txBody>
      </p:sp>
    </p:spTree>
  </p:cSld>
  <p:clrMapOvr>
    <a:masterClrMapping/>
  </p:clrMapOvr>
  <p:transition spd="slow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30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STATISTICAL SUMMARIES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Statistics in SQL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7132320" cy="324612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658368" y="1426464"/>
            <a:ext cx="6729984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COUNT(*)              AS total_visits,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AVG(spending_php)    AS mean_spending,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MIN(spending_php)    AS min_spending,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MAX(spending_php)    AS max_spending,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MAX(spending_php) - MIN(spending_php) AS spending_range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visits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spending_php IS NOT NULL;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7955280" y="1417320"/>
            <a:ext cx="1920240" cy="1536192"/>
          </a:xfrm>
          <a:prstGeom prst="rect">
            <a:avLst/>
          </a:prstGeom>
          <a:solidFill>
            <a:srgbClr val="0F2235"/>
          </a:solidFill>
          <a:ln w="635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7955280" y="150876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7955280" y="207568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7955280" y="2386584"/>
            <a:ext cx="1920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n = 786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0058400" y="1417320"/>
            <a:ext cx="1920240" cy="1536192"/>
          </a:xfrm>
          <a:prstGeom prst="rect">
            <a:avLst/>
          </a:prstGeom>
          <a:solidFill>
            <a:srgbClr val="0F2235"/>
          </a:solidFill>
          <a:ln w="635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10058400" y="150876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x̄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0058400" y="207568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AVG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0058400" y="2386584"/>
            <a:ext cx="1920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13,240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955280" y="3136392"/>
            <a:ext cx="1920240" cy="1536192"/>
          </a:xfrm>
          <a:prstGeom prst="rect">
            <a:avLst/>
          </a:prstGeom>
          <a:solidFill>
            <a:srgbClr val="0F2235"/>
          </a:solidFill>
          <a:ln w="635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7955280" y="3227832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7955280" y="3794760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7955280" y="4105656"/>
            <a:ext cx="1920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2,059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10058400" y="3136392"/>
            <a:ext cx="1920240" cy="1536192"/>
          </a:xfrm>
          <a:prstGeom prst="rect">
            <a:avLst/>
          </a:prstGeom>
          <a:solidFill>
            <a:srgbClr val="0F2235"/>
          </a:solidFill>
          <a:ln w="635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10058400" y="3227832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10058400" y="3794760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10058400" y="4105656"/>
            <a:ext cx="1920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24,999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57200" y="4617720"/>
            <a:ext cx="7132320" cy="47548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 txBox="1"/>
          <p:nvPr/>
        </p:nvSpPr>
        <p:spPr>
          <a:xfrm>
            <a:off x="640080" y="4690872"/>
            <a:ext cx="6766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One query — count, mean, min, max, and range in one shot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457200" y="5212080"/>
            <a:ext cx="7132320" cy="47548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 txBox="1"/>
          <p:nvPr/>
        </p:nvSpPr>
        <p:spPr>
          <a:xfrm>
            <a:off x="640080" y="5285232"/>
            <a:ext cx="6766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Pulling directly from source data, in seconds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457200" y="5806440"/>
            <a:ext cx="7132320" cy="47548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 txBox="1"/>
          <p:nvPr/>
        </p:nvSpPr>
        <p:spPr>
          <a:xfrm>
            <a:off x="640080" y="5879592"/>
            <a:ext cx="6766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How you profile a dataset before analysis begins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  <p:transition spd="med">
    <p:push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r40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2" name="r40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C9A7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3" name="t403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SECTION 6 · STATISTICAL SUMMARIES</a:t>
            </a:r>
          </a:p>
        </p:txBody>
      </p:sp>
      <p:sp>
        <p:nvSpPr>
          <p:cNvPr id="404" name="t404"/>
          <p:cNvSpPr txBox="1"/>
          <p:nvPr/>
        </p:nvSpPr>
        <p:spPr>
          <a:xfrm>
            <a:off x="457200" y="438912"/>
            <a:ext cx="9144000" cy="5943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Frequency Counts and Distributions</a:t>
            </a:r>
          </a:p>
        </p:txBody>
      </p:sp>
      <p:sp>
        <p:nvSpPr>
          <p:cNvPr id="405" name="r405"/>
          <p:cNvSpPr/>
          <p:nvPr/>
        </p:nvSpPr>
        <p:spPr>
          <a:xfrm>
            <a:off x="3200400" y="969264"/>
            <a:ext cx="2286000" cy="36576"/>
          </a:xfrm>
          <a:prstGeom prst="rect">
            <a:avLst/>
          </a:prstGeom>
          <a:solidFill>
            <a:srgbClr val="00C9A7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6" name="r406"/>
          <p:cNvSpPr/>
          <p:nvPr/>
        </p:nvSpPr>
        <p:spPr>
          <a:xfrm>
            <a:off x="365760" y="1078992"/>
            <a:ext cx="5943600" cy="4572000"/>
          </a:xfrm>
          <a:prstGeom prst="rect">
            <a:avLst/>
          </a:prstGeom>
          <a:solidFill>
            <a:srgbClr val="060E18"/>
          </a:solidFill>
          <a:ln w="635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7" name="t407"/>
          <p:cNvSpPr txBox="1"/>
          <p:nvPr/>
        </p:nvSpPr>
        <p:spPr>
          <a:xfrm>
            <a:off x="530352" y="1170432"/>
            <a:ext cx="5669280" cy="24688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4A6A7A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-- Frequency count by nationality</a:t>
            </a:r>
          </a:p>
        </p:txBody>
      </p:sp>
      <p:sp>
        <p:nvSpPr>
          <p:cNvPr id="408" name="t408"/>
          <p:cNvSpPr txBox="1"/>
          <p:nvPr/>
        </p:nvSpPr>
        <p:spPr>
          <a:xfrm>
            <a:off x="530352" y="1435608"/>
            <a:ext cx="5669280" cy="24688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SELECT nationality, COUNT(*) AS count</a:t>
            </a:r>
          </a:p>
        </p:txBody>
      </p:sp>
      <p:sp>
        <p:nvSpPr>
          <p:cNvPr id="409" name="t409"/>
          <p:cNvSpPr txBox="1"/>
          <p:nvPr/>
        </p:nvSpPr>
        <p:spPr>
          <a:xfrm>
            <a:off x="530352" y="1700784"/>
            <a:ext cx="5669280" cy="24688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FROM tourists</a:t>
            </a:r>
          </a:p>
        </p:txBody>
      </p:sp>
      <p:sp>
        <p:nvSpPr>
          <p:cNvPr id="410" name="t410"/>
          <p:cNvSpPr txBox="1"/>
          <p:nvPr/>
        </p:nvSpPr>
        <p:spPr>
          <a:xfrm>
            <a:off x="530352" y="1965960"/>
            <a:ext cx="5669280" cy="24688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GROUP BY nationality</a:t>
            </a:r>
          </a:p>
        </p:txBody>
      </p:sp>
      <p:sp>
        <p:nvSpPr>
          <p:cNvPr id="411" name="t411"/>
          <p:cNvSpPr txBox="1"/>
          <p:nvPr/>
        </p:nvSpPr>
        <p:spPr>
          <a:xfrm>
            <a:off x="530352" y="2231136"/>
            <a:ext cx="5669280" cy="24688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ORDER BY count DESC;</a:t>
            </a:r>
          </a:p>
        </p:txBody>
      </p:sp>
      <p:sp>
        <p:nvSpPr>
          <p:cNvPr id="412" name="t412"/>
          <p:cNvSpPr txBox="1"/>
          <p:nvPr/>
        </p:nvSpPr>
        <p:spPr>
          <a:xfrm>
            <a:off x="530352" y="2496312"/>
            <a:ext cx="5669280" cy="24688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3" name="t413"/>
          <p:cNvSpPr txBox="1"/>
          <p:nvPr/>
        </p:nvSpPr>
        <p:spPr>
          <a:xfrm>
            <a:off x="530352" y="2761487"/>
            <a:ext cx="5669280" cy="24688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4A6A7A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-- Percentage by nationality</a:t>
            </a:r>
          </a:p>
        </p:txBody>
      </p:sp>
      <p:sp>
        <p:nvSpPr>
          <p:cNvPr id="414" name="t414"/>
          <p:cNvSpPr txBox="1"/>
          <p:nvPr/>
        </p:nvSpPr>
        <p:spPr>
          <a:xfrm>
            <a:off x="530352" y="3026663"/>
            <a:ext cx="5669280" cy="24688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SELECT nationality,</a:t>
            </a:r>
          </a:p>
        </p:txBody>
      </p:sp>
      <p:sp>
        <p:nvSpPr>
          <p:cNvPr id="415" name="t415"/>
          <p:cNvSpPr txBox="1"/>
          <p:nvPr/>
        </p:nvSpPr>
        <p:spPr>
          <a:xfrm>
            <a:off x="530352" y="3291839"/>
            <a:ext cx="5669280" cy="24688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  COUNT(*) AS count,</a:t>
            </a:r>
          </a:p>
        </p:txBody>
      </p:sp>
      <p:sp>
        <p:nvSpPr>
          <p:cNvPr id="416" name="t416"/>
          <p:cNvSpPr txBox="1"/>
          <p:nvPr/>
        </p:nvSpPr>
        <p:spPr>
          <a:xfrm>
            <a:off x="530352" y="3557015"/>
            <a:ext cx="5669280" cy="24688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  ROUND(</a:t>
            </a:r>
          </a:p>
        </p:txBody>
      </p:sp>
      <p:sp>
        <p:nvSpPr>
          <p:cNvPr id="417" name="t417"/>
          <p:cNvSpPr txBox="1"/>
          <p:nvPr/>
        </p:nvSpPr>
        <p:spPr>
          <a:xfrm>
            <a:off x="530352" y="3822191"/>
            <a:ext cx="5669280" cy="24688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    COUNT(*) * 100.0 /</a:t>
            </a:r>
          </a:p>
        </p:txBody>
      </p:sp>
      <p:sp>
        <p:nvSpPr>
          <p:cNvPr id="418" name="t418"/>
          <p:cNvSpPr txBox="1"/>
          <p:nvPr/>
        </p:nvSpPr>
        <p:spPr>
          <a:xfrm>
            <a:off x="530352" y="4087368"/>
            <a:ext cx="5669280" cy="24688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    (SELECT COUNT(*) FROM tourists),</a:t>
            </a:r>
          </a:p>
        </p:txBody>
      </p:sp>
      <p:sp>
        <p:nvSpPr>
          <p:cNvPr id="419" name="t419"/>
          <p:cNvSpPr txBox="1"/>
          <p:nvPr/>
        </p:nvSpPr>
        <p:spPr>
          <a:xfrm>
            <a:off x="530352" y="4352544"/>
            <a:ext cx="5669280" cy="24688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  2) AS pct</a:t>
            </a:r>
          </a:p>
        </p:txBody>
      </p:sp>
      <p:sp>
        <p:nvSpPr>
          <p:cNvPr id="420" name="t420"/>
          <p:cNvSpPr txBox="1"/>
          <p:nvPr/>
        </p:nvSpPr>
        <p:spPr>
          <a:xfrm>
            <a:off x="530352" y="4617720"/>
            <a:ext cx="5669280" cy="24688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FROM tourists</a:t>
            </a:r>
          </a:p>
        </p:txBody>
      </p:sp>
      <p:sp>
        <p:nvSpPr>
          <p:cNvPr id="421" name="t421"/>
          <p:cNvSpPr txBox="1"/>
          <p:nvPr/>
        </p:nvSpPr>
        <p:spPr>
          <a:xfrm>
            <a:off x="530352" y="4882896"/>
            <a:ext cx="5669280" cy="24688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GROUP BY nationality</a:t>
            </a:r>
          </a:p>
        </p:txBody>
      </p:sp>
      <p:sp>
        <p:nvSpPr>
          <p:cNvPr id="422" name="t422"/>
          <p:cNvSpPr txBox="1"/>
          <p:nvPr/>
        </p:nvSpPr>
        <p:spPr>
          <a:xfrm>
            <a:off x="530352" y="5148072"/>
            <a:ext cx="5669280" cy="24688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ORDER BY count DESC;</a:t>
            </a:r>
          </a:p>
        </p:txBody>
      </p:sp>
      <p:sp>
        <p:nvSpPr>
          <p:cNvPr id="423" name="r423"/>
          <p:cNvSpPr/>
          <p:nvPr/>
        </p:nvSpPr>
        <p:spPr>
          <a:xfrm>
            <a:off x="6675120" y="1645919"/>
            <a:ext cx="640080" cy="3474720"/>
          </a:xfrm>
          <a:prstGeom prst="rect">
            <a:avLst/>
          </a:prstGeom>
          <a:solidFill>
            <a:srgbClr val="00C9A7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4" name="t424"/>
          <p:cNvSpPr txBox="1"/>
          <p:nvPr/>
        </p:nvSpPr>
        <p:spPr>
          <a:xfrm>
            <a:off x="6675120" y="1389887"/>
            <a:ext cx="640080" cy="237744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18</a:t>
            </a:r>
          </a:p>
        </p:txBody>
      </p:sp>
      <p:sp>
        <p:nvSpPr>
          <p:cNvPr id="425" name="t425"/>
          <p:cNvSpPr txBox="1"/>
          <p:nvPr/>
        </p:nvSpPr>
        <p:spPr>
          <a:xfrm>
            <a:off x="6629400" y="5212079"/>
            <a:ext cx="731519" cy="219456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Korean</a:t>
            </a:r>
          </a:p>
        </p:txBody>
      </p:sp>
      <p:sp>
        <p:nvSpPr>
          <p:cNvPr id="426" name="r426"/>
          <p:cNvSpPr/>
          <p:nvPr/>
        </p:nvSpPr>
        <p:spPr>
          <a:xfrm>
            <a:off x="7680960" y="2418080"/>
            <a:ext cx="640080" cy="2702559"/>
          </a:xfrm>
          <a:prstGeom prst="rect">
            <a:avLst/>
          </a:prstGeom>
          <a:solidFill>
            <a:srgbClr val="4FC3F7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7" name="t427"/>
          <p:cNvSpPr txBox="1"/>
          <p:nvPr/>
        </p:nvSpPr>
        <p:spPr>
          <a:xfrm>
            <a:off x="7680960" y="2162048"/>
            <a:ext cx="640080" cy="237744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14</a:t>
            </a:r>
          </a:p>
        </p:txBody>
      </p:sp>
      <p:sp>
        <p:nvSpPr>
          <p:cNvPr id="428" name="t428"/>
          <p:cNvSpPr txBox="1"/>
          <p:nvPr/>
        </p:nvSpPr>
        <p:spPr>
          <a:xfrm>
            <a:off x="7635240" y="5212079"/>
            <a:ext cx="731519" cy="219456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American</a:t>
            </a:r>
          </a:p>
        </p:txBody>
      </p:sp>
      <p:sp>
        <p:nvSpPr>
          <p:cNvPr id="429" name="r429"/>
          <p:cNvSpPr/>
          <p:nvPr/>
        </p:nvSpPr>
        <p:spPr>
          <a:xfrm>
            <a:off x="8686800" y="2804160"/>
            <a:ext cx="640080" cy="2316480"/>
          </a:xfrm>
          <a:prstGeom prst="rect">
            <a:avLst/>
          </a:prstGeom>
          <a:solidFill>
            <a:srgbClr val="9B59B6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0" name="t430"/>
          <p:cNvSpPr txBox="1"/>
          <p:nvPr/>
        </p:nvSpPr>
        <p:spPr>
          <a:xfrm>
            <a:off x="8686800" y="2548127"/>
            <a:ext cx="640080" cy="237744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12</a:t>
            </a:r>
          </a:p>
        </p:txBody>
      </p:sp>
      <p:sp>
        <p:nvSpPr>
          <p:cNvPr id="431" name="t431"/>
          <p:cNvSpPr txBox="1"/>
          <p:nvPr/>
        </p:nvSpPr>
        <p:spPr>
          <a:xfrm>
            <a:off x="8641080" y="5212079"/>
            <a:ext cx="731519" cy="219456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Filipino</a:t>
            </a:r>
          </a:p>
        </p:txBody>
      </p:sp>
      <p:sp>
        <p:nvSpPr>
          <p:cNvPr id="432" name="r432"/>
          <p:cNvSpPr/>
          <p:nvPr/>
        </p:nvSpPr>
        <p:spPr>
          <a:xfrm>
            <a:off x="9692640" y="3383279"/>
            <a:ext cx="640080" cy="1737360"/>
          </a:xfrm>
          <a:prstGeom prst="rect">
            <a:avLst/>
          </a:prstGeom>
          <a:solidFill>
            <a:srgbClr val="F59E0B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3" name="t433"/>
          <p:cNvSpPr txBox="1"/>
          <p:nvPr/>
        </p:nvSpPr>
        <p:spPr>
          <a:xfrm>
            <a:off x="9692640" y="3127248"/>
            <a:ext cx="640080" cy="237744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9</a:t>
            </a:r>
          </a:p>
        </p:txBody>
      </p:sp>
      <p:sp>
        <p:nvSpPr>
          <p:cNvPr id="434" name="t434"/>
          <p:cNvSpPr txBox="1"/>
          <p:nvPr/>
        </p:nvSpPr>
        <p:spPr>
          <a:xfrm>
            <a:off x="9646919" y="5212079"/>
            <a:ext cx="731519" cy="219456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Australian</a:t>
            </a:r>
          </a:p>
        </p:txBody>
      </p:sp>
      <p:sp>
        <p:nvSpPr>
          <p:cNvPr id="435" name="r435"/>
          <p:cNvSpPr/>
          <p:nvPr/>
        </p:nvSpPr>
        <p:spPr>
          <a:xfrm>
            <a:off x="6583680" y="5120640"/>
            <a:ext cx="4114800" cy="27432"/>
          </a:xfrm>
          <a:prstGeom prst="rect">
            <a:avLst/>
          </a:prstGeom>
          <a:solidFill>
            <a:srgbClr val="94A3B8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6" name="t436"/>
          <p:cNvSpPr txBox="1"/>
          <p:nvPr/>
        </p:nvSpPr>
        <p:spPr>
          <a:xfrm>
            <a:off x="6675120" y="1097280"/>
            <a:ext cx="4114800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Count by nationality:</a:t>
            </a:r>
          </a:p>
        </p:txBody>
      </p:sp>
      <p:sp>
        <p:nvSpPr>
          <p:cNvPr id="437" name="t437"/>
          <p:cNvSpPr txBox="1"/>
          <p:nvPr/>
        </p:nvSpPr>
        <p:spPr>
          <a:xfrm>
            <a:off x="365760" y="5414625"/>
            <a:ext cx="11430000" cy="27432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💡  Subquery in the denominator gets the total count — then each group is divided by it.</a:t>
            </a:r>
          </a:p>
        </p:txBody>
      </p:sp>
    </p:spTree>
  </p:cSld>
  <p:clrMapOvr>
    <a:masterClrMapping/>
  </p:clrMapOvr>
  <p:transition spd="slow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STATISTICAL SUMMARIES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Percentages and Proportions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7132320" cy="324612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658368" y="1426464"/>
            <a:ext cx="6729984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d.category,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COUNT(*) AS count,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ROUND(COUNT(*) * 100.0 / (SELECT COUNT(*) FROM visits WHERE spending_php IS NOT NULL), 2)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AS pct_of_total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visits v JOIN destinations d ON v.destination_id=d.destination_id WHERE v.spending_php IS NOT NULL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d.category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count DESC;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046720" y="1719072"/>
            <a:ext cx="1536192" cy="47548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" name="Shape 6"/>
          <p:cNvSpPr/>
          <p:nvPr/>
        </p:nvSpPr>
        <p:spPr>
          <a:xfrm>
            <a:off x="9582912" y="1719072"/>
            <a:ext cx="1280160" cy="475488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" name="Shape 7"/>
          <p:cNvSpPr/>
          <p:nvPr/>
        </p:nvSpPr>
        <p:spPr>
          <a:xfrm>
            <a:off x="10863072" y="1719072"/>
            <a:ext cx="1024128" cy="47548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" name="Shape 8"/>
          <p:cNvSpPr/>
          <p:nvPr/>
        </p:nvSpPr>
        <p:spPr>
          <a:xfrm>
            <a:off x="8046720" y="1719072"/>
            <a:ext cx="3840480" cy="475488"/>
          </a:xfrm>
          <a:prstGeom prst="rect">
            <a:avLst/>
          </a:prstGeom>
          <a:ln w="635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" name="Shape 9"/>
          <p:cNvSpPr/>
          <p:nvPr/>
        </p:nvSpPr>
        <p:spPr>
          <a:xfrm>
            <a:off x="8046720" y="2359152"/>
            <a:ext cx="201168" cy="20116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 10"/>
          <p:cNvSpPr txBox="1"/>
          <p:nvPr/>
        </p:nvSpPr>
        <p:spPr>
          <a:xfrm>
            <a:off x="8302752" y="2359152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Beach  —  44%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2926080"/>
            <a:ext cx="201168" cy="201168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" name="Text 12"/>
          <p:cNvSpPr txBox="1"/>
          <p:nvPr/>
        </p:nvSpPr>
        <p:spPr>
          <a:xfrm>
            <a:off x="8302752" y="2926080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  —  36%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46720" y="3493008"/>
            <a:ext cx="201168" cy="2011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" name="Text 14"/>
          <p:cNvSpPr txBox="1"/>
          <p:nvPr/>
        </p:nvSpPr>
        <p:spPr>
          <a:xfrm>
            <a:off x="8302752" y="349300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Heritage  —  20%</a:t>
            </a:r>
            <a:endParaRPr lang="en-US" sz="1200" dirty="0"/>
          </a:p>
        </p:txBody>
      </p:sp>
    </p:spTree>
  </p:cSld>
  <p:clrMapOvr>
    <a:masterClrMapping/>
  </p:clrMapOvr>
  <p:transition spd="slow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10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r10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r10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104"/>
          <p:cNvSpPr txBox="1"/>
          <p:nvPr/>
        </p:nvSpPr>
        <p:spPr>
          <a:xfrm>
            <a:off x="502920" y="2377440"/>
            <a:ext cx="11430000" cy="12801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/>
              </a:rPr>
              <a:t>Combining Tables</a:t>
            </a:r>
          </a:p>
        </p:txBody>
      </p:sp>
      <p:sp>
        <p:nvSpPr>
          <p:cNvPr id="105" name="r105"/>
          <p:cNvSpPr/>
          <p:nvPr/>
        </p:nvSpPr>
        <p:spPr>
          <a:xfrm>
            <a:off x="502920" y="3584448"/>
            <a:ext cx="8686800" cy="6400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6" name="t106"/>
          <p:cNvSpPr txBox="1"/>
          <p:nvPr/>
        </p:nvSpPr>
        <p:spPr>
          <a:xfrm>
            <a:off x="521207" y="3767328"/>
            <a:ext cx="11430000" cy="3657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1400" b="0" dirty="0">
                <a:solidFill>
                  <a:srgbClr val="94A3B8"/>
                </a:solidFill>
                <a:latin typeface="Calibri"/>
              </a:rPr>
              <a:t>All four JOIN types  ·  INNER  ·  LEFT  ·  RIGHT  ·  FULL OUTER</a:t>
            </a:r>
          </a:p>
        </p:txBody>
      </p:sp>
    </p:spTree>
  </p:cSld>
  <p:clrMapOvr>
    <a:masterClrMapping/>
  </p:clrMapOvr>
  <p:transition spd="slow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COMBINING TABLES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JOIN and Why Does It Exist?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47120" cy="512064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640080" y="1481328"/>
            <a:ext cx="10789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databases split data across tables by design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029968"/>
            <a:ext cx="11247120" cy="512064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" name="Text 6"/>
          <p:cNvSpPr txBox="1"/>
          <p:nvPr/>
        </p:nvSpPr>
        <p:spPr>
          <a:xfrm>
            <a:off x="640080" y="2121408"/>
            <a:ext cx="10789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 combine them back together when you need the full picture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11247120" cy="438912"/>
          </a:xfrm>
          <a:prstGeom prst="rect">
            <a:avLst/>
          </a:prstGeom>
          <a:solidFill>
            <a:srgbClr val="0A2218"/>
          </a:solidFill>
          <a:ln w="762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" name="Text 8"/>
          <p:cNvSpPr txBox="1"/>
          <p:nvPr/>
        </p:nvSpPr>
        <p:spPr>
          <a:xfrm>
            <a:off x="640080" y="276148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Think: VLOOKUP in Excel — matching two datasets on a shared column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310128"/>
            <a:ext cx="3474720" cy="384048"/>
          </a:xfrm>
          <a:prstGeom prst="rect">
            <a:avLst/>
          </a:prstGeom>
          <a:solidFill>
            <a:srgbClr val="0F2A3F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 10"/>
          <p:cNvSpPr txBox="1"/>
          <p:nvPr/>
        </p:nvSpPr>
        <p:spPr>
          <a:xfrm>
            <a:off x="548640" y="3364992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694176"/>
            <a:ext cx="3474720" cy="310896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" name="Text 12"/>
          <p:cNvSpPr txBox="1"/>
          <p:nvPr/>
        </p:nvSpPr>
        <p:spPr>
          <a:xfrm>
            <a:off x="548640" y="3739896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tourist_id  🔑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005072"/>
            <a:ext cx="3474720" cy="310896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" name="Text 14"/>
          <p:cNvSpPr txBox="1"/>
          <p:nvPr/>
        </p:nvSpPr>
        <p:spPr>
          <a:xfrm>
            <a:off x="548640" y="4050792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nationality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4315968"/>
            <a:ext cx="3474720" cy="310896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Text 16"/>
          <p:cNvSpPr txBox="1"/>
          <p:nvPr/>
        </p:nvSpPr>
        <p:spPr>
          <a:xfrm>
            <a:off x="548640" y="4361688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nationality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4626864"/>
            <a:ext cx="3474720" cy="310896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" name="Text 18"/>
          <p:cNvSpPr txBox="1"/>
          <p:nvPr/>
        </p:nvSpPr>
        <p:spPr>
          <a:xfrm>
            <a:off x="548640" y="4672584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age_group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310128"/>
            <a:ext cx="3474720" cy="1627632"/>
          </a:xfrm>
          <a:prstGeom prst="rect">
            <a:avLst/>
          </a:prstGeom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" name="Shape 20"/>
          <p:cNvSpPr/>
          <p:nvPr/>
        </p:nvSpPr>
        <p:spPr>
          <a:xfrm>
            <a:off x="8229600" y="3310128"/>
            <a:ext cx="3474720" cy="384048"/>
          </a:xfrm>
          <a:prstGeom prst="rect">
            <a:avLst/>
          </a:prstGeom>
          <a:solidFill>
            <a:srgbClr val="0F2A3F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" name="Text 21"/>
          <p:cNvSpPr txBox="1"/>
          <p:nvPr/>
        </p:nvSpPr>
        <p:spPr>
          <a:xfrm>
            <a:off x="8321040" y="3364992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229600" y="3694176"/>
            <a:ext cx="3474720" cy="310896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" name="Text 23"/>
          <p:cNvSpPr txBox="1"/>
          <p:nvPr/>
        </p:nvSpPr>
        <p:spPr>
          <a:xfrm>
            <a:off x="8321040" y="3739896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visit_id  🔑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229600" y="4005072"/>
            <a:ext cx="3474720" cy="310896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" name="Text 25"/>
          <p:cNvSpPr txBox="1"/>
          <p:nvPr/>
        </p:nvSpPr>
        <p:spPr>
          <a:xfrm>
            <a:off x="8321040" y="4050792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tourist_id  🔗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229600" y="4315968"/>
            <a:ext cx="3474720" cy="310896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" name="Text 27"/>
          <p:cNvSpPr txBox="1"/>
          <p:nvPr/>
        </p:nvSpPr>
        <p:spPr>
          <a:xfrm>
            <a:off x="8321040" y="4361688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destination_id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229600" y="4626864"/>
            <a:ext cx="3474720" cy="310896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1" name="Text 29"/>
          <p:cNvSpPr txBox="1"/>
          <p:nvPr/>
        </p:nvSpPr>
        <p:spPr>
          <a:xfrm>
            <a:off x="8321040" y="4672584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spending_php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229600" y="3310128"/>
            <a:ext cx="3474720" cy="1627632"/>
          </a:xfrm>
          <a:prstGeom prst="rect">
            <a:avLst/>
          </a:prstGeom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3" name="Shape 31"/>
          <p:cNvSpPr/>
          <p:nvPr/>
        </p:nvSpPr>
        <p:spPr>
          <a:xfrm>
            <a:off x="4114800" y="3822192"/>
            <a:ext cx="3931920" cy="658368"/>
          </a:xfrm>
          <a:prstGeom prst="rect">
            <a:avLst/>
          </a:prstGeom>
          <a:solidFill>
            <a:srgbClr val="0A1E30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4" name="Text 32"/>
          <p:cNvSpPr txBox="1"/>
          <p:nvPr/>
        </p:nvSpPr>
        <p:spPr>
          <a:xfrm>
            <a:off x="4114800" y="3968496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 on  tourist_id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3931920" y="4151376"/>
            <a:ext cx="182880" cy="9144"/>
          </a:xfrm>
          <a:prstGeom prst="line">
            <a:avLst/>
          </a:prstGeom>
          <a:noFill/>
          <a:ln w="1905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36" name="Shape 34"/>
          <p:cNvSpPr/>
          <p:nvPr/>
        </p:nvSpPr>
        <p:spPr>
          <a:xfrm>
            <a:off x="8046720" y="4151376"/>
            <a:ext cx="182880" cy="9144"/>
          </a:xfrm>
          <a:prstGeom prst="line">
            <a:avLst/>
          </a:prstGeom>
          <a:noFill/>
          <a:ln w="1905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</p:spTree>
  </p:cSld>
  <p:clrMapOvr>
    <a:masterClrMapping/>
  </p:clrMapOvr>
  <p:transition spd="med">
    <p:push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101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SECTION 7 · COMBINING TABLES</a:t>
            </a:r>
          </a:p>
        </p:txBody>
      </p:sp>
      <p:sp>
        <p:nvSpPr>
          <p:cNvPr id="102" name="t102"/>
          <p:cNvSpPr txBox="1"/>
          <p:nvPr/>
        </p:nvSpPr>
        <p:spPr>
          <a:xfrm>
            <a:off x="457200" y="457200"/>
            <a:ext cx="9144000" cy="5943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Types of JOIN</a:t>
            </a:r>
          </a:p>
        </p:txBody>
      </p:sp>
      <p:sp>
        <p:nvSpPr>
          <p:cNvPr id="103" name="r103"/>
          <p:cNvSpPr/>
          <p:nvPr/>
        </p:nvSpPr>
        <p:spPr>
          <a:xfrm>
            <a:off x="457200" y="969264"/>
            <a:ext cx="2286000" cy="41148"/>
          </a:xfrm>
          <a:prstGeom prst="rect">
            <a:avLst/>
          </a:prstGeom>
          <a:solidFill>
            <a:srgbClr val="00C9A7"/>
          </a:solidFill>
          <a:ln w="635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4" name="t104"/>
          <p:cNvSpPr txBox="1"/>
          <p:nvPr/>
        </p:nvSpPr>
        <p:spPr>
          <a:xfrm>
            <a:off x="457200" y="1060704"/>
            <a:ext cx="201168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JOIN Type</a:t>
            </a:r>
          </a:p>
        </p:txBody>
      </p:sp>
      <p:sp>
        <p:nvSpPr>
          <p:cNvPr id="105" name="t105"/>
          <p:cNvSpPr txBox="1"/>
          <p:nvPr/>
        </p:nvSpPr>
        <p:spPr>
          <a:xfrm>
            <a:off x="2560320" y="1060704"/>
            <a:ext cx="448056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What gets returned</a:t>
            </a:r>
          </a:p>
        </p:txBody>
      </p:sp>
      <p:sp>
        <p:nvSpPr>
          <p:cNvPr id="106" name="t106"/>
          <p:cNvSpPr txBox="1"/>
          <p:nvPr/>
        </p:nvSpPr>
        <p:spPr>
          <a:xfrm>
            <a:off x="7178040" y="1060704"/>
            <a:ext cx="45720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Definition &amp; Use Case</a:t>
            </a:r>
          </a:p>
        </p:txBody>
      </p:sp>
      <p:sp>
        <p:nvSpPr>
          <p:cNvPr id="107" name="r107"/>
          <p:cNvSpPr/>
          <p:nvPr/>
        </p:nvSpPr>
        <p:spPr>
          <a:xfrm>
            <a:off x="457200" y="1280160"/>
            <a:ext cx="11247120" cy="27432"/>
          </a:xfrm>
          <a:prstGeom prst="rect">
            <a:avLst/>
          </a:prstGeom>
          <a:solidFill>
            <a:srgbClr val="0A1E30"/>
          </a:solidFill>
          <a:ln w="6350">
            <a:solidFill>
              <a:srgbClr val="0A1E30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108"/>
          <p:cNvSpPr/>
          <p:nvPr/>
        </p:nvSpPr>
        <p:spPr>
          <a:xfrm>
            <a:off x="457200" y="1371600"/>
            <a:ext cx="11247120" cy="1207007"/>
          </a:xfrm>
          <a:prstGeom prst="rect">
            <a:avLst/>
          </a:prstGeom>
          <a:solidFill>
            <a:srgbClr val="0A1A2A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t109"/>
          <p:cNvSpPr txBox="1"/>
          <p:nvPr/>
        </p:nvSpPr>
        <p:spPr>
          <a:xfrm>
            <a:off x="457200" y="1773936"/>
            <a:ext cx="2011680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INNER JOIN</a:t>
            </a:r>
          </a:p>
        </p:txBody>
      </p:sp>
      <p:sp>
        <p:nvSpPr>
          <p:cNvPr id="110" name="r110"/>
          <p:cNvSpPr/>
          <p:nvPr/>
        </p:nvSpPr>
        <p:spPr>
          <a:xfrm>
            <a:off x="2560320" y="1554480"/>
            <a:ext cx="1481328" cy="438912"/>
          </a:xfrm>
          <a:prstGeom prst="rect">
            <a:avLst/>
          </a:prstGeom>
          <a:solidFill>
            <a:srgbClr val="0A1E2E"/>
          </a:solidFill>
          <a:ln w="5080">
            <a:solidFill>
              <a:srgbClr val="1A3A4A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1" name="t111"/>
          <p:cNvSpPr txBox="1"/>
          <p:nvPr/>
        </p:nvSpPr>
        <p:spPr>
          <a:xfrm>
            <a:off x="2560320" y="1673352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2A5A6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tourists</a:t>
            </a:r>
          </a:p>
        </p:txBody>
      </p:sp>
      <p:sp>
        <p:nvSpPr>
          <p:cNvPr id="112" name="r112"/>
          <p:cNvSpPr/>
          <p:nvPr/>
        </p:nvSpPr>
        <p:spPr>
          <a:xfrm>
            <a:off x="4059935" y="1554480"/>
            <a:ext cx="1481328" cy="438912"/>
          </a:xfrm>
          <a:prstGeom prst="rect">
            <a:avLst/>
          </a:prstGeom>
          <a:solidFill>
            <a:srgbClr val="00C9A7"/>
          </a:solidFill>
          <a:ln w="1778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3" name="t113"/>
          <p:cNvSpPr txBox="1"/>
          <p:nvPr/>
        </p:nvSpPr>
        <p:spPr>
          <a:xfrm>
            <a:off x="4059935" y="1673352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0A162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matched</a:t>
            </a:r>
          </a:p>
        </p:txBody>
      </p:sp>
      <p:sp>
        <p:nvSpPr>
          <p:cNvPr id="114" name="r114"/>
          <p:cNvSpPr/>
          <p:nvPr/>
        </p:nvSpPr>
        <p:spPr>
          <a:xfrm>
            <a:off x="5559552" y="1554480"/>
            <a:ext cx="1481328" cy="438912"/>
          </a:xfrm>
          <a:prstGeom prst="rect">
            <a:avLst/>
          </a:prstGeom>
          <a:solidFill>
            <a:srgbClr val="0A1E2E"/>
          </a:solidFill>
          <a:ln w="5080">
            <a:solidFill>
              <a:srgbClr val="1A3A4A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5" name="t115"/>
          <p:cNvSpPr txBox="1"/>
          <p:nvPr/>
        </p:nvSpPr>
        <p:spPr>
          <a:xfrm>
            <a:off x="5559552" y="1673352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2A5A6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visits</a:t>
            </a:r>
          </a:p>
        </p:txBody>
      </p:sp>
      <p:sp>
        <p:nvSpPr>
          <p:cNvPr id="116" name="t116"/>
          <p:cNvSpPr txBox="1"/>
          <p:nvPr/>
        </p:nvSpPr>
        <p:spPr>
          <a:xfrm>
            <a:off x="7178040" y="1444752"/>
            <a:ext cx="45720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Returns only rows with matching values in both tables.</a:t>
            </a:r>
          </a:p>
        </p:txBody>
      </p:sp>
      <p:sp>
        <p:nvSpPr>
          <p:cNvPr id="117" name="t117"/>
          <p:cNvSpPr txBox="1"/>
          <p:nvPr/>
        </p:nvSpPr>
        <p:spPr>
          <a:xfrm>
            <a:off x="7178040" y="1645920"/>
            <a:ext cx="45720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Non-matching rows are excluded entirely.</a:t>
            </a:r>
          </a:p>
        </p:txBody>
      </p:sp>
      <p:sp>
        <p:nvSpPr>
          <p:cNvPr id="118" name="t118"/>
          <p:cNvSpPr txBox="1"/>
          <p:nvPr/>
        </p:nvSpPr>
        <p:spPr>
          <a:xfrm>
            <a:off x="7178040" y="1883664"/>
            <a:ext cx="4572000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1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Use case: When you need complete, fully paired records from both tables.</a:t>
            </a:r>
          </a:p>
        </p:txBody>
      </p:sp>
      <p:sp>
        <p:nvSpPr>
          <p:cNvPr id="119" name="t119"/>
          <p:cNvSpPr txBox="1"/>
          <p:nvPr/>
        </p:nvSpPr>
        <p:spPr>
          <a:xfrm>
            <a:off x="7178040" y="2212848"/>
            <a:ext cx="4572000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Fully supported in SQLite</a:t>
            </a:r>
          </a:p>
        </p:txBody>
      </p:sp>
      <p:sp>
        <p:nvSpPr>
          <p:cNvPr id="120" name="r120"/>
          <p:cNvSpPr/>
          <p:nvPr/>
        </p:nvSpPr>
        <p:spPr>
          <a:xfrm>
            <a:off x="457200" y="2578608"/>
            <a:ext cx="11247120" cy="27432"/>
          </a:xfrm>
          <a:prstGeom prst="rect">
            <a:avLst/>
          </a:prstGeom>
          <a:solidFill>
            <a:srgbClr val="0A1E30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1" name="t121"/>
          <p:cNvSpPr txBox="1"/>
          <p:nvPr/>
        </p:nvSpPr>
        <p:spPr>
          <a:xfrm>
            <a:off x="457200" y="3035808"/>
            <a:ext cx="2011680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LEFT JOIN</a:t>
            </a:r>
          </a:p>
        </p:txBody>
      </p:sp>
      <p:sp>
        <p:nvSpPr>
          <p:cNvPr id="122" name="r122"/>
          <p:cNvSpPr/>
          <p:nvPr/>
        </p:nvSpPr>
        <p:spPr>
          <a:xfrm>
            <a:off x="2560320" y="2816352"/>
            <a:ext cx="1481328" cy="438912"/>
          </a:xfrm>
          <a:prstGeom prst="rect">
            <a:avLst/>
          </a:prstGeom>
          <a:solidFill>
            <a:srgbClr val="4FC3F7"/>
          </a:solidFill>
          <a:ln w="17780">
            <a:solidFill>
              <a:srgbClr val="4FC3F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3" name="t123"/>
          <p:cNvSpPr txBox="1"/>
          <p:nvPr/>
        </p:nvSpPr>
        <p:spPr>
          <a:xfrm>
            <a:off x="2560320" y="2935224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0A162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tourists</a:t>
            </a:r>
          </a:p>
        </p:txBody>
      </p:sp>
      <p:sp>
        <p:nvSpPr>
          <p:cNvPr id="124" name="r124"/>
          <p:cNvSpPr/>
          <p:nvPr/>
        </p:nvSpPr>
        <p:spPr>
          <a:xfrm>
            <a:off x="4059935" y="2816352"/>
            <a:ext cx="1481328" cy="438912"/>
          </a:xfrm>
          <a:prstGeom prst="rect">
            <a:avLst/>
          </a:prstGeom>
          <a:solidFill>
            <a:srgbClr val="0A1E2E"/>
          </a:solidFill>
          <a:ln w="5080">
            <a:solidFill>
              <a:srgbClr val="1A3A4A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5" name="t125"/>
          <p:cNvSpPr txBox="1"/>
          <p:nvPr/>
        </p:nvSpPr>
        <p:spPr>
          <a:xfrm>
            <a:off x="4059935" y="2935224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2A5A6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matched</a:t>
            </a:r>
          </a:p>
        </p:txBody>
      </p:sp>
      <p:sp>
        <p:nvSpPr>
          <p:cNvPr id="126" name="r126"/>
          <p:cNvSpPr/>
          <p:nvPr/>
        </p:nvSpPr>
        <p:spPr>
          <a:xfrm>
            <a:off x="5559552" y="2816352"/>
            <a:ext cx="1481328" cy="438912"/>
          </a:xfrm>
          <a:prstGeom prst="rect">
            <a:avLst/>
          </a:prstGeom>
          <a:solidFill>
            <a:srgbClr val="0A1E2E"/>
          </a:solidFill>
          <a:ln w="5080">
            <a:solidFill>
              <a:srgbClr val="1A3A4A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7" name="t127"/>
          <p:cNvSpPr txBox="1"/>
          <p:nvPr/>
        </p:nvSpPr>
        <p:spPr>
          <a:xfrm>
            <a:off x="5559552" y="2935224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2A5A6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visits</a:t>
            </a:r>
          </a:p>
        </p:txBody>
      </p:sp>
      <p:sp>
        <p:nvSpPr>
          <p:cNvPr id="128" name="t128"/>
          <p:cNvSpPr txBox="1"/>
          <p:nvPr/>
        </p:nvSpPr>
        <p:spPr>
          <a:xfrm>
            <a:off x="7178040" y="2706624"/>
            <a:ext cx="45720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Returns all rows from the left table, plus matching rows from the right.</a:t>
            </a:r>
          </a:p>
        </p:txBody>
      </p:sp>
      <p:sp>
        <p:nvSpPr>
          <p:cNvPr id="129" name="t129"/>
          <p:cNvSpPr txBox="1"/>
          <p:nvPr/>
        </p:nvSpPr>
        <p:spPr>
          <a:xfrm>
            <a:off x="7178040" y="2907791"/>
            <a:ext cx="45720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No match on the right = NULL.</a:t>
            </a:r>
          </a:p>
        </p:txBody>
      </p:sp>
      <p:sp>
        <p:nvSpPr>
          <p:cNvPr id="130" name="t130"/>
          <p:cNvSpPr txBox="1"/>
          <p:nvPr/>
        </p:nvSpPr>
        <p:spPr>
          <a:xfrm>
            <a:off x="7178040" y="3145536"/>
            <a:ext cx="4572000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1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Use case: Keep your primary table intact while pulling in optional data.</a:t>
            </a:r>
          </a:p>
        </p:txBody>
      </p:sp>
      <p:sp>
        <p:nvSpPr>
          <p:cNvPr id="131" name="t131"/>
          <p:cNvSpPr txBox="1"/>
          <p:nvPr/>
        </p:nvSpPr>
        <p:spPr>
          <a:xfrm>
            <a:off x="7178040" y="3474720"/>
            <a:ext cx="4572000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Fully supported in SQLite</a:t>
            </a:r>
          </a:p>
        </p:txBody>
      </p:sp>
      <p:sp>
        <p:nvSpPr>
          <p:cNvPr id="132" name="r132"/>
          <p:cNvSpPr/>
          <p:nvPr/>
        </p:nvSpPr>
        <p:spPr>
          <a:xfrm>
            <a:off x="457200" y="3840480"/>
            <a:ext cx="11247120" cy="27432"/>
          </a:xfrm>
          <a:prstGeom prst="rect">
            <a:avLst/>
          </a:prstGeom>
          <a:solidFill>
            <a:srgbClr val="0A1E30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3" name="r133"/>
          <p:cNvSpPr/>
          <p:nvPr/>
        </p:nvSpPr>
        <p:spPr>
          <a:xfrm>
            <a:off x="457200" y="3895344"/>
            <a:ext cx="11247120" cy="1207007"/>
          </a:xfrm>
          <a:prstGeom prst="rect">
            <a:avLst/>
          </a:prstGeom>
          <a:solidFill>
            <a:srgbClr val="0A1A2A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4" name="t134"/>
          <p:cNvSpPr txBox="1"/>
          <p:nvPr/>
        </p:nvSpPr>
        <p:spPr>
          <a:xfrm>
            <a:off x="457200" y="4297680"/>
            <a:ext cx="2011680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RIGHT JOIN</a:t>
            </a:r>
          </a:p>
        </p:txBody>
      </p:sp>
      <p:sp>
        <p:nvSpPr>
          <p:cNvPr id="135" name="r135"/>
          <p:cNvSpPr/>
          <p:nvPr/>
        </p:nvSpPr>
        <p:spPr>
          <a:xfrm>
            <a:off x="2560320" y="4078224"/>
            <a:ext cx="1481328" cy="438912"/>
          </a:xfrm>
          <a:prstGeom prst="rect">
            <a:avLst/>
          </a:prstGeom>
          <a:solidFill>
            <a:srgbClr val="0A1E2E"/>
          </a:solidFill>
          <a:ln w="5080">
            <a:solidFill>
              <a:srgbClr val="1A3A4A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6" name="t136"/>
          <p:cNvSpPr txBox="1"/>
          <p:nvPr/>
        </p:nvSpPr>
        <p:spPr>
          <a:xfrm>
            <a:off x="2560320" y="4197096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2A5A6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tourists</a:t>
            </a:r>
          </a:p>
        </p:txBody>
      </p:sp>
      <p:sp>
        <p:nvSpPr>
          <p:cNvPr id="137" name="r137"/>
          <p:cNvSpPr/>
          <p:nvPr/>
        </p:nvSpPr>
        <p:spPr>
          <a:xfrm>
            <a:off x="4059935" y="4078224"/>
            <a:ext cx="1481328" cy="438912"/>
          </a:xfrm>
          <a:prstGeom prst="rect">
            <a:avLst/>
          </a:prstGeom>
          <a:solidFill>
            <a:srgbClr val="0A1E2E"/>
          </a:solidFill>
          <a:ln w="5080">
            <a:solidFill>
              <a:srgbClr val="1A3A4A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8" name="t138"/>
          <p:cNvSpPr txBox="1"/>
          <p:nvPr/>
        </p:nvSpPr>
        <p:spPr>
          <a:xfrm>
            <a:off x="4059935" y="4197096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2A5A6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matched</a:t>
            </a:r>
          </a:p>
        </p:txBody>
      </p:sp>
      <p:sp>
        <p:nvSpPr>
          <p:cNvPr id="139" name="r139"/>
          <p:cNvSpPr/>
          <p:nvPr/>
        </p:nvSpPr>
        <p:spPr>
          <a:xfrm>
            <a:off x="5559552" y="4078224"/>
            <a:ext cx="1481328" cy="438912"/>
          </a:xfrm>
          <a:prstGeom prst="rect">
            <a:avLst/>
          </a:prstGeom>
          <a:solidFill>
            <a:srgbClr val="F59E0B"/>
          </a:solidFill>
          <a:ln w="17780">
            <a:solidFill>
              <a:srgbClr val="F59E0B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0" name="t140"/>
          <p:cNvSpPr txBox="1"/>
          <p:nvPr/>
        </p:nvSpPr>
        <p:spPr>
          <a:xfrm>
            <a:off x="5559552" y="4197096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0A162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visits</a:t>
            </a:r>
          </a:p>
        </p:txBody>
      </p:sp>
      <p:sp>
        <p:nvSpPr>
          <p:cNvPr id="141" name="t141"/>
          <p:cNvSpPr txBox="1"/>
          <p:nvPr/>
        </p:nvSpPr>
        <p:spPr>
          <a:xfrm>
            <a:off x="7178040" y="3968496"/>
            <a:ext cx="45720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Returns all rows from the right table, plus matching rows from the left.</a:t>
            </a:r>
          </a:p>
        </p:txBody>
      </p:sp>
      <p:sp>
        <p:nvSpPr>
          <p:cNvPr id="142" name="t142"/>
          <p:cNvSpPr txBox="1"/>
          <p:nvPr/>
        </p:nvSpPr>
        <p:spPr>
          <a:xfrm>
            <a:off x="7178040" y="4169663"/>
            <a:ext cx="45720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No match on the left = NULL.</a:t>
            </a:r>
          </a:p>
        </p:txBody>
      </p:sp>
      <p:sp>
        <p:nvSpPr>
          <p:cNvPr id="143" name="t143"/>
          <p:cNvSpPr txBox="1"/>
          <p:nvPr/>
        </p:nvSpPr>
        <p:spPr>
          <a:xfrm>
            <a:off x="7178040" y="4407408"/>
            <a:ext cx="4572000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1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Use case: Rarely used — any RIGHT JOIN can be rewritten as a LEFT JOIN by swapping table order.</a:t>
            </a:r>
          </a:p>
        </p:txBody>
      </p:sp>
      <p:sp>
        <p:nvSpPr>
          <p:cNvPr id="144" name="t144"/>
          <p:cNvSpPr txBox="1"/>
          <p:nvPr/>
        </p:nvSpPr>
        <p:spPr>
          <a:xfrm>
            <a:off x="7178040" y="4736592"/>
            <a:ext cx="4572000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Limited SQLite support (v3.39+)</a:t>
            </a:r>
          </a:p>
        </p:txBody>
      </p:sp>
      <p:sp>
        <p:nvSpPr>
          <p:cNvPr id="145" name="r145"/>
          <p:cNvSpPr/>
          <p:nvPr/>
        </p:nvSpPr>
        <p:spPr>
          <a:xfrm>
            <a:off x="457200" y="5102352"/>
            <a:ext cx="11247120" cy="27432"/>
          </a:xfrm>
          <a:prstGeom prst="rect">
            <a:avLst/>
          </a:prstGeom>
          <a:solidFill>
            <a:srgbClr val="0A1E30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6" name="t146"/>
          <p:cNvSpPr txBox="1"/>
          <p:nvPr/>
        </p:nvSpPr>
        <p:spPr>
          <a:xfrm>
            <a:off x="457200" y="5559552"/>
            <a:ext cx="2011680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A78BFA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FULL OUTER JOIN</a:t>
            </a:r>
          </a:p>
        </p:txBody>
      </p:sp>
      <p:sp>
        <p:nvSpPr>
          <p:cNvPr id="147" name="r147"/>
          <p:cNvSpPr/>
          <p:nvPr/>
        </p:nvSpPr>
        <p:spPr>
          <a:xfrm>
            <a:off x="2560320" y="5340096"/>
            <a:ext cx="1481328" cy="438912"/>
          </a:xfrm>
          <a:prstGeom prst="rect">
            <a:avLst/>
          </a:prstGeom>
          <a:solidFill>
            <a:srgbClr val="A78BFA"/>
          </a:solidFill>
          <a:ln w="17780">
            <a:solidFill>
              <a:srgbClr val="A78BFA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8" name="t148"/>
          <p:cNvSpPr txBox="1"/>
          <p:nvPr/>
        </p:nvSpPr>
        <p:spPr>
          <a:xfrm>
            <a:off x="2560320" y="5458968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0A162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tourists</a:t>
            </a:r>
          </a:p>
        </p:txBody>
      </p:sp>
      <p:sp>
        <p:nvSpPr>
          <p:cNvPr id="149" name="r149"/>
          <p:cNvSpPr/>
          <p:nvPr/>
        </p:nvSpPr>
        <p:spPr>
          <a:xfrm>
            <a:off x="4059935" y="5340096"/>
            <a:ext cx="1481328" cy="438912"/>
          </a:xfrm>
          <a:prstGeom prst="rect">
            <a:avLst/>
          </a:prstGeom>
          <a:solidFill>
            <a:srgbClr val="0A1E2E"/>
          </a:solidFill>
          <a:ln w="5080">
            <a:solidFill>
              <a:srgbClr val="1A3A4A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0" name="t150"/>
          <p:cNvSpPr txBox="1"/>
          <p:nvPr/>
        </p:nvSpPr>
        <p:spPr>
          <a:xfrm>
            <a:off x="4059935" y="5458968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2A5A6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matched</a:t>
            </a:r>
          </a:p>
        </p:txBody>
      </p:sp>
      <p:sp>
        <p:nvSpPr>
          <p:cNvPr id="151" name="r151"/>
          <p:cNvSpPr/>
          <p:nvPr/>
        </p:nvSpPr>
        <p:spPr>
          <a:xfrm>
            <a:off x="5559552" y="5340096"/>
            <a:ext cx="1481328" cy="438912"/>
          </a:xfrm>
          <a:prstGeom prst="rect">
            <a:avLst/>
          </a:prstGeom>
          <a:solidFill>
            <a:srgbClr val="A78BFA"/>
          </a:solidFill>
          <a:ln w="17780">
            <a:solidFill>
              <a:srgbClr val="A78BFA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2" name="t152"/>
          <p:cNvSpPr txBox="1"/>
          <p:nvPr/>
        </p:nvSpPr>
        <p:spPr>
          <a:xfrm>
            <a:off x="5559552" y="5458968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0A162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visits</a:t>
            </a:r>
          </a:p>
        </p:txBody>
      </p:sp>
      <p:sp>
        <p:nvSpPr>
          <p:cNvPr id="153" name="t153"/>
          <p:cNvSpPr txBox="1"/>
          <p:nvPr/>
        </p:nvSpPr>
        <p:spPr>
          <a:xfrm>
            <a:off x="7178040" y="5230368"/>
            <a:ext cx="45720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Returns all rows from both tables. Matches align side-by-side;</a:t>
            </a:r>
          </a:p>
        </p:txBody>
      </p:sp>
      <p:sp>
        <p:nvSpPr>
          <p:cNvPr id="154" name="t154"/>
          <p:cNvSpPr txBox="1"/>
          <p:nvPr/>
        </p:nvSpPr>
        <p:spPr>
          <a:xfrm>
            <a:off x="7178040" y="5431536"/>
            <a:ext cx="45720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where no match exists, NULLs fill the gaps.</a:t>
            </a:r>
          </a:p>
        </p:txBody>
      </p:sp>
      <p:sp>
        <p:nvSpPr>
          <p:cNvPr id="155" name="t155"/>
          <p:cNvSpPr txBox="1"/>
          <p:nvPr/>
        </p:nvSpPr>
        <p:spPr>
          <a:xfrm>
            <a:off x="7178040" y="5669279"/>
            <a:ext cx="4572000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1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Use case: Data reconciliation — finding mismatches between two systems.</a:t>
            </a:r>
          </a:p>
        </p:txBody>
      </p:sp>
      <p:sp>
        <p:nvSpPr>
          <p:cNvPr id="156" name="t156"/>
          <p:cNvSpPr txBox="1"/>
          <p:nvPr/>
        </p:nvSpPr>
        <p:spPr>
          <a:xfrm>
            <a:off x="7178040" y="5998464"/>
            <a:ext cx="4572000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Not supported in SQLite</a:t>
            </a:r>
          </a:p>
        </p:txBody>
      </p:sp>
      <p:sp>
        <p:nvSpPr>
          <p:cNvPr id="157" name="r157"/>
          <p:cNvSpPr/>
          <p:nvPr/>
        </p:nvSpPr>
        <p:spPr>
          <a:xfrm>
            <a:off x="457200" y="6364224"/>
            <a:ext cx="11247120" cy="27432"/>
          </a:xfrm>
          <a:prstGeom prst="rect">
            <a:avLst/>
          </a:prstGeom>
          <a:solidFill>
            <a:srgbClr val="0A1E30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8" name="r158"/>
          <p:cNvSpPr/>
          <p:nvPr/>
        </p:nvSpPr>
        <p:spPr>
          <a:xfrm>
            <a:off x="457200" y="6382512"/>
            <a:ext cx="11247120" cy="384048"/>
          </a:xfrm>
          <a:prstGeom prst="rect">
            <a:avLst/>
          </a:prstGeom>
          <a:solidFill>
            <a:srgbClr val="0F2235"/>
          </a:solidFill>
          <a:ln w="762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9" name="t159"/>
          <p:cNvSpPr txBox="1"/>
          <p:nvPr/>
        </p:nvSpPr>
        <p:spPr>
          <a:xfrm>
            <a:off x="640080" y="6492240"/>
            <a:ext cx="109728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In practice: INNER JOIN and LEFT JOIN cover 95% of real-world use cases. RIGHT JOIN and FULL OUTER JOIN are rare.</a:t>
            </a:r>
          </a:p>
        </p:txBody>
      </p:sp>
    </p:spTree>
  </p:cSld>
  <p:clrMapOvr>
    <a:masterClrMapping/>
  </p:clrMapOvr>
  <p:transition spd="slow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10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r10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r10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104"/>
          <p:cNvSpPr txBox="1"/>
          <p:nvPr/>
        </p:nvSpPr>
        <p:spPr>
          <a:xfrm>
            <a:off x="502920" y="2377440"/>
            <a:ext cx="11430000" cy="12801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/>
              </a:rPr>
              <a:t>Bridging to R / Python</a:t>
            </a:r>
          </a:p>
        </p:txBody>
      </p:sp>
      <p:sp>
        <p:nvSpPr>
          <p:cNvPr id="105" name="r105"/>
          <p:cNvSpPr/>
          <p:nvPr/>
        </p:nvSpPr>
        <p:spPr>
          <a:xfrm>
            <a:off x="502920" y="3584448"/>
            <a:ext cx="8686800" cy="6400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6" name="t106"/>
          <p:cNvSpPr txBox="1"/>
          <p:nvPr/>
        </p:nvSpPr>
        <p:spPr>
          <a:xfrm>
            <a:off x="521207" y="3767328"/>
            <a:ext cx="11430000" cy="3657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1400" b="0" dirty="0">
                <a:solidFill>
                  <a:srgbClr val="94A3B8"/>
                </a:solidFill>
                <a:latin typeface="Calibri"/>
              </a:rPr>
              <a:t>SQL gets the data ready  ·  R and Python take it further</a:t>
            </a:r>
          </a:p>
        </p:txBody>
      </p:sp>
    </p:spTree>
  </p:cSld>
  <p:clrMapOvr>
    <a:masterClrMapping/>
  </p:clrMapOvr>
  <p:transition spd="slow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8 · BRIDGING TO R / PYTHON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Gets the Data Ready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365760" y="1435608"/>
            <a:ext cx="914400" cy="640080"/>
          </a:xfrm>
          <a:prstGeom prst="rect">
            <a:avLst/>
          </a:prstGeom>
          <a:solidFill>
            <a:srgbClr val="0F2235"/>
          </a:solidFill>
          <a:ln w="1016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Shape 4"/>
          <p:cNvSpPr/>
          <p:nvPr/>
        </p:nvSpPr>
        <p:spPr>
          <a:xfrm>
            <a:off x="438912" y="1474013"/>
            <a:ext cx="640080" cy="857707"/>
          </a:xfrm>
          <a:prstGeom prst="rect">
            <a:avLst/>
          </a:prstGeom>
          <a:solidFill>
            <a:srgbClr val="0F2235"/>
          </a:solidFill>
          <a:ln w="1524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" name="Shape 5"/>
          <p:cNvSpPr/>
          <p:nvPr/>
        </p:nvSpPr>
        <p:spPr>
          <a:xfrm>
            <a:off x="438912" y="1371600"/>
            <a:ext cx="640080" cy="204826"/>
          </a:xfrm>
          <a:prstGeom prst="ellipse">
            <a:avLst/>
          </a:prstGeom>
          <a:solidFill>
            <a:srgbClr val="0A1E30"/>
          </a:solidFill>
          <a:ln w="1524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" name="Shape 6"/>
          <p:cNvSpPr/>
          <p:nvPr/>
        </p:nvSpPr>
        <p:spPr>
          <a:xfrm>
            <a:off x="438912" y="2229307"/>
            <a:ext cx="640080" cy="204826"/>
          </a:xfrm>
          <a:prstGeom prst="ellipse">
            <a:avLst/>
          </a:prstGeom>
          <a:solidFill>
            <a:srgbClr val="0F2235"/>
          </a:solidFill>
          <a:ln w="1524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" name="Shape 7"/>
          <p:cNvSpPr/>
          <p:nvPr/>
        </p:nvSpPr>
        <p:spPr>
          <a:xfrm>
            <a:off x="475488" y="1668085"/>
            <a:ext cx="566928" cy="92172"/>
          </a:xfrm>
          <a:prstGeom prst="ellipse">
            <a:avLst/>
          </a:prstGeom>
          <a:solidFill>
            <a:srgbClr val="0F2235"/>
          </a:solidFill>
          <a:ln w="635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" name="Shape 8"/>
          <p:cNvSpPr/>
          <p:nvPr/>
        </p:nvSpPr>
        <p:spPr>
          <a:xfrm>
            <a:off x="475488" y="1873935"/>
            <a:ext cx="566928" cy="92172"/>
          </a:xfrm>
          <a:prstGeom prst="ellipse">
            <a:avLst/>
          </a:prstGeom>
          <a:solidFill>
            <a:srgbClr val="0F2235"/>
          </a:solidFill>
          <a:ln w="635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" name="Shape 9"/>
          <p:cNvSpPr/>
          <p:nvPr/>
        </p:nvSpPr>
        <p:spPr>
          <a:xfrm>
            <a:off x="475488" y="2079785"/>
            <a:ext cx="566928" cy="92172"/>
          </a:xfrm>
          <a:prstGeom prst="ellipse">
            <a:avLst/>
          </a:prstGeom>
          <a:solidFill>
            <a:srgbClr val="0F2235"/>
          </a:solidFill>
          <a:ln w="635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 10"/>
          <p:cNvSpPr txBox="1"/>
          <p:nvPr/>
        </p:nvSpPr>
        <p:spPr>
          <a:xfrm>
            <a:off x="365760" y="2048256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98448" y="1801368"/>
            <a:ext cx="502920" cy="9144"/>
          </a:xfrm>
          <a:prstGeom prst="line">
            <a:avLst/>
          </a:prstGeom>
          <a:noFill/>
          <a:ln w="1905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14" name="Shape 12"/>
          <p:cNvSpPr/>
          <p:nvPr/>
        </p:nvSpPr>
        <p:spPr>
          <a:xfrm>
            <a:off x="1828800" y="1408176"/>
            <a:ext cx="1737360" cy="713232"/>
          </a:xfrm>
          <a:prstGeom prst="rect">
            <a:avLst/>
          </a:prstGeom>
          <a:solidFill>
            <a:srgbClr val="0A1E30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" name="Text 13"/>
          <p:cNvSpPr txBox="1"/>
          <p:nvPr/>
        </p:nvSpPr>
        <p:spPr>
          <a:xfrm>
            <a:off x="1828800" y="1536192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3584448" y="1801368"/>
            <a:ext cx="502920" cy="9144"/>
          </a:xfrm>
          <a:prstGeom prst="line">
            <a:avLst/>
          </a:prstGeom>
          <a:noFill/>
          <a:ln w="1905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17" name="Shape 15"/>
          <p:cNvSpPr/>
          <p:nvPr/>
        </p:nvSpPr>
        <p:spPr>
          <a:xfrm>
            <a:off x="4114800" y="1435608"/>
            <a:ext cx="1737360" cy="640080"/>
          </a:xfrm>
          <a:prstGeom prst="rect">
            <a:avLst/>
          </a:prstGeom>
          <a:solidFill>
            <a:srgbClr val="0F2235"/>
          </a:solidFill>
          <a:ln w="1016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Text 16"/>
          <p:cNvSpPr txBox="1"/>
          <p:nvPr/>
        </p:nvSpPr>
        <p:spPr>
          <a:xfrm>
            <a:off x="4114800" y="1591056"/>
            <a:ext cx="1737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/ Python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870448" y="1801368"/>
            <a:ext cx="502920" cy="9144"/>
          </a:xfrm>
          <a:prstGeom prst="line">
            <a:avLst/>
          </a:prstGeom>
          <a:noFill/>
          <a:ln w="19050">
            <a:solidFill>
              <a:srgbClr val="4FC3F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20" name="Shape 18"/>
          <p:cNvSpPr/>
          <p:nvPr/>
        </p:nvSpPr>
        <p:spPr>
          <a:xfrm>
            <a:off x="6400800" y="1280160"/>
            <a:ext cx="1554480" cy="329184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Text 19"/>
          <p:cNvSpPr txBox="1"/>
          <p:nvPr/>
        </p:nvSpPr>
        <p:spPr>
          <a:xfrm>
            <a:off x="6400800" y="1353312"/>
            <a:ext cx="1554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0" y="1664208"/>
            <a:ext cx="1554480" cy="329184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" name="Text 21"/>
          <p:cNvSpPr txBox="1"/>
          <p:nvPr/>
        </p:nvSpPr>
        <p:spPr>
          <a:xfrm>
            <a:off x="6400800" y="1737360"/>
            <a:ext cx="1554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0" y="2048256"/>
            <a:ext cx="1554480" cy="329184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" name="Text 23"/>
          <p:cNvSpPr txBox="1"/>
          <p:nvPr/>
        </p:nvSpPr>
        <p:spPr>
          <a:xfrm>
            <a:off x="6400800" y="2121408"/>
            <a:ext cx="1554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248716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Python: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" name="Text 26"/>
          <p:cNvSpPr txBox="1"/>
          <p:nvPr/>
        </p:nvSpPr>
        <p:spPr>
          <a:xfrm>
            <a:off x="658368" y="2862072"/>
            <a:ext cx="1084478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pandas as pd, sqlite3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 = sqlite3.connect('tourism_ph.db')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pd.read_sql("SELECT * FROM tourists WHERE program = 'BS Statistics'", conn)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457200" y="4384597"/>
            <a:ext cx="11247120" cy="141732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1" name="Text 29"/>
          <p:cNvSpPr txBox="1"/>
          <p:nvPr/>
        </p:nvSpPr>
        <p:spPr>
          <a:xfrm>
            <a:off x="658368" y="4530901"/>
            <a:ext cx="1084478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library(DBI)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 &lt;- dbConnect(RSQLite::SQLite(), 'tourism_ph.db')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&lt;- dbGetQuery(conn, 'SELECT * FROM tourists')</a:t>
            </a:r>
            <a:endParaRPr lang="en-US" sz="1500" dirty="0"/>
          </a:p>
        </p:txBody>
      </p:sp>
      <p:sp>
        <p:nvSpPr>
          <p:cNvPr id="33" name="Text 24">
            <a:extLst>
              <a:ext uri="{FF2B5EF4-FFF2-40B4-BE49-F238E27FC236}">
                <a16:creationId xmlns:a16="http://schemas.microsoft.com/office/drawing/2014/main" id="{C0B270BA-9A35-9BCB-165E-F7091A54DAB3}"/>
              </a:ext>
            </a:extLst>
          </p:cNvPr>
          <p:cNvSpPr txBox="1"/>
          <p:nvPr/>
        </p:nvSpPr>
        <p:spPr>
          <a:xfrm>
            <a:off x="457200" y="415275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R:</a:t>
            </a:r>
            <a:endParaRPr lang="en-US" sz="1200" dirty="0"/>
          </a:p>
        </p:txBody>
      </p:sp>
    </p:spTree>
  </p:cSld>
  <p:clrMapOvr>
    <a:masterClrMapping/>
  </p:clrMapOvr>
  <p:transition spd="med">
    <p:push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10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r10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r10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104"/>
          <p:cNvSpPr txBox="1"/>
          <p:nvPr/>
        </p:nvSpPr>
        <p:spPr>
          <a:xfrm>
            <a:off x="502920" y="2377440"/>
            <a:ext cx="11430000" cy="12801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/>
              </a:rPr>
              <a:t>Live Demo</a:t>
            </a:r>
          </a:p>
        </p:txBody>
      </p:sp>
      <p:sp>
        <p:nvSpPr>
          <p:cNvPr id="105" name="r105"/>
          <p:cNvSpPr/>
          <p:nvPr/>
        </p:nvSpPr>
        <p:spPr>
          <a:xfrm>
            <a:off x="502920" y="3584448"/>
            <a:ext cx="8686800" cy="6400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6" name="t106"/>
          <p:cNvSpPr txBox="1"/>
          <p:nvPr/>
        </p:nvSpPr>
        <p:spPr>
          <a:xfrm>
            <a:off x="521207" y="3767328"/>
            <a:ext cx="11430000" cy="3657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1400" b="0" dirty="0">
                <a:solidFill>
                  <a:srgbClr val="94A3B8"/>
                </a:solidFill>
                <a:latin typeface="Calibri"/>
              </a:rPr>
              <a:t>tourists  ·  visits  ·  destinations  ·  SQLiteOnline.com</a:t>
            </a:r>
          </a:p>
        </p:txBody>
      </p:sp>
    </p:spTree>
  </p:cSld>
  <p:clrMapOvr>
    <a:masterClrMapping/>
  </p:clrMapOvr>
  <p:transition spd="slow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101"/>
          <p:cNvSpPr txBox="1"/>
          <p:nvPr/>
        </p:nvSpPr>
        <p:spPr>
          <a:xfrm>
            <a:off x="457200" y="182880"/>
            <a:ext cx="11247120" cy="219456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SECTION 9 · LIVE DEMO</a:t>
            </a:r>
          </a:p>
        </p:txBody>
      </p:sp>
      <p:sp>
        <p:nvSpPr>
          <p:cNvPr id="102" name="t102"/>
          <p:cNvSpPr txBox="1"/>
          <p:nvPr/>
        </p:nvSpPr>
        <p:spPr>
          <a:xfrm>
            <a:off x="457200" y="475488"/>
            <a:ext cx="8229600" cy="6400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Live Demo</a:t>
            </a:r>
          </a:p>
        </p:txBody>
      </p:sp>
      <p:sp>
        <p:nvSpPr>
          <p:cNvPr id="103" name="r103"/>
          <p:cNvSpPr/>
          <p:nvPr/>
        </p:nvSpPr>
        <p:spPr>
          <a:xfrm>
            <a:off x="457200" y="987552"/>
            <a:ext cx="1371600" cy="45720"/>
          </a:xfrm>
          <a:prstGeom prst="rect">
            <a:avLst/>
          </a:prstGeom>
          <a:solidFill>
            <a:srgbClr val="00C9A7"/>
          </a:solidFill>
          <a:ln w="635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4" name="r104"/>
          <p:cNvSpPr/>
          <p:nvPr/>
        </p:nvSpPr>
        <p:spPr>
          <a:xfrm>
            <a:off x="457200" y="1078992"/>
            <a:ext cx="11247120" cy="402336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5" name="t105"/>
          <p:cNvSpPr txBox="1"/>
          <p:nvPr/>
        </p:nvSpPr>
        <p:spPr>
          <a:xfrm>
            <a:off x="640080" y="1170432"/>
            <a:ext cx="10972800" cy="237744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Tool:  SQLiteOnline.com — runs in the browser, nothing to install</a:t>
            </a:r>
          </a:p>
        </p:txBody>
      </p:sp>
      <p:sp>
        <p:nvSpPr>
          <p:cNvPr id="106" name="r106"/>
          <p:cNvSpPr/>
          <p:nvPr/>
        </p:nvSpPr>
        <p:spPr>
          <a:xfrm>
            <a:off x="457200" y="1554480"/>
            <a:ext cx="5532120" cy="795528"/>
          </a:xfrm>
          <a:prstGeom prst="rect">
            <a:avLst/>
          </a:prstGeom>
          <a:solidFill>
            <a:srgbClr val="0F2235"/>
          </a:solidFill>
          <a:ln w="889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r107"/>
          <p:cNvSpPr/>
          <p:nvPr/>
        </p:nvSpPr>
        <p:spPr>
          <a:xfrm>
            <a:off x="457200" y="1554480"/>
            <a:ext cx="5532120" cy="292608"/>
          </a:xfrm>
          <a:prstGeom prst="rect">
            <a:avLst/>
          </a:prstGeom>
          <a:solidFill>
            <a:srgbClr val="0A1E30"/>
          </a:solidFill>
          <a:ln w="889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108"/>
          <p:cNvSpPr/>
          <p:nvPr/>
        </p:nvSpPr>
        <p:spPr>
          <a:xfrm>
            <a:off x="457200" y="1554480"/>
            <a:ext cx="329184" cy="292608"/>
          </a:xfrm>
          <a:prstGeom prst="rect">
            <a:avLst/>
          </a:prstGeom>
          <a:solidFill>
            <a:srgbClr val="00C9A7"/>
          </a:solidFill>
          <a:ln w="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t109"/>
          <p:cNvSpPr txBox="1"/>
          <p:nvPr/>
        </p:nvSpPr>
        <p:spPr>
          <a:xfrm>
            <a:off x="475488" y="1609344"/>
            <a:ext cx="292608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A162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</a:t>
            </a:r>
          </a:p>
        </p:txBody>
      </p:sp>
      <p:sp>
        <p:nvSpPr>
          <p:cNvPr id="110" name="t110"/>
          <p:cNvSpPr txBox="1"/>
          <p:nvPr/>
        </p:nvSpPr>
        <p:spPr>
          <a:xfrm>
            <a:off x="841247" y="1618488"/>
            <a:ext cx="5093208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Getting to Know the Data</a:t>
            </a:r>
          </a:p>
        </p:txBody>
      </p:sp>
      <p:sp>
        <p:nvSpPr>
          <p:cNvPr id="111" name="r111"/>
          <p:cNvSpPr/>
          <p:nvPr/>
        </p:nvSpPr>
        <p:spPr>
          <a:xfrm>
            <a:off x="502920" y="1883664"/>
            <a:ext cx="5440680" cy="420624"/>
          </a:xfrm>
          <a:prstGeom prst="rect">
            <a:avLst/>
          </a:prstGeom>
          <a:solidFill>
            <a:srgbClr val="0A1628"/>
          </a:solidFill>
          <a:ln w="3810">
            <a:solidFill>
              <a:srgbClr val="1A3040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2" name="t112"/>
          <p:cNvSpPr txBox="1"/>
          <p:nvPr/>
        </p:nvSpPr>
        <p:spPr>
          <a:xfrm>
            <a:off x="685800" y="1956816"/>
            <a:ext cx="5202936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What do our tourists, visits, and destinations tables look like?</a:t>
            </a:r>
          </a:p>
        </p:txBody>
      </p:sp>
      <p:sp>
        <p:nvSpPr>
          <p:cNvPr id="114" name="r114"/>
          <p:cNvSpPr/>
          <p:nvPr/>
        </p:nvSpPr>
        <p:spPr>
          <a:xfrm>
            <a:off x="6199632" y="1554480"/>
            <a:ext cx="5532120" cy="1298448"/>
          </a:xfrm>
          <a:prstGeom prst="rect">
            <a:avLst/>
          </a:prstGeom>
          <a:solidFill>
            <a:srgbClr val="0F2235"/>
          </a:solidFill>
          <a:ln w="8890">
            <a:solidFill>
              <a:srgbClr val="FFFFF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5" name="r115"/>
          <p:cNvSpPr/>
          <p:nvPr/>
        </p:nvSpPr>
        <p:spPr>
          <a:xfrm>
            <a:off x="6199632" y="1554480"/>
            <a:ext cx="5532120" cy="292608"/>
          </a:xfrm>
          <a:prstGeom prst="rect">
            <a:avLst/>
          </a:prstGeom>
          <a:solidFill>
            <a:srgbClr val="0A1E30"/>
          </a:solidFill>
          <a:ln w="8890">
            <a:solidFill>
              <a:srgbClr val="FFFFF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6" name="r116"/>
          <p:cNvSpPr/>
          <p:nvPr/>
        </p:nvSpPr>
        <p:spPr>
          <a:xfrm>
            <a:off x="6199632" y="1554480"/>
            <a:ext cx="329184" cy="292608"/>
          </a:xfrm>
          <a:prstGeom prst="rect">
            <a:avLst/>
          </a:prstGeom>
          <a:solidFill>
            <a:srgbClr val="00C9A7"/>
          </a:solidFill>
          <a:ln w="0">
            <a:solidFill>
              <a:srgbClr val="FFFFF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7" name="t117"/>
          <p:cNvSpPr txBox="1"/>
          <p:nvPr/>
        </p:nvSpPr>
        <p:spPr>
          <a:xfrm>
            <a:off x="6217920" y="1609344"/>
            <a:ext cx="292608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A162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</a:t>
            </a:r>
          </a:p>
        </p:txBody>
      </p:sp>
      <p:sp>
        <p:nvSpPr>
          <p:cNvPr id="118" name="t118"/>
          <p:cNvSpPr txBox="1"/>
          <p:nvPr/>
        </p:nvSpPr>
        <p:spPr>
          <a:xfrm>
            <a:off x="6583680" y="1618488"/>
            <a:ext cx="5093208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Who is Visiting?</a:t>
            </a:r>
          </a:p>
        </p:txBody>
      </p:sp>
      <p:sp>
        <p:nvSpPr>
          <p:cNvPr id="119" name="r119"/>
          <p:cNvSpPr/>
          <p:nvPr/>
        </p:nvSpPr>
        <p:spPr>
          <a:xfrm>
            <a:off x="6245352" y="1883664"/>
            <a:ext cx="5440680" cy="420624"/>
          </a:xfrm>
          <a:prstGeom prst="rect">
            <a:avLst/>
          </a:prstGeom>
          <a:solidFill>
            <a:srgbClr val="0A1628"/>
          </a:solidFill>
          <a:ln w="3810">
            <a:solidFill>
              <a:srgbClr val="1A3040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0" name="t120"/>
          <p:cNvSpPr txBox="1"/>
          <p:nvPr/>
        </p:nvSpPr>
        <p:spPr>
          <a:xfrm>
            <a:off x="6428232" y="1956816"/>
            <a:ext cx="5202936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How many tourists do we have by nationality?</a:t>
            </a:r>
          </a:p>
        </p:txBody>
      </p:sp>
      <p:sp>
        <p:nvSpPr>
          <p:cNvPr id="121" name="t121"/>
          <p:cNvSpPr txBox="1"/>
          <p:nvPr/>
        </p:nvSpPr>
        <p:spPr>
          <a:xfrm>
            <a:off x="6272784" y="1956816"/>
            <a:ext cx="15544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</p:txBody>
      </p:sp>
      <p:sp>
        <p:nvSpPr>
          <p:cNvPr id="122" name="r122"/>
          <p:cNvSpPr/>
          <p:nvPr/>
        </p:nvSpPr>
        <p:spPr>
          <a:xfrm>
            <a:off x="6245352" y="2386584"/>
            <a:ext cx="5440680" cy="420624"/>
          </a:xfrm>
          <a:prstGeom prst="rect">
            <a:avLst/>
          </a:prstGeom>
          <a:solidFill>
            <a:srgbClr val="0A1628"/>
          </a:solidFill>
          <a:ln w="3810">
            <a:solidFill>
              <a:srgbClr val="1A3040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3" name="t123"/>
          <p:cNvSpPr txBox="1"/>
          <p:nvPr/>
        </p:nvSpPr>
        <p:spPr>
          <a:xfrm>
            <a:off x="6428232" y="2459736"/>
            <a:ext cx="5202936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How are visits split between domestic and foreign tourists?</a:t>
            </a:r>
          </a:p>
        </p:txBody>
      </p:sp>
      <p:sp>
        <p:nvSpPr>
          <p:cNvPr id="124" name="t124"/>
          <p:cNvSpPr txBox="1"/>
          <p:nvPr/>
        </p:nvSpPr>
        <p:spPr>
          <a:xfrm>
            <a:off x="6272784" y="2459736"/>
            <a:ext cx="15544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</p:txBody>
      </p:sp>
      <p:sp>
        <p:nvSpPr>
          <p:cNvPr id="125" name="r125"/>
          <p:cNvSpPr/>
          <p:nvPr/>
        </p:nvSpPr>
        <p:spPr>
          <a:xfrm>
            <a:off x="457200" y="2386584"/>
            <a:ext cx="5532120" cy="1298448"/>
          </a:xfrm>
          <a:prstGeom prst="rect">
            <a:avLst/>
          </a:prstGeom>
          <a:solidFill>
            <a:srgbClr val="0F2235"/>
          </a:solidFill>
          <a:ln w="8890">
            <a:solidFill>
              <a:srgbClr val="FFFFF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6" name="r126"/>
          <p:cNvSpPr/>
          <p:nvPr/>
        </p:nvSpPr>
        <p:spPr>
          <a:xfrm>
            <a:off x="457200" y="2386584"/>
            <a:ext cx="5532120" cy="292608"/>
          </a:xfrm>
          <a:prstGeom prst="rect">
            <a:avLst/>
          </a:prstGeom>
          <a:solidFill>
            <a:srgbClr val="0A1E30"/>
          </a:solidFill>
          <a:ln w="8890">
            <a:solidFill>
              <a:srgbClr val="FFFFF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7" name="r127"/>
          <p:cNvSpPr/>
          <p:nvPr/>
        </p:nvSpPr>
        <p:spPr>
          <a:xfrm>
            <a:off x="457200" y="2386584"/>
            <a:ext cx="329184" cy="292608"/>
          </a:xfrm>
          <a:prstGeom prst="rect">
            <a:avLst/>
          </a:prstGeom>
          <a:solidFill>
            <a:srgbClr val="00C9A7"/>
          </a:solidFill>
          <a:ln w="0">
            <a:solidFill>
              <a:srgbClr val="FFFFF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8" name="t128"/>
          <p:cNvSpPr txBox="1"/>
          <p:nvPr/>
        </p:nvSpPr>
        <p:spPr>
          <a:xfrm>
            <a:off x="475488" y="2441448"/>
            <a:ext cx="292608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A162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</a:t>
            </a:r>
          </a:p>
        </p:txBody>
      </p:sp>
      <p:sp>
        <p:nvSpPr>
          <p:cNvPr id="129" name="t129"/>
          <p:cNvSpPr txBox="1"/>
          <p:nvPr/>
        </p:nvSpPr>
        <p:spPr>
          <a:xfrm>
            <a:off x="841247" y="2450592"/>
            <a:ext cx="5093208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Where Are They Going?</a:t>
            </a:r>
          </a:p>
        </p:txBody>
      </p:sp>
      <p:sp>
        <p:nvSpPr>
          <p:cNvPr id="130" name="r130"/>
          <p:cNvSpPr/>
          <p:nvPr/>
        </p:nvSpPr>
        <p:spPr>
          <a:xfrm>
            <a:off x="502920" y="2715768"/>
            <a:ext cx="5440680" cy="420624"/>
          </a:xfrm>
          <a:prstGeom prst="rect">
            <a:avLst/>
          </a:prstGeom>
          <a:solidFill>
            <a:srgbClr val="0A1628"/>
          </a:solidFill>
          <a:ln w="3810">
            <a:solidFill>
              <a:srgbClr val="1A3040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1" name="t131"/>
          <p:cNvSpPr txBox="1"/>
          <p:nvPr/>
        </p:nvSpPr>
        <p:spPr>
          <a:xfrm>
            <a:off x="685800" y="2788920"/>
            <a:ext cx="5202936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How many visits did each region receive?</a:t>
            </a:r>
          </a:p>
        </p:txBody>
      </p:sp>
      <p:sp>
        <p:nvSpPr>
          <p:cNvPr id="132" name="t132"/>
          <p:cNvSpPr txBox="1"/>
          <p:nvPr/>
        </p:nvSpPr>
        <p:spPr>
          <a:xfrm>
            <a:off x="530352" y="2788920"/>
            <a:ext cx="15544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</p:txBody>
      </p:sp>
      <p:sp>
        <p:nvSpPr>
          <p:cNvPr id="133" name="r133"/>
          <p:cNvSpPr/>
          <p:nvPr/>
        </p:nvSpPr>
        <p:spPr>
          <a:xfrm>
            <a:off x="502920" y="3218688"/>
            <a:ext cx="5440680" cy="420624"/>
          </a:xfrm>
          <a:prstGeom prst="rect">
            <a:avLst/>
          </a:prstGeom>
          <a:solidFill>
            <a:srgbClr val="0A1628"/>
          </a:solidFill>
          <a:ln w="3810">
            <a:solidFill>
              <a:srgbClr val="1A3040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4" name="t134"/>
          <p:cNvSpPr txBox="1"/>
          <p:nvPr/>
        </p:nvSpPr>
        <p:spPr>
          <a:xfrm>
            <a:off x="685800" y="3291840"/>
            <a:ext cx="5202936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Which destinations have the fewest visits?</a:t>
            </a:r>
          </a:p>
        </p:txBody>
      </p:sp>
      <p:sp>
        <p:nvSpPr>
          <p:cNvPr id="135" name="t135"/>
          <p:cNvSpPr txBox="1"/>
          <p:nvPr/>
        </p:nvSpPr>
        <p:spPr>
          <a:xfrm>
            <a:off x="530352" y="3291840"/>
            <a:ext cx="15544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</p:txBody>
      </p:sp>
      <p:sp>
        <p:nvSpPr>
          <p:cNvPr id="136" name="r136"/>
          <p:cNvSpPr/>
          <p:nvPr/>
        </p:nvSpPr>
        <p:spPr>
          <a:xfrm>
            <a:off x="6199632" y="2889504"/>
            <a:ext cx="5532120" cy="1298448"/>
          </a:xfrm>
          <a:prstGeom prst="rect">
            <a:avLst/>
          </a:prstGeom>
          <a:solidFill>
            <a:srgbClr val="0F2235"/>
          </a:solidFill>
          <a:ln w="8890">
            <a:solidFill>
              <a:srgbClr val="FFFFF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7" name="r137"/>
          <p:cNvSpPr/>
          <p:nvPr/>
        </p:nvSpPr>
        <p:spPr>
          <a:xfrm>
            <a:off x="6199632" y="2889504"/>
            <a:ext cx="5532120" cy="292608"/>
          </a:xfrm>
          <a:prstGeom prst="rect">
            <a:avLst/>
          </a:prstGeom>
          <a:solidFill>
            <a:srgbClr val="0A1E30"/>
          </a:solidFill>
          <a:ln w="8890">
            <a:solidFill>
              <a:srgbClr val="FFFFF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8" name="r138"/>
          <p:cNvSpPr/>
          <p:nvPr/>
        </p:nvSpPr>
        <p:spPr>
          <a:xfrm>
            <a:off x="6199632" y="2889504"/>
            <a:ext cx="329184" cy="292608"/>
          </a:xfrm>
          <a:prstGeom prst="rect">
            <a:avLst/>
          </a:prstGeom>
          <a:solidFill>
            <a:srgbClr val="00C9A7"/>
          </a:solidFill>
          <a:ln w="0">
            <a:solidFill>
              <a:srgbClr val="FFFFF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9" name="t139"/>
          <p:cNvSpPr txBox="1"/>
          <p:nvPr/>
        </p:nvSpPr>
        <p:spPr>
          <a:xfrm>
            <a:off x="6217920" y="2944368"/>
            <a:ext cx="292608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A162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</a:t>
            </a:r>
          </a:p>
        </p:txBody>
      </p:sp>
      <p:sp>
        <p:nvSpPr>
          <p:cNvPr id="140" name="t140"/>
          <p:cNvSpPr txBox="1"/>
          <p:nvPr/>
        </p:nvSpPr>
        <p:spPr>
          <a:xfrm>
            <a:off x="6583680" y="2953512"/>
            <a:ext cx="5093208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Overloading or Underserved?</a:t>
            </a:r>
          </a:p>
        </p:txBody>
      </p:sp>
      <p:sp>
        <p:nvSpPr>
          <p:cNvPr id="141" name="r141"/>
          <p:cNvSpPr/>
          <p:nvPr/>
        </p:nvSpPr>
        <p:spPr>
          <a:xfrm>
            <a:off x="6245352" y="3218688"/>
            <a:ext cx="5440680" cy="420624"/>
          </a:xfrm>
          <a:prstGeom prst="rect">
            <a:avLst/>
          </a:prstGeom>
          <a:solidFill>
            <a:srgbClr val="0A1628"/>
          </a:solidFill>
          <a:ln w="3810">
            <a:solidFill>
              <a:srgbClr val="1A3040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2" name="t142"/>
          <p:cNvSpPr txBox="1"/>
          <p:nvPr/>
        </p:nvSpPr>
        <p:spPr>
          <a:xfrm>
            <a:off x="6428232" y="3291840"/>
            <a:ext cx="5202936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Which destinations receive the most visits?</a:t>
            </a:r>
          </a:p>
        </p:txBody>
      </p:sp>
      <p:sp>
        <p:nvSpPr>
          <p:cNvPr id="143" name="t143"/>
          <p:cNvSpPr txBox="1"/>
          <p:nvPr/>
        </p:nvSpPr>
        <p:spPr>
          <a:xfrm>
            <a:off x="6272784" y="3291840"/>
            <a:ext cx="15544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</p:txBody>
      </p:sp>
      <p:sp>
        <p:nvSpPr>
          <p:cNvPr id="144" name="r144"/>
          <p:cNvSpPr/>
          <p:nvPr/>
        </p:nvSpPr>
        <p:spPr>
          <a:xfrm>
            <a:off x="6245352" y="3721608"/>
            <a:ext cx="5440680" cy="420624"/>
          </a:xfrm>
          <a:prstGeom prst="rect">
            <a:avLst/>
          </a:prstGeom>
          <a:solidFill>
            <a:srgbClr val="0A1628"/>
          </a:solidFill>
          <a:ln w="3810">
            <a:solidFill>
              <a:srgbClr val="1A3040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5" name="t145"/>
          <p:cNvSpPr txBox="1"/>
          <p:nvPr/>
        </p:nvSpPr>
        <p:spPr>
          <a:xfrm>
            <a:off x="6428232" y="3794760"/>
            <a:ext cx="5202936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Which destinations have more than 50 visits? (HAVING)</a:t>
            </a:r>
          </a:p>
        </p:txBody>
      </p:sp>
      <p:sp>
        <p:nvSpPr>
          <p:cNvPr id="146" name="t146"/>
          <p:cNvSpPr txBox="1"/>
          <p:nvPr/>
        </p:nvSpPr>
        <p:spPr>
          <a:xfrm>
            <a:off x="6272784" y="3794760"/>
            <a:ext cx="15544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</p:txBody>
      </p:sp>
      <p:sp>
        <p:nvSpPr>
          <p:cNvPr id="147" name="r147"/>
          <p:cNvSpPr/>
          <p:nvPr/>
        </p:nvSpPr>
        <p:spPr>
          <a:xfrm>
            <a:off x="457200" y="3721608"/>
            <a:ext cx="5532120" cy="1801368"/>
          </a:xfrm>
          <a:prstGeom prst="rect">
            <a:avLst/>
          </a:prstGeom>
          <a:solidFill>
            <a:srgbClr val="0F2235"/>
          </a:solidFill>
          <a:ln w="8890">
            <a:solidFill>
              <a:srgbClr val="FFFFF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8" name="r148"/>
          <p:cNvSpPr/>
          <p:nvPr/>
        </p:nvSpPr>
        <p:spPr>
          <a:xfrm>
            <a:off x="457200" y="3721608"/>
            <a:ext cx="5532120" cy="292608"/>
          </a:xfrm>
          <a:prstGeom prst="rect">
            <a:avLst/>
          </a:prstGeom>
          <a:solidFill>
            <a:srgbClr val="0A1E30"/>
          </a:solidFill>
          <a:ln w="8890">
            <a:solidFill>
              <a:srgbClr val="FFFFF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9" name="r149"/>
          <p:cNvSpPr/>
          <p:nvPr/>
        </p:nvSpPr>
        <p:spPr>
          <a:xfrm>
            <a:off x="457200" y="3721608"/>
            <a:ext cx="329184" cy="292608"/>
          </a:xfrm>
          <a:prstGeom prst="rect">
            <a:avLst/>
          </a:prstGeom>
          <a:solidFill>
            <a:srgbClr val="00C9A7"/>
          </a:solidFill>
          <a:ln w="0">
            <a:solidFill>
              <a:srgbClr val="FFFFF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0" name="t150"/>
          <p:cNvSpPr txBox="1"/>
          <p:nvPr/>
        </p:nvSpPr>
        <p:spPr>
          <a:xfrm>
            <a:off x="475488" y="3776472"/>
            <a:ext cx="292608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A162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</a:t>
            </a:r>
          </a:p>
        </p:txBody>
      </p:sp>
      <p:sp>
        <p:nvSpPr>
          <p:cNvPr id="151" name="t151"/>
          <p:cNvSpPr txBox="1"/>
          <p:nvPr/>
        </p:nvSpPr>
        <p:spPr>
          <a:xfrm>
            <a:off x="841247" y="3785616"/>
            <a:ext cx="5093208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How Clean Is Our Data?</a:t>
            </a:r>
          </a:p>
        </p:txBody>
      </p:sp>
      <p:sp>
        <p:nvSpPr>
          <p:cNvPr id="152" name="r152"/>
          <p:cNvSpPr/>
          <p:nvPr/>
        </p:nvSpPr>
        <p:spPr>
          <a:xfrm>
            <a:off x="502920" y="4050792"/>
            <a:ext cx="5440680" cy="420624"/>
          </a:xfrm>
          <a:prstGeom prst="rect">
            <a:avLst/>
          </a:prstGeom>
          <a:solidFill>
            <a:srgbClr val="0A1628"/>
          </a:solidFill>
          <a:ln w="3810">
            <a:solidFill>
              <a:srgbClr val="1A3040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3" name="t153"/>
          <p:cNvSpPr txBox="1"/>
          <p:nvPr/>
        </p:nvSpPr>
        <p:spPr>
          <a:xfrm>
            <a:off x="685800" y="4123944"/>
            <a:ext cx="5202936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Are there visits with missing spending data?</a:t>
            </a:r>
          </a:p>
        </p:txBody>
      </p:sp>
      <p:sp>
        <p:nvSpPr>
          <p:cNvPr id="154" name="t154"/>
          <p:cNvSpPr txBox="1"/>
          <p:nvPr/>
        </p:nvSpPr>
        <p:spPr>
          <a:xfrm>
            <a:off x="530352" y="4123944"/>
            <a:ext cx="15544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</p:txBody>
      </p:sp>
      <p:sp>
        <p:nvSpPr>
          <p:cNvPr id="155" name="r155"/>
          <p:cNvSpPr/>
          <p:nvPr/>
        </p:nvSpPr>
        <p:spPr>
          <a:xfrm>
            <a:off x="502920" y="4553712"/>
            <a:ext cx="5440680" cy="420624"/>
          </a:xfrm>
          <a:prstGeom prst="rect">
            <a:avLst/>
          </a:prstGeom>
          <a:solidFill>
            <a:srgbClr val="0A1628"/>
          </a:solidFill>
          <a:ln w="3810">
            <a:solidFill>
              <a:srgbClr val="1A3040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6" name="t156"/>
          <p:cNvSpPr txBox="1"/>
          <p:nvPr/>
        </p:nvSpPr>
        <p:spPr>
          <a:xfrm>
            <a:off x="685800" y="4626864"/>
            <a:ext cx="5202936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How many destinations have incomplete records?</a:t>
            </a:r>
          </a:p>
        </p:txBody>
      </p:sp>
      <p:sp>
        <p:nvSpPr>
          <p:cNvPr id="157" name="t157"/>
          <p:cNvSpPr txBox="1"/>
          <p:nvPr/>
        </p:nvSpPr>
        <p:spPr>
          <a:xfrm>
            <a:off x="530352" y="4626864"/>
            <a:ext cx="15544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</p:txBody>
      </p:sp>
      <p:sp>
        <p:nvSpPr>
          <p:cNvPr id="158" name="r158"/>
          <p:cNvSpPr/>
          <p:nvPr/>
        </p:nvSpPr>
        <p:spPr>
          <a:xfrm>
            <a:off x="502920" y="5056632"/>
            <a:ext cx="5440680" cy="420624"/>
          </a:xfrm>
          <a:prstGeom prst="rect">
            <a:avLst/>
          </a:prstGeom>
          <a:solidFill>
            <a:srgbClr val="0A1628"/>
          </a:solidFill>
          <a:ln w="3810">
            <a:solidFill>
              <a:srgbClr val="1A3040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9" name="t159"/>
          <p:cNvSpPr txBox="1"/>
          <p:nvPr/>
        </p:nvSpPr>
        <p:spPr>
          <a:xfrm>
            <a:off x="685800" y="5129784"/>
            <a:ext cx="5202936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Which destinations are missing spending entirely?</a:t>
            </a:r>
          </a:p>
        </p:txBody>
      </p:sp>
      <p:sp>
        <p:nvSpPr>
          <p:cNvPr id="160" name="t160"/>
          <p:cNvSpPr txBox="1"/>
          <p:nvPr/>
        </p:nvSpPr>
        <p:spPr>
          <a:xfrm>
            <a:off x="530352" y="5129784"/>
            <a:ext cx="15544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</p:txBody>
      </p:sp>
      <p:sp>
        <p:nvSpPr>
          <p:cNvPr id="161" name="r161"/>
          <p:cNvSpPr/>
          <p:nvPr/>
        </p:nvSpPr>
        <p:spPr>
          <a:xfrm>
            <a:off x="6199632" y="4224528"/>
            <a:ext cx="5532120" cy="1298448"/>
          </a:xfrm>
          <a:prstGeom prst="rect">
            <a:avLst/>
          </a:prstGeom>
          <a:solidFill>
            <a:srgbClr val="0F2235"/>
          </a:solidFill>
          <a:ln w="8890">
            <a:solidFill>
              <a:srgbClr val="FFFFF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2" name="r162"/>
          <p:cNvSpPr/>
          <p:nvPr/>
        </p:nvSpPr>
        <p:spPr>
          <a:xfrm>
            <a:off x="6199632" y="4224528"/>
            <a:ext cx="5532120" cy="292608"/>
          </a:xfrm>
          <a:prstGeom prst="rect">
            <a:avLst/>
          </a:prstGeom>
          <a:solidFill>
            <a:srgbClr val="0A1E30"/>
          </a:solidFill>
          <a:ln w="8890">
            <a:solidFill>
              <a:srgbClr val="FFFFF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3" name="r163"/>
          <p:cNvSpPr/>
          <p:nvPr/>
        </p:nvSpPr>
        <p:spPr>
          <a:xfrm>
            <a:off x="6199632" y="4224528"/>
            <a:ext cx="329184" cy="292608"/>
          </a:xfrm>
          <a:prstGeom prst="rect">
            <a:avLst/>
          </a:prstGeom>
          <a:solidFill>
            <a:srgbClr val="00C9A7"/>
          </a:solidFill>
          <a:ln w="0">
            <a:solidFill>
              <a:srgbClr val="FFFFF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4" name="t164"/>
          <p:cNvSpPr txBox="1"/>
          <p:nvPr/>
        </p:nvSpPr>
        <p:spPr>
          <a:xfrm>
            <a:off x="6217920" y="4279392"/>
            <a:ext cx="292608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A162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</a:t>
            </a:r>
          </a:p>
        </p:txBody>
      </p:sp>
      <p:sp>
        <p:nvSpPr>
          <p:cNvPr id="165" name="t165"/>
          <p:cNvSpPr txBox="1"/>
          <p:nvPr/>
        </p:nvSpPr>
        <p:spPr>
          <a:xfrm>
            <a:off x="6583680" y="4288536"/>
            <a:ext cx="5093208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What Does a Visit Look Like?</a:t>
            </a:r>
          </a:p>
        </p:txBody>
      </p:sp>
      <p:sp>
        <p:nvSpPr>
          <p:cNvPr id="166" name="r166"/>
          <p:cNvSpPr/>
          <p:nvPr/>
        </p:nvSpPr>
        <p:spPr>
          <a:xfrm>
            <a:off x="6245352" y="4553712"/>
            <a:ext cx="5440680" cy="420624"/>
          </a:xfrm>
          <a:prstGeom prst="rect">
            <a:avLst/>
          </a:prstGeom>
          <a:solidFill>
            <a:srgbClr val="0A1628"/>
          </a:solidFill>
          <a:ln w="3810">
            <a:solidFill>
              <a:srgbClr val="1A3040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7" name="t167"/>
          <p:cNvSpPr txBox="1"/>
          <p:nvPr/>
        </p:nvSpPr>
        <p:spPr>
          <a:xfrm>
            <a:off x="6428232" y="4626864"/>
            <a:ext cx="5202936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What is the avg, min, and max spending per destination category?</a:t>
            </a:r>
          </a:p>
        </p:txBody>
      </p:sp>
      <p:sp>
        <p:nvSpPr>
          <p:cNvPr id="168" name="t168"/>
          <p:cNvSpPr txBox="1"/>
          <p:nvPr/>
        </p:nvSpPr>
        <p:spPr>
          <a:xfrm>
            <a:off x="6272784" y="4626864"/>
            <a:ext cx="15544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</p:txBody>
      </p:sp>
      <p:sp>
        <p:nvSpPr>
          <p:cNvPr id="169" name="r169"/>
          <p:cNvSpPr/>
          <p:nvPr/>
        </p:nvSpPr>
        <p:spPr>
          <a:xfrm>
            <a:off x="6245352" y="5056632"/>
            <a:ext cx="5440680" cy="420624"/>
          </a:xfrm>
          <a:prstGeom prst="rect">
            <a:avLst/>
          </a:prstGeom>
          <a:solidFill>
            <a:srgbClr val="0A1628"/>
          </a:solidFill>
          <a:ln w="3810">
            <a:solidFill>
              <a:srgbClr val="1A3040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0" name="t170"/>
          <p:cNvSpPr txBox="1"/>
          <p:nvPr/>
        </p:nvSpPr>
        <p:spPr>
          <a:xfrm>
            <a:off x="6428232" y="5129784"/>
            <a:ext cx="5202936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Which purpose of visit generates the highest average spending?</a:t>
            </a:r>
          </a:p>
        </p:txBody>
      </p:sp>
      <p:sp>
        <p:nvSpPr>
          <p:cNvPr id="171" name="t171"/>
          <p:cNvSpPr txBox="1"/>
          <p:nvPr/>
        </p:nvSpPr>
        <p:spPr>
          <a:xfrm>
            <a:off x="6272784" y="5129784"/>
            <a:ext cx="15544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</p:txBody>
      </p:sp>
      <p:sp>
        <p:nvSpPr>
          <p:cNvPr id="172" name="r172"/>
          <p:cNvSpPr/>
          <p:nvPr/>
        </p:nvSpPr>
        <p:spPr>
          <a:xfrm>
            <a:off x="457200" y="5577840"/>
            <a:ext cx="11247120" cy="585216"/>
          </a:xfrm>
          <a:prstGeom prst="rect">
            <a:avLst/>
          </a:prstGeom>
          <a:solidFill>
            <a:srgbClr val="0F2235"/>
          </a:solidFill>
          <a:ln w="889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3" name="r173"/>
          <p:cNvSpPr/>
          <p:nvPr/>
        </p:nvSpPr>
        <p:spPr>
          <a:xfrm>
            <a:off x="457200" y="5577840"/>
            <a:ext cx="11247120" cy="292608"/>
          </a:xfrm>
          <a:prstGeom prst="rect">
            <a:avLst/>
          </a:prstGeom>
          <a:solidFill>
            <a:srgbClr val="0A1E30"/>
          </a:solidFill>
          <a:ln w="889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4" name="r174"/>
          <p:cNvSpPr/>
          <p:nvPr/>
        </p:nvSpPr>
        <p:spPr>
          <a:xfrm>
            <a:off x="457200" y="5577840"/>
            <a:ext cx="329184" cy="292608"/>
          </a:xfrm>
          <a:prstGeom prst="rect">
            <a:avLst/>
          </a:prstGeom>
          <a:solidFill>
            <a:srgbClr val="00C9A7"/>
          </a:solidFill>
          <a:ln w="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5" name="t175"/>
          <p:cNvSpPr txBox="1"/>
          <p:nvPr/>
        </p:nvSpPr>
        <p:spPr>
          <a:xfrm>
            <a:off x="475488" y="5632703"/>
            <a:ext cx="292608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A162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</a:t>
            </a:r>
          </a:p>
        </p:txBody>
      </p:sp>
      <p:sp>
        <p:nvSpPr>
          <p:cNvPr id="176" name="t176"/>
          <p:cNvSpPr txBox="1"/>
          <p:nvPr/>
        </p:nvSpPr>
        <p:spPr>
          <a:xfrm>
            <a:off x="841248" y="5641848"/>
            <a:ext cx="4572000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The Full Picture: A 3-Table JOIN</a:t>
            </a:r>
          </a:p>
        </p:txBody>
      </p:sp>
      <p:sp>
        <p:nvSpPr>
          <p:cNvPr id="177" name="r177"/>
          <p:cNvSpPr/>
          <p:nvPr/>
        </p:nvSpPr>
        <p:spPr>
          <a:xfrm>
            <a:off x="502920" y="5907024"/>
            <a:ext cx="11155680" cy="219456"/>
          </a:xfrm>
          <a:prstGeom prst="rect">
            <a:avLst/>
          </a:prstGeom>
          <a:solidFill>
            <a:srgbClr val="0A1628"/>
          </a:solidFill>
          <a:ln w="3810">
            <a:solidFill>
              <a:srgbClr val="1A3040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8" name="t178"/>
          <p:cNvSpPr txBox="1"/>
          <p:nvPr/>
        </p:nvSpPr>
        <p:spPr>
          <a:xfrm>
            <a:off x="676656" y="5952744"/>
            <a:ext cx="10972800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Give me a complete visitor profile — tourist, destination, spending.</a:t>
            </a:r>
          </a:p>
        </p:txBody>
      </p:sp>
      <p:sp>
        <p:nvSpPr>
          <p:cNvPr id="179" name="t179"/>
          <p:cNvSpPr txBox="1"/>
          <p:nvPr/>
        </p:nvSpPr>
        <p:spPr>
          <a:xfrm>
            <a:off x="521207" y="5952744"/>
            <a:ext cx="155448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</p:txBody>
      </p:sp>
      <p:sp>
        <p:nvSpPr>
          <p:cNvPr id="180" name="r180"/>
          <p:cNvSpPr/>
          <p:nvPr/>
        </p:nvSpPr>
        <p:spPr>
          <a:xfrm>
            <a:off x="457200" y="6217920"/>
            <a:ext cx="11247120" cy="365760"/>
          </a:xfrm>
          <a:prstGeom prst="rect">
            <a:avLst/>
          </a:prstGeom>
          <a:solidFill>
            <a:srgbClr val="0A1E30"/>
          </a:solidFill>
          <a:ln w="1016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1" name="t181"/>
          <p:cNvSpPr txBox="1"/>
          <p:nvPr/>
        </p:nvSpPr>
        <p:spPr>
          <a:xfrm>
            <a:off x="640080" y="6309359"/>
            <a:ext cx="109728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1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One dataset. Three pillars. Every concept from today — applied to Philippine tourism.</a:t>
            </a:r>
          </a:p>
        </p:txBody>
      </p:sp>
      <p:sp>
        <p:nvSpPr>
          <p:cNvPr id="3" name="t121">
            <a:extLst>
              <a:ext uri="{FF2B5EF4-FFF2-40B4-BE49-F238E27FC236}">
                <a16:creationId xmlns:a16="http://schemas.microsoft.com/office/drawing/2014/main" id="{601416EB-4C22-385E-E43B-C9CFEE829FD4}"/>
              </a:ext>
            </a:extLst>
          </p:cNvPr>
          <p:cNvSpPr txBox="1"/>
          <p:nvPr/>
        </p:nvSpPr>
        <p:spPr>
          <a:xfrm>
            <a:off x="522798" y="1951846"/>
            <a:ext cx="15544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</p:txBody>
      </p:sp>
    </p:spTree>
  </p:cSld>
  <p:clrMapOvr>
    <a:masterClrMapping/>
  </p:clrMapOvr>
  <p:transition spd="med">
    <p:push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10 · OPEN FORUM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Go From Here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5394960" cy="62179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594360" y="1545336"/>
            <a:ext cx="4754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🌐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1527048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SQLZoo.net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1545336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exercises, free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394960" cy="62179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" name="Text 8"/>
          <p:cNvSpPr txBox="1"/>
          <p:nvPr/>
        </p:nvSpPr>
        <p:spPr>
          <a:xfrm>
            <a:off x="6355080" y="1545336"/>
            <a:ext cx="4754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903720" y="1527048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SQL Tutorial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0" y="1545336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Beginner to intermediate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194560"/>
            <a:ext cx="5394960" cy="62179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" name="Text 12"/>
          <p:cNvSpPr txBox="1"/>
          <p:nvPr/>
        </p:nvSpPr>
        <p:spPr>
          <a:xfrm>
            <a:off x="594360" y="2322576"/>
            <a:ext cx="4754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143000" y="2304288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W3Schools SQL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2322576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syntax reference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17920" y="2194560"/>
            <a:ext cx="5394960" cy="62179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Text 16"/>
          <p:cNvSpPr txBox="1"/>
          <p:nvPr/>
        </p:nvSpPr>
        <p:spPr>
          <a:xfrm>
            <a:off x="6355080" y="2322576"/>
            <a:ext cx="4754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🎓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903720" y="2304288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SQL Courses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326880" y="2322576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Free, with real datasets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1272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locally: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3456432"/>
            <a:ext cx="11247120" cy="47548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" name="Text 21"/>
          <p:cNvSpPr txBox="1"/>
          <p:nvPr/>
        </p:nvSpPr>
        <p:spPr>
          <a:xfrm>
            <a:off x="640080" y="3529584"/>
            <a:ext cx="10789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Browser for SQLite — free, Windows and Mac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4050792"/>
            <a:ext cx="11247120" cy="47548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" name="Text 23"/>
          <p:cNvSpPr txBox="1"/>
          <p:nvPr/>
        </p:nvSpPr>
        <p:spPr>
          <a:xfrm>
            <a:off x="640080" y="4123944"/>
            <a:ext cx="10789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data: PSA open data portal · Kaggle · WHO health data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46817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level when ready: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57200" y="5010912"/>
            <a:ext cx="11247120" cy="47548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" name="Text 26"/>
          <p:cNvSpPr txBox="1"/>
          <p:nvPr/>
        </p:nvSpPr>
        <p:spPr>
          <a:xfrm>
            <a:off x="640080" y="5093208"/>
            <a:ext cx="10789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functions  ·  Subqueries  ·  CTEs  ·  Indexes</a:t>
            </a:r>
            <a:endParaRPr lang="en-US" sz="1300" dirty="0"/>
          </a:p>
        </p:txBody>
      </p:sp>
    </p:spTree>
  </p:cSld>
  <p:clrMapOvr>
    <a:masterClrMapping/>
  </p:clrMapOvr>
  <p:transition spd="med">
    <p:push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11216</TotalTime>
  <Words>3466</Words>
  <Application>Microsoft Office PowerPoint</Application>
  <PresentationFormat>Widescreen</PresentationFormat>
  <Paragraphs>888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6" baseType="lpstr">
      <vt:lpstr>Aptos</vt:lpstr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Rachell Batucan</cp:lastModifiedBy>
  <cp:revision>55</cp:revision>
  <dcterms:created xsi:type="dcterms:W3CDTF">2026-09-28T19:30:56Z</dcterms:created>
  <dcterms:modified xsi:type="dcterms:W3CDTF">2026-10-06T19:16:50Z</dcterms:modified>
</cp:coreProperties>
</file>